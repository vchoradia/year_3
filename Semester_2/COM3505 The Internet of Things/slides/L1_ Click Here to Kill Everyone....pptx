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3"/>
    <p:sldMasterId id="214748367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music: frida: The-Matrix--Soundtrack--Juno-Reactor-Vs-Don-Davis---goo.gl-LlSTwA.mkv</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b76245ebd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b76245eb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e9c734e8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e9c734e8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421465ae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421465ae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d1b26ff8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d1b26ff8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050c9235d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050c9235d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afa4acea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afa4acea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421465ae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421465ae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421465ae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421465ae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421465ae2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421465ae2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421465ae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421465ae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b44c3da0f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b44c3da0f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421465ae2_4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421465ae2_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b44c3da0f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b44c3da0f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b4a5a1d5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b4a5a1d5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b44c3da0f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b44c3da0f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b44c3da0f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b44c3da0f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b8fc63a67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b8fc63a67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b8fc63a676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b8fc63a676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e9ca51c0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e9ca51c0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which famous books or films do these come from?    who’s built a website? https, ssl, … on IoT?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e9c734e89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e9c734e89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421465ae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421465ae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 could be teaching you the corporate view of the IoT… AWS, IBM, Siemens, ...COM3505: build stuff, corporation-agnostic …. ASR, “Bonsley”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421465ae2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421465ae2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b8fc63a676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b8fc63a676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421465ae2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421465ae2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4100395576_5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4100395576_5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41d73a85c6_1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41d73a85c6_1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41d73a85c6_1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41d73a85c6_1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41d73a85c6_1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41d73a85c6_1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424d7ce6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424d7ce6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499010306c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499010306c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421465ae2_4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421465ae2_4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4100395576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4100395576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424d7ce69c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424d7ce69c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4100395576_5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4100395576_5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4100395576_5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4100395576_5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4100395576_5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4100395576_5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421465ae2_4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421465ae2_4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b44c3da0f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b44c3da0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bb76084c51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bb76084c51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bb76084c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bb76084c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87900" y="445025"/>
            <a:ext cx="84444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4"/>
          <p:cNvSpPr txBox="1"/>
          <p:nvPr>
            <p:ph idx="1" type="body"/>
          </p:nvPr>
        </p:nvSpPr>
        <p:spPr>
          <a:xfrm>
            <a:off x="387900" y="1152475"/>
            <a:ext cx="41898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Char char="●"/>
              <a:defRPr sz="1400">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24" name="Google Shape;24;p4"/>
          <p:cNvSpPr txBox="1"/>
          <p:nvPr>
            <p:ph idx="2" type="body"/>
          </p:nvPr>
        </p:nvSpPr>
        <p:spPr>
          <a:xfrm>
            <a:off x="46425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 name="Google Shape;35;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9" name="Google Shape;39;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3" name="Shape 63"/>
        <p:cNvGrpSpPr/>
        <p:nvPr/>
      </p:nvGrpSpPr>
      <p:grpSpPr>
        <a:xfrm>
          <a:off x="0" y="0"/>
          <a:ext cx="0" cy="0"/>
          <a:chOff x="0" y="0"/>
          <a:chExt cx="0" cy="0"/>
        </a:xfrm>
      </p:grpSpPr>
      <p:sp>
        <p:nvSpPr>
          <p:cNvPr id="64" name="Google Shape;64;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5" name="Google Shape;65;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6" name="Google Shape;66;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7" name="Shape 67"/>
        <p:cNvGrpSpPr/>
        <p:nvPr/>
      </p:nvGrpSpPr>
      <p:grpSpPr>
        <a:xfrm>
          <a:off x="0" y="0"/>
          <a:ext cx="0" cy="0"/>
          <a:chOff x="0" y="0"/>
          <a:chExt cx="0" cy="0"/>
        </a:xfrm>
      </p:grpSpPr>
      <p:sp>
        <p:nvSpPr>
          <p:cNvPr id="68" name="Google Shape;68;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6"/>
          <p:cNvSpPr txBox="1"/>
          <p:nvPr>
            <p:ph type="title"/>
          </p:nvPr>
        </p:nvSpPr>
        <p:spPr>
          <a:xfrm>
            <a:off x="387900" y="445025"/>
            <a:ext cx="8444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6"/>
          <p:cNvSpPr txBox="1"/>
          <p:nvPr>
            <p:ph idx="1" type="body"/>
          </p:nvPr>
        </p:nvSpPr>
        <p:spPr>
          <a:xfrm>
            <a:off x="3879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
        <p:nvSpPr>
          <p:cNvPr id="73" name="Google Shape;73;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74" name="Google Shape;74;p16"/>
          <p:cNvSpPr txBox="1"/>
          <p:nvPr>
            <p:ph idx="2" type="body"/>
          </p:nvPr>
        </p:nvSpPr>
        <p:spPr>
          <a:xfrm>
            <a:off x="46425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8" name="Google Shape;7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 name="Google Shape;8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5" name="Google Shape;8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7" name="Shape 87"/>
        <p:cNvGrpSpPr/>
        <p:nvPr/>
      </p:nvGrpSpPr>
      <p:grpSpPr>
        <a:xfrm>
          <a:off x="0" y="0"/>
          <a:ext cx="0" cy="0"/>
          <a:chOff x="0" y="0"/>
          <a:chExt cx="0" cy="0"/>
        </a:xfrm>
      </p:grpSpPr>
      <p:sp>
        <p:nvSpPr>
          <p:cNvPr id="88" name="Google Shape;8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9" name="Google Shape;89;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3" name="Google Shape;9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94" name="Google Shape;9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95" name="Google Shape;9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6" name="Shape 96"/>
        <p:cNvGrpSpPr/>
        <p:nvPr/>
      </p:nvGrpSpPr>
      <p:grpSpPr>
        <a:xfrm>
          <a:off x="0" y="0"/>
          <a:ext cx="0" cy="0"/>
          <a:chOff x="0" y="0"/>
          <a:chExt cx="0" cy="0"/>
        </a:xfrm>
      </p:grpSpPr>
      <p:sp>
        <p:nvSpPr>
          <p:cNvPr id="97" name="Google Shape;9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98" name="Google Shape;9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9" name="Shape 99"/>
        <p:cNvGrpSpPr/>
        <p:nvPr/>
      </p:nvGrpSpPr>
      <p:grpSpPr>
        <a:xfrm>
          <a:off x="0" y="0"/>
          <a:ext cx="0" cy="0"/>
          <a:chOff x="0" y="0"/>
          <a:chExt cx="0" cy="0"/>
        </a:xfrm>
      </p:grpSpPr>
      <p:sp>
        <p:nvSpPr>
          <p:cNvPr id="100" name="Google Shape;10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01" name="Google Shape;10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2" name="Google Shape;10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3" name="Shape 103"/>
        <p:cNvGrpSpPr/>
        <p:nvPr/>
      </p:nvGrpSpPr>
      <p:grpSpPr>
        <a:xfrm>
          <a:off x="0" y="0"/>
          <a:ext cx="0" cy="0"/>
          <a:chOff x="0" y="0"/>
          <a:chExt cx="0" cy="0"/>
        </a:xfrm>
      </p:grpSpPr>
      <p:sp>
        <p:nvSpPr>
          <p:cNvPr id="104" name="Google Shape;10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4.jpg"/><Relationship Id="rId2" Type="http://schemas.openxmlformats.org/officeDocument/2006/relationships/image" Target="../media/image5.png"/><Relationship Id="rId3" Type="http://schemas.openxmlformats.org/officeDocument/2006/relationships/image" Target="../media/image1.jp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theme" Target="../theme/theme3.xml"/><Relationship Id="rId14" Type="http://schemas.openxmlformats.org/officeDocument/2006/relationships/slideLayout" Target="../slideLayouts/slideLayout1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 Type="http://schemas.openxmlformats.org/officeDocument/2006/relationships/image" Target="../media/image5.png"/><Relationship Id="rId2" Type="http://schemas.openxmlformats.org/officeDocument/2006/relationships/image" Target="../media/image1.jpg"/><Relationship Id="rId3" Type="http://schemas.openxmlformats.org/officeDocument/2006/relationships/image" Target="../media/image4.jpg"/><Relationship Id="rId4" Type="http://schemas.openxmlformats.org/officeDocument/2006/relationships/slideLayout" Target="../slideLayouts/slideLayout12.xml"/><Relationship Id="rId9" Type="http://schemas.openxmlformats.org/officeDocument/2006/relationships/slideLayout" Target="../slideLayouts/slideLayout17.xml"/><Relationship Id="rId15" Type="http://schemas.openxmlformats.org/officeDocument/2006/relationships/theme" Target="../theme/theme2.xml"/><Relationship Id="rId14" Type="http://schemas.openxmlformats.org/officeDocument/2006/relationships/slideLayout" Target="../slideLayouts/slideLayout2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9" name="Google Shape;9;p1"/>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GB"/>
              <a:t>‹#›</a:t>
            </a:fld>
            <a:endParaRPr/>
          </a:p>
        </p:txBody>
      </p:sp>
      <p:pic>
        <p:nvPicPr>
          <p:cNvPr descr="esp32-feather.jpg" id="10" name="Google Shape;10;p1"/>
          <p:cNvPicPr preferRelativeResize="0"/>
          <p:nvPr/>
        </p:nvPicPr>
        <p:blipFill>
          <a:blip r:embed="rId1">
            <a:alphaModFix/>
          </a:blip>
          <a:stretch>
            <a:fillRect/>
          </a:stretch>
        </p:blipFill>
        <p:spPr>
          <a:xfrm>
            <a:off x="76985" y="4540237"/>
            <a:ext cx="521324" cy="520026"/>
          </a:xfrm>
          <a:prstGeom prst="rect">
            <a:avLst/>
          </a:prstGeom>
          <a:noFill/>
          <a:ln>
            <a:noFill/>
          </a:ln>
        </p:spPr>
      </p:pic>
      <p:pic>
        <p:nvPicPr>
          <p:cNvPr descr="usfd-logo-fred-350x138.png" id="11" name="Google Shape;11;p1"/>
          <p:cNvPicPr preferRelativeResize="0"/>
          <p:nvPr/>
        </p:nvPicPr>
        <p:blipFill>
          <a:blip r:embed="rId2">
            <a:alphaModFix/>
          </a:blip>
          <a:stretch>
            <a:fillRect/>
          </a:stretch>
        </p:blipFill>
        <p:spPr>
          <a:xfrm>
            <a:off x="76197" y="73575"/>
            <a:ext cx="1111675" cy="439575"/>
          </a:xfrm>
          <a:prstGeom prst="rect">
            <a:avLst/>
          </a:prstGeom>
          <a:noFill/>
          <a:ln>
            <a:noFill/>
          </a:ln>
        </p:spPr>
      </p:pic>
      <p:pic>
        <p:nvPicPr>
          <p:cNvPr descr="625px-Internet_of_Things.jpg" id="12" name="Google Shape;12;p1"/>
          <p:cNvPicPr preferRelativeResize="0"/>
          <p:nvPr/>
        </p:nvPicPr>
        <p:blipFill>
          <a:blip r:embed="rId3">
            <a:alphaModFix/>
          </a:blip>
          <a:stretch>
            <a:fillRect/>
          </a:stretch>
        </p:blipFill>
        <p:spPr>
          <a:xfrm>
            <a:off x="8362825" y="73579"/>
            <a:ext cx="691500" cy="66384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7" name="Google Shape;5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8" name="Google Shape;5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59" name="Google Shape;59;p13"/>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GB"/>
              <a:t>‹#›</a:t>
            </a:fld>
            <a:endParaRPr/>
          </a:p>
        </p:txBody>
      </p:sp>
      <p:pic>
        <p:nvPicPr>
          <p:cNvPr descr="usfd-logo-fred-350x138.png" id="60" name="Google Shape;60;p13"/>
          <p:cNvPicPr preferRelativeResize="0"/>
          <p:nvPr/>
        </p:nvPicPr>
        <p:blipFill>
          <a:blip r:embed="rId1">
            <a:alphaModFix/>
          </a:blip>
          <a:stretch>
            <a:fillRect/>
          </a:stretch>
        </p:blipFill>
        <p:spPr>
          <a:xfrm>
            <a:off x="76197" y="73575"/>
            <a:ext cx="1111675" cy="439575"/>
          </a:xfrm>
          <a:prstGeom prst="rect">
            <a:avLst/>
          </a:prstGeom>
          <a:noFill/>
          <a:ln>
            <a:noFill/>
          </a:ln>
        </p:spPr>
      </p:pic>
      <p:pic>
        <p:nvPicPr>
          <p:cNvPr descr="625px-Internet_of_Things.jpg" id="61" name="Google Shape;61;p13"/>
          <p:cNvPicPr preferRelativeResize="0"/>
          <p:nvPr/>
        </p:nvPicPr>
        <p:blipFill>
          <a:blip r:embed="rId2">
            <a:alphaModFix/>
          </a:blip>
          <a:stretch>
            <a:fillRect/>
          </a:stretch>
        </p:blipFill>
        <p:spPr>
          <a:xfrm>
            <a:off x="8362825" y="73579"/>
            <a:ext cx="691500" cy="663842"/>
          </a:xfrm>
          <a:prstGeom prst="rect">
            <a:avLst/>
          </a:prstGeom>
          <a:noFill/>
          <a:ln>
            <a:noFill/>
          </a:ln>
        </p:spPr>
      </p:pic>
      <p:pic>
        <p:nvPicPr>
          <p:cNvPr descr="esp32-feather.jpg" id="62" name="Google Shape;62;p13"/>
          <p:cNvPicPr preferRelativeResize="0"/>
          <p:nvPr/>
        </p:nvPicPr>
        <p:blipFill>
          <a:blip r:embed="rId3">
            <a:alphaModFix/>
          </a:blip>
          <a:stretch>
            <a:fillRect/>
          </a:stretch>
        </p:blipFill>
        <p:spPr>
          <a:xfrm>
            <a:off x="76985" y="4540237"/>
            <a:ext cx="521324" cy="5200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youtube.com/watch?v=DOtoIBrBAYE" TargetMode="External"/><Relationship Id="rId4" Type="http://schemas.openxmlformats.org/officeDocument/2006/relationships/image" Target="../media/image10.jpg"/></Relationships>
</file>

<file path=ppt/slides/_rels/slide2.xml.rels><?xml version="1.0" encoding="UTF-8" standalone="yes"?><Relationships xmlns="http://schemas.openxmlformats.org/package/2006/relationships"><Relationship Id="rId11" Type="http://schemas.openxmlformats.org/officeDocument/2006/relationships/hyperlink" Target="https://vradu.uk/" TargetMode="External"/><Relationship Id="rId10" Type="http://schemas.openxmlformats.org/officeDocument/2006/relationships/hyperlink" Target="https://bitfixit.co.uk/" TargetMode="External"/><Relationship Id="rId13" Type="http://schemas.openxmlformats.org/officeDocument/2006/relationships/image" Target="../media/image14.png"/><Relationship Id="rId12" Type="http://schemas.openxmlformats.org/officeDocument/2006/relationships/image" Target="../media/image20.png"/><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7.jpg"/><Relationship Id="rId9" Type="http://schemas.openxmlformats.org/officeDocument/2006/relationships/hyperlink" Target="https://reyt.repair/" TargetMode="External"/><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11.png"/><Relationship Id="rId8" Type="http://schemas.openxmlformats.org/officeDocument/2006/relationships/hyperlink" Target="https://hamish.gate.ac.uk/"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forum.unphone.ne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iot.unphone.net" TargetMode="External"/><Relationship Id="rId4" Type="http://schemas.openxmlformats.org/officeDocument/2006/relationships/hyperlink" Target="https://gitlab.com/hamishcunningham/the-internet-of-things" TargetMode="External"/><Relationship Id="rId5" Type="http://schemas.openxmlformats.org/officeDocument/2006/relationships/hyperlink" Target="https://gitlab.com/hamishcunningham/unphonelibrary"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ww.theguardian.com/global/2015/mar/22/web-browser-came-back-haunt-microsof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8.png"/><Relationship Id="rId4" Type="http://schemas.openxmlformats.org/officeDocument/2006/relationships/image" Target="../media/image9.jpg"/><Relationship Id="rId5" Type="http://schemas.openxmlformats.org/officeDocument/2006/relationships/hyperlink" Target="https://iot.unphone.net/#com3505-week-01-course-note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iot.unphone.net" TargetMode="External"/><Relationship Id="rId4" Type="http://schemas.openxmlformats.org/officeDocument/2006/relationships/hyperlink" Target="https://gitlab.com/hamishcunningham/the-internet-of-things" TargetMode="External"/><Relationship Id="rId5" Type="http://schemas.openxmlformats.org/officeDocument/2006/relationships/hyperlink" Target="https://gitlab.com/hamishcunningham/the-internet-of-things" TargetMode="External"/><Relationship Id="rId6" Type="http://schemas.openxmlformats.org/officeDocument/2006/relationships/hyperlink" Target="https://iot.unphone.net/#com3505-week-01-course-notes" TargetMode="External"/><Relationship Id="rId7" Type="http://schemas.openxmlformats.org/officeDocument/2006/relationships/hyperlink" Target="mailto:hamish@gate.ac.uk"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jpg"/><Relationship Id="rId4" Type="http://schemas.openxmlformats.org/officeDocument/2006/relationships/image" Target="../media/image30.jpg"/><Relationship Id="rId5" Type="http://schemas.openxmlformats.org/officeDocument/2006/relationships/hyperlink" Target="http://www.youtube.com/watch?v=c-Ekz2kK7J4" TargetMode="External"/><Relationship Id="rId6" Type="http://schemas.openxmlformats.org/officeDocument/2006/relationships/image" Target="../media/image17.jpg"/><Relationship Id="rId7" Type="http://schemas.openxmlformats.org/officeDocument/2006/relationships/hyperlink" Target="https://goo.gl/uIUCr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www.youtube.com/watch?v=QSIPNhOiMoE" TargetMode="External"/><Relationship Id="rId4" Type="http://schemas.openxmlformats.org/officeDocument/2006/relationships/image" Target="../media/image1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forklog.net/the-way-iot-and-blockchain-change-the-world/" TargetMode="External"/><Relationship Id="rId4" Type="http://schemas.openxmlformats.org/officeDocument/2006/relationships/image" Target="../media/image23.png"/><Relationship Id="rId5" Type="http://schemas.openxmlformats.org/officeDocument/2006/relationships/hyperlink" Target="http://forklog.net/the-way-iot-and-blockchain-change-the-worl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7.jpg"/><Relationship Id="rId4" Type="http://schemas.openxmlformats.org/officeDocument/2006/relationships/image" Target="../media/image3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ww.arduino.cc/"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www.learn-c.org/" TargetMode="External"/><Relationship Id="rId4" Type="http://schemas.openxmlformats.org/officeDocument/2006/relationships/hyperlink" Target="https://www.tutorialspoint.com/cprogramming/" TargetMode="External"/><Relationship Id="rId5" Type="http://schemas.openxmlformats.org/officeDocument/2006/relationships/hyperlink" Target="https://www.tutorialspoint.com/cplusplus/index.htm" TargetMode="External"/><Relationship Id="rId6" Type="http://schemas.openxmlformats.org/officeDocument/2006/relationships/hyperlink" Target="http://www.learncpp.com/" TargetMode="External"/><Relationship Id="rId7" Type="http://schemas.openxmlformats.org/officeDocument/2006/relationships/hyperlink" Target="http://www.network-theory.co.uk/docs/gccintro/index.html" TargetMode="External"/><Relationship Id="rId8" Type="http://schemas.openxmlformats.org/officeDocument/2006/relationships/hyperlink" Target="https://askubuntu.com/questions/36520/how-could-i-begin-c-programming-on-ubuntu"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hostname.shef.ac.uk:9194/com3505-2021?...data%E2%80%A6"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www.sheffield.ac.uk/diamond/h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7.jpg"/><Relationship Id="rId4" Type="http://schemas.openxmlformats.org/officeDocument/2006/relationships/image" Target="../media/image25.jpg"/><Relationship Id="rId5" Type="http://schemas.openxmlformats.org/officeDocument/2006/relationships/image" Target="../media/image2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www.youtube.com/watch?v=QKbJxytERvg" TargetMode="External"/><Relationship Id="rId4" Type="http://schemas.openxmlformats.org/officeDocument/2006/relationships/image" Target="../media/image2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www.youtube.com/watch?v=66HH7VfY_LM" TargetMode="External"/><Relationship Id="rId4" Type="http://schemas.openxmlformats.org/officeDocument/2006/relationships/image" Target="../media/image29.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1.png"/><Relationship Id="rId4" Type="http://schemas.openxmlformats.org/officeDocument/2006/relationships/image" Target="../media/image33.png"/><Relationship Id="rId5" Type="http://schemas.openxmlformats.org/officeDocument/2006/relationships/hyperlink" Target="https://www.sheffield.ac.uk/diamond/h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mailto:hamish@gate.ac.uk"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5"/>
          <p:cNvSpPr txBox="1"/>
          <p:nvPr>
            <p:ph type="ctrTitle"/>
          </p:nvPr>
        </p:nvSpPr>
        <p:spPr>
          <a:xfrm>
            <a:off x="311708" y="100232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sz="4800"/>
              <a:t>“Click Here to Kill Everyone”...</a:t>
            </a:r>
            <a:br>
              <a:rPr lang="en-GB" sz="4800"/>
            </a:br>
            <a:r>
              <a:rPr lang="en-GB" sz="4800"/>
              <a:t>introducing the </a:t>
            </a:r>
            <a:br>
              <a:rPr lang="en-GB" sz="4800"/>
            </a:br>
            <a:r>
              <a:rPr lang="en-GB" sz="4800"/>
              <a:t>Internet of Things</a:t>
            </a:r>
            <a:br>
              <a:rPr lang="en-GB" sz="4800"/>
            </a:br>
            <a:r>
              <a:rPr lang="en-GB" sz="4800"/>
              <a:t>— &lt;&lt;code&gt;&gt;</a:t>
            </a:r>
            <a:endParaRPr sz="4800"/>
          </a:p>
        </p:txBody>
      </p:sp>
      <p:sp>
        <p:nvSpPr>
          <p:cNvPr id="110" name="Google Shape;110;p25"/>
          <p:cNvSpPr txBox="1"/>
          <p:nvPr>
            <p:ph idx="1" type="subTitle"/>
          </p:nvPr>
        </p:nvSpPr>
        <p:spPr>
          <a:xfrm>
            <a:off x="464100" y="2834125"/>
            <a:ext cx="58887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GB"/>
              <a:t>COM3505, Lecture 1</a:t>
            </a:r>
            <a:endParaRPr/>
          </a:p>
          <a:p>
            <a:pPr indent="0" lvl="0" marL="0" rtl="0" algn="ctr">
              <a:spcBef>
                <a:spcPts val="0"/>
              </a:spcBef>
              <a:spcAft>
                <a:spcPts val="0"/>
              </a:spcAft>
              <a:buNone/>
            </a:pPr>
            <a:r>
              <a:rPr lang="en-GB"/>
              <a:t>Prof Hamish Cunningham</a:t>
            </a:r>
            <a:endParaRPr/>
          </a:p>
        </p:txBody>
      </p:sp>
      <p:sp>
        <p:nvSpPr>
          <p:cNvPr id="111" name="Google Shape;111;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Please watch&amp;subscribe to https://www.youtube.com/channel/UCHiy715QgRM4ibKJ07X1W-g&#10;Soundtrack from Matrix Revolutions - Navras&#10;&#10;Also, check my channel for other cool videos.&#10;&#10;Subscribing is always welcomed." id="112" name="Google Shape;112;p25" title="The Matrix  Soundtrack- Juno Reactor Vs Don Davis - Navras">
            <a:hlinkClick r:id="rId3"/>
          </p:cNvPr>
          <p:cNvPicPr preferRelativeResize="0"/>
          <p:nvPr/>
        </p:nvPicPr>
        <p:blipFill>
          <a:blip r:embed="rId4">
            <a:alphaModFix/>
          </a:blip>
          <a:stretch>
            <a:fillRect/>
          </a:stretch>
        </p:blipFill>
        <p:spPr>
          <a:xfrm>
            <a:off x="6749200" y="3456150"/>
            <a:ext cx="921000" cy="690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6"/>
          <p:cNvPicPr preferRelativeResize="0"/>
          <p:nvPr/>
        </p:nvPicPr>
        <p:blipFill rotWithShape="1">
          <a:blip r:embed="rId3">
            <a:alphaModFix/>
          </a:blip>
          <a:srcRect b="35026" l="40287" r="20391" t="12944"/>
          <a:stretch/>
        </p:blipFill>
        <p:spPr>
          <a:xfrm>
            <a:off x="6085050" y="1691322"/>
            <a:ext cx="1777802" cy="1815828"/>
          </a:xfrm>
          <a:prstGeom prst="rect">
            <a:avLst/>
          </a:prstGeom>
          <a:noFill/>
          <a:ln>
            <a:noFill/>
          </a:ln>
        </p:spPr>
      </p:pic>
      <p:sp>
        <p:nvSpPr>
          <p:cNvPr id="118" name="Google Shape;118;p26"/>
          <p:cNvSpPr txBox="1"/>
          <p:nvPr>
            <p:ph type="title"/>
          </p:nvPr>
        </p:nvSpPr>
        <p:spPr>
          <a:xfrm>
            <a:off x="1073700" y="2479"/>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Hello!</a:t>
            </a:r>
            <a:endParaRPr/>
          </a:p>
        </p:txBody>
      </p:sp>
      <p:sp>
        <p:nvSpPr>
          <p:cNvPr id="119" name="Google Shape;119;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20" name="Google Shape;120;p26"/>
          <p:cNvPicPr preferRelativeResize="0"/>
          <p:nvPr/>
        </p:nvPicPr>
        <p:blipFill>
          <a:blip r:embed="rId4">
            <a:alphaModFix/>
          </a:blip>
          <a:stretch>
            <a:fillRect/>
          </a:stretch>
        </p:blipFill>
        <p:spPr>
          <a:xfrm>
            <a:off x="6297300" y="-86475"/>
            <a:ext cx="1777800" cy="1777800"/>
          </a:xfrm>
          <a:prstGeom prst="rect">
            <a:avLst/>
          </a:prstGeom>
          <a:noFill/>
          <a:ln>
            <a:noFill/>
          </a:ln>
        </p:spPr>
      </p:pic>
      <p:pic>
        <p:nvPicPr>
          <p:cNvPr id="121" name="Google Shape;121;p26"/>
          <p:cNvPicPr preferRelativeResize="0"/>
          <p:nvPr/>
        </p:nvPicPr>
        <p:blipFill>
          <a:blip r:embed="rId5">
            <a:alphaModFix/>
          </a:blip>
          <a:stretch>
            <a:fillRect/>
          </a:stretch>
        </p:blipFill>
        <p:spPr>
          <a:xfrm>
            <a:off x="6011245" y="3289435"/>
            <a:ext cx="1714500" cy="1722729"/>
          </a:xfrm>
          <a:prstGeom prst="rect">
            <a:avLst/>
          </a:prstGeom>
          <a:noFill/>
          <a:ln>
            <a:noFill/>
          </a:ln>
        </p:spPr>
      </p:pic>
      <p:pic>
        <p:nvPicPr>
          <p:cNvPr id="122" name="Google Shape;122;p26"/>
          <p:cNvPicPr preferRelativeResize="0"/>
          <p:nvPr/>
        </p:nvPicPr>
        <p:blipFill>
          <a:blip r:embed="rId6">
            <a:alphaModFix/>
          </a:blip>
          <a:stretch>
            <a:fillRect/>
          </a:stretch>
        </p:blipFill>
        <p:spPr>
          <a:xfrm>
            <a:off x="4651732" y="605100"/>
            <a:ext cx="1777800" cy="1925950"/>
          </a:xfrm>
          <a:prstGeom prst="rect">
            <a:avLst/>
          </a:prstGeom>
          <a:noFill/>
          <a:ln>
            <a:noFill/>
          </a:ln>
        </p:spPr>
      </p:pic>
      <p:pic>
        <p:nvPicPr>
          <p:cNvPr id="123" name="Google Shape;123;p26"/>
          <p:cNvPicPr preferRelativeResize="0"/>
          <p:nvPr/>
        </p:nvPicPr>
        <p:blipFill>
          <a:blip r:embed="rId7">
            <a:alphaModFix/>
          </a:blip>
          <a:stretch>
            <a:fillRect/>
          </a:stretch>
        </p:blipFill>
        <p:spPr>
          <a:xfrm>
            <a:off x="7506050" y="2336178"/>
            <a:ext cx="1714500" cy="1682203"/>
          </a:xfrm>
          <a:prstGeom prst="rect">
            <a:avLst/>
          </a:prstGeom>
          <a:noFill/>
          <a:ln>
            <a:noFill/>
          </a:ln>
        </p:spPr>
      </p:pic>
      <p:sp>
        <p:nvSpPr>
          <p:cNvPr id="124" name="Google Shape;124;p26"/>
          <p:cNvSpPr txBox="1"/>
          <p:nvPr>
            <p:ph idx="2" type="body"/>
          </p:nvPr>
        </p:nvSpPr>
        <p:spPr>
          <a:xfrm>
            <a:off x="421750" y="542875"/>
            <a:ext cx="8334300" cy="3416400"/>
          </a:xfrm>
          <a:prstGeom prst="rect">
            <a:avLst/>
          </a:prstGeom>
        </p:spPr>
        <p:txBody>
          <a:bodyPr anchorCtr="0" anchor="t" bIns="91425" lIns="91425" spcFirstLastPara="1" rIns="3472775" wrap="square" tIns="91425">
            <a:noAutofit/>
          </a:bodyPr>
          <a:lstStyle/>
          <a:p>
            <a:pPr indent="0" lvl="0" marL="0" rtl="0" algn="l">
              <a:spcBef>
                <a:spcPts val="0"/>
              </a:spcBef>
              <a:spcAft>
                <a:spcPts val="0"/>
              </a:spcAft>
              <a:buNone/>
            </a:pPr>
            <a:r>
              <a:rPr lang="en-GB" sz="1600"/>
              <a:t>And welcome to spin 7 of COM3505…</a:t>
            </a:r>
            <a:endParaRPr sz="1600"/>
          </a:p>
          <a:p>
            <a:pPr indent="0" lvl="0" marL="0" rtl="0" algn="l">
              <a:spcBef>
                <a:spcPts val="0"/>
              </a:spcBef>
              <a:spcAft>
                <a:spcPts val="0"/>
              </a:spcAft>
              <a:buNone/>
            </a:pPr>
            <a:r>
              <a:rPr lang="en-GB" sz="1600"/>
              <a:t>The course this year will be taught by:</a:t>
            </a:r>
            <a:endParaRPr sz="1600"/>
          </a:p>
          <a:p>
            <a:pPr indent="-330200" lvl="0" marL="457200" rtl="0" algn="l">
              <a:spcBef>
                <a:spcPts val="0"/>
              </a:spcBef>
              <a:spcAft>
                <a:spcPts val="0"/>
              </a:spcAft>
              <a:buSzPts val="1600"/>
              <a:buChar char="●"/>
            </a:pPr>
            <a:r>
              <a:rPr lang="en-GB" sz="1600"/>
              <a:t>Hamish Cunningham </a:t>
            </a:r>
            <a:r>
              <a:rPr lang="en-GB" sz="1600" u="sng">
                <a:solidFill>
                  <a:schemeClr val="hlink"/>
                </a:solidFill>
                <a:hlinkClick r:id="rId8"/>
              </a:rPr>
              <a:t>hamish.gate.ac.uk</a:t>
            </a:r>
            <a:endParaRPr sz="1600"/>
          </a:p>
          <a:p>
            <a:pPr indent="-330200" lvl="0" marL="457200" rtl="0" algn="l">
              <a:spcBef>
                <a:spcPts val="0"/>
              </a:spcBef>
              <a:spcAft>
                <a:spcPts val="0"/>
              </a:spcAft>
              <a:buSzPts val="1600"/>
              <a:buChar char="●"/>
            </a:pPr>
            <a:r>
              <a:rPr lang="en-GB" sz="1600"/>
              <a:t>Gareth Coleman  </a:t>
            </a:r>
            <a:r>
              <a:rPr lang="en-GB" sz="1600" u="sng">
                <a:solidFill>
                  <a:schemeClr val="hlink"/>
                </a:solidFill>
                <a:hlinkClick r:id="rId9"/>
              </a:rPr>
              <a:t>reyt.repair</a:t>
            </a:r>
            <a:r>
              <a:rPr lang="en-GB"/>
              <a:t>/</a:t>
            </a:r>
            <a:r>
              <a:rPr lang="en-GB" sz="1600" u="sng">
                <a:solidFill>
                  <a:schemeClr val="hlink"/>
                </a:solidFill>
                <a:hlinkClick r:id="rId10"/>
              </a:rPr>
              <a:t>bitfixit.co.uk</a:t>
            </a:r>
            <a:endParaRPr sz="1600"/>
          </a:p>
          <a:p>
            <a:pPr indent="-330200" lvl="0" marL="457200" rtl="0" algn="l">
              <a:spcBef>
                <a:spcPts val="0"/>
              </a:spcBef>
              <a:spcAft>
                <a:spcPts val="0"/>
              </a:spcAft>
              <a:buSzPts val="1600"/>
              <a:buChar char="●"/>
            </a:pPr>
            <a:r>
              <a:rPr lang="en-GB" sz="1600"/>
              <a:t>Tom Howard</a:t>
            </a:r>
            <a:endParaRPr sz="1600"/>
          </a:p>
          <a:p>
            <a:pPr indent="-330200" lvl="0" marL="457200" rtl="0" algn="l">
              <a:spcBef>
                <a:spcPts val="0"/>
              </a:spcBef>
              <a:spcAft>
                <a:spcPts val="0"/>
              </a:spcAft>
              <a:buSzPts val="1600"/>
              <a:buChar char="●"/>
            </a:pPr>
            <a:r>
              <a:rPr lang="en-GB" sz="1600"/>
              <a:t>Mary Hewitt</a:t>
            </a:r>
            <a:endParaRPr sz="1600"/>
          </a:p>
          <a:p>
            <a:pPr indent="-330200" lvl="0" marL="457200" marR="0" rtl="0" algn="l">
              <a:spcBef>
                <a:spcPts val="0"/>
              </a:spcBef>
              <a:spcAft>
                <a:spcPts val="0"/>
              </a:spcAft>
              <a:buSzPts val="1600"/>
              <a:buChar char="●"/>
            </a:pPr>
            <a:r>
              <a:rPr lang="en-GB" sz="1600"/>
              <a:t>Zalán Lévai</a:t>
            </a:r>
            <a:endParaRPr sz="1600"/>
          </a:p>
          <a:p>
            <a:pPr indent="-330200" lvl="0" marL="457200" rtl="0" algn="l">
              <a:spcBef>
                <a:spcPts val="0"/>
              </a:spcBef>
              <a:spcAft>
                <a:spcPts val="0"/>
              </a:spcAft>
              <a:buSzPts val="1600"/>
              <a:buChar char="●"/>
            </a:pPr>
            <a:r>
              <a:rPr lang="en-GB" sz="1600"/>
              <a:t>Areeb Sherwani</a:t>
            </a:r>
            <a:endParaRPr sz="1600"/>
          </a:p>
          <a:p>
            <a:pPr indent="-330200" lvl="0" marL="457200" rtl="0" algn="l">
              <a:spcBef>
                <a:spcPts val="0"/>
              </a:spcBef>
              <a:spcAft>
                <a:spcPts val="0"/>
              </a:spcAft>
              <a:buSzPts val="1600"/>
              <a:buChar char="●"/>
            </a:pPr>
            <a:r>
              <a:rPr lang="en-GB" sz="1600"/>
              <a:t>Valentin Radu  </a:t>
            </a:r>
            <a:r>
              <a:rPr lang="en-GB" sz="1600" u="sng">
                <a:solidFill>
                  <a:schemeClr val="accent5"/>
                </a:solidFill>
                <a:hlinkClick r:id="rId11">
                  <a:extLst>
                    <a:ext uri="{A12FA001-AC4F-418D-AE19-62706E023703}">
                      <ahyp:hlinkClr val="tx"/>
                    </a:ext>
                  </a:extLst>
                </a:hlinkClick>
              </a:rPr>
              <a:t>vradu.uk</a:t>
            </a:r>
            <a:endParaRPr sz="1600"/>
          </a:p>
          <a:p>
            <a:pPr indent="0" lvl="0" marL="0" rtl="0" algn="l">
              <a:spcBef>
                <a:spcPts val="0"/>
              </a:spcBef>
              <a:spcAft>
                <a:spcPts val="0"/>
              </a:spcAft>
              <a:buNone/>
            </a:pPr>
            <a:r>
              <a:rPr lang="en-GB" sz="1600"/>
              <a:t>Today we’ll cover:</a:t>
            </a:r>
            <a:endParaRPr sz="1600"/>
          </a:p>
          <a:p>
            <a:pPr indent="-330200" lvl="0" marL="457200" rtl="0" algn="l">
              <a:spcBef>
                <a:spcPts val="0"/>
              </a:spcBef>
              <a:spcAft>
                <a:spcPts val="0"/>
              </a:spcAft>
              <a:buSzPts val="1600"/>
              <a:buChar char="●"/>
            </a:pPr>
            <a:r>
              <a:rPr i="1" lang="en-GB" sz="1600"/>
              <a:t>What is the IoT?</a:t>
            </a:r>
            <a:endParaRPr sz="1600"/>
          </a:p>
          <a:p>
            <a:pPr indent="-330200" lvl="0" marL="457200" rtl="0" algn="l">
              <a:spcBef>
                <a:spcPts val="0"/>
              </a:spcBef>
              <a:spcAft>
                <a:spcPts val="0"/>
              </a:spcAft>
              <a:buSzPts val="1600"/>
              <a:buChar char="●"/>
            </a:pPr>
            <a:r>
              <a:rPr lang="en-GB" sz="1600"/>
              <a:t>the course programme, </a:t>
            </a:r>
            <a:r>
              <a:rPr lang="en-GB" sz="1600"/>
              <a:t>how to pass,</a:t>
            </a:r>
            <a:br>
              <a:rPr lang="en-GB" sz="1600"/>
            </a:br>
            <a:r>
              <a:rPr lang="en-GB" sz="1600"/>
              <a:t>how you are assessed</a:t>
            </a:r>
            <a:endParaRPr sz="1600"/>
          </a:p>
          <a:p>
            <a:pPr indent="-330200" lvl="0" marL="457200" rtl="0" algn="l">
              <a:spcBef>
                <a:spcPts val="0"/>
              </a:spcBef>
              <a:spcAft>
                <a:spcPts val="0"/>
              </a:spcAft>
              <a:buSzPts val="1600"/>
              <a:buChar char="●"/>
            </a:pPr>
            <a:r>
              <a:rPr lang="en-GB" sz="1600"/>
              <a:t>delivery over gitlab, the notes &amp; </a:t>
            </a:r>
            <a:br>
              <a:rPr lang="en-GB" sz="1600"/>
            </a:br>
            <a:r>
              <a:rPr lang="en-GB" sz="1600"/>
              <a:t>exercises, hardware kits</a:t>
            </a:r>
            <a:endParaRPr sz="1600"/>
          </a:p>
          <a:p>
            <a:pPr indent="-330200" lvl="0" marL="457200" rtl="0" algn="l">
              <a:spcBef>
                <a:spcPts val="0"/>
              </a:spcBef>
              <a:spcAft>
                <a:spcPts val="0"/>
              </a:spcAft>
              <a:buSzPts val="1600"/>
              <a:buChar char="●"/>
            </a:pPr>
            <a:r>
              <a:rPr lang="en-GB" sz="1600"/>
              <a:t>Q&amp;A, week 1 TODOs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pic>
        <p:nvPicPr>
          <p:cNvPr id="125" name="Google Shape;125;p26"/>
          <p:cNvPicPr preferRelativeResize="0"/>
          <p:nvPr/>
        </p:nvPicPr>
        <p:blipFill>
          <a:blip r:embed="rId12">
            <a:alphaModFix/>
          </a:blip>
          <a:stretch>
            <a:fillRect/>
          </a:stretch>
        </p:blipFill>
        <p:spPr>
          <a:xfrm>
            <a:off x="7566926" y="710826"/>
            <a:ext cx="1714499" cy="1714499"/>
          </a:xfrm>
          <a:prstGeom prst="rect">
            <a:avLst/>
          </a:prstGeom>
          <a:noFill/>
          <a:ln>
            <a:noFill/>
          </a:ln>
        </p:spPr>
      </p:pic>
      <p:pic>
        <p:nvPicPr>
          <p:cNvPr id="126" name="Google Shape;126;p26"/>
          <p:cNvPicPr preferRelativeResize="0"/>
          <p:nvPr/>
        </p:nvPicPr>
        <p:blipFill>
          <a:blip r:embed="rId13">
            <a:alphaModFix/>
          </a:blip>
          <a:stretch>
            <a:fillRect/>
          </a:stretch>
        </p:blipFill>
        <p:spPr>
          <a:xfrm>
            <a:off x="4455850" y="2531050"/>
            <a:ext cx="1777802" cy="177780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7"/>
          <p:cNvSpPr txBox="1"/>
          <p:nvPr>
            <p:ph idx="2" type="body"/>
          </p:nvPr>
        </p:nvSpPr>
        <p:spPr>
          <a:xfrm>
            <a:off x="387900" y="484325"/>
            <a:ext cx="3856200" cy="63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out of everyone in this “room”?</a:t>
            </a:r>
            <a:endParaRPr/>
          </a:p>
        </p:txBody>
      </p:sp>
      <p:sp>
        <p:nvSpPr>
          <p:cNvPr id="132" name="Google Shape;132;p27"/>
          <p:cNvSpPr txBox="1"/>
          <p:nvPr>
            <p:ph type="title"/>
          </p:nvPr>
        </p:nvSpPr>
        <p:spPr>
          <a:xfrm>
            <a:off x="10737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Who’s going to learn the most...</a:t>
            </a:r>
            <a:endParaRPr/>
          </a:p>
        </p:txBody>
      </p:sp>
      <p:sp>
        <p:nvSpPr>
          <p:cNvPr id="133" name="Google Shape;133;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tumblr_inline_om18cfnmAE1ur7yax_1280.png" id="134" name="Google Shape;134;p27"/>
          <p:cNvPicPr preferRelativeResize="0"/>
          <p:nvPr/>
        </p:nvPicPr>
        <p:blipFill>
          <a:blip r:embed="rId3">
            <a:alphaModFix/>
          </a:blip>
          <a:stretch>
            <a:fillRect/>
          </a:stretch>
        </p:blipFill>
        <p:spPr>
          <a:xfrm>
            <a:off x="4273400" y="1017725"/>
            <a:ext cx="4337700" cy="3762955"/>
          </a:xfrm>
          <a:prstGeom prst="rect">
            <a:avLst/>
          </a:prstGeom>
          <a:noFill/>
          <a:ln>
            <a:noFill/>
          </a:ln>
        </p:spPr>
      </p:pic>
      <p:sp>
        <p:nvSpPr>
          <p:cNvPr id="135" name="Google Shape;135;p27"/>
          <p:cNvSpPr txBox="1"/>
          <p:nvPr>
            <p:ph idx="2" type="body"/>
          </p:nvPr>
        </p:nvSpPr>
        <p:spPr>
          <a:xfrm>
            <a:off x="472100" y="883100"/>
            <a:ext cx="3856200" cy="25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3600"/>
              <a:t>Me!</a:t>
            </a:r>
            <a:endParaRPr b="1" sz="3600"/>
          </a:p>
          <a:p>
            <a:pPr indent="0" lvl="0" marL="0" rtl="0" algn="l">
              <a:spcBef>
                <a:spcPts val="0"/>
              </a:spcBef>
              <a:spcAft>
                <a:spcPts val="0"/>
              </a:spcAft>
              <a:buNone/>
            </a:pPr>
            <a:r>
              <a:rPr b="1" lang="en-GB"/>
              <a:t>Help yourself to learn</a:t>
            </a:r>
            <a:r>
              <a:rPr lang="en-GB"/>
              <a:t> by:</a:t>
            </a:r>
            <a:endParaRPr/>
          </a:p>
          <a:p>
            <a:pPr indent="-317500" lvl="0" marL="457200" rtl="0" algn="l">
              <a:spcBef>
                <a:spcPts val="0"/>
              </a:spcBef>
              <a:spcAft>
                <a:spcPts val="0"/>
              </a:spcAft>
              <a:buSzPts val="1400"/>
              <a:buChar char="●"/>
            </a:pPr>
            <a:r>
              <a:rPr lang="en-GB"/>
              <a:t>building stuff (this is a </a:t>
            </a:r>
            <a:r>
              <a:rPr i="1" lang="en-GB"/>
              <a:t>practical</a:t>
            </a:r>
            <a:r>
              <a:rPr lang="en-GB"/>
              <a:t> course!)</a:t>
            </a:r>
            <a:endParaRPr/>
          </a:p>
          <a:p>
            <a:pPr indent="-317500" lvl="0" marL="457200" rtl="0" algn="l">
              <a:spcBef>
                <a:spcPts val="0"/>
              </a:spcBef>
              <a:spcAft>
                <a:spcPts val="0"/>
              </a:spcAft>
              <a:buSzPts val="1400"/>
              <a:buChar char="●"/>
            </a:pPr>
            <a:r>
              <a:rPr lang="en-GB"/>
              <a:t>figuring out what I’ve missed or got wrong! (and telling me, or better still fixing it in the course git repo and sending me a pull request)</a:t>
            </a:r>
            <a:endParaRPr/>
          </a:p>
          <a:p>
            <a:pPr indent="-317500" lvl="0" marL="457200" rtl="0" algn="l">
              <a:spcBef>
                <a:spcPts val="0"/>
              </a:spcBef>
              <a:spcAft>
                <a:spcPts val="0"/>
              </a:spcAft>
              <a:buSzPts val="1400"/>
              <a:buChar char="●"/>
            </a:pPr>
            <a:r>
              <a:rPr lang="en-GB"/>
              <a:t>discussing with your peers (lab work is in pairs, mostly)</a:t>
            </a:r>
            <a:endParaRPr/>
          </a:p>
          <a:p>
            <a:pPr indent="-317500" lvl="0" marL="457200" rtl="0" algn="l">
              <a:spcBef>
                <a:spcPts val="0"/>
              </a:spcBef>
              <a:spcAft>
                <a:spcPts val="0"/>
              </a:spcAft>
              <a:buSzPts val="1400"/>
              <a:buChar char="●"/>
            </a:pPr>
            <a:r>
              <a:rPr i="1" lang="en-GB"/>
              <a:t>teaching</a:t>
            </a:r>
            <a:r>
              <a:rPr lang="en-GB"/>
              <a:t> others about what you’ve learned (but not doing their work for them!)</a:t>
            </a:r>
            <a:endParaRPr/>
          </a:p>
          <a:p>
            <a:pPr indent="-317500" lvl="0" marL="457200" rtl="0" algn="l">
              <a:spcBef>
                <a:spcPts val="0"/>
              </a:spcBef>
              <a:spcAft>
                <a:spcPts val="0"/>
              </a:spcAft>
              <a:buSzPts val="1400"/>
              <a:buChar char="●"/>
            </a:pPr>
            <a:r>
              <a:rPr lang="en-GB"/>
              <a:t>reading </a:t>
            </a:r>
            <a:r>
              <a:rPr i="1" lang="en-GB"/>
              <a:t>critically</a:t>
            </a:r>
            <a:r>
              <a:rPr lang="en-GB"/>
              <a:t> </a:t>
            </a:r>
            <a:r>
              <a:rPr lang="en-GB"/>
              <a:t>around the subject</a:t>
            </a:r>
            <a:br>
              <a:rPr lang="en-GB"/>
            </a:br>
            <a:r>
              <a:rPr lang="en-GB"/>
              <a:t>(and there’s </a:t>
            </a:r>
            <a:r>
              <a:rPr i="1" lang="en-GB"/>
              <a:t>plenty</a:t>
            </a:r>
            <a:r>
              <a:rPr lang="en-GB"/>
              <a:t> to read!)</a:t>
            </a:r>
            <a:endParaRPr/>
          </a:p>
          <a:p>
            <a:pPr indent="-317500" lvl="0" marL="457200" rtl="0" algn="l">
              <a:spcBef>
                <a:spcPts val="0"/>
              </a:spcBef>
              <a:spcAft>
                <a:spcPts val="0"/>
              </a:spcAft>
              <a:buSzPts val="1400"/>
              <a:buChar char="●"/>
            </a:pPr>
            <a:r>
              <a:rPr lang="en-GB"/>
              <a:t>and…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par>
                                <p:cTn fill="hold" nodeType="with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8"/>
          <p:cNvSpPr txBox="1"/>
          <p:nvPr>
            <p:ph idx="1" type="body"/>
          </p:nvPr>
        </p:nvSpPr>
        <p:spPr>
          <a:xfrm>
            <a:off x="838125" y="956875"/>
            <a:ext cx="80244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GB" sz="1600"/>
              <a:t>For the last couple of years </a:t>
            </a:r>
            <a:r>
              <a:rPr lang="en-GB" sz="1600"/>
              <a:t>w</a:t>
            </a:r>
            <a:r>
              <a:rPr lang="en-GB" sz="1600"/>
              <a:t>e’ve run a discussion board</a:t>
            </a:r>
            <a:br>
              <a:rPr lang="en-GB" sz="1600"/>
            </a:br>
            <a:r>
              <a:rPr lang="en-GB" sz="1600"/>
              <a:t>where you can ask questions, share code solutions and so on.</a:t>
            </a:r>
            <a:endParaRPr sz="1600"/>
          </a:p>
          <a:p>
            <a:pPr indent="-330200" lvl="0" marL="457200" rtl="0" algn="l">
              <a:spcBef>
                <a:spcPts val="0"/>
              </a:spcBef>
              <a:spcAft>
                <a:spcPts val="0"/>
              </a:spcAft>
              <a:buSzPts val="1600"/>
              <a:buChar char="●"/>
            </a:pPr>
            <a:r>
              <a:rPr lang="en-GB" sz="1600"/>
              <a:t>This worked well, so we’re keeping it this year.</a:t>
            </a:r>
            <a:endParaRPr sz="1600"/>
          </a:p>
          <a:p>
            <a:pPr indent="-330200" lvl="0" marL="457200" rtl="0" algn="l">
              <a:spcBef>
                <a:spcPts val="0"/>
              </a:spcBef>
              <a:spcAft>
                <a:spcPts val="0"/>
              </a:spcAft>
              <a:buSzPts val="1600"/>
              <a:buChar char="●"/>
            </a:pPr>
            <a:r>
              <a:rPr lang="en-GB" sz="1600"/>
              <a:t>The core facility is on Blackboard (groan?),</a:t>
            </a:r>
            <a:br>
              <a:rPr lang="en-GB" sz="1600"/>
            </a:br>
            <a:r>
              <a:rPr lang="en-GB" sz="1600"/>
              <a:t>but we also have a Discourse forum at </a:t>
            </a:r>
            <a:r>
              <a:rPr lang="en-GB" sz="1600" u="sng">
                <a:solidFill>
                  <a:schemeClr val="hlink"/>
                </a:solidFill>
                <a:hlinkClick r:id="rId3"/>
              </a:rPr>
              <a:t>forum.unphone.net</a:t>
            </a:r>
            <a:endParaRPr sz="1600"/>
          </a:p>
          <a:p>
            <a:pPr indent="-330200" lvl="0" marL="457200" rtl="0" algn="l">
              <a:spcBef>
                <a:spcPts val="0"/>
              </a:spcBef>
              <a:spcAft>
                <a:spcPts val="0"/>
              </a:spcAft>
              <a:buSzPts val="1600"/>
              <a:buChar char="●"/>
            </a:pPr>
            <a:r>
              <a:rPr lang="en-GB" sz="1600"/>
              <a:t>Use them like stack exchange or gitlab issues or a developer forum:</a:t>
            </a:r>
            <a:endParaRPr sz="1600"/>
          </a:p>
          <a:p>
            <a:pPr indent="-330200" lvl="1" marL="914400" rtl="0" algn="l">
              <a:spcBef>
                <a:spcPts val="0"/>
              </a:spcBef>
              <a:spcAft>
                <a:spcPts val="0"/>
              </a:spcAft>
              <a:buSzPts val="1600"/>
              <a:buChar char="○"/>
            </a:pPr>
            <a:r>
              <a:rPr lang="en-GB" sz="1600"/>
              <a:t>when you’re stuck ask a question</a:t>
            </a:r>
            <a:endParaRPr sz="1600"/>
          </a:p>
          <a:p>
            <a:pPr indent="-330200" lvl="1" marL="914400" rtl="0" algn="l">
              <a:spcBef>
                <a:spcPts val="0"/>
              </a:spcBef>
              <a:spcAft>
                <a:spcPts val="0"/>
              </a:spcAft>
              <a:buSzPts val="1600"/>
              <a:buChar char="○"/>
            </a:pPr>
            <a:r>
              <a:rPr lang="en-GB" sz="1600"/>
              <a:t>read others’ questions and make suggestions</a:t>
            </a:r>
            <a:endParaRPr sz="1600"/>
          </a:p>
          <a:p>
            <a:pPr indent="-330200" lvl="0" marL="457200" rtl="0" algn="l">
              <a:spcBef>
                <a:spcPts val="0"/>
              </a:spcBef>
              <a:spcAft>
                <a:spcPts val="0"/>
              </a:spcAft>
              <a:buSzPts val="1600"/>
              <a:buChar char="●"/>
            </a:pPr>
            <a:r>
              <a:rPr lang="en-GB" sz="1600"/>
              <a:t>There’s no such thing as a stupid question!</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GB" sz="1600"/>
              <a:t>#1 piece of advice for learning well:</a:t>
            </a:r>
            <a:endParaRPr sz="1600"/>
          </a:p>
          <a:p>
            <a:pPr indent="-330200" lvl="0" marL="457200" rtl="0" algn="l">
              <a:spcBef>
                <a:spcPts val="0"/>
              </a:spcBef>
              <a:spcAft>
                <a:spcPts val="0"/>
              </a:spcAft>
              <a:buSzPts val="1600"/>
              <a:buChar char="●"/>
            </a:pPr>
            <a:r>
              <a:rPr lang="en-GB" sz="1600"/>
              <a:t>Keep talking! Participate in the discussion groups!</a:t>
            </a:r>
            <a:br>
              <a:rPr lang="en-GB" sz="1600"/>
            </a:br>
            <a:r>
              <a:rPr lang="en-GB" sz="1600"/>
              <a:t>Let us know what you like and what you don’t!</a:t>
            </a:r>
            <a:br>
              <a:rPr lang="en-GB" sz="1600"/>
            </a:br>
            <a:r>
              <a:rPr lang="en-GB" sz="1600"/>
              <a:t>Send me 000s of £s in used notes!&lt;/joke&gt;</a:t>
            </a:r>
            <a:endParaRPr i="1" sz="1600"/>
          </a:p>
        </p:txBody>
      </p:sp>
      <p:sp>
        <p:nvSpPr>
          <p:cNvPr id="141" name="Google Shape;141;p28"/>
          <p:cNvSpPr txBox="1"/>
          <p:nvPr>
            <p:ph type="title"/>
          </p:nvPr>
        </p:nvSpPr>
        <p:spPr>
          <a:xfrm>
            <a:off x="9213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Learning to help, helping to learn:</a:t>
            </a:r>
            <a:br>
              <a:rPr lang="en-GB"/>
            </a:br>
            <a:r>
              <a:rPr lang="en-GB" u="sng"/>
              <a:t>discussion group</a:t>
            </a:r>
            <a:endParaRPr u="sng"/>
          </a:p>
        </p:txBody>
      </p:sp>
      <p:sp>
        <p:nvSpPr>
          <p:cNvPr id="142" name="Google Shape;142;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9"/>
          <p:cNvSpPr txBox="1"/>
          <p:nvPr>
            <p:ph idx="1" type="body"/>
          </p:nvPr>
        </p:nvSpPr>
        <p:spPr>
          <a:xfrm>
            <a:off x="921300" y="673875"/>
            <a:ext cx="74742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GB" sz="1600"/>
              <a:t>the tricky bit</a:t>
            </a:r>
            <a:r>
              <a:rPr lang="en-GB" sz="1600"/>
              <a:t>:</a:t>
            </a:r>
            <a:endParaRPr sz="1600"/>
          </a:p>
          <a:p>
            <a:pPr indent="-330200" lvl="1" marL="914400" rtl="0" algn="l">
              <a:spcBef>
                <a:spcPts val="0"/>
              </a:spcBef>
              <a:spcAft>
                <a:spcPts val="0"/>
              </a:spcAft>
              <a:buSzPts val="1600"/>
              <a:buChar char="○"/>
            </a:pPr>
            <a:r>
              <a:rPr lang="en-GB" sz="1600"/>
              <a:t>this is the final stretch of your degree with lots of deadlines, so it is challenging to have an open-ended assignment (LA2) at this point</a:t>
            </a:r>
            <a:endParaRPr sz="1600"/>
          </a:p>
          <a:p>
            <a:pPr indent="-330200" lvl="1" marL="914400" rtl="0" algn="l">
              <a:spcBef>
                <a:spcPts val="0"/>
              </a:spcBef>
              <a:spcAft>
                <a:spcPts val="0"/>
              </a:spcAft>
              <a:buSzPts val="1600"/>
              <a:buChar char="○"/>
            </a:pPr>
            <a:r>
              <a:rPr lang="en-GB" sz="1600"/>
              <a:t>the freedom to experiment is great but guidance on the parameters is a big help</a:t>
            </a:r>
            <a:endParaRPr sz="1600"/>
          </a:p>
          <a:p>
            <a:pPr indent="-330200" lvl="0" marL="457200" rtl="0" algn="l">
              <a:spcBef>
                <a:spcPts val="0"/>
              </a:spcBef>
              <a:spcAft>
                <a:spcPts val="0"/>
              </a:spcAft>
              <a:buSzPts val="1600"/>
              <a:buChar char="●"/>
            </a:pPr>
            <a:r>
              <a:rPr lang="en-GB" sz="1600"/>
              <a:t>helping you cope</a:t>
            </a:r>
            <a:r>
              <a:rPr lang="en-GB" sz="1600"/>
              <a:t>:</a:t>
            </a:r>
            <a:endParaRPr sz="1600"/>
          </a:p>
          <a:p>
            <a:pPr indent="-330200" lvl="1" marL="914400" rtl="0" algn="l">
              <a:spcBef>
                <a:spcPts val="0"/>
              </a:spcBef>
              <a:spcAft>
                <a:spcPts val="0"/>
              </a:spcAft>
              <a:buSzPts val="1600"/>
              <a:buChar char="○"/>
            </a:pPr>
            <a:r>
              <a:rPr lang="en-GB" sz="1600"/>
              <a:t>we publish assessment 2 before Easter</a:t>
            </a:r>
            <a:br>
              <a:rPr lang="en-GB" sz="1600"/>
            </a:br>
            <a:r>
              <a:rPr lang="en-GB" sz="1600"/>
              <a:t>(if you wish you can almost finish the course over the holiday!)</a:t>
            </a:r>
            <a:endParaRPr sz="1600"/>
          </a:p>
          <a:p>
            <a:pPr indent="-330200" lvl="1" marL="914400" rtl="0" algn="l">
              <a:spcBef>
                <a:spcPts val="0"/>
              </a:spcBef>
              <a:spcAft>
                <a:spcPts val="0"/>
              </a:spcAft>
              <a:buSzPts val="1600"/>
              <a:buChar char="○"/>
            </a:pPr>
            <a:r>
              <a:rPr lang="en-GB" sz="1600"/>
              <a:t>LA1 is a (smaller) dry-run for LA2, so feedback from LA1 can guide you in LA2</a:t>
            </a:r>
            <a:endParaRPr sz="1600"/>
          </a:p>
          <a:p>
            <a:pPr indent="-330200" lvl="0" marL="457200" rtl="0" algn="l">
              <a:spcBef>
                <a:spcPts val="0"/>
              </a:spcBef>
              <a:spcAft>
                <a:spcPts val="0"/>
              </a:spcAft>
              <a:buSzPts val="1600"/>
              <a:buChar char="●"/>
            </a:pPr>
            <a:r>
              <a:rPr lang="en-GB" sz="1600"/>
              <a:t>pressure of space in DIA 2.02 means you will need to share workstations, and  mostly you will be assessed as a team of 2 for LA1 and LA2, </a:t>
            </a:r>
            <a:r>
              <a:rPr i="1" lang="en-GB" sz="1600"/>
              <a:t>if you (both) wish</a:t>
            </a:r>
            <a:endParaRPr sz="1600"/>
          </a:p>
          <a:p>
            <a:pPr indent="-330200" lvl="0" marL="457200" rtl="0" algn="l">
              <a:spcBef>
                <a:spcPts val="0"/>
              </a:spcBef>
              <a:spcAft>
                <a:spcPts val="0"/>
              </a:spcAft>
              <a:buSzPts val="1600"/>
              <a:buChar char="●"/>
            </a:pPr>
            <a:r>
              <a:rPr lang="en-GB" sz="1600"/>
              <a:t>in the lab please try to sit in the same place each week, and please print your name / email on a sheet of paper beside you on the desk</a:t>
            </a:r>
            <a:endParaRPr sz="1600"/>
          </a:p>
        </p:txBody>
      </p:sp>
      <p:sp>
        <p:nvSpPr>
          <p:cNvPr id="148" name="Google Shape;148;p29"/>
          <p:cNvSpPr txBox="1"/>
          <p:nvPr>
            <p:ph type="title"/>
          </p:nvPr>
        </p:nvSpPr>
        <p:spPr>
          <a:xfrm>
            <a:off x="9213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Good news / bad news</a:t>
            </a:r>
            <a:endParaRPr u="sng"/>
          </a:p>
        </p:txBody>
      </p:sp>
      <p:sp>
        <p:nvSpPr>
          <p:cNvPr id="149" name="Google Shape;149;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0"/>
          <p:cNvSpPr txBox="1"/>
          <p:nvPr>
            <p:ph type="title"/>
          </p:nvPr>
        </p:nvSpPr>
        <p:spPr>
          <a:xfrm>
            <a:off x="9213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hanges </a:t>
            </a:r>
            <a:r>
              <a:rPr lang="en-GB"/>
              <a:t>from last year</a:t>
            </a:r>
            <a:endParaRPr u="sng"/>
          </a:p>
        </p:txBody>
      </p:sp>
      <p:sp>
        <p:nvSpPr>
          <p:cNvPr id="155" name="Google Shape;155;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6" name="Google Shape;156;p30"/>
          <p:cNvSpPr txBox="1"/>
          <p:nvPr>
            <p:ph idx="1" type="body"/>
          </p:nvPr>
        </p:nvSpPr>
        <p:spPr>
          <a:xfrm>
            <a:off x="464100" y="771475"/>
            <a:ext cx="80244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GB" sz="1600"/>
              <a:t>hardware platform has stabilised; ESP32S3 is still microprocessor of choice for a large segment of the IoT ecosystem, so great platform to be learning</a:t>
            </a:r>
            <a:endParaRPr sz="1600"/>
          </a:p>
          <a:p>
            <a:pPr indent="-330200" lvl="0" marL="457200" rtl="0" algn="l">
              <a:spcBef>
                <a:spcPts val="0"/>
              </a:spcBef>
              <a:spcAft>
                <a:spcPts val="0"/>
              </a:spcAft>
              <a:buSzPts val="1600"/>
              <a:buChar char="●"/>
            </a:pPr>
            <a:r>
              <a:rPr lang="en-GB" sz="1600"/>
              <a:t>chronic parts shortage since pandemic is finally easing</a:t>
            </a:r>
            <a:endParaRPr sz="1600"/>
          </a:p>
          <a:p>
            <a:pPr indent="-330200" lvl="0" marL="457200" rtl="0" algn="l">
              <a:spcBef>
                <a:spcPts val="0"/>
              </a:spcBef>
              <a:spcAft>
                <a:spcPts val="0"/>
              </a:spcAft>
              <a:buSzPts val="1600"/>
              <a:buChar char="●"/>
            </a:pPr>
            <a:r>
              <a:rPr lang="en-GB" sz="1600"/>
              <a:t>releasing end user version of the unPhone (only around 3 years late, but hey ho)</a:t>
            </a:r>
            <a:endParaRPr sz="1600"/>
          </a:p>
          <a:p>
            <a:pPr indent="-330200" lvl="0" marL="457200" rtl="0" algn="l">
              <a:spcBef>
                <a:spcPts val="0"/>
              </a:spcBef>
              <a:spcAft>
                <a:spcPts val="0"/>
              </a:spcAft>
              <a:buSzPts val="1600"/>
              <a:buChar char="●"/>
            </a:pPr>
            <a:r>
              <a:rPr lang="en-GB" sz="1600"/>
              <a:t>stable docker + platformio + web serial build method, that works well on Windows and Mac as well as (of course) Linux</a:t>
            </a:r>
            <a:endParaRPr sz="1600"/>
          </a:p>
          <a:p>
            <a:pPr indent="-330200" lvl="0" marL="457200" rtl="0" algn="l">
              <a:spcBef>
                <a:spcPts val="0"/>
              </a:spcBef>
              <a:spcAft>
                <a:spcPts val="0"/>
              </a:spcAft>
              <a:buSzPts val="1600"/>
              <a:buChar char="●"/>
            </a:pPr>
            <a:r>
              <a:rPr lang="en-GB" sz="1600"/>
              <a:t>IDF and Arduino core versions: we’re still using 4.4.x and 2.0.x releases while waiting for 5.1.x / 3.0.0 (the latter is in alpha at present and will likely need a fair bit of migration work)</a:t>
            </a:r>
            <a:endParaRPr sz="1600"/>
          </a:p>
          <a:p>
            <a:pPr indent="-330200" lvl="0" marL="457200" rtl="0" algn="l">
              <a:spcBef>
                <a:spcPts val="0"/>
              </a:spcBef>
              <a:spcAft>
                <a:spcPts val="0"/>
              </a:spcAft>
              <a:buSzPts val="1600"/>
              <a:buChar char="●"/>
            </a:pPr>
            <a:r>
              <a:rPr lang="en-GB" sz="1600"/>
              <a:t>the climate crisis is finally over and we’re no longer rushing headlong to emulate the lemmings (only joking, unfortunately)</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1"/>
          <p:cNvSpPr txBox="1"/>
          <p:nvPr>
            <p:ph type="title"/>
          </p:nvPr>
        </p:nvSpPr>
        <p:spPr>
          <a:xfrm>
            <a:off x="1073700" y="640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So: w</a:t>
            </a:r>
            <a:r>
              <a:rPr lang="en-GB"/>
              <a:t>hat</a:t>
            </a:r>
            <a:r>
              <a:rPr b="1" i="1" lang="en-GB"/>
              <a:t> is</a:t>
            </a:r>
            <a:r>
              <a:rPr lang="en-GB"/>
              <a:t> the Internet of Things (IoT)?</a:t>
            </a:r>
            <a:endParaRPr/>
          </a:p>
        </p:txBody>
      </p:sp>
      <p:sp>
        <p:nvSpPr>
          <p:cNvPr id="162" name="Google Shape;162;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3" name="Google Shape;163;p31"/>
          <p:cNvSpPr txBox="1"/>
          <p:nvPr>
            <p:ph idx="1" type="body"/>
          </p:nvPr>
        </p:nvSpPr>
        <p:spPr>
          <a:xfrm>
            <a:off x="634800" y="759275"/>
            <a:ext cx="8024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600"/>
              <a:t>A world robot?!</a:t>
            </a:r>
            <a:endParaRPr sz="1600"/>
          </a:p>
          <a:p>
            <a:pPr indent="0" lvl="0" marL="0" rtl="0" algn="l">
              <a:spcBef>
                <a:spcPts val="0"/>
              </a:spcBef>
              <a:spcAft>
                <a:spcPts val="0"/>
              </a:spcAft>
              <a:buNone/>
            </a:pPr>
            <a:r>
              <a:t/>
            </a:r>
            <a:endParaRPr sz="1600"/>
          </a:p>
          <a:p>
            <a:pPr indent="0" lvl="0" marL="457200" rtl="0" algn="l">
              <a:spcBef>
                <a:spcPts val="0"/>
              </a:spcBef>
              <a:spcAft>
                <a:spcPts val="0"/>
              </a:spcAft>
              <a:buNone/>
            </a:pPr>
            <a:r>
              <a:rPr lang="en-GB" sz="1600"/>
              <a:t>...the Internet of Things has </a:t>
            </a:r>
            <a:r>
              <a:rPr b="1" lang="en-GB" sz="1600"/>
              <a:t>three parts</a:t>
            </a:r>
            <a:r>
              <a:rPr lang="en-GB" sz="1600"/>
              <a:t>. There are the </a:t>
            </a:r>
            <a:r>
              <a:rPr b="1" lang="en-GB" sz="1600"/>
              <a:t>sensors</a:t>
            </a:r>
            <a:r>
              <a:rPr lang="en-GB" sz="1600"/>
              <a:t> that collect data about us and our environment... Then there are the “</a:t>
            </a:r>
            <a:r>
              <a:rPr b="1" lang="en-GB" sz="1600"/>
              <a:t>smarts</a:t>
            </a:r>
            <a:r>
              <a:rPr lang="en-GB" sz="1600"/>
              <a:t>” that figure out what the data means and what to do about it... And finally, there are the </a:t>
            </a:r>
            <a:r>
              <a:rPr b="1" lang="en-GB" sz="1600"/>
              <a:t>actuators</a:t>
            </a:r>
            <a:r>
              <a:rPr lang="en-GB" sz="1600"/>
              <a:t> that affect our environment. … You can think of the sensors as the </a:t>
            </a:r>
            <a:r>
              <a:rPr b="1" lang="en-GB" sz="1600"/>
              <a:t>eyes and ears</a:t>
            </a:r>
            <a:r>
              <a:rPr lang="en-GB" sz="1600"/>
              <a:t> of the internet. You can think of the actuators as the </a:t>
            </a:r>
            <a:r>
              <a:rPr b="1" lang="en-GB" sz="1600"/>
              <a:t>hands and feet</a:t>
            </a:r>
            <a:r>
              <a:rPr lang="en-GB" sz="1600"/>
              <a:t> of the internet. And you can think of the stuff in the middle as the</a:t>
            </a:r>
            <a:r>
              <a:rPr b="1" lang="en-GB" sz="1600"/>
              <a:t> brain</a:t>
            </a:r>
            <a:r>
              <a:rPr lang="en-GB" sz="1600"/>
              <a:t>. We are building an internet that senses, thinks, and acts. This is the classic definition of a robot. We’re building </a:t>
            </a:r>
            <a:r>
              <a:rPr b="1" lang="en-GB" sz="1600"/>
              <a:t>a world-size robot</a:t>
            </a:r>
            <a:r>
              <a:rPr lang="en-GB" sz="1600"/>
              <a:t>, and we don’t even realize it.</a:t>
            </a:r>
            <a:endParaRPr sz="1600"/>
          </a:p>
          <a:p>
            <a:pPr indent="0" lvl="0" marL="457200" rtl="0" algn="l">
              <a:spcBef>
                <a:spcPts val="0"/>
              </a:spcBef>
              <a:spcAft>
                <a:spcPts val="0"/>
              </a:spcAft>
              <a:buNone/>
            </a:pPr>
            <a:r>
              <a:t/>
            </a:r>
            <a:endParaRPr sz="1600"/>
          </a:p>
          <a:p>
            <a:pPr indent="0" lvl="0" marL="457200" rtl="0" algn="l">
              <a:spcBef>
                <a:spcPts val="0"/>
              </a:spcBef>
              <a:spcAft>
                <a:spcPts val="0"/>
              </a:spcAft>
              <a:buNone/>
            </a:pPr>
            <a:r>
              <a:rPr lang="en-GB" sz="1600"/>
              <a:t>(Schneier 2017, </a:t>
            </a:r>
            <a:r>
              <a:rPr i="1" lang="en-GB" sz="1600"/>
              <a:t>Click Here to Kill Everyone</a:t>
            </a:r>
            <a:r>
              <a:rPr lang="en-GB" sz="1600"/>
              <a:t>)</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GB" sz="1600"/>
              <a:t>At the other extreme…:</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1073700" y="2479"/>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What is the IoT (2)?   (more prosaically)</a:t>
            </a:r>
            <a:endParaRPr/>
          </a:p>
        </p:txBody>
      </p:sp>
      <p:sp>
        <p:nvSpPr>
          <p:cNvPr id="169" name="Google Shape;169;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0" name="Google Shape;170;p32"/>
          <p:cNvSpPr txBox="1"/>
          <p:nvPr>
            <p:ph idx="2" type="body"/>
          </p:nvPr>
        </p:nvSpPr>
        <p:spPr>
          <a:xfrm>
            <a:off x="486975" y="575175"/>
            <a:ext cx="8334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600"/>
              <a:t>At the other extreme the IoT is about what becomes possible when:</a:t>
            </a:r>
            <a:endParaRPr sz="1600"/>
          </a:p>
          <a:p>
            <a:pPr indent="-330200" lvl="0" marL="457200" rtl="0" algn="l">
              <a:spcBef>
                <a:spcPts val="0"/>
              </a:spcBef>
              <a:spcAft>
                <a:spcPts val="0"/>
              </a:spcAft>
              <a:buSzPts val="1600"/>
              <a:buChar char="●"/>
            </a:pPr>
            <a:r>
              <a:rPr lang="en-GB" sz="1600"/>
              <a:t>networked microcontrollers</a:t>
            </a:r>
            <a:r>
              <a:rPr b="1" lang="en-GB" sz="1600"/>
              <a:t>*</a:t>
            </a:r>
            <a:r>
              <a:rPr lang="en-GB" sz="1600"/>
              <a:t> become </a:t>
            </a:r>
            <a:r>
              <a:rPr b="1" lang="en-GB" sz="1600"/>
              <a:t>cheap</a:t>
            </a:r>
            <a:r>
              <a:rPr lang="en-GB" sz="1600"/>
              <a:t> enough to embed</a:t>
            </a:r>
            <a:br>
              <a:rPr lang="en-GB" sz="1600"/>
            </a:br>
            <a:r>
              <a:rPr lang="en-GB" sz="1600"/>
              <a:t>in very many everyday contexts,</a:t>
            </a:r>
            <a:endParaRPr sz="1600"/>
          </a:p>
          <a:p>
            <a:pPr indent="-330200" lvl="0" marL="457200" rtl="0" algn="l">
              <a:spcBef>
                <a:spcPts val="0"/>
              </a:spcBef>
              <a:spcAft>
                <a:spcPts val="0"/>
              </a:spcAft>
              <a:buSzPts val="1600"/>
              <a:buChar char="●"/>
            </a:pPr>
            <a:r>
              <a:rPr lang="en-GB" sz="1600"/>
              <a:t>from central heating thermostats to garage doors:</a:t>
            </a:r>
            <a:endParaRPr sz="1600"/>
          </a:p>
          <a:p>
            <a:pPr indent="-330200" lvl="0" marL="457200" rtl="0" algn="l">
              <a:spcBef>
                <a:spcPts val="0"/>
              </a:spcBef>
              <a:spcAft>
                <a:spcPts val="0"/>
              </a:spcAft>
              <a:buSzPts val="1600"/>
              <a:buChar char="●"/>
            </a:pPr>
            <a:r>
              <a:rPr lang="en-GB" sz="1600"/>
              <a:t>a massive expansion of the application space of computational devices.</a:t>
            </a:r>
            <a:endParaRPr sz="1600"/>
          </a:p>
          <a:p>
            <a:pPr indent="-330200" lvl="0" marL="457200" rtl="0" algn="l">
              <a:spcBef>
                <a:spcPts val="0"/>
              </a:spcBef>
              <a:spcAft>
                <a:spcPts val="0"/>
              </a:spcAft>
              <a:buSzPts val="1600"/>
              <a:buChar char="●"/>
            </a:pPr>
            <a:r>
              <a:rPr lang="en-GB" sz="1600"/>
              <a:t>These devices face </a:t>
            </a:r>
            <a:r>
              <a:rPr b="1" lang="en-GB" sz="1600"/>
              <a:t>tight constraints </a:t>
            </a:r>
            <a:r>
              <a:rPr lang="en-GB" sz="1600"/>
              <a:t>of power usage (or energy) and cost, and</a:t>
            </a:r>
            <a:endParaRPr sz="1600"/>
          </a:p>
          <a:p>
            <a:pPr indent="-330200" lvl="0" marL="457200" rtl="0" algn="l">
              <a:spcBef>
                <a:spcPts val="0"/>
              </a:spcBef>
              <a:spcAft>
                <a:spcPts val="0"/>
              </a:spcAft>
              <a:buSzPts val="1600"/>
              <a:buChar char="●"/>
            </a:pPr>
            <a:r>
              <a:rPr lang="en-GB" sz="1600"/>
              <a:t>concomitant challenges to their </a:t>
            </a:r>
            <a:r>
              <a:rPr b="1" lang="en-GB" sz="1600"/>
              <a:t>security </a:t>
            </a:r>
            <a:r>
              <a:rPr lang="en-GB" sz="1600"/>
              <a:t>and </a:t>
            </a:r>
            <a:r>
              <a:rPr b="1" lang="en-GB" sz="1600"/>
              <a:t>functionality</a:t>
            </a:r>
            <a:r>
              <a:rPr lang="en-GB" sz="1600"/>
              <a:t>.</a:t>
            </a:r>
            <a:endParaRPr sz="1600"/>
          </a:p>
          <a:p>
            <a:pPr indent="-330200" lvl="0" marL="457200" rtl="0" algn="l">
              <a:spcBef>
                <a:spcPts val="0"/>
              </a:spcBef>
              <a:spcAft>
                <a:spcPts val="0"/>
              </a:spcAft>
              <a:buSzPts val="1600"/>
              <a:buChar char="●"/>
            </a:pPr>
            <a:r>
              <a:rPr lang="en-GB" sz="1600"/>
              <a:t>They also quickly become extremely </a:t>
            </a:r>
            <a:r>
              <a:rPr b="1" lang="en-GB" sz="1600"/>
              <a:t>numerous</a:t>
            </a:r>
            <a:r>
              <a:rPr lang="en-GB" sz="1600"/>
              <a:t>, driving work on</a:t>
            </a:r>
            <a:endParaRPr sz="1600"/>
          </a:p>
          <a:p>
            <a:pPr indent="-330200" lvl="1" marL="914400" rtl="0" algn="l">
              <a:spcBef>
                <a:spcPts val="0"/>
              </a:spcBef>
              <a:spcAft>
                <a:spcPts val="0"/>
              </a:spcAft>
              <a:buSzPts val="1600"/>
              <a:buChar char="○"/>
            </a:pPr>
            <a:r>
              <a:rPr b="1" lang="en-GB" sz="1600"/>
              <a:t>big data</a:t>
            </a:r>
            <a:r>
              <a:rPr lang="en-GB" sz="1600"/>
              <a:t> analytics and</a:t>
            </a:r>
            <a:endParaRPr sz="1600"/>
          </a:p>
          <a:p>
            <a:pPr indent="-330200" lvl="1" marL="914400" rtl="0" algn="l">
              <a:spcBef>
                <a:spcPts val="0"/>
              </a:spcBef>
              <a:spcAft>
                <a:spcPts val="0"/>
              </a:spcAft>
              <a:buSzPts val="1600"/>
              <a:buChar char="○"/>
            </a:pPr>
            <a:r>
              <a:rPr b="1" lang="en-GB" sz="1600"/>
              <a:t>cloud</a:t>
            </a:r>
            <a:r>
              <a:rPr lang="en-GB" sz="1600"/>
              <a:t> computing.</a:t>
            </a:r>
            <a:endParaRPr sz="1600"/>
          </a:p>
          <a:p>
            <a:pPr indent="0" lvl="0" marL="457200" rtl="0" algn="l">
              <a:spcBef>
                <a:spcPts val="0"/>
              </a:spcBef>
              <a:spcAft>
                <a:spcPts val="0"/>
              </a:spcAft>
              <a:buNone/>
            </a:pPr>
            <a:r>
              <a:t/>
            </a:r>
            <a:endParaRPr sz="1600"/>
          </a:p>
          <a:p>
            <a:pPr indent="0" lvl="0" marL="457200" rtl="0" algn="l">
              <a:spcBef>
                <a:spcPts val="0"/>
              </a:spcBef>
              <a:spcAft>
                <a:spcPts val="0"/>
              </a:spcAft>
              <a:buNone/>
            </a:pPr>
            <a:r>
              <a:rPr b="1" lang="en-GB" sz="1600"/>
              <a:t>*MCU</a:t>
            </a:r>
            <a:r>
              <a:rPr lang="en-GB" sz="1600"/>
              <a:t>: i/o, memory and small CPU on a chip — </a:t>
            </a:r>
            <a:br>
              <a:rPr lang="en-GB" sz="1600"/>
            </a:br>
            <a:r>
              <a:rPr lang="en-GB" sz="1600"/>
              <a:t>  the smallest single die unit of computation;</a:t>
            </a:r>
            <a:br>
              <a:rPr lang="en-GB" sz="1600"/>
            </a:br>
            <a:r>
              <a:rPr lang="en-GB" sz="1600"/>
              <a:t>  cf. </a:t>
            </a:r>
            <a:r>
              <a:rPr b="1" lang="en-GB" sz="1600"/>
              <a:t>SoC</a:t>
            </a:r>
            <a:r>
              <a:rPr lang="en-GB" sz="1600"/>
              <a:t>, System on a Chip, which adds peripherals like video, USB, maybe </a:t>
            </a:r>
            <a:br>
              <a:rPr lang="en-GB" sz="1600"/>
            </a:br>
            <a:r>
              <a:rPr lang="en-GB" sz="1600"/>
              <a:t>  ethernet, etc. etc., and </a:t>
            </a:r>
            <a:r>
              <a:rPr b="1" lang="en-GB" sz="1600"/>
              <a:t>microprocessor</a:t>
            </a:r>
            <a:r>
              <a:rPr lang="en-GB" sz="1600"/>
              <a:t>, (big!) CPU only</a:t>
            </a:r>
            <a:endParaRPr sz="1600"/>
          </a:p>
          <a:p>
            <a:pPr indent="0" lvl="0" marL="0" rtl="0" algn="l">
              <a:spcBef>
                <a:spcPts val="0"/>
              </a:spcBef>
              <a:spcAft>
                <a:spcPts val="0"/>
              </a:spcAft>
              <a:buNone/>
            </a:pPr>
            <a:r>
              <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3"/>
          <p:cNvSpPr txBox="1"/>
          <p:nvPr>
            <p:ph type="title"/>
          </p:nvPr>
        </p:nvSpPr>
        <p:spPr>
          <a:xfrm>
            <a:off x="1146200" y="-88375"/>
            <a:ext cx="768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History, antecedents… a crossover point</a:t>
            </a:r>
            <a:endParaRPr/>
          </a:p>
        </p:txBody>
      </p:sp>
      <p:sp>
        <p:nvSpPr>
          <p:cNvPr id="176" name="Google Shape;176;p33"/>
          <p:cNvSpPr txBox="1"/>
          <p:nvPr>
            <p:ph idx="1" type="body"/>
          </p:nvPr>
        </p:nvSpPr>
        <p:spPr>
          <a:xfrm>
            <a:off x="428931" y="542875"/>
            <a:ext cx="8633100" cy="438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600"/>
              <a:t>The tech: networked devices go back perhaps 50 years or more; the term </a:t>
            </a:r>
            <a:r>
              <a:rPr b="1" lang="en-GB" sz="1600"/>
              <a:t>IoT</a:t>
            </a:r>
            <a:r>
              <a:rPr lang="en-GB" sz="1600"/>
              <a:t> itself </a:t>
            </a:r>
            <a:r>
              <a:rPr lang="en-GB" sz="1600"/>
              <a:t>is often credited to Kevin Ashton in 1999 (working on what became RFID at the Auto ID Lab at MIT).</a:t>
            </a:r>
            <a:endParaRPr sz="1600"/>
          </a:p>
          <a:p>
            <a:pPr indent="0" lvl="0" marL="0" rtl="0" algn="l">
              <a:spcBef>
                <a:spcPts val="0"/>
              </a:spcBef>
              <a:spcAft>
                <a:spcPts val="0"/>
              </a:spcAft>
              <a:buNone/>
            </a:pPr>
            <a:r>
              <a:rPr lang="en-GB" sz="1600"/>
              <a:t>Related and predecessor fields include:</a:t>
            </a:r>
            <a:endParaRPr sz="1600"/>
          </a:p>
          <a:p>
            <a:pPr indent="-330200" lvl="0" marL="457200" rtl="0" algn="l">
              <a:spcBef>
                <a:spcPts val="0"/>
              </a:spcBef>
              <a:spcAft>
                <a:spcPts val="0"/>
              </a:spcAft>
              <a:buSzPts val="1600"/>
              <a:buChar char="●"/>
            </a:pPr>
            <a:r>
              <a:rPr b="1" lang="en-GB" sz="1600"/>
              <a:t>embedded systems</a:t>
            </a:r>
            <a:r>
              <a:rPr lang="en-GB" sz="1600"/>
              <a:t>: computation built into devices with specific purposes (i.e. </a:t>
            </a:r>
            <a:r>
              <a:rPr b="1" lang="en-GB" sz="1600"/>
              <a:t>not</a:t>
            </a:r>
            <a:r>
              <a:rPr lang="en-GB" sz="1600"/>
              <a:t> general purpose computers)</a:t>
            </a:r>
            <a:endParaRPr sz="1600"/>
          </a:p>
          <a:p>
            <a:pPr indent="-330200" lvl="0" marL="457200" rtl="0" algn="l">
              <a:spcBef>
                <a:spcPts val="0"/>
              </a:spcBef>
              <a:spcAft>
                <a:spcPts val="0"/>
              </a:spcAft>
              <a:buSzPts val="1600"/>
              <a:buChar char="●"/>
            </a:pPr>
            <a:r>
              <a:rPr b="1" lang="en-GB" sz="1600"/>
              <a:t>ambient computing</a:t>
            </a:r>
            <a:r>
              <a:rPr lang="en-GB" sz="1600"/>
              <a:t> or </a:t>
            </a:r>
            <a:r>
              <a:rPr b="1" lang="en-GB" sz="1600"/>
              <a:t>ubiquitous computing</a:t>
            </a:r>
            <a:r>
              <a:rPr lang="en-GB" sz="1600"/>
              <a:t>: the trend for computation to move into more and more devices (Schneier: “</a:t>
            </a:r>
            <a:r>
              <a:rPr i="1" lang="en-GB" sz="1600"/>
              <a:t>We no longer have things with computers embedded in them. We have computers with things attached to them.</a:t>
            </a:r>
            <a:r>
              <a:rPr lang="en-GB" sz="1600"/>
              <a:t>”)</a:t>
            </a:r>
            <a:endParaRPr sz="1600"/>
          </a:p>
          <a:p>
            <a:pPr indent="-330200" lvl="0" marL="457200" rtl="0" algn="l">
              <a:spcBef>
                <a:spcPts val="0"/>
              </a:spcBef>
              <a:spcAft>
                <a:spcPts val="0"/>
              </a:spcAft>
              <a:buSzPts val="1600"/>
              <a:buChar char="●"/>
            </a:pPr>
            <a:r>
              <a:rPr b="1" lang="en-GB" sz="1600"/>
              <a:t>physical computing</a:t>
            </a:r>
            <a:r>
              <a:rPr lang="en-GB" sz="1600"/>
              <a:t> (or </a:t>
            </a:r>
            <a:r>
              <a:rPr b="1" lang="en-GB" sz="1600"/>
              <a:t>cyber-physical systems</a:t>
            </a:r>
            <a:r>
              <a:rPr lang="en-GB" sz="1600"/>
              <a:t>): computation dependent on sensor input and/or producing actuator output</a:t>
            </a:r>
            <a:endParaRPr sz="1600"/>
          </a:p>
          <a:p>
            <a:pPr indent="-330200" lvl="0" marL="457200" rtl="0" algn="l">
              <a:spcBef>
                <a:spcPts val="0"/>
              </a:spcBef>
              <a:spcAft>
                <a:spcPts val="0"/>
              </a:spcAft>
              <a:buSzPts val="1600"/>
              <a:buChar char="●"/>
            </a:pPr>
            <a:r>
              <a:rPr b="1" lang="en-GB" sz="1600"/>
              <a:t>distributed computing</a:t>
            </a:r>
            <a:r>
              <a:rPr lang="en-GB" sz="1600"/>
              <a:t>: jobs performed by multiple machines operating in concert</a:t>
            </a:r>
            <a:endParaRPr sz="1600"/>
          </a:p>
          <a:p>
            <a:pPr indent="-330200" lvl="0" marL="457200" rtl="0" algn="l">
              <a:spcBef>
                <a:spcPts val="0"/>
              </a:spcBef>
              <a:spcAft>
                <a:spcPts val="0"/>
              </a:spcAft>
              <a:buSzPts val="1600"/>
              <a:buChar char="●"/>
            </a:pPr>
            <a:r>
              <a:rPr b="1" lang="en-GB" sz="1600"/>
              <a:t>utility computing</a:t>
            </a:r>
            <a:r>
              <a:rPr lang="en-GB" sz="1600"/>
              <a:t>: the as-a-service model: software as a service, data as a... (“XAAS”)</a:t>
            </a:r>
            <a:endParaRPr b="1" sz="1600"/>
          </a:p>
          <a:p>
            <a:pPr indent="-330200" lvl="0" marL="457200" rtl="0" algn="l">
              <a:spcBef>
                <a:spcPts val="0"/>
              </a:spcBef>
              <a:spcAft>
                <a:spcPts val="0"/>
              </a:spcAft>
              <a:buSzPts val="1600"/>
              <a:buChar char="●"/>
            </a:pPr>
            <a:r>
              <a:rPr b="1" lang="en-GB" sz="1600"/>
              <a:t>the cloud</a:t>
            </a:r>
            <a:r>
              <a:rPr lang="en-GB" sz="1600"/>
              <a:t>: utility distributed computing</a:t>
            </a:r>
            <a:endParaRPr sz="1600"/>
          </a:p>
          <a:p>
            <a:pPr indent="-330200" lvl="0" marL="457200" rtl="0" algn="l">
              <a:spcBef>
                <a:spcPts val="0"/>
              </a:spcBef>
              <a:spcAft>
                <a:spcPts val="0"/>
              </a:spcAft>
              <a:buSzPts val="1600"/>
              <a:buChar char="●"/>
            </a:pPr>
            <a:r>
              <a:rPr lang="en-GB" sz="1600"/>
              <a:t>new buzz words: </a:t>
            </a:r>
            <a:r>
              <a:rPr b="1" lang="en-GB" sz="1600"/>
              <a:t>serverless</a:t>
            </a:r>
            <a:r>
              <a:rPr lang="en-GB" sz="1600"/>
              <a:t> (um, servers+software); </a:t>
            </a:r>
            <a:r>
              <a:rPr b="1" lang="en-GB" sz="1600"/>
              <a:t>fog</a:t>
            </a:r>
            <a:r>
              <a:rPr lang="en-GB" sz="1600"/>
              <a:t> (shift work back to the </a:t>
            </a:r>
            <a:r>
              <a:rPr b="1" lang="en-GB" sz="1600"/>
              <a:t>edge</a:t>
            </a:r>
            <a:r>
              <a:rPr lang="en-GB" sz="1600"/>
              <a:t>s)</a:t>
            </a:r>
            <a:endParaRPr sz="1600"/>
          </a:p>
          <a:p>
            <a:pPr indent="-330200" lvl="0" marL="457200" rtl="0" algn="l">
              <a:spcBef>
                <a:spcPts val="0"/>
              </a:spcBef>
              <a:spcAft>
                <a:spcPts val="0"/>
              </a:spcAft>
              <a:buSzPts val="1600"/>
              <a:buChar char="●"/>
            </a:pPr>
            <a:r>
              <a:rPr lang="en-GB" sz="1600"/>
              <a:t>new kid on the block: </a:t>
            </a:r>
            <a:r>
              <a:rPr b="1" lang="en-GB" sz="1600"/>
              <a:t>generative AI</a:t>
            </a:r>
            <a:r>
              <a:rPr lang="en-GB" sz="1600"/>
              <a:t>. Thought for the day: if LLM safety is like DRM’s analogue hole (</a:t>
            </a:r>
            <a:r>
              <a:rPr lang="en-GB" sz="1600"/>
              <a:t>impossible to fix by definition</a:t>
            </a:r>
            <a:r>
              <a:rPr lang="en-GB" sz="1600"/>
              <a:t>), how safe will the world robot project be?!</a:t>
            </a:r>
            <a:endParaRPr sz="1600"/>
          </a:p>
        </p:txBody>
      </p:sp>
      <p:sp>
        <p:nvSpPr>
          <p:cNvPr id="177" name="Google Shape;177;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ph type="title"/>
          </p:nvPr>
        </p:nvSpPr>
        <p:spPr>
          <a:xfrm>
            <a:off x="911875" y="-80150"/>
            <a:ext cx="8444400" cy="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Course programme</a:t>
            </a:r>
            <a:endParaRPr/>
          </a:p>
        </p:txBody>
      </p:sp>
      <p:sp>
        <p:nvSpPr>
          <p:cNvPr id="183" name="Google Shape;183;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4" name="Google Shape;184;p34"/>
          <p:cNvSpPr txBox="1"/>
          <p:nvPr>
            <p:ph idx="2" type="body"/>
          </p:nvPr>
        </p:nvSpPr>
        <p:spPr>
          <a:xfrm>
            <a:off x="4701250" y="-154775"/>
            <a:ext cx="3667800" cy="34164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1500"/>
              </a:spcBef>
              <a:spcAft>
                <a:spcPts val="0"/>
              </a:spcAft>
              <a:buClr>
                <a:srgbClr val="24292E"/>
              </a:buClr>
              <a:buSzPts val="1800"/>
              <a:buAutoNum type="arabicPeriod" startAt="7"/>
            </a:pPr>
            <a:r>
              <a:rPr i="1" lang="en-GB" sz="1800">
                <a:solidFill>
                  <a:srgbClr val="24292E"/>
                </a:solidFill>
              </a:rPr>
              <a:t>Cloudside; </a:t>
            </a:r>
            <a:r>
              <a:rPr b="1" i="1" lang="en-GB" sz="1800">
                <a:solidFill>
                  <a:srgbClr val="24292E"/>
                </a:solidFill>
              </a:rPr>
              <a:t>choose project</a:t>
            </a:r>
            <a:r>
              <a:rPr i="1" lang="en-GB" sz="1800">
                <a:solidFill>
                  <a:srgbClr val="24292E"/>
                </a:solidFill>
              </a:rPr>
              <a:t>:</a:t>
            </a:r>
            <a:br>
              <a:rPr i="1" lang="en-GB" sz="1800">
                <a:solidFill>
                  <a:srgbClr val="24292E"/>
                </a:solidFill>
              </a:rPr>
            </a:br>
            <a:r>
              <a:rPr i="1" lang="en-GB" sz="1800">
                <a:solidFill>
                  <a:srgbClr val="24292E"/>
                </a:solidFill>
              </a:rPr>
              <a:t>unPhone? DIY alexa? smartwatch? etc.</a:t>
            </a:r>
            <a:br>
              <a:rPr i="1" lang="en-GB" sz="1800">
                <a:solidFill>
                  <a:srgbClr val="24292E"/>
                </a:solidFill>
              </a:rPr>
            </a:br>
            <a:r>
              <a:rPr b="1" lang="en-GB" sz="1800">
                <a:solidFill>
                  <a:srgbClr val="24292E"/>
                </a:solidFill>
              </a:rPr>
              <a:t>[Lab Assessment 1</a:t>
            </a:r>
            <a:r>
              <a:rPr b="1" lang="en-GB" sz="1800">
                <a:solidFill>
                  <a:srgbClr val="24292E"/>
                </a:solidFill>
              </a:rPr>
              <a:t>.]</a:t>
            </a:r>
            <a:br>
              <a:rPr b="1" lang="en-GB" sz="1800">
                <a:solidFill>
                  <a:srgbClr val="24292E"/>
                </a:solidFill>
              </a:rPr>
            </a:br>
            <a:r>
              <a:rPr lang="en-GB" sz="1800">
                <a:solidFill>
                  <a:srgbClr val="24292E"/>
                </a:solidFill>
              </a:rPr>
              <a:t>[Easter break.]</a:t>
            </a:r>
            <a:endParaRPr b="1" sz="1800">
              <a:solidFill>
                <a:srgbClr val="24292E"/>
              </a:solidFill>
            </a:endParaRPr>
          </a:p>
          <a:p>
            <a:pPr indent="-342900" lvl="0" marL="457200" rtl="0" algn="l">
              <a:lnSpc>
                <a:spcPct val="100000"/>
              </a:lnSpc>
              <a:spcBef>
                <a:spcPts val="1500"/>
              </a:spcBef>
              <a:spcAft>
                <a:spcPts val="0"/>
              </a:spcAft>
              <a:buClr>
                <a:srgbClr val="24292E"/>
              </a:buClr>
              <a:buSzPts val="1800"/>
              <a:buAutoNum type="arabicPeriod" startAt="7"/>
            </a:pPr>
            <a:r>
              <a:rPr i="1" lang="en-GB" sz="1800">
                <a:solidFill>
                  <a:srgbClr val="24292E"/>
                </a:solidFill>
              </a:rPr>
              <a:t>IoT applications.</a:t>
            </a:r>
            <a:endParaRPr b="1" sz="1800">
              <a:solidFill>
                <a:srgbClr val="24292E"/>
              </a:solidFill>
            </a:endParaRPr>
          </a:p>
          <a:p>
            <a:pPr indent="-342900" lvl="0" marL="457200" rtl="0" algn="l">
              <a:lnSpc>
                <a:spcPct val="100000"/>
              </a:lnSpc>
              <a:spcBef>
                <a:spcPts val="1500"/>
              </a:spcBef>
              <a:spcAft>
                <a:spcPts val="0"/>
              </a:spcAft>
              <a:buClr>
                <a:srgbClr val="24292E"/>
              </a:buClr>
              <a:buSzPts val="1800"/>
              <a:buAutoNum type="arabicPeriod" startAt="7"/>
            </a:pPr>
            <a:r>
              <a:rPr i="1" lang="en-GB" sz="1800">
                <a:solidFill>
                  <a:srgbClr val="24292E"/>
                </a:solidFill>
              </a:rPr>
              <a:t>AI at the Edge. [vr]</a:t>
            </a:r>
            <a:r>
              <a:rPr lang="en-GB" sz="1800">
                <a:solidFill>
                  <a:srgbClr val="24292E"/>
                </a:solidFill>
              </a:rPr>
              <a:t> </a:t>
            </a:r>
            <a:r>
              <a:rPr b="1" lang="en-GB" sz="1800">
                <a:solidFill>
                  <a:srgbClr val="24292E"/>
                </a:solidFill>
              </a:rPr>
              <a:t>[Mock]</a:t>
            </a:r>
            <a:endParaRPr sz="1800">
              <a:solidFill>
                <a:srgbClr val="24292E"/>
              </a:solidFill>
            </a:endParaRPr>
          </a:p>
          <a:p>
            <a:pPr indent="-342900" lvl="0" marL="457200" rtl="0" algn="l">
              <a:lnSpc>
                <a:spcPct val="100000"/>
              </a:lnSpc>
              <a:spcBef>
                <a:spcPts val="1500"/>
              </a:spcBef>
              <a:spcAft>
                <a:spcPts val="0"/>
              </a:spcAft>
              <a:buClr>
                <a:srgbClr val="24292E"/>
              </a:buClr>
              <a:buSzPts val="1800"/>
              <a:buAutoNum type="arabicPeriod" startAt="7"/>
            </a:pPr>
            <a:r>
              <a:rPr i="1" lang="en-GB" sz="1800">
                <a:solidFill>
                  <a:srgbClr val="24292E"/>
                </a:solidFill>
              </a:rPr>
              <a:t>WaterElves, Gripples and Fish Poo: IoT case studies</a:t>
            </a:r>
            <a:endParaRPr sz="1800">
              <a:solidFill>
                <a:srgbClr val="24292E"/>
              </a:solidFill>
            </a:endParaRPr>
          </a:p>
          <a:p>
            <a:pPr indent="-342900" lvl="0" marL="457200" rtl="0" algn="l">
              <a:lnSpc>
                <a:spcPct val="100000"/>
              </a:lnSpc>
              <a:spcBef>
                <a:spcPts val="1500"/>
              </a:spcBef>
              <a:spcAft>
                <a:spcPts val="0"/>
              </a:spcAft>
              <a:buClr>
                <a:srgbClr val="24292E"/>
              </a:buClr>
              <a:buSzPts val="1800"/>
              <a:buAutoNum type="arabicPeriod" startAt="7"/>
            </a:pPr>
            <a:r>
              <a:rPr i="1" lang="en-GB" sz="1800">
                <a:solidFill>
                  <a:srgbClr val="24292E"/>
                </a:solidFill>
              </a:rPr>
              <a:t>IoT 2022 Review.</a:t>
            </a:r>
            <a:endParaRPr i="1" sz="1800">
              <a:solidFill>
                <a:srgbClr val="24292E"/>
              </a:solidFill>
            </a:endParaRPr>
          </a:p>
          <a:p>
            <a:pPr indent="-342900" lvl="0" marL="457200" rtl="0" algn="l">
              <a:lnSpc>
                <a:spcPct val="100000"/>
              </a:lnSpc>
              <a:spcBef>
                <a:spcPts val="1500"/>
              </a:spcBef>
              <a:spcAft>
                <a:spcPts val="0"/>
              </a:spcAft>
              <a:buClr>
                <a:srgbClr val="24292E"/>
              </a:buClr>
              <a:buSzPts val="1800"/>
              <a:buAutoNum type="arabicPeriod" startAt="7"/>
            </a:pPr>
            <a:r>
              <a:rPr i="1" lang="en-GB" sz="1800">
                <a:solidFill>
                  <a:srgbClr val="24292E"/>
                </a:solidFill>
              </a:rPr>
              <a:t>The Future…</a:t>
            </a:r>
            <a:br>
              <a:rPr lang="en-GB" sz="1800">
                <a:solidFill>
                  <a:srgbClr val="24292E"/>
                </a:solidFill>
              </a:rPr>
            </a:br>
            <a:r>
              <a:rPr b="1" lang="en-GB" sz="1800">
                <a:solidFill>
                  <a:srgbClr val="24292E"/>
                </a:solidFill>
              </a:rPr>
              <a:t>[Lab assessment 2.]</a:t>
            </a:r>
            <a:endParaRPr b="1" sz="1800">
              <a:solidFill>
                <a:srgbClr val="24292E"/>
              </a:solidFill>
            </a:endParaRPr>
          </a:p>
          <a:p>
            <a:pPr indent="0" lvl="0" marL="0" rtl="0" algn="l">
              <a:lnSpc>
                <a:spcPct val="100000"/>
              </a:lnSpc>
              <a:spcBef>
                <a:spcPts val="1500"/>
              </a:spcBef>
              <a:spcAft>
                <a:spcPts val="1000"/>
              </a:spcAft>
              <a:buNone/>
            </a:pPr>
            <a:r>
              <a:rPr b="1" lang="en-GB" sz="1800">
                <a:solidFill>
                  <a:srgbClr val="24292E"/>
                </a:solidFill>
              </a:rPr>
              <a:t>[Exam q</a:t>
            </a:r>
            <a:r>
              <a:rPr b="1" lang="en-GB" sz="1800">
                <a:solidFill>
                  <a:srgbClr val="24292E"/>
                </a:solidFill>
              </a:rPr>
              <a:t>uiz (exam period).]</a:t>
            </a:r>
            <a:endParaRPr b="1" sz="1800">
              <a:solidFill>
                <a:srgbClr val="24292E"/>
              </a:solidFill>
            </a:endParaRPr>
          </a:p>
        </p:txBody>
      </p:sp>
      <p:sp>
        <p:nvSpPr>
          <p:cNvPr id="185" name="Google Shape;185;p34"/>
          <p:cNvSpPr txBox="1"/>
          <p:nvPr/>
        </p:nvSpPr>
        <p:spPr>
          <a:xfrm rot="-5400000">
            <a:off x="6137800" y="2393679"/>
            <a:ext cx="4671900" cy="7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400">
                <a:highlight>
                  <a:srgbClr val="D9D9D9"/>
                </a:highlight>
              </a:rPr>
              <a:t>Labs</a:t>
            </a:r>
            <a:r>
              <a:rPr lang="en-GB" sz="2400">
                <a:highlight>
                  <a:srgbClr val="D9D9D9"/>
                </a:highlight>
              </a:rPr>
              <a:t>: engineering your project</a:t>
            </a:r>
            <a:endParaRPr b="1" i="1" sz="2400">
              <a:highlight>
                <a:srgbClr val="D9D9D9"/>
              </a:highlight>
            </a:endParaRPr>
          </a:p>
        </p:txBody>
      </p:sp>
      <p:sp>
        <p:nvSpPr>
          <p:cNvPr id="186" name="Google Shape;186;p34"/>
          <p:cNvSpPr txBox="1"/>
          <p:nvPr/>
        </p:nvSpPr>
        <p:spPr>
          <a:xfrm rot="-5400000">
            <a:off x="1667400" y="2189458"/>
            <a:ext cx="5091000" cy="7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400">
                <a:highlight>
                  <a:srgbClr val="D9D9D9"/>
                </a:highlight>
              </a:rPr>
              <a:t>Labs</a:t>
            </a:r>
            <a:r>
              <a:rPr lang="en-GB" sz="2400">
                <a:highlight>
                  <a:srgbClr val="D9D9D9"/>
                </a:highlight>
              </a:rPr>
              <a:t>: hacking</a:t>
            </a:r>
            <a:r>
              <a:rPr lang="en-GB" sz="2400">
                <a:highlight>
                  <a:srgbClr val="D9D9D9"/>
                </a:highlight>
              </a:rPr>
              <a:t> connected devices</a:t>
            </a:r>
            <a:endParaRPr sz="2400">
              <a:highlight>
                <a:srgbClr val="D9D9D9"/>
              </a:highlight>
            </a:endParaRPr>
          </a:p>
        </p:txBody>
      </p:sp>
      <p:sp>
        <p:nvSpPr>
          <p:cNvPr id="187" name="Google Shape;187;p34"/>
          <p:cNvSpPr/>
          <p:nvPr/>
        </p:nvSpPr>
        <p:spPr>
          <a:xfrm>
            <a:off x="3815550" y="3059575"/>
            <a:ext cx="651600" cy="1133700"/>
          </a:xfrm>
          <a:prstGeom prst="rect">
            <a:avLst/>
          </a:prstGeom>
          <a:noFill/>
          <a:ln cap="flat" cmpd="sng" w="38100">
            <a:solidFill>
              <a:srgbClr val="FF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4"/>
          <p:cNvSpPr/>
          <p:nvPr/>
        </p:nvSpPr>
        <p:spPr>
          <a:xfrm>
            <a:off x="8076400" y="2522972"/>
            <a:ext cx="651600" cy="1670400"/>
          </a:xfrm>
          <a:prstGeom prst="rect">
            <a:avLst/>
          </a:prstGeom>
          <a:noFill/>
          <a:ln cap="flat" cmpd="sng" w="38100">
            <a:solidFill>
              <a:srgbClr val="FF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4"/>
          <p:cNvSpPr txBox="1"/>
          <p:nvPr>
            <p:ph idx="1" type="body"/>
          </p:nvPr>
        </p:nvSpPr>
        <p:spPr>
          <a:xfrm>
            <a:off x="580050" y="298695"/>
            <a:ext cx="3351000" cy="3416400"/>
          </a:xfrm>
          <a:prstGeom prst="rect">
            <a:avLst/>
          </a:prstGeom>
        </p:spPr>
        <p:txBody>
          <a:bodyPr anchorCtr="0" anchor="t" bIns="91425" lIns="91425" spcFirstLastPara="1" rIns="91425" wrap="square" tIns="91425">
            <a:noAutofit/>
          </a:bodyPr>
          <a:lstStyle/>
          <a:p>
            <a:pPr indent="-342900" lvl="0" marL="457200" rtl="0" algn="l">
              <a:spcBef>
                <a:spcPts val="1500"/>
              </a:spcBef>
              <a:spcAft>
                <a:spcPts val="0"/>
              </a:spcAft>
              <a:buClr>
                <a:srgbClr val="24292E"/>
              </a:buClr>
              <a:buSzPts val="1800"/>
              <a:buAutoNum type="arabicPeriod"/>
            </a:pPr>
            <a:r>
              <a:rPr i="1" lang="en-GB" sz="1800">
                <a:solidFill>
                  <a:srgbClr val="24292E"/>
                </a:solidFill>
              </a:rPr>
              <a:t>Introduction; d</a:t>
            </a:r>
            <a:r>
              <a:rPr i="1" lang="en-GB" sz="1800">
                <a:solidFill>
                  <a:srgbClr val="24292E"/>
                </a:solidFill>
              </a:rPr>
              <a:t>efine the IoT; get to know the lab</a:t>
            </a:r>
            <a:endParaRPr sz="1800">
              <a:solidFill>
                <a:srgbClr val="24292E"/>
              </a:solidFill>
            </a:endParaRPr>
          </a:p>
          <a:p>
            <a:pPr indent="-342900" lvl="0" marL="457200" rtl="0" algn="l">
              <a:spcBef>
                <a:spcPts val="0"/>
              </a:spcBef>
              <a:spcAft>
                <a:spcPts val="0"/>
              </a:spcAft>
              <a:buClr>
                <a:srgbClr val="24292E"/>
              </a:buClr>
              <a:buSzPts val="1800"/>
              <a:buAutoNum type="arabicPeriod"/>
            </a:pPr>
            <a:r>
              <a:rPr i="1" lang="en-GB" sz="1800">
                <a:solidFill>
                  <a:srgbClr val="24292E"/>
                </a:solidFill>
              </a:rPr>
              <a:t>SDKs, IDEs, toolchains; burning firmware.</a:t>
            </a:r>
            <a:endParaRPr sz="1800">
              <a:solidFill>
                <a:srgbClr val="24292E"/>
              </a:solidFill>
            </a:endParaRPr>
          </a:p>
          <a:p>
            <a:pPr indent="-342900" lvl="0" marL="457200" rtl="0" algn="l">
              <a:spcBef>
                <a:spcPts val="0"/>
              </a:spcBef>
              <a:spcAft>
                <a:spcPts val="0"/>
              </a:spcAft>
              <a:buClr>
                <a:srgbClr val="24292E"/>
              </a:buClr>
              <a:buSzPts val="1800"/>
              <a:buAutoNum type="arabicPeriod"/>
            </a:pPr>
            <a:r>
              <a:rPr i="1" lang="en-GB" sz="1800">
                <a:solidFill>
                  <a:srgbClr val="24292E"/>
                </a:solidFill>
              </a:rPr>
              <a:t>More history; blinking, sensing, WiFi.</a:t>
            </a:r>
            <a:endParaRPr sz="1800">
              <a:solidFill>
                <a:srgbClr val="24292E"/>
              </a:solidFill>
            </a:endParaRPr>
          </a:p>
          <a:p>
            <a:pPr indent="-342900" lvl="0" marL="457200" rtl="0" algn="l">
              <a:spcBef>
                <a:spcPts val="0"/>
              </a:spcBef>
              <a:spcAft>
                <a:spcPts val="0"/>
              </a:spcAft>
              <a:buClr>
                <a:srgbClr val="24292E"/>
              </a:buClr>
              <a:buSzPts val="1800"/>
              <a:buAutoNum type="arabicPeriod"/>
            </a:pPr>
            <a:r>
              <a:rPr i="1" lang="en-GB" sz="1800">
                <a:solidFill>
                  <a:srgbClr val="24292E"/>
                </a:solidFill>
              </a:rPr>
              <a:t>Country of the blind (and lame): networking (and updating) devices without user interfaces.</a:t>
            </a:r>
            <a:endParaRPr i="1" sz="1800">
              <a:solidFill>
                <a:srgbClr val="24292E"/>
              </a:solidFill>
            </a:endParaRPr>
          </a:p>
          <a:p>
            <a:pPr indent="-342900" lvl="0" marL="457200" rtl="0" algn="l">
              <a:spcBef>
                <a:spcPts val="0"/>
              </a:spcBef>
              <a:spcAft>
                <a:spcPts val="0"/>
              </a:spcAft>
              <a:buClr>
                <a:srgbClr val="24292E"/>
              </a:buClr>
              <a:buSzPts val="1800"/>
              <a:buAutoNum type="arabicPeriod"/>
            </a:pPr>
            <a:r>
              <a:rPr i="1" lang="en-GB" sz="1800">
                <a:solidFill>
                  <a:srgbClr val="24292E"/>
                </a:solidFill>
              </a:rPr>
              <a:t>Local protocols: sensing and responding. [gc]</a:t>
            </a:r>
            <a:endParaRPr i="1" sz="1800">
              <a:solidFill>
                <a:srgbClr val="24292E"/>
              </a:solidFill>
            </a:endParaRPr>
          </a:p>
          <a:p>
            <a:pPr indent="-342900" lvl="0" marL="457200" rtl="0" algn="l">
              <a:spcBef>
                <a:spcPts val="0"/>
              </a:spcBef>
              <a:spcAft>
                <a:spcPts val="0"/>
              </a:spcAft>
              <a:buClr>
                <a:srgbClr val="24292E"/>
              </a:buClr>
              <a:buSzPts val="1800"/>
              <a:buAutoNum type="arabicPeriod"/>
            </a:pPr>
            <a:r>
              <a:rPr i="1" lang="en-GB" sz="1800">
                <a:solidFill>
                  <a:srgbClr val="24292E"/>
                </a:solidFill>
              </a:rPr>
              <a:t>Machine learning &amp; analytics for MCUs. [vr]</a:t>
            </a:r>
            <a:endParaRPr i="1" sz="1800">
              <a:solidFill>
                <a:srgbClr val="24292E"/>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idx="1" type="body"/>
          </p:nvPr>
        </p:nvSpPr>
        <p:spPr>
          <a:xfrm>
            <a:off x="292975" y="565550"/>
            <a:ext cx="4305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T</a:t>
            </a:r>
            <a:r>
              <a:rPr lang="en-GB" sz="1800"/>
              <a:t>his is a 10 credit level 3 course. </a:t>
            </a:r>
            <a:r>
              <a:rPr lang="en-GB" sz="1800"/>
              <a:t>Assessment is by:</a:t>
            </a:r>
            <a:endParaRPr sz="1800"/>
          </a:p>
          <a:p>
            <a:pPr indent="-342900" lvl="0" marL="457200" rtl="0" algn="l">
              <a:spcBef>
                <a:spcPts val="0"/>
              </a:spcBef>
              <a:spcAft>
                <a:spcPts val="0"/>
              </a:spcAft>
              <a:buSzPts val="1800"/>
              <a:buChar char="●"/>
            </a:pPr>
            <a:r>
              <a:rPr b="1" lang="en-GB" sz="1800"/>
              <a:t>threshold and grading</a:t>
            </a:r>
            <a:endParaRPr b="1" sz="1800"/>
          </a:p>
          <a:p>
            <a:pPr indent="-342900" lvl="0" marL="457200" rtl="0" algn="l">
              <a:spcBef>
                <a:spcPts val="0"/>
              </a:spcBef>
              <a:spcAft>
                <a:spcPts val="0"/>
              </a:spcAft>
              <a:buSzPts val="1800"/>
              <a:buChar char="●"/>
            </a:pPr>
            <a:r>
              <a:rPr lang="en-GB" sz="1800"/>
              <a:t>threshold: assessment 1 (week 7) and the exam (week 12+, mock in week 9) are pass/fail; they contribute 40 marks (or 0!)</a:t>
            </a:r>
            <a:endParaRPr sz="1800"/>
          </a:p>
          <a:p>
            <a:pPr indent="-342900" lvl="0" marL="457200" rtl="0" algn="l">
              <a:spcBef>
                <a:spcPts val="0"/>
              </a:spcBef>
              <a:spcAft>
                <a:spcPts val="0"/>
              </a:spcAft>
              <a:buSzPts val="1800"/>
              <a:buChar char="●"/>
            </a:pPr>
            <a:r>
              <a:rPr lang="en-GB" sz="1800"/>
              <a:t>assessment 2 (the project; weeks 8 — 12) contributes &lt;= 60 marks:</a:t>
            </a:r>
            <a:endParaRPr sz="1800"/>
          </a:p>
          <a:p>
            <a:pPr indent="-342900" lvl="1" marL="914400" rtl="0" algn="l">
              <a:spcBef>
                <a:spcPts val="0"/>
              </a:spcBef>
              <a:spcAft>
                <a:spcPts val="0"/>
              </a:spcAft>
              <a:buSzPts val="1800"/>
              <a:buChar char="○"/>
            </a:pPr>
            <a:r>
              <a:rPr lang="en-GB" sz="1800"/>
              <a:t>code pushed to gitlab</a:t>
            </a:r>
            <a:endParaRPr sz="1800"/>
          </a:p>
          <a:p>
            <a:pPr indent="-342900" lvl="1" marL="914400" rtl="0" algn="l">
              <a:spcBef>
                <a:spcPts val="0"/>
              </a:spcBef>
              <a:spcAft>
                <a:spcPts val="0"/>
              </a:spcAft>
              <a:buSzPts val="1800"/>
              <a:buChar char="○"/>
            </a:pPr>
            <a:r>
              <a:rPr lang="en-GB" sz="1800"/>
              <a:t>documentation (inc. a 60 sec video of your work in action)</a:t>
            </a:r>
            <a:endParaRPr sz="1800"/>
          </a:p>
        </p:txBody>
      </p:sp>
      <p:sp>
        <p:nvSpPr>
          <p:cNvPr id="195" name="Google Shape;195;p35"/>
          <p:cNvSpPr txBox="1"/>
          <p:nvPr>
            <p:ph type="title"/>
          </p:nvPr>
        </p:nvSpPr>
        <p:spPr>
          <a:xfrm>
            <a:off x="9975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How to pass COM3505</a:t>
            </a:r>
            <a:endParaRPr/>
          </a:p>
        </p:txBody>
      </p:sp>
      <p:sp>
        <p:nvSpPr>
          <p:cNvPr id="196" name="Google Shape;196;p35"/>
          <p:cNvSpPr txBox="1"/>
          <p:nvPr>
            <p:ph idx="1" type="body"/>
          </p:nvPr>
        </p:nvSpPr>
        <p:spPr>
          <a:xfrm>
            <a:off x="4328875" y="565550"/>
            <a:ext cx="4647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Notes:</a:t>
            </a:r>
            <a:endParaRPr sz="1800"/>
          </a:p>
          <a:p>
            <a:pPr indent="-342900" lvl="0" marL="457200" rtl="0" algn="l">
              <a:spcBef>
                <a:spcPts val="0"/>
              </a:spcBef>
              <a:spcAft>
                <a:spcPts val="0"/>
              </a:spcAft>
              <a:buSzPts val="1800"/>
              <a:buChar char="●"/>
            </a:pPr>
            <a:r>
              <a:rPr lang="en-GB" sz="1800"/>
              <a:t>there are code exercises</a:t>
            </a:r>
            <a:r>
              <a:rPr lang="en-GB" sz="1800"/>
              <a:t> each week; solutions are in the gitlab repo</a:t>
            </a:r>
            <a:endParaRPr sz="1800"/>
          </a:p>
          <a:p>
            <a:pPr indent="-342900" lvl="0" marL="457200" rtl="0" algn="l">
              <a:spcBef>
                <a:spcPts val="0"/>
              </a:spcBef>
              <a:spcAft>
                <a:spcPts val="0"/>
              </a:spcAft>
              <a:buSzPts val="1800"/>
              <a:buChar char="●"/>
            </a:pPr>
            <a:r>
              <a:rPr lang="en-GB" sz="1800"/>
              <a:t>you can often build on the </a:t>
            </a:r>
            <a:r>
              <a:rPr i="1" lang="en-GB" sz="1800"/>
              <a:t>n-1</a:t>
            </a:r>
            <a:r>
              <a:rPr lang="en-GB" sz="1800"/>
              <a:t> solutions for exercises in week n (so don’t worry if you find a particular week hard)</a:t>
            </a:r>
            <a:endParaRPr sz="1800"/>
          </a:p>
          <a:p>
            <a:pPr indent="-342900" lvl="0" marL="457200" rtl="0" algn="l">
              <a:spcBef>
                <a:spcPts val="0"/>
              </a:spcBef>
              <a:spcAft>
                <a:spcPts val="0"/>
              </a:spcAft>
              <a:buSzPts val="1800"/>
              <a:buChar char="●"/>
            </a:pPr>
            <a:r>
              <a:rPr lang="en-GB" sz="1800"/>
              <a:t>the exam </a:t>
            </a:r>
            <a:r>
              <a:rPr lang="en-GB" sz="1800"/>
              <a:t>depends mostly on the reading materials and lectures</a:t>
            </a:r>
            <a:endParaRPr sz="1800"/>
          </a:p>
          <a:p>
            <a:pPr indent="-342900" lvl="0" marL="457200" rtl="0" algn="l">
              <a:spcBef>
                <a:spcPts val="0"/>
              </a:spcBef>
              <a:spcAft>
                <a:spcPts val="0"/>
              </a:spcAft>
              <a:buSzPts val="1800"/>
              <a:buChar char="●"/>
            </a:pPr>
            <a:r>
              <a:rPr lang="en-GB" sz="1800"/>
              <a:t>more details on the marking scheme are given when the assessments start, but the key thing to remember is that the first assessment and exam are pass/fail, whereas the project is  </a:t>
            </a:r>
            <a:r>
              <a:rPr b="1" lang="en-GB" sz="1800"/>
              <a:t>qualitative and open-ended</a:t>
            </a:r>
            <a:endParaRPr b="1" sz="1800"/>
          </a:p>
        </p:txBody>
      </p:sp>
      <p:sp>
        <p:nvSpPr>
          <p:cNvPr id="197" name="Google Shape;197;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idx="1" type="body"/>
          </p:nvPr>
        </p:nvSpPr>
        <p:spPr>
          <a:xfrm>
            <a:off x="428725" y="560525"/>
            <a:ext cx="85923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we communicate with you via the course notes: </a:t>
            </a:r>
            <a:r>
              <a:rPr lang="en-GB" sz="1800" u="sng">
                <a:solidFill>
                  <a:schemeClr val="hlink"/>
                </a:solidFill>
                <a:hlinkClick r:id="rId3"/>
              </a:rPr>
              <a:t>iot.unphone.net</a:t>
            </a:r>
            <a:r>
              <a:rPr lang="en-GB" sz="1800"/>
              <a:t>;</a:t>
            </a:r>
            <a:br>
              <a:rPr lang="en-GB" sz="1800"/>
            </a:br>
            <a:r>
              <a:rPr lang="en-GB" sz="1800"/>
              <a:t>the sources are at: </a:t>
            </a:r>
            <a:r>
              <a:rPr lang="en-GB" sz="1800" u="sng">
                <a:solidFill>
                  <a:schemeClr val="hlink"/>
                </a:solidFill>
                <a:hlinkClick r:id="rId4"/>
              </a:rPr>
              <a:t>gitlab.com/hamishcunningham/the-internet-of-things</a:t>
            </a:r>
            <a:r>
              <a:rPr lang="en-GB" sz="1800"/>
              <a:t>;</a:t>
            </a:r>
            <a:br>
              <a:rPr lang="en-GB" sz="1800"/>
            </a:br>
            <a:r>
              <a:rPr lang="en-GB" sz="1800"/>
              <a:t>later on you may also need </a:t>
            </a:r>
            <a:r>
              <a:rPr lang="en-GB" sz="1800" u="sng">
                <a:solidFill>
                  <a:schemeClr val="hlink"/>
                </a:solidFill>
                <a:hlinkClick r:id="rId5"/>
              </a:rPr>
              <a:t>gitlab.com/hamishcunningham/unPhoneLibrary</a:t>
            </a:r>
            <a:endParaRPr sz="1800"/>
          </a:p>
          <a:p>
            <a:pPr indent="-342900" lvl="0" marL="457200" rtl="0" algn="l">
              <a:spcBef>
                <a:spcPts val="0"/>
              </a:spcBef>
              <a:spcAft>
                <a:spcPts val="0"/>
              </a:spcAft>
              <a:buSzPts val="1800"/>
              <a:buChar char="●"/>
            </a:pPr>
            <a:r>
              <a:rPr lang="en-GB" sz="1800"/>
              <a:t>you communicate your work to us via your own </a:t>
            </a:r>
            <a:r>
              <a:rPr b="1" lang="en-GB" sz="1800"/>
              <a:t>private</a:t>
            </a:r>
            <a:r>
              <a:rPr lang="en-GB" sz="1800"/>
              <a:t> gitlab repo</a:t>
            </a:r>
            <a:br>
              <a:rPr lang="en-GB" sz="1800"/>
            </a:br>
            <a:r>
              <a:rPr lang="en-GB" sz="1800"/>
              <a:t>(we tell you how to set this up in chapter 1 of the course notes)</a:t>
            </a:r>
            <a:endParaRPr sz="1800"/>
          </a:p>
          <a:p>
            <a:pPr indent="-342900" lvl="0" marL="457200" rtl="0" algn="l">
              <a:spcBef>
                <a:spcPts val="0"/>
              </a:spcBef>
              <a:spcAft>
                <a:spcPts val="0"/>
              </a:spcAft>
              <a:buSzPts val="1800"/>
              <a:buChar char="●"/>
            </a:pPr>
            <a:r>
              <a:rPr lang="en-GB" sz="1800"/>
              <a:t>each notes chapter (one per week) has two parts, theory and practice</a:t>
            </a:r>
            <a:endParaRPr sz="1800"/>
          </a:p>
          <a:p>
            <a:pPr indent="-342900" lvl="0" marL="457200" rtl="0" algn="l">
              <a:spcBef>
                <a:spcPts val="0"/>
              </a:spcBef>
              <a:spcAft>
                <a:spcPts val="0"/>
              </a:spcAft>
              <a:buSzPts val="1800"/>
              <a:buChar char="●"/>
            </a:pPr>
            <a:r>
              <a:rPr lang="en-GB" sz="1800"/>
              <a:t>read the first parts of the chapters in lean-back mode: they are discursive, and give a flavour of the field and its historical and technical contexts</a:t>
            </a:r>
            <a:endParaRPr sz="1800"/>
          </a:p>
          <a:p>
            <a:pPr indent="-342900" lvl="0" marL="457200" rtl="0" algn="l">
              <a:spcBef>
                <a:spcPts val="0"/>
              </a:spcBef>
              <a:spcAft>
                <a:spcPts val="0"/>
              </a:spcAft>
              <a:buSzPts val="1800"/>
              <a:buChar char="●"/>
            </a:pPr>
            <a:r>
              <a:rPr lang="en-GB" sz="1800"/>
              <a:t>the second parts give instructions for a week’s worth of practical work; go through these sections on your development machine and in the lab</a:t>
            </a:r>
            <a:endParaRPr sz="1800"/>
          </a:p>
          <a:p>
            <a:pPr indent="-342900" lvl="0" marL="457200" rtl="0" algn="l">
              <a:spcBef>
                <a:spcPts val="0"/>
              </a:spcBef>
              <a:spcAft>
                <a:spcPts val="0"/>
              </a:spcAft>
              <a:buSzPts val="1800"/>
              <a:buChar char="●"/>
            </a:pPr>
            <a:r>
              <a:rPr lang="en-GB" sz="1800"/>
              <a:t>the more code you write, the more hardware you build, the more you learn!</a:t>
            </a:r>
            <a:endParaRPr sz="1800"/>
          </a:p>
          <a:p>
            <a:pPr indent="-342900" lvl="0" marL="457200" rtl="0" algn="l">
              <a:spcBef>
                <a:spcPts val="0"/>
              </a:spcBef>
              <a:spcAft>
                <a:spcPts val="0"/>
              </a:spcAft>
              <a:buSzPts val="1800"/>
              <a:buChar char="●"/>
            </a:pPr>
            <a:r>
              <a:rPr lang="en-GB" sz="1800"/>
              <a:t>when we assess you (weeks 7 and 12) we snapshot your gitlab repo; get used to pushing there regularly (e.g. every day or two)</a:t>
            </a:r>
            <a:endParaRPr sz="1800"/>
          </a:p>
          <a:p>
            <a:pPr indent="-342900" lvl="0" marL="457200" rtl="0" algn="l">
              <a:spcBef>
                <a:spcPts val="0"/>
              </a:spcBef>
              <a:spcAft>
                <a:spcPts val="0"/>
              </a:spcAft>
              <a:buSzPts val="1800"/>
              <a:buChar char="●"/>
            </a:pPr>
            <a:r>
              <a:rPr lang="en-GB" sz="1800"/>
              <a:t>links to slides and etc. are on Blackboard</a:t>
            </a:r>
            <a:endParaRPr sz="1800"/>
          </a:p>
        </p:txBody>
      </p:sp>
      <p:sp>
        <p:nvSpPr>
          <p:cNvPr id="203" name="Google Shape;203;p36"/>
          <p:cNvSpPr txBox="1"/>
          <p:nvPr>
            <p:ph type="title"/>
          </p:nvPr>
        </p:nvSpPr>
        <p:spPr>
          <a:xfrm>
            <a:off x="9213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 tale of two gitlabs (an open source course!)</a:t>
            </a:r>
            <a:endParaRPr/>
          </a:p>
        </p:txBody>
      </p:sp>
      <p:sp>
        <p:nvSpPr>
          <p:cNvPr id="204" name="Google Shape;204;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7"/>
          <p:cNvSpPr txBox="1"/>
          <p:nvPr>
            <p:ph type="title"/>
          </p:nvPr>
        </p:nvSpPr>
        <p:spPr>
          <a:xfrm>
            <a:off x="9213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t>[</a:t>
            </a:r>
            <a:r>
              <a:rPr lang="en-GB" u="sng"/>
              <a:t>Infrastructu</a:t>
            </a:r>
            <a:r>
              <a:rPr lang="en-GB" u="sng"/>
              <a:t>re</a:t>
            </a:r>
            <a:r>
              <a:rPr lang="en-GB"/>
              <a:t>: GitLab]</a:t>
            </a:r>
            <a:endParaRPr/>
          </a:p>
        </p:txBody>
      </p:sp>
      <p:sp>
        <p:nvSpPr>
          <p:cNvPr id="210" name="Google Shape;210;p37"/>
          <p:cNvSpPr txBox="1"/>
          <p:nvPr>
            <p:ph idx="1" type="body"/>
          </p:nvPr>
        </p:nvSpPr>
        <p:spPr>
          <a:xfrm>
            <a:off x="235500" y="542875"/>
            <a:ext cx="4189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Linus Torsvald's Very Short Christmas Card List...</a:t>
            </a:r>
            <a:endParaRPr/>
          </a:p>
          <a:p>
            <a:pPr indent="-317500" lvl="0" marL="457200" rtl="0" algn="l">
              <a:spcBef>
                <a:spcPts val="0"/>
              </a:spcBef>
              <a:spcAft>
                <a:spcPts val="0"/>
              </a:spcAft>
              <a:buSzPts val="1400"/>
              <a:buChar char="●"/>
            </a:pPr>
            <a:r>
              <a:rPr lang="en-GB"/>
              <a:t>2005: BitKeeper access for Linux Kernel development withdrawn, Linus decides to implement his own…</a:t>
            </a:r>
            <a:endParaRPr/>
          </a:p>
          <a:p>
            <a:pPr indent="-317500" lvl="0" marL="457200" rtl="0" algn="l">
              <a:spcBef>
                <a:spcPts val="0"/>
              </a:spcBef>
              <a:spcAft>
                <a:spcPts val="0"/>
              </a:spcAft>
              <a:buSzPts val="1400"/>
              <a:buChar char="●"/>
            </a:pPr>
            <a:r>
              <a:rPr lang="en-GB"/>
              <a:t>“Git is a term of insult with origins in British English denoting an unpleasant, silly, incompetent, stupid, annoying, senile, elderly or childish person. As a mild oath it is roughly on a par with prat and marginally less pejorative than berk.”</a:t>
            </a:r>
            <a:endParaRPr/>
          </a:p>
          <a:p>
            <a:pPr indent="-317500" lvl="0" marL="457200" rtl="0" algn="l">
              <a:spcBef>
                <a:spcPts val="0"/>
              </a:spcBef>
              <a:spcAft>
                <a:spcPts val="0"/>
              </a:spcAft>
              <a:buSzPts val="1400"/>
              <a:buChar char="●"/>
            </a:pPr>
            <a:r>
              <a:rPr lang="en-GB"/>
              <a:t>Linus: "I'm an egotistical bastard, and I name all my projects after myself. First 'Linux', now 'git'."</a:t>
            </a:r>
            <a:endParaRPr/>
          </a:p>
        </p:txBody>
      </p:sp>
      <p:sp>
        <p:nvSpPr>
          <p:cNvPr id="211" name="Google Shape;211;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12" name="Google Shape;212;p37"/>
          <p:cNvSpPr txBox="1"/>
          <p:nvPr>
            <p:ph idx="2" type="body"/>
          </p:nvPr>
        </p:nvSpPr>
        <p:spPr>
          <a:xfrm>
            <a:off x="4490100" y="542875"/>
            <a:ext cx="4189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Git is...</a:t>
            </a:r>
            <a:endParaRPr/>
          </a:p>
          <a:p>
            <a:pPr indent="-317500" lvl="0" marL="457200" rtl="0" algn="l">
              <a:spcBef>
                <a:spcPts val="0"/>
              </a:spcBef>
              <a:spcAft>
                <a:spcPts val="0"/>
              </a:spcAft>
              <a:buSzPts val="1400"/>
              <a:buChar char="●"/>
            </a:pPr>
            <a:r>
              <a:rPr lang="en-GB"/>
              <a:t>entirely appropriate for at least one project in the world (the Linux Kernel: 15 million lines of code, thousands of developers, &gt;2 billion installations...)</a:t>
            </a:r>
            <a:endParaRPr/>
          </a:p>
          <a:p>
            <a:pPr indent="-317500" lvl="0" marL="457200" rtl="0" algn="l">
              <a:spcBef>
                <a:spcPts val="0"/>
              </a:spcBef>
              <a:spcAft>
                <a:spcPts val="0"/>
              </a:spcAft>
              <a:buSzPts val="1400"/>
              <a:buChar char="●"/>
            </a:pPr>
            <a:r>
              <a:rPr lang="en-GB"/>
              <a:t>a bit like swatting a fly with a pile driver for most other projects?!</a:t>
            </a:r>
            <a:endParaRPr/>
          </a:p>
          <a:p>
            <a:pPr indent="0" lvl="0" marL="0" rtl="0" algn="l">
              <a:spcBef>
                <a:spcPts val="0"/>
              </a:spcBef>
              <a:spcAft>
                <a:spcPts val="0"/>
              </a:spcAft>
              <a:buNone/>
            </a:pPr>
            <a:r>
              <a:rPr lang="en-GB"/>
              <a:t>Fortunately, GitLab is...</a:t>
            </a:r>
            <a:endParaRPr/>
          </a:p>
          <a:p>
            <a:pPr indent="-317500" lvl="0" marL="457200" rtl="0" algn="l">
              <a:spcBef>
                <a:spcPts val="0"/>
              </a:spcBef>
              <a:spcAft>
                <a:spcPts val="0"/>
              </a:spcAft>
              <a:buSzPts val="1400"/>
              <a:buChar char="●"/>
            </a:pPr>
            <a:r>
              <a:rPr lang="en-GB"/>
              <a:t>a user-friendly service wrapping Git</a:t>
            </a:r>
            <a:endParaRPr/>
          </a:p>
          <a:p>
            <a:pPr indent="-317500" lvl="0" marL="457200" rtl="0" algn="l">
              <a:spcBef>
                <a:spcPts val="0"/>
              </a:spcBef>
              <a:spcAft>
                <a:spcPts val="0"/>
              </a:spcAft>
              <a:buSzPts val="1400"/>
              <a:buChar char="●"/>
            </a:pPr>
            <a:r>
              <a:rPr lang="en-GB"/>
              <a:t>full of handy collaboration tools, supporting various workflows</a:t>
            </a:r>
            <a:endParaRPr/>
          </a:p>
          <a:p>
            <a:pPr indent="-317500" lvl="0" marL="457200" rtl="0" algn="l">
              <a:spcBef>
                <a:spcPts val="0"/>
              </a:spcBef>
              <a:spcAft>
                <a:spcPts val="0"/>
              </a:spcAft>
              <a:buSzPts val="1400"/>
              <a:buChar char="●"/>
            </a:pPr>
            <a:r>
              <a:rPr lang="en-GB"/>
              <a:t>open source</a:t>
            </a:r>
            <a:endParaRPr/>
          </a:p>
          <a:p>
            <a:pPr indent="-317500" lvl="0" marL="457200" rtl="0" algn="l">
              <a:spcBef>
                <a:spcPts val="0"/>
              </a:spcBef>
              <a:spcAft>
                <a:spcPts val="0"/>
              </a:spcAft>
              <a:buSzPts val="1400"/>
              <a:buChar char="●"/>
            </a:pPr>
            <a:r>
              <a:rPr lang="en-GB"/>
              <a:t>useful for running code-based courses like this one, and an industry standard</a:t>
            </a:r>
            <a:endParaRPr/>
          </a:p>
          <a:p>
            <a:pPr indent="0" lvl="0" marL="0" rtl="0" algn="l">
              <a:spcBef>
                <a:spcPts val="0"/>
              </a:spcBef>
              <a:spcAft>
                <a:spcPts val="0"/>
              </a:spcAft>
              <a:buNone/>
            </a:pPr>
            <a:r>
              <a:rPr lang="en-GB"/>
              <a:t>[We used to use GitHub, but it got bought by Microsoft (revise </a:t>
            </a:r>
            <a:r>
              <a:rPr lang="en-GB" u="sng">
                <a:solidFill>
                  <a:schemeClr val="hlink"/>
                </a:solidFill>
                <a:hlinkClick r:id="rId3"/>
              </a:rPr>
              <a:t>the browser wars </a:t>
            </a:r>
            <a:r>
              <a:rPr lang="en-GB"/>
              <a:t>to see what good news this is!).                 Enter </a:t>
            </a:r>
            <a:r>
              <a:rPr b="1" lang="en-GB"/>
              <a:t>GitLab</a:t>
            </a:r>
            <a:r>
              <a:rPr lang="en-GB"/>
              <a:t> :)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38"/>
          <p:cNvPicPr preferRelativeResize="0"/>
          <p:nvPr/>
        </p:nvPicPr>
        <p:blipFill>
          <a:blip r:embed="rId3">
            <a:alphaModFix/>
          </a:blip>
          <a:stretch>
            <a:fillRect/>
          </a:stretch>
        </p:blipFill>
        <p:spPr>
          <a:xfrm>
            <a:off x="687676" y="954500"/>
            <a:ext cx="5072724" cy="4188998"/>
          </a:xfrm>
          <a:prstGeom prst="rect">
            <a:avLst/>
          </a:prstGeom>
          <a:noFill/>
          <a:ln>
            <a:noFill/>
          </a:ln>
        </p:spPr>
      </p:pic>
      <p:sp>
        <p:nvSpPr>
          <p:cNvPr id="218" name="Google Shape;218;p38"/>
          <p:cNvSpPr txBox="1"/>
          <p:nvPr>
            <p:ph type="title"/>
          </p:nvPr>
        </p:nvSpPr>
        <p:spPr>
          <a:xfrm>
            <a:off x="9213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Hardware; first lab session</a:t>
            </a:r>
            <a:endParaRPr/>
          </a:p>
        </p:txBody>
      </p:sp>
      <p:sp>
        <p:nvSpPr>
          <p:cNvPr id="219" name="Google Shape;219;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0" name="Google Shape;220;p38"/>
          <p:cNvSpPr txBox="1"/>
          <p:nvPr>
            <p:ph idx="1" type="body"/>
          </p:nvPr>
        </p:nvSpPr>
        <p:spPr>
          <a:xfrm>
            <a:off x="428725" y="712925"/>
            <a:ext cx="8179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The parts kit for weeks 1 — 8:</a:t>
            </a:r>
            <a:endParaRPr sz="1800"/>
          </a:p>
        </p:txBody>
      </p:sp>
      <p:pic>
        <p:nvPicPr>
          <p:cNvPr id="221" name="Google Shape;221;p38"/>
          <p:cNvPicPr preferRelativeResize="0"/>
          <p:nvPr/>
        </p:nvPicPr>
        <p:blipFill>
          <a:blip r:embed="rId4">
            <a:alphaModFix/>
          </a:blip>
          <a:stretch>
            <a:fillRect/>
          </a:stretch>
        </p:blipFill>
        <p:spPr>
          <a:xfrm>
            <a:off x="4431650" y="1281375"/>
            <a:ext cx="4712351" cy="3534252"/>
          </a:xfrm>
          <a:prstGeom prst="rect">
            <a:avLst/>
          </a:prstGeom>
          <a:noFill/>
          <a:ln>
            <a:noFill/>
          </a:ln>
        </p:spPr>
      </p:pic>
      <p:sp>
        <p:nvSpPr>
          <p:cNvPr id="222" name="Google Shape;222;p38"/>
          <p:cNvSpPr txBox="1"/>
          <p:nvPr/>
        </p:nvSpPr>
        <p:spPr>
          <a:xfrm>
            <a:off x="3387675" y="236050"/>
            <a:ext cx="5072700" cy="646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GB" sz="1600"/>
              <a:t>A week’s work:</a:t>
            </a:r>
            <a:r>
              <a:rPr lang="en-GB"/>
              <a:t> </a:t>
            </a:r>
            <a:r>
              <a:rPr lang="en-GB" u="sng">
                <a:solidFill>
                  <a:schemeClr val="hlink"/>
                </a:solidFill>
                <a:hlinkClick r:id="rId5"/>
              </a:rPr>
              <a:t>https://iot.unphone.net/#com3505-week-01-course-notes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9"/>
          <p:cNvSpPr txBox="1"/>
          <p:nvPr>
            <p:ph type="title"/>
          </p:nvPr>
        </p:nvSpPr>
        <p:spPr>
          <a:xfrm>
            <a:off x="9213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Soldering: optional but useful; be careful!</a:t>
            </a:r>
            <a:endParaRPr/>
          </a:p>
        </p:txBody>
      </p:sp>
      <p:sp>
        <p:nvSpPr>
          <p:cNvPr id="228" name="Google Shape;228;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29" name="Google Shape;229;p39"/>
          <p:cNvPicPr preferRelativeResize="0"/>
          <p:nvPr/>
        </p:nvPicPr>
        <p:blipFill>
          <a:blip r:embed="rId3">
            <a:alphaModFix/>
          </a:blip>
          <a:stretch>
            <a:fillRect/>
          </a:stretch>
        </p:blipFill>
        <p:spPr>
          <a:xfrm>
            <a:off x="100851" y="607875"/>
            <a:ext cx="5021374" cy="2012975"/>
          </a:xfrm>
          <a:prstGeom prst="rect">
            <a:avLst/>
          </a:prstGeom>
          <a:noFill/>
          <a:ln>
            <a:noFill/>
          </a:ln>
        </p:spPr>
      </p:pic>
      <p:pic>
        <p:nvPicPr>
          <p:cNvPr id="230" name="Google Shape;230;p39"/>
          <p:cNvPicPr preferRelativeResize="0"/>
          <p:nvPr/>
        </p:nvPicPr>
        <p:blipFill>
          <a:blip r:embed="rId4">
            <a:alphaModFix/>
          </a:blip>
          <a:stretch>
            <a:fillRect/>
          </a:stretch>
        </p:blipFill>
        <p:spPr>
          <a:xfrm>
            <a:off x="304800" y="2849450"/>
            <a:ext cx="8839200" cy="166044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0"/>
          <p:cNvSpPr txBox="1"/>
          <p:nvPr>
            <p:ph idx="1" type="body"/>
          </p:nvPr>
        </p:nvSpPr>
        <p:spPr>
          <a:xfrm>
            <a:off x="505100" y="730575"/>
            <a:ext cx="8444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TODOs:</a:t>
            </a:r>
            <a:endParaRPr b="1" sz="1800"/>
          </a:p>
          <a:p>
            <a:pPr indent="-342900" lvl="0" marL="457200" rtl="0" algn="l">
              <a:spcBef>
                <a:spcPts val="0"/>
              </a:spcBef>
              <a:spcAft>
                <a:spcPts val="0"/>
              </a:spcAft>
              <a:buSzPts val="1800"/>
              <a:buChar char="●"/>
            </a:pPr>
            <a:r>
              <a:rPr b="1" lang="en-GB" sz="1800"/>
              <a:t>create a GitLab</a:t>
            </a:r>
            <a:r>
              <a:rPr lang="en-GB" sz="1800"/>
              <a:t> repo, add me as maintainer, and tell us your ID</a:t>
            </a:r>
            <a:endParaRPr sz="1800"/>
          </a:p>
          <a:p>
            <a:pPr indent="-342900" lvl="0" marL="457200" rtl="0" algn="l">
              <a:spcBef>
                <a:spcPts val="0"/>
              </a:spcBef>
              <a:spcAft>
                <a:spcPts val="0"/>
              </a:spcAft>
              <a:buSzPts val="1800"/>
              <a:buChar char="●"/>
            </a:pPr>
            <a:r>
              <a:rPr lang="en-GB" sz="1800"/>
              <a:t>clone your GitLab repository and practice using it (all your work </a:t>
            </a:r>
            <a:r>
              <a:rPr b="1" lang="en-GB" sz="1800"/>
              <a:t>must </a:t>
            </a:r>
            <a:r>
              <a:rPr lang="en-GB" sz="1800"/>
              <a:t>be pushed here)</a:t>
            </a:r>
            <a:endParaRPr sz="1800"/>
          </a:p>
          <a:p>
            <a:pPr indent="-342900" lvl="0" marL="457200" rtl="0" algn="l">
              <a:spcBef>
                <a:spcPts val="0"/>
              </a:spcBef>
              <a:spcAft>
                <a:spcPts val="0"/>
              </a:spcAft>
              <a:buSzPts val="1800"/>
              <a:buChar char="●"/>
            </a:pPr>
            <a:r>
              <a:rPr lang="en-GB" sz="1800"/>
              <a:t>read and digest chapter 1 of the notes: </a:t>
            </a:r>
            <a:r>
              <a:rPr lang="en-GB" sz="1800" u="sng">
                <a:solidFill>
                  <a:schemeClr val="hlink"/>
                </a:solidFill>
                <a:hlinkClick r:id="rId3"/>
              </a:rPr>
              <a:t>iot.unphone.net</a:t>
            </a:r>
            <a:endParaRPr sz="1800"/>
          </a:p>
          <a:p>
            <a:pPr indent="0" lvl="0" marL="457200" rtl="0" algn="l">
              <a:spcBef>
                <a:spcPts val="0"/>
              </a:spcBef>
              <a:spcAft>
                <a:spcPts val="0"/>
              </a:spcAft>
              <a:buNone/>
            </a:pPr>
            <a:r>
              <a:rPr lang="en-GB" sz="1800"/>
              <a:t>(sources: </a:t>
            </a:r>
            <a:r>
              <a:rPr b="1" lang="en-GB" sz="1800" u="sng">
                <a:solidFill>
                  <a:schemeClr val="hlink"/>
                </a:solidFill>
                <a:hlinkClick r:id="rId4"/>
              </a:rPr>
              <a:t>gitlab.com</a:t>
            </a:r>
            <a:r>
              <a:rPr lang="en-GB" sz="1800" u="sng">
                <a:solidFill>
                  <a:schemeClr val="hlink"/>
                </a:solidFill>
                <a:hlinkClick r:id="rId5"/>
              </a:rPr>
              <a:t>/hamishcunningham/the-internet-of-things</a:t>
            </a:r>
            <a:r>
              <a:rPr lang="en-GB" sz="1800"/>
              <a:t>)</a:t>
            </a:r>
            <a:endParaRPr sz="1800"/>
          </a:p>
          <a:p>
            <a:pPr indent="-342900" lvl="0" marL="457200" rtl="0" algn="l">
              <a:spcBef>
                <a:spcPts val="0"/>
              </a:spcBef>
              <a:spcAft>
                <a:spcPts val="0"/>
              </a:spcAft>
              <a:buSzPts val="1800"/>
              <a:buChar char="●"/>
            </a:pPr>
            <a:r>
              <a:rPr lang="en-GB" sz="1800"/>
              <a:t>as discussed in the lecture, </a:t>
            </a:r>
            <a:r>
              <a:rPr lang="en-GB" sz="1800" u="sng">
                <a:solidFill>
                  <a:schemeClr val="hlink"/>
                </a:solidFill>
                <a:hlinkClick r:id="rId6"/>
              </a:rPr>
              <a:t>work through the week 1 notes</a:t>
            </a:r>
            <a:r>
              <a:rPr lang="en-GB" sz="1800"/>
              <a:t>, starting in the lab session</a:t>
            </a:r>
            <a:endParaRPr sz="1800"/>
          </a:p>
          <a:p>
            <a:pPr indent="-342900" lvl="0" marL="457200" rtl="0" algn="l">
              <a:spcBef>
                <a:spcPts val="0"/>
              </a:spcBef>
              <a:spcAft>
                <a:spcPts val="0"/>
              </a:spcAft>
              <a:buSzPts val="1800"/>
              <a:buChar char="●"/>
            </a:pPr>
            <a:r>
              <a:rPr lang="en-GB" sz="1800"/>
              <a:t>do some “further reading”, poke around, </a:t>
            </a:r>
            <a:r>
              <a:rPr b="1" i="1" lang="en-GB" sz="1800"/>
              <a:t>explore</a:t>
            </a:r>
            <a:endParaRPr sz="1800"/>
          </a:p>
          <a:p>
            <a:pPr indent="-342900" lvl="0" marL="457200" rtl="0" algn="l">
              <a:spcBef>
                <a:spcPts val="0"/>
              </a:spcBef>
              <a:spcAft>
                <a:spcPts val="0"/>
              </a:spcAft>
              <a:buSzPts val="1800"/>
              <a:buChar char="●"/>
            </a:pPr>
            <a:r>
              <a:rPr b="1" lang="en-GB" sz="1800"/>
              <a:t>participate: </a:t>
            </a:r>
            <a:r>
              <a:rPr lang="en-GB" sz="1800"/>
              <a:t>post questions to the discussion board, make a pull request on the course repo, send me an email at </a:t>
            </a:r>
            <a:r>
              <a:rPr lang="en-GB" sz="1800" u="sng">
                <a:solidFill>
                  <a:schemeClr val="hlink"/>
                </a:solidFill>
                <a:hlinkClick r:id="rId7"/>
              </a:rPr>
              <a:t>hamish@gate.ac.uk</a:t>
            </a:r>
            <a:endParaRPr sz="1800"/>
          </a:p>
          <a:p>
            <a:pPr indent="-342900" lvl="0" marL="457200" rtl="0" algn="l">
              <a:spcBef>
                <a:spcPts val="0"/>
              </a:spcBef>
              <a:spcAft>
                <a:spcPts val="0"/>
              </a:spcAft>
              <a:buSzPts val="1800"/>
              <a:buChar char="●"/>
            </a:pPr>
            <a:r>
              <a:rPr b="1" lang="en-GB" sz="1800"/>
              <a:t>have fun!</a:t>
            </a:r>
            <a:endParaRPr b="1" sz="1800"/>
          </a:p>
        </p:txBody>
      </p:sp>
      <p:sp>
        <p:nvSpPr>
          <p:cNvPr id="236" name="Google Shape;236;p40"/>
          <p:cNvSpPr txBox="1"/>
          <p:nvPr>
            <p:ph type="title"/>
          </p:nvPr>
        </p:nvSpPr>
        <p:spPr>
          <a:xfrm>
            <a:off x="1184625" y="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Your </a:t>
            </a:r>
            <a:r>
              <a:rPr b="1" lang="en-GB"/>
              <a:t>TODO</a:t>
            </a:r>
            <a:r>
              <a:rPr lang="en-GB"/>
              <a:t> list for week 1:</a:t>
            </a:r>
            <a:endParaRPr/>
          </a:p>
        </p:txBody>
      </p:sp>
      <p:sp>
        <p:nvSpPr>
          <p:cNvPr id="237" name="Google Shape;237;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1"/>
          <p:cNvSpPr txBox="1"/>
          <p:nvPr>
            <p:ph idx="1" type="body"/>
          </p:nvPr>
        </p:nvSpPr>
        <p:spPr>
          <a:xfrm>
            <a:off x="428725" y="560525"/>
            <a:ext cx="8179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ctr">
              <a:spcBef>
                <a:spcPts val="0"/>
              </a:spcBef>
              <a:spcAft>
                <a:spcPts val="0"/>
              </a:spcAft>
              <a:buNone/>
            </a:pPr>
            <a:r>
              <a:rPr lang="en-GB" sz="1800"/>
              <a:t>(remember the learning pyramid!)</a:t>
            </a:r>
            <a:endParaRPr sz="1800"/>
          </a:p>
        </p:txBody>
      </p:sp>
      <p:sp>
        <p:nvSpPr>
          <p:cNvPr id="243" name="Google Shape;243;p41"/>
          <p:cNvSpPr txBox="1"/>
          <p:nvPr>
            <p:ph type="title"/>
          </p:nvPr>
        </p:nvSpPr>
        <p:spPr>
          <a:xfrm>
            <a:off x="9213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Questions?</a:t>
            </a:r>
            <a:endParaRPr/>
          </a:p>
        </p:txBody>
      </p:sp>
      <p:sp>
        <p:nvSpPr>
          <p:cNvPr id="244" name="Google Shape;244;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2"/>
          <p:cNvSpPr txBox="1"/>
          <p:nvPr>
            <p:ph idx="1" type="body"/>
          </p:nvPr>
        </p:nvSpPr>
        <p:spPr>
          <a:xfrm>
            <a:off x="428900" y="730575"/>
            <a:ext cx="84444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b="1" sz="7200"/>
          </a:p>
          <a:p>
            <a:pPr indent="0" lvl="0" marL="0" rtl="0" algn="ctr">
              <a:spcBef>
                <a:spcPts val="0"/>
              </a:spcBef>
              <a:spcAft>
                <a:spcPts val="0"/>
              </a:spcAft>
              <a:buNone/>
            </a:pPr>
            <a:r>
              <a:rPr b="1" lang="en-GB" sz="7200"/>
              <a:t>THE END</a:t>
            </a:r>
            <a:endParaRPr sz="7200"/>
          </a:p>
        </p:txBody>
      </p:sp>
      <p:sp>
        <p:nvSpPr>
          <p:cNvPr id="250" name="Google Shape;250;p42"/>
          <p:cNvSpPr txBox="1"/>
          <p:nvPr>
            <p:ph type="title"/>
          </p:nvPr>
        </p:nvSpPr>
        <p:spPr>
          <a:xfrm>
            <a:off x="1184625" y="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1" name="Google Shape;251;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3"/>
          <p:cNvSpPr txBox="1"/>
          <p:nvPr>
            <p:ph idx="1" type="body"/>
          </p:nvPr>
        </p:nvSpPr>
        <p:spPr>
          <a:xfrm>
            <a:off x="428725" y="560525"/>
            <a:ext cx="8179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ctr">
              <a:spcBef>
                <a:spcPts val="0"/>
              </a:spcBef>
              <a:spcAft>
                <a:spcPts val="0"/>
              </a:spcAft>
              <a:buNone/>
            </a:pPr>
            <a:r>
              <a:rPr lang="en-GB" sz="1800"/>
              <a:t>(use them at your own risk!)</a:t>
            </a:r>
            <a:endParaRPr sz="1800"/>
          </a:p>
        </p:txBody>
      </p:sp>
      <p:sp>
        <p:nvSpPr>
          <p:cNvPr id="257" name="Google Shape;257;p43"/>
          <p:cNvSpPr txBox="1"/>
          <p:nvPr>
            <p:ph type="title"/>
          </p:nvPr>
        </p:nvSpPr>
        <p:spPr>
          <a:xfrm>
            <a:off x="9213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Old slides follow</a:t>
            </a:r>
            <a:endParaRPr/>
          </a:p>
        </p:txBody>
      </p:sp>
      <p:sp>
        <p:nvSpPr>
          <p:cNvPr id="258" name="Google Shape;258;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4"/>
          <p:cNvSpPr txBox="1"/>
          <p:nvPr>
            <p:ph type="title"/>
          </p:nvPr>
        </p:nvSpPr>
        <p:spPr>
          <a:xfrm>
            <a:off x="921300" y="14202"/>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Double Plus Ungood or Bellyfeel Goodthink?</a:t>
            </a:r>
            <a:endParaRPr/>
          </a:p>
        </p:txBody>
      </p:sp>
      <p:sp>
        <p:nvSpPr>
          <p:cNvPr id="264" name="Google Shape;264;p44"/>
          <p:cNvSpPr txBox="1"/>
          <p:nvPr>
            <p:ph idx="12" type="sldNum"/>
          </p:nvPr>
        </p:nvSpPr>
        <p:spPr>
          <a:xfrm>
            <a:off x="8472458" y="44346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1984.jpg" id="265" name="Google Shape;265;p44"/>
          <p:cNvPicPr preferRelativeResize="0"/>
          <p:nvPr/>
        </p:nvPicPr>
        <p:blipFill>
          <a:blip r:embed="rId3">
            <a:alphaModFix/>
          </a:blip>
          <a:stretch>
            <a:fillRect/>
          </a:stretch>
        </p:blipFill>
        <p:spPr>
          <a:xfrm>
            <a:off x="312450" y="2928500"/>
            <a:ext cx="3968050" cy="1289625"/>
          </a:xfrm>
          <a:prstGeom prst="rect">
            <a:avLst/>
          </a:prstGeom>
          <a:noFill/>
          <a:ln>
            <a:noFill/>
          </a:ln>
        </p:spPr>
      </p:pic>
      <p:pic>
        <p:nvPicPr>
          <p:cNvPr descr="Matrixfail.jpg" id="266" name="Google Shape;266;p44"/>
          <p:cNvPicPr preferRelativeResize="0"/>
          <p:nvPr/>
        </p:nvPicPr>
        <p:blipFill>
          <a:blip r:embed="rId4">
            <a:alphaModFix/>
          </a:blip>
          <a:stretch>
            <a:fillRect/>
          </a:stretch>
        </p:blipFill>
        <p:spPr>
          <a:xfrm>
            <a:off x="1231700" y="892079"/>
            <a:ext cx="3043949" cy="1718949"/>
          </a:xfrm>
          <a:prstGeom prst="rect">
            <a:avLst/>
          </a:prstGeom>
          <a:noFill/>
          <a:ln>
            <a:noFill/>
          </a:ln>
        </p:spPr>
      </p:pic>
      <p:pic>
        <p:nvPicPr>
          <p:cNvPr descr="Because of the Internet of Things, more electronic devices are being connected to the Internet, and they're talking to each other behind your back.  Welcome to WatchMojo's Top 5 Facts. Today, we’re taking a look at the Internet of Things and how it's becoming a major part of our lives, in ways you probably didn't know. Suggestion Tool►►http://www.WatchMojo.com/suggest Subscribe►►http://www.youtube.com/subscription_center?add_user=watchmojo Facebook►►http://www.Facebook.com/WatchMojo Twitter►►http://www.Twitter.com/WatchMojo Instagram►►http://instagram.com/watchmojo Channel Page►►http://www.youtube.com/watchmojo&#10;&#10;Special thanks to our user Christo for submitting the idea using our interactive suggestion tool at http://www.WatchMojo.com/suggest&#10;&#10;Want a WatchMojo cup, mug, t-shirts, pen, sticker and even a water bottle?  Get them all when you order your MojoBox gift set here:&#10;http://watchmojo.com/store/&#10;&#10;WatchMojo is a leading producer of reference online video content, covering the People, Places and Trends you care about.&#10;We update DAILY with 4-5 Top 10 lists, Origins, Biographies, Versus clips on movies, video games, music, pop culture and more!" id="267" name="Google Shape;267;p44" title="Top 5 Facts about the Internet of Things">
            <a:hlinkClick r:id="rId5"/>
          </p:cNvPr>
          <p:cNvPicPr preferRelativeResize="0"/>
          <p:nvPr/>
        </p:nvPicPr>
        <p:blipFill>
          <a:blip r:embed="rId6">
            <a:alphaModFix/>
          </a:blip>
          <a:stretch>
            <a:fillRect/>
          </a:stretch>
        </p:blipFill>
        <p:spPr>
          <a:xfrm>
            <a:off x="4432900" y="865325"/>
            <a:ext cx="4454256" cy="3340692"/>
          </a:xfrm>
          <a:prstGeom prst="rect">
            <a:avLst/>
          </a:prstGeom>
          <a:noFill/>
          <a:ln>
            <a:noFill/>
          </a:ln>
        </p:spPr>
      </p:pic>
      <p:sp>
        <p:nvSpPr>
          <p:cNvPr id="268" name="Google Shape;268;p44"/>
          <p:cNvSpPr txBox="1"/>
          <p:nvPr/>
        </p:nvSpPr>
        <p:spPr>
          <a:xfrm>
            <a:off x="796200" y="4303525"/>
            <a:ext cx="7932600" cy="513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a:solidFill>
                  <a:schemeClr val="dk1"/>
                </a:solidFill>
              </a:rPr>
              <a:t>Rise of the machines: who is the ‘internet of things’ good for? (Greenfield) </a:t>
            </a:r>
            <a:r>
              <a:rPr lang="en-GB" sz="1200" u="sng">
                <a:solidFill>
                  <a:schemeClr val="hlink"/>
                </a:solidFill>
                <a:hlinkClick r:id="rId7"/>
              </a:rPr>
              <a:t>https://goo.gl/uIUCrD</a:t>
            </a:r>
            <a:endParaRPr sz="1200">
              <a:solidFill>
                <a:schemeClr val="dk1"/>
              </a:solidFill>
            </a:endParaRPr>
          </a:p>
          <a:p>
            <a:pPr indent="0" lvl="0" marL="0" rtl="0" algn="l">
              <a:lnSpc>
                <a:spcPct val="115000"/>
              </a:lnSpc>
              <a:spcBef>
                <a:spcPts val="0"/>
              </a:spcBef>
              <a:spcAft>
                <a:spcPts val="0"/>
              </a:spcAft>
              <a:buNone/>
            </a:pPr>
            <a:r>
              <a:rPr i="1" lang="en-GB" sz="1200">
                <a:solidFill>
                  <a:schemeClr val="dk1"/>
                </a:solidFill>
              </a:rPr>
              <a:t>Unauthorized Bread</a:t>
            </a:r>
            <a:r>
              <a:rPr lang="en-GB" sz="1200">
                <a:solidFill>
                  <a:schemeClr val="dk1"/>
                </a:solidFill>
              </a:rPr>
              <a:t>, Cory Doctorow (in </a:t>
            </a:r>
            <a:r>
              <a:rPr i="1" lang="en-GB" sz="1200">
                <a:solidFill>
                  <a:schemeClr val="dk1"/>
                </a:solidFill>
              </a:rPr>
              <a:t>Radicalized</a:t>
            </a:r>
            <a:r>
              <a:rPr lang="en-GB" sz="1200">
                <a:solidFill>
                  <a:schemeClr val="dk1"/>
                </a:solidFill>
              </a:rPr>
              <a:t>, 2019) </a:t>
            </a:r>
            <a:endParaRPr sz="1200">
              <a:solidFill>
                <a:schemeClr val="dk1"/>
              </a:solidFill>
            </a:endParaRPr>
          </a:p>
        </p:txBody>
      </p:sp>
      <p:sp>
        <p:nvSpPr>
          <p:cNvPr id="269" name="Google Shape;269;p44"/>
          <p:cNvSpPr txBox="1"/>
          <p:nvPr/>
        </p:nvSpPr>
        <p:spPr>
          <a:xfrm>
            <a:off x="110400" y="702059"/>
            <a:ext cx="1160400" cy="205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a:solidFill>
                  <a:schemeClr val="dk1"/>
                </a:solidFill>
              </a:rPr>
              <a:t>Spot the references?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(See also: Gattaca, Elysium, Minority Report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5"/>
          <p:cNvSpPr txBox="1"/>
          <p:nvPr>
            <p:ph type="title"/>
          </p:nvPr>
        </p:nvSpPr>
        <p:spPr>
          <a:xfrm>
            <a:off x="23375" y="351300"/>
            <a:ext cx="3678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An IoT view</a:t>
            </a:r>
            <a:endParaRPr/>
          </a:p>
          <a:p>
            <a:pPr indent="0" lvl="0" marL="0" rtl="0" algn="l">
              <a:spcBef>
                <a:spcPts val="0"/>
              </a:spcBef>
              <a:spcAft>
                <a:spcPts val="0"/>
              </a:spcAft>
              <a:buNone/>
            </a:pPr>
            <a:r>
              <a:rPr lang="en-GB"/>
              <a:t>from IBM</a:t>
            </a:r>
            <a:endParaRPr/>
          </a:p>
        </p:txBody>
      </p:sp>
      <p:sp>
        <p:nvSpPr>
          <p:cNvPr id="275" name="Google Shape;275;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The Internet of Things gives us access to the data from millions of devices. But how does it work, and what can we do with all that data? Find out in this animated tutorial from IBM's Think Academy. For more information on IBM and the Internet of Things, please visit: http://www.ibm.com/IoT&#10;&#10;IBMers -- learn more about the Internet of Things on Think Academy (internal site): https://ibm.biz/IBMThinkAcademy" id="276" name="Google Shape;276;p45" title="How It Works: Internet of Things">
            <a:hlinkClick r:id="rId3"/>
          </p:cNvPr>
          <p:cNvPicPr preferRelativeResize="0"/>
          <p:nvPr/>
        </p:nvPicPr>
        <p:blipFill>
          <a:blip r:embed="rId4">
            <a:alphaModFix/>
          </a:blip>
          <a:stretch>
            <a:fillRect/>
          </a:stretch>
        </p:blipFill>
        <p:spPr>
          <a:xfrm>
            <a:off x="2080025" y="277375"/>
            <a:ext cx="6203150" cy="4652350"/>
          </a:xfrm>
          <a:prstGeom prst="rect">
            <a:avLst/>
          </a:prstGeom>
          <a:noFill/>
          <a:ln>
            <a:noFill/>
          </a:ln>
        </p:spPr>
      </p:pic>
      <p:sp>
        <p:nvSpPr>
          <p:cNvPr id="277" name="Google Shape;277;p45"/>
          <p:cNvSpPr txBox="1"/>
          <p:nvPr>
            <p:ph idx="1" type="body"/>
          </p:nvPr>
        </p:nvSpPr>
        <p:spPr>
          <a:xfrm>
            <a:off x="23375" y="1829575"/>
            <a:ext cx="2109000" cy="24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Notes:</a:t>
            </a:r>
            <a:endParaRPr/>
          </a:p>
          <a:p>
            <a:pPr indent="-317500" lvl="0" marL="457200" rtl="0" algn="l">
              <a:spcBef>
                <a:spcPts val="0"/>
              </a:spcBef>
              <a:spcAft>
                <a:spcPts val="0"/>
              </a:spcAft>
              <a:buSzPts val="1400"/>
              <a:buChar char="●"/>
            </a:pPr>
            <a:r>
              <a:rPr lang="en-GB"/>
              <a:t>0.40: platform?</a:t>
            </a:r>
            <a:endParaRPr/>
          </a:p>
          <a:p>
            <a:pPr indent="-317500" lvl="0" marL="457200" rtl="0" algn="l">
              <a:spcBef>
                <a:spcPts val="0"/>
              </a:spcBef>
              <a:spcAft>
                <a:spcPts val="0"/>
              </a:spcAft>
              <a:buSzPts val="1400"/>
              <a:buChar char="●"/>
            </a:pPr>
            <a:r>
              <a:rPr lang="en-GB"/>
              <a:t>1.00: analytics?</a:t>
            </a:r>
            <a:endParaRPr/>
          </a:p>
          <a:p>
            <a:pPr indent="-317500" lvl="0" marL="457200" rtl="0" algn="l">
              <a:spcBef>
                <a:spcPts val="0"/>
              </a:spcBef>
              <a:spcAft>
                <a:spcPts val="0"/>
              </a:spcAft>
              <a:buSzPts val="1400"/>
              <a:buChar char="●"/>
            </a:pPr>
            <a:r>
              <a:rPr lang="en-GB"/>
              <a:t>1.45: gateway?</a:t>
            </a:r>
            <a:endParaRPr/>
          </a:p>
          <a:p>
            <a:pPr indent="-317500" lvl="0" marL="457200" rtl="0" algn="l">
              <a:spcBef>
                <a:spcPts val="0"/>
              </a:spcBef>
              <a:spcAft>
                <a:spcPts val="0"/>
              </a:spcAft>
              <a:buSzPts val="1400"/>
              <a:buChar char="●"/>
            </a:pPr>
            <a:r>
              <a:rPr lang="en-GB"/>
              <a:t>2.20: asset management sys?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Remember: read (or watch) </a:t>
            </a:r>
            <a:r>
              <a:rPr i="1" lang="en-GB"/>
              <a:t>critically</a:t>
            </a:r>
            <a:r>
              <a:rPr lang="en-GB"/>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6"/>
          <p:cNvSpPr txBox="1"/>
          <p:nvPr>
            <p:ph idx="1" type="body"/>
          </p:nvPr>
        </p:nvSpPr>
        <p:spPr>
          <a:xfrm>
            <a:off x="235500" y="619075"/>
            <a:ext cx="4615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Aside from the devices themselves (connected microcontrollers running sensor/actuator rigs), IoT systems will typically also involve one or more of: </a:t>
            </a:r>
            <a:endParaRPr sz="1800"/>
          </a:p>
          <a:p>
            <a:pPr indent="-342900" lvl="0" marL="457200" rtl="0" algn="l">
              <a:spcBef>
                <a:spcPts val="0"/>
              </a:spcBef>
              <a:spcAft>
                <a:spcPts val="0"/>
              </a:spcAft>
              <a:buSzPts val="1800"/>
              <a:buChar char="●"/>
            </a:pPr>
            <a:r>
              <a:rPr lang="en-GB" sz="1800"/>
              <a:t>a </a:t>
            </a:r>
            <a:r>
              <a:rPr b="1" lang="en-GB" sz="1800"/>
              <a:t>platform</a:t>
            </a:r>
            <a:r>
              <a:rPr lang="en-GB" sz="1800"/>
              <a:t>, or backend (e.g. IFTTT, AWS IoT, IBM Watson or Adafruit.io)</a:t>
            </a:r>
            <a:endParaRPr sz="1800"/>
          </a:p>
          <a:p>
            <a:pPr indent="-342900" lvl="0" marL="457200" rtl="0" algn="l">
              <a:spcBef>
                <a:spcPts val="0"/>
              </a:spcBef>
              <a:spcAft>
                <a:spcPts val="0"/>
              </a:spcAft>
              <a:buSzPts val="1800"/>
              <a:buChar char="●"/>
            </a:pPr>
            <a:r>
              <a:rPr lang="en-GB" sz="1800"/>
              <a:t>a </a:t>
            </a:r>
            <a:r>
              <a:rPr b="1" lang="en-GB" sz="1800"/>
              <a:t>gateway</a:t>
            </a:r>
            <a:r>
              <a:rPr lang="en-GB" sz="1800"/>
              <a:t> (e.g. Google Home, Phillips Hue Bridge, Amazon Echo, Siemens Mindsphere </a:t>
            </a:r>
            <a:r>
              <a:rPr lang="en-GB" sz="1800"/>
              <a:t>MindConnect, a Pi...</a:t>
            </a:r>
            <a:r>
              <a:rPr lang="en-GB" sz="1800"/>
              <a:t>)</a:t>
            </a:r>
            <a:endParaRPr sz="1800"/>
          </a:p>
          <a:p>
            <a:pPr indent="-342900" lvl="0" marL="457200" rtl="0" algn="l">
              <a:spcBef>
                <a:spcPts val="0"/>
              </a:spcBef>
              <a:spcAft>
                <a:spcPts val="0"/>
              </a:spcAft>
              <a:buSzPts val="1800"/>
              <a:buChar char="●"/>
            </a:pPr>
            <a:r>
              <a:rPr lang="en-GB" sz="1800"/>
              <a:t>communications </a:t>
            </a:r>
            <a:r>
              <a:rPr b="1" lang="en-GB" sz="1800"/>
              <a:t>protocols</a:t>
            </a:r>
            <a:r>
              <a:rPr lang="en-GB" sz="1800"/>
              <a:t> (e.g. </a:t>
            </a:r>
            <a:r>
              <a:rPr b="1" lang="en-GB" sz="1800"/>
              <a:t>TTN</a:t>
            </a:r>
            <a:r>
              <a:rPr lang="en-GB" sz="1800"/>
              <a:t>, MQTT, COAP, HTTP, SSL/TLS...)</a:t>
            </a:r>
            <a:endParaRPr sz="1800"/>
          </a:p>
          <a:p>
            <a:pPr indent="-342900" lvl="0" marL="457200" rtl="0" algn="l">
              <a:spcBef>
                <a:spcPts val="0"/>
              </a:spcBef>
              <a:spcAft>
                <a:spcPts val="0"/>
              </a:spcAft>
              <a:buSzPts val="1800"/>
              <a:buChar char="●"/>
            </a:pPr>
            <a:r>
              <a:rPr b="1" lang="en-GB" sz="1800"/>
              <a:t>big data</a:t>
            </a:r>
            <a:r>
              <a:rPr lang="en-GB" sz="1800"/>
              <a:t> processing (Hadoop, Storm, Samza, Spark, Flink…) &amp; </a:t>
            </a:r>
            <a:r>
              <a:rPr b="1" lang="en-GB" sz="1800"/>
              <a:t>analytics</a:t>
            </a:r>
            <a:endParaRPr b="1" sz="1800"/>
          </a:p>
        </p:txBody>
      </p:sp>
      <p:sp>
        <p:nvSpPr>
          <p:cNvPr id="283" name="Google Shape;283;p46"/>
          <p:cNvSpPr txBox="1"/>
          <p:nvPr>
            <p:ph type="title"/>
          </p:nvPr>
        </p:nvSpPr>
        <p:spPr>
          <a:xfrm>
            <a:off x="985450" y="115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Software Architecture and the IoT (“fog”?!)</a:t>
            </a:r>
            <a:endParaRPr/>
          </a:p>
        </p:txBody>
      </p:sp>
      <p:sp>
        <p:nvSpPr>
          <p:cNvPr id="284" name="Google Shape;284;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IOT01.png" id="285" name="Google Shape;285;p46">
            <a:hlinkClick r:id="rId3"/>
          </p:cNvPr>
          <p:cNvPicPr preferRelativeResize="0"/>
          <p:nvPr/>
        </p:nvPicPr>
        <p:blipFill>
          <a:blip r:embed="rId4">
            <a:alphaModFix/>
          </a:blip>
          <a:stretch>
            <a:fillRect/>
          </a:stretch>
        </p:blipFill>
        <p:spPr>
          <a:xfrm>
            <a:off x="4653900" y="789125"/>
            <a:ext cx="4261499" cy="3011392"/>
          </a:xfrm>
          <a:prstGeom prst="rect">
            <a:avLst/>
          </a:prstGeom>
          <a:noFill/>
          <a:ln>
            <a:noFill/>
          </a:ln>
        </p:spPr>
      </p:pic>
      <p:sp>
        <p:nvSpPr>
          <p:cNvPr id="286" name="Google Shape;286;p46"/>
          <p:cNvSpPr txBox="1"/>
          <p:nvPr/>
        </p:nvSpPr>
        <p:spPr>
          <a:xfrm>
            <a:off x="6501525" y="3903875"/>
            <a:ext cx="33744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a:t>
            </a:r>
            <a:r>
              <a:rPr lang="en-GB" sz="800" u="sng">
                <a:solidFill>
                  <a:schemeClr val="hlink"/>
                </a:solidFill>
                <a:hlinkClick r:id="rId5"/>
              </a:rPr>
              <a:t>forklog.net</a:t>
            </a:r>
            <a:r>
              <a:rPr lang="en-GB" sz="800"/>
              <a:t>)</a:t>
            </a:r>
            <a:endParaRPr sz="800"/>
          </a:p>
        </p:txBody>
      </p:sp>
      <p:sp>
        <p:nvSpPr>
          <p:cNvPr id="287" name="Google Shape;287;p46"/>
          <p:cNvSpPr txBox="1"/>
          <p:nvPr>
            <p:ph idx="1" type="body"/>
          </p:nvPr>
        </p:nvSpPr>
        <p:spPr>
          <a:xfrm>
            <a:off x="5448475" y="4400813"/>
            <a:ext cx="2590500" cy="63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u="sng"/>
              <a:t>….What to teach?!</a:t>
            </a:r>
            <a:endParaRPr b="1" sz="1800" u="sng"/>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type="title"/>
          </p:nvPr>
        </p:nvSpPr>
        <p:spPr>
          <a:xfrm>
            <a:off x="978375" y="0"/>
            <a:ext cx="7602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Hardware (1): the ESP32</a:t>
            </a:r>
            <a:endParaRPr/>
          </a:p>
        </p:txBody>
      </p:sp>
      <p:sp>
        <p:nvSpPr>
          <p:cNvPr id="293" name="Google Shape;293;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94" name="Google Shape;294;p47"/>
          <p:cNvSpPr txBox="1"/>
          <p:nvPr>
            <p:ph idx="2" type="body"/>
          </p:nvPr>
        </p:nvSpPr>
        <p:spPr>
          <a:xfrm>
            <a:off x="978375" y="572700"/>
            <a:ext cx="70227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New wave wifi microcontrollers from fabless chip manufacturer Espressif:</a:t>
            </a:r>
            <a:endParaRPr/>
          </a:p>
          <a:p>
            <a:pPr indent="-317500" lvl="0" marL="457200" rtl="0" algn="l">
              <a:spcBef>
                <a:spcPts val="0"/>
              </a:spcBef>
              <a:spcAft>
                <a:spcPts val="0"/>
              </a:spcAft>
              <a:buSzPts val="1400"/>
              <a:buChar char="●"/>
            </a:pPr>
            <a:r>
              <a:rPr lang="en-GB"/>
              <a:t>started making a splash with the ESP8266 in 2014</a:t>
            </a:r>
            <a:endParaRPr/>
          </a:p>
          <a:p>
            <a:pPr indent="-317500" lvl="0" marL="457200" rtl="0" algn="l">
              <a:spcBef>
                <a:spcPts val="0"/>
              </a:spcBef>
              <a:spcAft>
                <a:spcPts val="0"/>
              </a:spcAft>
              <a:buSzPts val="1400"/>
              <a:buChar char="●"/>
            </a:pPr>
            <a:r>
              <a:rPr lang="en-GB"/>
              <a:t>an order of magnitude cheaper and more powerful than equivalent AVR-based boards (though new entrants are catching up!)</a:t>
            </a:r>
            <a:endParaRPr/>
          </a:p>
          <a:p>
            <a:pPr indent="-317500" lvl="0" marL="457200" rtl="0" algn="l">
              <a:spcBef>
                <a:spcPts val="0"/>
              </a:spcBef>
              <a:spcAft>
                <a:spcPts val="0"/>
              </a:spcAft>
              <a:buSzPts val="1400"/>
              <a:buChar char="●"/>
            </a:pPr>
            <a:r>
              <a:rPr lang="en-GB"/>
              <a:t>Arduino-compatible layer made programming it much easier, and made Arduino sensor/actuator code reusable</a:t>
            </a:r>
            <a:endParaRPr/>
          </a:p>
          <a:p>
            <a:pPr indent="-317500" lvl="0" marL="457200" rtl="0" algn="l">
              <a:spcBef>
                <a:spcPts val="0"/>
              </a:spcBef>
              <a:spcAft>
                <a:spcPts val="0"/>
              </a:spcAft>
              <a:buSzPts val="1400"/>
              <a:buChar char="●"/>
            </a:pPr>
            <a:r>
              <a:rPr lang="en-GB"/>
              <a:t>ESP32 released 2016 adding:</a:t>
            </a:r>
            <a:endParaRPr/>
          </a:p>
          <a:p>
            <a:pPr indent="-317500" lvl="1" marL="914400" rtl="0" algn="l">
              <a:spcBef>
                <a:spcPts val="0"/>
              </a:spcBef>
              <a:spcAft>
                <a:spcPts val="0"/>
              </a:spcAft>
              <a:buSzPts val="1400"/>
              <a:buChar char="○"/>
            </a:pPr>
            <a:r>
              <a:rPr lang="en-GB"/>
              <a:t>dual core (wifi etc. runs on one — “</a:t>
            </a:r>
            <a:r>
              <a:rPr i="1" lang="en-GB"/>
              <a:t>protocol core”</a:t>
            </a:r>
            <a:r>
              <a:rPr lang="en-GB"/>
              <a:t>, user code on the other — “</a:t>
            </a:r>
            <a:r>
              <a:rPr i="1" lang="en-GB"/>
              <a:t>app core”</a:t>
            </a:r>
            <a:r>
              <a:rPr lang="en-GB"/>
              <a:t>)</a:t>
            </a:r>
            <a:endParaRPr/>
          </a:p>
          <a:p>
            <a:pPr indent="-317500" lvl="1" marL="914400" rtl="0" algn="l">
              <a:spcBef>
                <a:spcPts val="0"/>
              </a:spcBef>
              <a:spcAft>
                <a:spcPts val="0"/>
              </a:spcAft>
              <a:buSzPts val="1400"/>
              <a:buChar char="○"/>
            </a:pPr>
            <a:r>
              <a:rPr lang="en-GB"/>
              <a:t>Bluetooth LE</a:t>
            </a:r>
            <a:endParaRPr/>
          </a:p>
          <a:p>
            <a:pPr indent="-317500" lvl="1" marL="914400" rtl="0" algn="l">
              <a:spcBef>
                <a:spcPts val="0"/>
              </a:spcBef>
              <a:spcAft>
                <a:spcPts val="0"/>
              </a:spcAft>
              <a:buSzPts val="1400"/>
              <a:buChar char="○"/>
            </a:pPr>
            <a:r>
              <a:rPr lang="en-GB"/>
              <a:t>more GPIO</a:t>
            </a:r>
            <a:endParaRPr/>
          </a:p>
          <a:p>
            <a:pPr indent="-317500" lvl="1" marL="914400" rtl="0" algn="l">
              <a:spcBef>
                <a:spcPts val="0"/>
              </a:spcBef>
              <a:spcAft>
                <a:spcPts val="0"/>
              </a:spcAft>
              <a:buSzPts val="1400"/>
              <a:buChar char="○"/>
            </a:pPr>
            <a:r>
              <a:rPr lang="en-GB"/>
              <a:t>touch and temperature sensors</a:t>
            </a:r>
            <a:endParaRPr/>
          </a:p>
          <a:p>
            <a:pPr indent="-317500" lvl="0" marL="457200" rtl="0" algn="l">
              <a:spcBef>
                <a:spcPts val="0"/>
              </a:spcBef>
              <a:spcAft>
                <a:spcPts val="0"/>
              </a:spcAft>
              <a:buSzPts val="1400"/>
              <a:buChar char="●"/>
            </a:pPr>
            <a:r>
              <a:rPr lang="en-GB"/>
              <a:t>2019: ESP32-S2, single core but stronger crypto etc.</a:t>
            </a:r>
            <a:endParaRPr/>
          </a:p>
          <a:p>
            <a:pPr indent="-317500" lvl="0" marL="457200" rtl="0" algn="l">
              <a:spcBef>
                <a:spcPts val="0"/>
              </a:spcBef>
              <a:spcAft>
                <a:spcPts val="0"/>
              </a:spcAft>
              <a:buSzPts val="1400"/>
              <a:buChar char="●"/>
            </a:pPr>
            <a:r>
              <a:rPr lang="en-GB"/>
              <a:t>2021: ESP32-S3 (dual core Xtensa), ESP32-C3 (single core RISC V, lower power?). Yes, there is a single letter difference between the names of these radically different chips!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8"/>
          <p:cNvSpPr txBox="1"/>
          <p:nvPr>
            <p:ph type="title"/>
          </p:nvPr>
        </p:nvSpPr>
        <p:spPr>
          <a:xfrm>
            <a:off x="978375" y="0"/>
            <a:ext cx="7602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Hardware (2): the ESP32 (contd.)</a:t>
            </a:r>
            <a:endParaRPr/>
          </a:p>
        </p:txBody>
      </p:sp>
      <p:sp>
        <p:nvSpPr>
          <p:cNvPr id="300" name="Google Shape;300;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01" name="Google Shape;301;p48"/>
          <p:cNvSpPr txBox="1"/>
          <p:nvPr>
            <p:ph idx="2" type="body"/>
          </p:nvPr>
        </p:nvSpPr>
        <p:spPr>
          <a:xfrm>
            <a:off x="2800150" y="519933"/>
            <a:ext cx="59988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GB"/>
              <a:t>our boards: Adafruit Huzzah ESP32 </a:t>
            </a:r>
            <a:r>
              <a:rPr b="1" lang="en-GB"/>
              <a:t>Feather</a:t>
            </a:r>
            <a:r>
              <a:rPr lang="en-GB"/>
              <a:t> </a:t>
            </a:r>
            <a:endParaRPr/>
          </a:p>
          <a:p>
            <a:pPr indent="-317500" lvl="0" marL="457200" rtl="0" algn="l">
              <a:spcBef>
                <a:spcPts val="0"/>
              </a:spcBef>
              <a:spcAft>
                <a:spcPts val="0"/>
              </a:spcAft>
              <a:buSzPts val="1400"/>
              <a:buChar char="●"/>
            </a:pPr>
            <a:r>
              <a:rPr lang="en-GB"/>
              <a:t>a robust board with built-in LiPo charger, USB to serial, automatic bootloader reset</a:t>
            </a:r>
            <a:endParaRPr/>
          </a:p>
          <a:p>
            <a:pPr indent="-317500" lvl="0" marL="457200" rtl="0" algn="l">
              <a:spcBef>
                <a:spcPts val="0"/>
              </a:spcBef>
              <a:spcAft>
                <a:spcPts val="0"/>
              </a:spcAft>
              <a:buSzPts val="1400"/>
              <a:buChar char="●"/>
            </a:pPr>
            <a:r>
              <a:rPr lang="en-GB"/>
              <a:t>part of the Feather range, which includes add-on motor drivers, RF, TFT and OLED screens, relays, midi synth...</a:t>
            </a:r>
            <a:endParaRPr/>
          </a:p>
        </p:txBody>
      </p:sp>
      <p:pic>
        <p:nvPicPr>
          <p:cNvPr descr="IMG_20170811_112005.jpg" id="302" name="Google Shape;302;p48"/>
          <p:cNvPicPr preferRelativeResize="0"/>
          <p:nvPr/>
        </p:nvPicPr>
        <p:blipFill rotWithShape="1">
          <a:blip r:embed="rId3">
            <a:alphaModFix/>
          </a:blip>
          <a:srcRect b="10753" l="23220" r="38019" t="52509"/>
          <a:stretch/>
        </p:blipFill>
        <p:spPr>
          <a:xfrm>
            <a:off x="515647" y="652665"/>
            <a:ext cx="2196946" cy="1561574"/>
          </a:xfrm>
          <a:prstGeom prst="rect">
            <a:avLst/>
          </a:prstGeom>
          <a:noFill/>
          <a:ln>
            <a:noFill/>
          </a:ln>
        </p:spPr>
      </p:pic>
      <p:pic>
        <p:nvPicPr>
          <p:cNvPr descr="IMG_20170811_112019.jpg" id="303" name="Google Shape;303;p48"/>
          <p:cNvPicPr preferRelativeResize="0"/>
          <p:nvPr/>
        </p:nvPicPr>
        <p:blipFill rotWithShape="1">
          <a:blip r:embed="rId4">
            <a:alphaModFix/>
          </a:blip>
          <a:srcRect b="16950" l="35450" r="0" t="20361"/>
          <a:stretch/>
        </p:blipFill>
        <p:spPr>
          <a:xfrm>
            <a:off x="520966" y="2473900"/>
            <a:ext cx="2144051" cy="15615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9"/>
          <p:cNvSpPr txBox="1"/>
          <p:nvPr>
            <p:ph idx="1" type="body"/>
          </p:nvPr>
        </p:nvSpPr>
        <p:spPr>
          <a:xfrm>
            <a:off x="471850" y="695275"/>
            <a:ext cx="8141700" cy="284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GB"/>
              <a:t>Arduino</a:t>
            </a:r>
            <a:r>
              <a:rPr lang="en-GB"/>
              <a:t> is both a hardware platform (originally based on AVR microcontrollers) and an IDE — from </a:t>
            </a:r>
            <a:r>
              <a:rPr lang="en-GB" u="sng">
                <a:solidFill>
                  <a:schemeClr val="hlink"/>
                </a:solidFill>
                <a:hlinkClick r:id="rId3"/>
              </a:rPr>
              <a:t>https://arduino.cc</a:t>
            </a:r>
            <a:r>
              <a:rPr lang="en-GB"/>
              <a:t> — that has lead the way on open embedded computation since 2005.</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C++ is a high- (or medium-) level language layered on the C systems (low-to-medium level) programming language.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Arduino C++</a:t>
            </a:r>
            <a:r>
              <a:rPr lang="en-GB"/>
              <a:t> refers to preprocessing, macros and libraries that are available via the 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ESP32 is </a:t>
            </a:r>
            <a:r>
              <a:rPr b="1" lang="en-GB"/>
              <a:t>not</a:t>
            </a:r>
            <a:r>
              <a:rPr lang="en-GB"/>
              <a:t> an AVR-based device, but there is a compatibility layer that interfaces it to the Arduino IDE. This makes lots of code for sensors and actuators and etc. magically available for the ESP.</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We’ll use the Arduino IDE to get going with ESP firmware development in the first half of term. We’ll look at other options later on (the native development environment from the chip manufacturer, IDF, PlatformIO or Eclipse CDT).</a:t>
            </a:r>
            <a:endParaRPr/>
          </a:p>
        </p:txBody>
      </p:sp>
      <p:sp>
        <p:nvSpPr>
          <p:cNvPr id="309" name="Google Shape;309;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10" name="Google Shape;310;p49"/>
          <p:cNvSpPr txBox="1"/>
          <p:nvPr>
            <p:ph type="title"/>
          </p:nvPr>
        </p:nvSpPr>
        <p:spPr>
          <a:xfrm>
            <a:off x="900625" y="46625"/>
            <a:ext cx="736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How do we program </a:t>
            </a:r>
            <a:r>
              <a:rPr lang="en-GB"/>
              <a:t>it</a:t>
            </a:r>
            <a:r>
              <a:rPr lang="en-GB"/>
              <a:t>?  (1: </a:t>
            </a:r>
            <a:r>
              <a:rPr lang="en-GB" u="sng"/>
              <a:t>firmware</a:t>
            </a:r>
            <a:r>
              <a:rPr lang="en-GB"/>
              <a:t> in C++)</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0"/>
          <p:cNvSpPr txBox="1"/>
          <p:nvPr>
            <p:ph type="title"/>
          </p:nvPr>
        </p:nvSpPr>
        <p:spPr>
          <a:xfrm>
            <a:off x="818723" y="4450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We’re </a:t>
            </a:r>
            <a:r>
              <a:rPr lang="en-GB" u="sng"/>
              <a:t>NOT</a:t>
            </a:r>
            <a:r>
              <a:rPr lang="en-GB"/>
              <a:t> teaching you C[++]!!!</a:t>
            </a:r>
            <a:endParaRPr/>
          </a:p>
        </p:txBody>
      </p:sp>
      <p:sp>
        <p:nvSpPr>
          <p:cNvPr id="316" name="Google Shape;316;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17" name="Google Shape;317;p50"/>
          <p:cNvSpPr txBox="1"/>
          <p:nvPr>
            <p:ph idx="2" type="body"/>
          </p:nvPr>
        </p:nvSpPr>
        <p:spPr>
          <a:xfrm>
            <a:off x="593400" y="803025"/>
            <a:ext cx="8338200" cy="232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br>
              <a:rPr lang="en-GB"/>
            </a:br>
            <a:r>
              <a:rPr lang="en-GB"/>
              <a:t>Huh?!</a:t>
            </a:r>
            <a:endParaRPr/>
          </a:p>
          <a:p>
            <a:pPr indent="0" lvl="0" marL="0" rtl="0" algn="l">
              <a:spcBef>
                <a:spcPts val="0"/>
              </a:spcBef>
              <a:spcAft>
                <a:spcPts val="0"/>
              </a:spcAft>
              <a:buClr>
                <a:schemeClr val="dk1"/>
              </a:buClr>
              <a:buSzPts val="1100"/>
              <a:buFont typeface="Arial"/>
              <a:buNone/>
            </a:pPr>
            <a:r>
              <a:rPr lang="en-GB"/>
              <a:t>You’re all </a:t>
            </a:r>
            <a:r>
              <a:rPr b="1" lang="en-GB"/>
              <a:t>already programmers</a:t>
            </a:r>
            <a:r>
              <a:rPr lang="en-GB"/>
              <a:t>: you no longer need to study every bracket and comma of the syntax of new languages.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You’re </a:t>
            </a:r>
            <a:r>
              <a:rPr b="1" lang="en-GB"/>
              <a:t>nearly professionals</a:t>
            </a:r>
            <a:r>
              <a:rPr lang="en-GB"/>
              <a:t>: so you need to get ready to beg, borrow and steal (i.e. google it, </a:t>
            </a:r>
            <a:r>
              <a:rPr b="1" lang="en-GB"/>
              <a:t>copy</a:t>
            </a:r>
            <a:r>
              <a:rPr lang="en-GB"/>
              <a:t> it, </a:t>
            </a:r>
            <a:r>
              <a:rPr b="1" lang="en-GB"/>
              <a:t>share</a:t>
            </a:r>
            <a:r>
              <a:rPr lang="en-GB"/>
              <a:t> your improvements) your next bit of code inspiration.</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GB"/>
              <a:t>Quick! Learn C!</a:t>
            </a:r>
            <a:r>
              <a:rPr lang="en-GB"/>
              <a:t> Some resources to help:</a:t>
            </a:r>
            <a:endParaRPr/>
          </a:p>
          <a:p>
            <a:pPr indent="-317500" lvl="0" marL="457200" rtl="0" algn="l">
              <a:spcBef>
                <a:spcPts val="0"/>
              </a:spcBef>
              <a:spcAft>
                <a:spcPts val="0"/>
              </a:spcAft>
              <a:buSzPts val="1400"/>
              <a:buChar char="●"/>
            </a:pPr>
            <a:r>
              <a:rPr lang="en-GB" u="sng">
                <a:solidFill>
                  <a:schemeClr val="hlink"/>
                </a:solidFill>
                <a:hlinkClick r:id="rId3"/>
              </a:rPr>
              <a:t>www.learn-c.org</a:t>
            </a:r>
            <a:r>
              <a:rPr lang="en-GB"/>
              <a:t> </a:t>
            </a:r>
            <a:endParaRPr/>
          </a:p>
          <a:p>
            <a:pPr indent="-317500" lvl="0" marL="457200" rtl="0" algn="l">
              <a:spcBef>
                <a:spcPts val="0"/>
              </a:spcBef>
              <a:spcAft>
                <a:spcPts val="0"/>
              </a:spcAft>
              <a:buSzPts val="1400"/>
              <a:buChar char="●"/>
            </a:pPr>
            <a:r>
              <a:rPr lang="en-GB" u="sng">
                <a:solidFill>
                  <a:schemeClr val="hlink"/>
                </a:solidFill>
                <a:hlinkClick r:id="rId4"/>
              </a:rPr>
              <a:t>www.tutorialspoint.com/cprogramming</a:t>
            </a:r>
            <a:r>
              <a:rPr lang="en-GB"/>
              <a:t> </a:t>
            </a:r>
            <a:endParaRPr/>
          </a:p>
          <a:p>
            <a:pPr indent="-317500" lvl="0" marL="457200" rtl="0" algn="l">
              <a:spcBef>
                <a:spcPts val="0"/>
              </a:spcBef>
              <a:spcAft>
                <a:spcPts val="0"/>
              </a:spcAft>
              <a:buSzPts val="1400"/>
              <a:buChar char="●"/>
            </a:pPr>
            <a:r>
              <a:rPr lang="en-GB" u="sng">
                <a:solidFill>
                  <a:schemeClr val="hlink"/>
                </a:solidFill>
                <a:hlinkClick r:id="rId5"/>
              </a:rPr>
              <a:t>www.tutorialspoint.com/cplusplus</a:t>
            </a:r>
            <a:r>
              <a:rPr lang="en-GB"/>
              <a:t> </a:t>
            </a:r>
            <a:endParaRPr/>
          </a:p>
          <a:p>
            <a:pPr indent="-317500" lvl="0" marL="457200" rtl="0" algn="l">
              <a:spcBef>
                <a:spcPts val="0"/>
              </a:spcBef>
              <a:spcAft>
                <a:spcPts val="0"/>
              </a:spcAft>
              <a:buSzPts val="1400"/>
              <a:buChar char="●"/>
            </a:pPr>
            <a:r>
              <a:rPr lang="en-GB" u="sng">
                <a:solidFill>
                  <a:schemeClr val="hlink"/>
                </a:solidFill>
                <a:hlinkClick r:id="rId6"/>
              </a:rPr>
              <a:t>www.learncpp.com</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On GNU Linux or Ubuntu:</a:t>
            </a:r>
            <a:endParaRPr/>
          </a:p>
          <a:p>
            <a:pPr indent="-317500" lvl="0" marL="457200" rtl="0" algn="l">
              <a:spcBef>
                <a:spcPts val="0"/>
              </a:spcBef>
              <a:spcAft>
                <a:spcPts val="0"/>
              </a:spcAft>
              <a:buSzPts val="1400"/>
              <a:buChar char="●"/>
            </a:pPr>
            <a:r>
              <a:rPr lang="en-GB" u="sng">
                <a:solidFill>
                  <a:schemeClr val="hlink"/>
                </a:solidFill>
                <a:hlinkClick r:id="rId7"/>
              </a:rPr>
              <a:t>www.network-theory.co.uk/docs/gccintro</a:t>
            </a:r>
            <a:endParaRPr/>
          </a:p>
          <a:p>
            <a:pPr indent="-317500" lvl="0" marL="457200" rtl="0" algn="l">
              <a:spcBef>
                <a:spcPts val="0"/>
              </a:spcBef>
              <a:spcAft>
                <a:spcPts val="0"/>
              </a:spcAft>
              <a:buSzPts val="1400"/>
              <a:buChar char="●"/>
            </a:pPr>
            <a:r>
              <a:rPr lang="en-GB" u="sng">
                <a:solidFill>
                  <a:schemeClr val="hlink"/>
                </a:solidFill>
                <a:hlinkClick r:id="rId8"/>
              </a:rPr>
              <a:t>askubuntu.com/questions/36520/how-could-i-begin-c-programming-on-ubuntu</a:t>
            </a:r>
            <a:endParaRPr/>
          </a:p>
          <a:p>
            <a:pPr indent="0" lvl="0" marL="0" rtl="0" algn="l">
              <a:spcBef>
                <a:spcPts val="0"/>
              </a:spcBef>
              <a:spcAft>
                <a:spcPts val="0"/>
              </a:spcAft>
              <a:buNone/>
            </a:pPr>
            <a:r>
              <a:t/>
            </a:r>
            <a:endParaRPr/>
          </a:p>
        </p:txBody>
      </p:sp>
      <p:sp>
        <p:nvSpPr>
          <p:cNvPr id="318" name="Google Shape;318;p50"/>
          <p:cNvSpPr txBox="1"/>
          <p:nvPr>
            <p:ph type="title"/>
          </p:nvPr>
        </p:nvSpPr>
        <p:spPr>
          <a:xfrm>
            <a:off x="803905" y="29020"/>
            <a:ext cx="4256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How do we program it?</a:t>
            </a:r>
            <a:endParaRPr/>
          </a:p>
        </p:txBody>
      </p:sp>
      <p:sp>
        <p:nvSpPr>
          <p:cNvPr id="319" name="Google Shape;319;p50"/>
          <p:cNvSpPr txBox="1"/>
          <p:nvPr>
            <p:ph type="title"/>
          </p:nvPr>
        </p:nvSpPr>
        <p:spPr>
          <a:xfrm>
            <a:off x="803899" y="29025"/>
            <a:ext cx="5262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How do we program it?  (2)</a:t>
            </a:r>
            <a:endParaRPr/>
          </a:p>
        </p:txBody>
      </p:sp>
      <p:sp>
        <p:nvSpPr>
          <p:cNvPr id="320" name="Google Shape;320;p50"/>
          <p:cNvSpPr txBox="1"/>
          <p:nvPr>
            <p:ph idx="2" type="body"/>
          </p:nvPr>
        </p:nvSpPr>
        <p:spPr>
          <a:xfrm>
            <a:off x="5243150" y="2784225"/>
            <a:ext cx="3701700" cy="232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Most of all</a:t>
            </a:r>
            <a:r>
              <a:rPr lang="en-GB"/>
              <a:t>, rely on the libraries, example sketches, and (as term goes on) the set of solutions we distribute via your git repositories.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We’re </a:t>
            </a:r>
            <a:r>
              <a:rPr b="1" lang="en-GB"/>
              <a:t>teaching you to solve problems</a:t>
            </a:r>
            <a:r>
              <a:rPr lang="en-GB"/>
              <a:t> and develop solutions in a new environment. Good luck!</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1"/>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Arduino IDE (in brief: more next week!)</a:t>
            </a:r>
            <a:endParaRPr/>
          </a:p>
        </p:txBody>
      </p:sp>
      <p:sp>
        <p:nvSpPr>
          <p:cNvPr id="326" name="Google Shape;326;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arduino-ide-01.png" id="327" name="Google Shape;327;p51"/>
          <p:cNvPicPr preferRelativeResize="0"/>
          <p:nvPr/>
        </p:nvPicPr>
        <p:blipFill>
          <a:blip r:embed="rId3">
            <a:alphaModFix/>
          </a:blip>
          <a:stretch>
            <a:fillRect/>
          </a:stretch>
        </p:blipFill>
        <p:spPr>
          <a:xfrm>
            <a:off x="1078213" y="754192"/>
            <a:ext cx="5409771" cy="4243634"/>
          </a:xfrm>
          <a:prstGeom prst="rect">
            <a:avLst/>
          </a:prstGeom>
          <a:noFill/>
          <a:ln>
            <a:noFill/>
          </a:ln>
        </p:spPr>
      </p:pic>
      <p:sp>
        <p:nvSpPr>
          <p:cNvPr id="328" name="Google Shape;328;p51"/>
          <p:cNvSpPr txBox="1"/>
          <p:nvPr>
            <p:ph type="title"/>
          </p:nvPr>
        </p:nvSpPr>
        <p:spPr>
          <a:xfrm>
            <a:off x="6669325" y="1058425"/>
            <a:ext cx="2583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Editing a “Sketch”</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The IDE is very basic… why use it?</a:t>
            </a:r>
            <a:endParaRPr sz="1800"/>
          </a:p>
          <a:p>
            <a:pPr indent="-342900" lvl="0" marL="457200" rtl="0" algn="l">
              <a:spcBef>
                <a:spcPts val="0"/>
              </a:spcBef>
              <a:spcAft>
                <a:spcPts val="0"/>
              </a:spcAft>
              <a:buSzPts val="1800"/>
              <a:buFont typeface="Calibri"/>
              <a:buAutoNum type="arabicPeriod"/>
            </a:pPr>
            <a:r>
              <a:rPr lang="en-GB" sz="1800">
                <a:latin typeface="Calibri"/>
                <a:ea typeface="Calibri"/>
                <a:cs typeface="Calibri"/>
                <a:sym typeface="Calibri"/>
              </a:rPr>
              <a:t>easy to get started</a:t>
            </a:r>
            <a:endParaRPr sz="1800">
              <a:latin typeface="Calibri"/>
              <a:ea typeface="Calibri"/>
              <a:cs typeface="Calibri"/>
              <a:sym typeface="Calibri"/>
            </a:endParaRPr>
          </a:p>
          <a:p>
            <a:pPr indent="-342900" lvl="0" marL="457200" rtl="0" algn="l">
              <a:spcBef>
                <a:spcPts val="0"/>
              </a:spcBef>
              <a:spcAft>
                <a:spcPts val="0"/>
              </a:spcAft>
              <a:buSzPts val="1800"/>
              <a:buFont typeface="Calibri"/>
              <a:buAutoNum type="arabicPeriod"/>
            </a:pPr>
            <a:r>
              <a:rPr lang="en-GB" sz="1800">
                <a:latin typeface="Calibri"/>
                <a:ea typeface="Calibri"/>
                <a:cs typeface="Calibri"/>
                <a:sym typeface="Calibri"/>
              </a:rPr>
              <a:t>File&gt;Examples</a:t>
            </a:r>
            <a:endParaRPr sz="1800">
              <a:latin typeface="Calibri"/>
              <a:ea typeface="Calibri"/>
              <a:cs typeface="Calibri"/>
              <a:sym typeface="Calibri"/>
            </a:endParaRPr>
          </a:p>
          <a:p>
            <a:pPr indent="-342900" lvl="0" marL="457200" rtl="0" algn="l">
              <a:spcBef>
                <a:spcPts val="0"/>
              </a:spcBef>
              <a:spcAft>
                <a:spcPts val="0"/>
              </a:spcAft>
              <a:buSzPts val="1800"/>
              <a:buFont typeface="Calibri"/>
              <a:buAutoNum type="arabicPeriod"/>
            </a:pPr>
            <a:r>
              <a:rPr lang="en-GB" sz="1800">
                <a:latin typeface="Calibri"/>
                <a:ea typeface="Calibri"/>
                <a:cs typeface="Calibri"/>
                <a:sym typeface="Calibri"/>
              </a:rPr>
              <a:t>Sketch&gt;Include Library</a:t>
            </a:r>
            <a:endParaRPr sz="1800">
              <a:latin typeface="Calibri"/>
              <a:ea typeface="Calibri"/>
              <a:cs typeface="Calibri"/>
              <a:sym typeface="Calibri"/>
            </a:endParaRPr>
          </a:p>
          <a:p>
            <a:pPr indent="-342900" lvl="0" marL="457200" rtl="0" algn="l">
              <a:spcBef>
                <a:spcPts val="0"/>
              </a:spcBef>
              <a:spcAft>
                <a:spcPts val="0"/>
              </a:spcAft>
              <a:buSzPts val="1800"/>
              <a:buFont typeface="Calibri"/>
              <a:buAutoNum type="arabicPeriod"/>
            </a:pPr>
            <a:r>
              <a:rPr lang="en-GB" sz="1800">
                <a:latin typeface="Calibri"/>
                <a:ea typeface="Calibri"/>
                <a:cs typeface="Calibri"/>
                <a:sym typeface="Calibri"/>
              </a:rPr>
              <a:t>Community support</a:t>
            </a:r>
            <a:endParaRPr sz="1800">
              <a:latin typeface="Calibri"/>
              <a:ea typeface="Calibri"/>
              <a:cs typeface="Calibri"/>
              <a:sym typeface="Calibri"/>
            </a:endParaRPr>
          </a:p>
          <a:p>
            <a:pPr indent="0" lvl="0" marL="0" rtl="0" algn="l">
              <a:spcBef>
                <a:spcPts val="0"/>
              </a:spcBef>
              <a:spcAft>
                <a:spcPts val="0"/>
              </a:spcAft>
              <a:buNone/>
            </a:pPr>
            <a:r>
              <a:t/>
            </a:r>
            <a:endParaRPr sz="1800"/>
          </a:p>
          <a:p>
            <a:pPr indent="0" lvl="0" marL="0" rtl="0" algn="l">
              <a:spcBef>
                <a:spcPts val="0"/>
              </a:spcBef>
              <a:spcAft>
                <a:spcPts val="0"/>
              </a:spcAft>
              <a:buNone/>
            </a:pPr>
            <a:r>
              <a:rPr lang="en-GB" sz="1800"/>
              <a:t>But: we’ll also move beyond the IDE later on...</a:t>
            </a:r>
            <a:endParaRPr sz="18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2"/>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Including a Library</a:t>
            </a:r>
            <a:endParaRPr/>
          </a:p>
        </p:txBody>
      </p:sp>
      <p:sp>
        <p:nvSpPr>
          <p:cNvPr id="334" name="Google Shape;334;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arduino-ide-02.png" id="335" name="Google Shape;335;p52"/>
          <p:cNvPicPr preferRelativeResize="0"/>
          <p:nvPr/>
        </p:nvPicPr>
        <p:blipFill rotWithShape="1">
          <a:blip r:embed="rId3">
            <a:alphaModFix/>
          </a:blip>
          <a:srcRect b="308" l="0" r="0" t="308"/>
          <a:stretch/>
        </p:blipFill>
        <p:spPr>
          <a:xfrm>
            <a:off x="2867538" y="741317"/>
            <a:ext cx="5409770" cy="4243635"/>
          </a:xfrm>
          <a:prstGeom prst="rect">
            <a:avLst/>
          </a:prstGeom>
          <a:noFill/>
          <a:ln>
            <a:noFill/>
          </a:ln>
        </p:spPr>
      </p:pic>
      <p:sp>
        <p:nvSpPr>
          <p:cNvPr id="336" name="Google Shape;336;p52"/>
          <p:cNvSpPr txBox="1"/>
          <p:nvPr/>
        </p:nvSpPr>
        <p:spPr>
          <a:xfrm>
            <a:off x="392975" y="855800"/>
            <a:ext cx="5030100" cy="58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(Though note that</a:t>
            </a:r>
            <a:br>
              <a:rPr lang="en-GB" sz="1800"/>
            </a:br>
            <a:r>
              <a:rPr lang="en-GB" sz="1800"/>
              <a:t>the libraries</a:t>
            </a:r>
            <a:br>
              <a:rPr lang="en-GB" sz="1800"/>
            </a:br>
            <a:r>
              <a:rPr lang="en-GB" sz="1800"/>
              <a:t>we will be using</a:t>
            </a:r>
            <a:br>
              <a:rPr lang="en-GB" sz="1800"/>
            </a:br>
            <a:r>
              <a:rPr lang="en-GB" sz="1800"/>
              <a:t>will be set up in your</a:t>
            </a:r>
            <a:endParaRPr sz="1800"/>
          </a:p>
          <a:p>
            <a:pPr indent="0" lvl="0" marL="0" rtl="0" algn="l">
              <a:spcBef>
                <a:spcPts val="0"/>
              </a:spcBef>
              <a:spcAft>
                <a:spcPts val="0"/>
              </a:spcAft>
              <a:buNone/>
            </a:pPr>
            <a:r>
              <a:rPr lang="en-GB" sz="1800"/>
              <a:t>filespace by scripts</a:t>
            </a:r>
            <a:br>
              <a:rPr lang="en-GB" sz="1800"/>
            </a:br>
            <a:r>
              <a:rPr lang="en-GB" sz="1800"/>
              <a:t>you’ll run in the lab</a:t>
            </a:r>
            <a:br>
              <a:rPr lang="en-GB" sz="1800"/>
            </a:br>
            <a:r>
              <a:rPr lang="en-GB" sz="1800"/>
              <a:t>tomorrow.)</a:t>
            </a:r>
            <a:endParaRPr sz="1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3"/>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Example Code</a:t>
            </a:r>
            <a:endParaRPr/>
          </a:p>
        </p:txBody>
      </p:sp>
      <p:sp>
        <p:nvSpPr>
          <p:cNvPr id="342" name="Google Shape;342;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arduino-ide-03.png" id="343" name="Google Shape;343;p53"/>
          <p:cNvPicPr preferRelativeResize="0"/>
          <p:nvPr/>
        </p:nvPicPr>
        <p:blipFill rotWithShape="1">
          <a:blip r:embed="rId3">
            <a:alphaModFix/>
          </a:blip>
          <a:srcRect b="189" l="0" r="0" t="189"/>
          <a:stretch/>
        </p:blipFill>
        <p:spPr>
          <a:xfrm>
            <a:off x="3086313" y="747467"/>
            <a:ext cx="5409770" cy="4243634"/>
          </a:xfrm>
          <a:prstGeom prst="rect">
            <a:avLst/>
          </a:prstGeom>
          <a:noFill/>
          <a:ln>
            <a:noFill/>
          </a:ln>
        </p:spPr>
      </p:pic>
      <p:sp>
        <p:nvSpPr>
          <p:cNvPr id="344" name="Google Shape;344;p53"/>
          <p:cNvSpPr txBox="1"/>
          <p:nvPr>
            <p:ph type="title"/>
          </p:nvPr>
        </p:nvSpPr>
        <p:spPr>
          <a:xfrm>
            <a:off x="425825" y="1925950"/>
            <a:ext cx="2508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Don’t panic: this week we’re just blinking LEDs and the like! And there are LOTS of examples in the IDE</a:t>
            </a:r>
            <a:endParaRPr sz="1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4"/>
          <p:cNvSpPr txBox="1"/>
          <p:nvPr>
            <p:ph type="title"/>
          </p:nvPr>
        </p:nvSpPr>
        <p:spPr>
          <a:xfrm>
            <a:off x="997500" y="729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Cool stuff for later on</a:t>
            </a:r>
            <a:endParaRPr/>
          </a:p>
        </p:txBody>
      </p:sp>
      <p:sp>
        <p:nvSpPr>
          <p:cNvPr id="350" name="Google Shape;350;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51" name="Google Shape;351;p54"/>
          <p:cNvPicPr preferRelativeResize="0"/>
          <p:nvPr/>
        </p:nvPicPr>
        <p:blipFill>
          <a:blip r:embed="rId3">
            <a:alphaModFix/>
          </a:blip>
          <a:stretch>
            <a:fillRect/>
          </a:stretch>
        </p:blipFill>
        <p:spPr>
          <a:xfrm>
            <a:off x="2814375" y="1599425"/>
            <a:ext cx="5346176" cy="3107050"/>
          </a:xfrm>
          <a:prstGeom prst="rect">
            <a:avLst/>
          </a:prstGeom>
          <a:noFill/>
          <a:ln>
            <a:noFill/>
          </a:ln>
        </p:spPr>
      </p:pic>
      <p:sp>
        <p:nvSpPr>
          <p:cNvPr id="352" name="Google Shape;352;p54"/>
          <p:cNvSpPr txBox="1"/>
          <p:nvPr>
            <p:ph idx="1" type="body"/>
          </p:nvPr>
        </p:nvSpPr>
        <p:spPr>
          <a:xfrm>
            <a:off x="967400" y="793150"/>
            <a:ext cx="4362000" cy="353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Use the serial plotter to see waveforms (Arduino IDE Tools menu, or Cntrl&amp;Shift&amp;L):</a:t>
            </a:r>
            <a:endParaRPr sz="1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5"/>
          <p:cNvSpPr txBox="1"/>
          <p:nvPr>
            <p:ph type="title"/>
          </p:nvPr>
        </p:nvSpPr>
        <p:spPr>
          <a:xfrm>
            <a:off x="1103575" y="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t>Infrastructure (1)</a:t>
            </a:r>
            <a:r>
              <a:rPr lang="en-GB"/>
              <a:t>: various cloud services</a:t>
            </a:r>
            <a:endParaRPr/>
          </a:p>
        </p:txBody>
      </p:sp>
      <p:sp>
        <p:nvSpPr>
          <p:cNvPr id="358" name="Google Shape;358;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59" name="Google Shape;359;p55"/>
          <p:cNvSpPr txBox="1"/>
          <p:nvPr>
            <p:ph idx="2" type="body"/>
          </p:nvPr>
        </p:nvSpPr>
        <p:spPr>
          <a:xfrm>
            <a:off x="153825" y="484325"/>
            <a:ext cx="8867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Commercial services:</a:t>
            </a:r>
            <a:endParaRPr sz="1800"/>
          </a:p>
          <a:p>
            <a:pPr indent="-342900" lvl="0" marL="457200" rtl="0" algn="l">
              <a:spcBef>
                <a:spcPts val="0"/>
              </a:spcBef>
              <a:spcAft>
                <a:spcPts val="0"/>
              </a:spcAft>
              <a:buSzPts val="1800"/>
              <a:buChar char="●"/>
            </a:pPr>
            <a:r>
              <a:rPr lang="en-GB" sz="1800"/>
              <a:t>if this then that: IFTTT</a:t>
            </a:r>
            <a:endParaRPr sz="1800"/>
          </a:p>
          <a:p>
            <a:pPr indent="-304800" lvl="1" marL="914400" rtl="0" algn="l">
              <a:spcBef>
                <a:spcPts val="0"/>
              </a:spcBef>
              <a:spcAft>
                <a:spcPts val="0"/>
              </a:spcAft>
              <a:buSzPts val="1200"/>
              <a:buChar char="○"/>
            </a:pPr>
            <a:r>
              <a:rPr lang="en-GB" sz="1200"/>
              <a:t>from a 2018 student: “I'd like to thank you for teaching this module. Today I was offered my first graduate job since graduating not 2 weeks ago. During the interview process I had to complete as a view to seeing how I would work to solve a problem. I was told I needed to make it such that if someone is mentioned on twitter, an email must be sent to a certain address. ...”</a:t>
            </a:r>
            <a:endParaRPr sz="1200"/>
          </a:p>
          <a:p>
            <a:pPr indent="-342900" lvl="0" marL="457200" rtl="0" algn="l">
              <a:spcBef>
                <a:spcPts val="0"/>
              </a:spcBef>
              <a:spcAft>
                <a:spcPts val="0"/>
              </a:spcAft>
              <a:buSzPts val="1800"/>
              <a:buChar char="●"/>
            </a:pPr>
            <a:r>
              <a:rPr lang="en-GB" sz="1800"/>
              <a:t>adafruit.io and other dashboard providers</a:t>
            </a:r>
            <a:endParaRPr sz="1800"/>
          </a:p>
          <a:p>
            <a:pPr indent="-342900" lvl="0" marL="457200" rtl="0" algn="l">
              <a:spcBef>
                <a:spcPts val="0"/>
              </a:spcBef>
              <a:spcAft>
                <a:spcPts val="0"/>
              </a:spcAft>
              <a:buSzPts val="1800"/>
              <a:buChar char="●"/>
            </a:pPr>
            <a:r>
              <a:rPr lang="en-GB" sz="1800"/>
              <a:t>...a whole smörgåsbord of others from all the big players</a:t>
            </a:r>
            <a:endParaRPr sz="1800"/>
          </a:p>
          <a:p>
            <a:pPr indent="0" lvl="0" marL="0" rtl="0" algn="l">
              <a:spcBef>
                <a:spcPts val="0"/>
              </a:spcBef>
              <a:spcAft>
                <a:spcPts val="0"/>
              </a:spcAft>
              <a:buNone/>
            </a:pPr>
            <a:r>
              <a:rPr lang="en-GB" sz="1800"/>
              <a:t>Our own service: the COM3505 cloud server. Example:</a:t>
            </a:r>
            <a:endParaRPr sz="1800"/>
          </a:p>
          <a:p>
            <a:pPr indent="-342900" lvl="0" marL="457200" rtl="0" algn="l">
              <a:spcBef>
                <a:spcPts val="0"/>
              </a:spcBef>
              <a:spcAft>
                <a:spcPts val="0"/>
              </a:spcAft>
              <a:buSzPts val="1800"/>
              <a:buFont typeface="Calibri"/>
              <a:buChar char="●"/>
            </a:pPr>
            <a:r>
              <a:rPr lang="en-GB" sz="1800" u="sng">
                <a:solidFill>
                  <a:schemeClr val="hlink"/>
                </a:solidFill>
                <a:latin typeface="Calibri"/>
                <a:ea typeface="Calibri"/>
                <a:cs typeface="Calibri"/>
                <a:sym typeface="Calibri"/>
                <a:hlinkClick r:id="rId3"/>
              </a:rPr>
              <a:t>https://HOSTNAME.shef.ac.uk:9194/com3505-2021?...data…</a:t>
            </a:r>
            <a:br>
              <a:rPr lang="en-GB" sz="1800">
                <a:latin typeface="Calibri"/>
                <a:ea typeface="Calibri"/>
                <a:cs typeface="Calibri"/>
                <a:sym typeface="Calibri"/>
              </a:rPr>
            </a:br>
            <a:r>
              <a:rPr lang="en-GB">
                <a:latin typeface="Calibri"/>
                <a:ea typeface="Calibri"/>
                <a:cs typeface="Calibri"/>
                <a:sym typeface="Calibri"/>
              </a:rPr>
              <a:t>[</a:t>
            </a:r>
            <a:r>
              <a:rPr b="1" lang="en-GB">
                <a:latin typeface="Calibri"/>
                <a:ea typeface="Calibri"/>
                <a:cs typeface="Calibri"/>
                <a:sym typeface="Calibri"/>
              </a:rPr>
              <a:t>bonus points: why “not secure”</a:t>
            </a:r>
            <a:r>
              <a:rPr lang="en-GB">
                <a:latin typeface="Calibri"/>
                <a:ea typeface="Calibri"/>
                <a:cs typeface="Calibri"/>
                <a:sym typeface="Calibri"/>
              </a:rPr>
              <a:t>?]</a:t>
            </a:r>
            <a:endParaRPr>
              <a:latin typeface="Calibri"/>
              <a:ea typeface="Calibri"/>
              <a:cs typeface="Calibri"/>
              <a:sym typeface="Calibri"/>
            </a:endParaRPr>
          </a:p>
          <a:p>
            <a:pPr indent="-342900" lvl="0" marL="457200" rtl="0" algn="l">
              <a:spcBef>
                <a:spcPts val="0"/>
              </a:spcBef>
              <a:spcAft>
                <a:spcPts val="0"/>
              </a:spcAft>
              <a:buSzPts val="1800"/>
              <a:buChar char="●"/>
            </a:pPr>
            <a:r>
              <a:rPr lang="en-GB" sz="1800"/>
              <a:t>data format: key=value, e.g.: </a:t>
            </a:r>
            <a:r>
              <a:rPr lang="en-GB" sz="1800">
                <a:latin typeface="Calibri"/>
                <a:ea typeface="Calibri"/>
                <a:cs typeface="Calibri"/>
                <a:sym typeface="Calibri"/>
              </a:rPr>
              <a:t>email=hamish@gate.ac.uk</a:t>
            </a:r>
            <a:endParaRPr sz="1800">
              <a:latin typeface="Calibri"/>
              <a:ea typeface="Calibri"/>
              <a:cs typeface="Calibri"/>
              <a:sym typeface="Calibri"/>
            </a:endParaRPr>
          </a:p>
          <a:p>
            <a:pPr indent="-342900" lvl="0" marL="457200" rtl="0" algn="l">
              <a:spcBef>
                <a:spcPts val="0"/>
              </a:spcBef>
              <a:spcAft>
                <a:spcPts val="0"/>
              </a:spcAft>
              <a:buSzPts val="1800"/>
              <a:buChar char="●"/>
            </a:pPr>
            <a:r>
              <a:rPr lang="en-GB" sz="1800"/>
              <a:t>it requires a .ac.uk email address — and in week 1 please send your GitLab ID</a:t>
            </a:r>
            <a:endParaRPr sz="1800"/>
          </a:p>
          <a:p>
            <a:pPr indent="-342900" lvl="0" marL="457200" rtl="0" algn="l">
              <a:spcBef>
                <a:spcPts val="0"/>
              </a:spcBef>
              <a:spcAft>
                <a:spcPts val="0"/>
              </a:spcAft>
              <a:buSzPts val="1800"/>
              <a:buChar char="●"/>
            </a:pPr>
            <a:r>
              <a:rPr lang="en-GB" sz="1800"/>
              <a:t>so to send your email and to our server do:</a:t>
            </a:r>
            <a:endParaRPr sz="1800"/>
          </a:p>
          <a:p>
            <a:pPr indent="-342900" lvl="0" marL="457200" rtl="0" algn="l">
              <a:spcBef>
                <a:spcPts val="0"/>
              </a:spcBef>
              <a:spcAft>
                <a:spcPts val="0"/>
              </a:spcAft>
              <a:buSzPts val="1800"/>
              <a:buFont typeface="Calibri"/>
              <a:buChar char="●"/>
            </a:pPr>
            <a:r>
              <a:rPr lang="en-GB" sz="1800">
                <a:latin typeface="Calibri"/>
                <a:ea typeface="Calibri"/>
                <a:cs typeface="Calibri"/>
                <a:sym typeface="Calibri"/>
              </a:rPr>
              <a:t>https://HOSTNAME.shef.ac.uk:9194/com3505-2021?</a:t>
            </a:r>
            <a:br>
              <a:rPr lang="en-GB" sz="1800">
                <a:latin typeface="Calibri"/>
                <a:ea typeface="Calibri"/>
                <a:cs typeface="Calibri"/>
                <a:sym typeface="Calibri"/>
              </a:rPr>
            </a:br>
            <a:r>
              <a:rPr lang="en-GB" sz="1800">
                <a:latin typeface="Calibri"/>
                <a:ea typeface="Calibri"/>
                <a:cs typeface="Calibri"/>
                <a:sym typeface="Calibri"/>
              </a:rPr>
              <a:t>  email=h.cunningham@shef.ac.uk&amp;gitid=MyGitLabID</a:t>
            </a:r>
            <a:endParaRPr sz="1800">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6"/>
          <p:cNvSpPr txBox="1"/>
          <p:nvPr>
            <p:ph idx="2" type="body"/>
          </p:nvPr>
        </p:nvSpPr>
        <p:spPr>
          <a:xfrm>
            <a:off x="222900" y="619075"/>
            <a:ext cx="4189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You create a repository on gitlab.com and add </a:t>
            </a:r>
            <a:r>
              <a:rPr lang="en-GB" sz="1800">
                <a:latin typeface="Calibri"/>
                <a:ea typeface="Calibri"/>
                <a:cs typeface="Calibri"/>
                <a:sym typeface="Calibri"/>
              </a:rPr>
              <a:t>@hamishcunningham</a:t>
            </a:r>
            <a:r>
              <a:rPr lang="en-GB" sz="1800"/>
              <a:t> as a maintainer.</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You tell us the GitLab ID that you’re using, and your Sheffield email address.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I pull down your repos and snapshot them each week. We also provide a course</a:t>
            </a:r>
            <a:r>
              <a:rPr lang="en-GB" sz="1800"/>
              <a:t> repository with exercises</a:t>
            </a:r>
            <a:br>
              <a:rPr lang="en-GB" sz="1800"/>
            </a:br>
            <a:r>
              <a:rPr lang="en-GB" sz="1800"/>
              <a:t>       and example code solutions.</a:t>
            </a:r>
            <a:endParaRPr sz="1800"/>
          </a:p>
          <a:p>
            <a:pPr indent="0" lvl="0" marL="0" rtl="0" algn="l">
              <a:spcBef>
                <a:spcPts val="0"/>
              </a:spcBef>
              <a:spcAft>
                <a:spcPts val="0"/>
              </a:spcAft>
              <a:buNone/>
            </a:pPr>
            <a:r>
              <a:t/>
            </a:r>
            <a:endParaRPr sz="1800"/>
          </a:p>
        </p:txBody>
      </p:sp>
      <p:sp>
        <p:nvSpPr>
          <p:cNvPr id="365" name="Google Shape;365;p56"/>
          <p:cNvSpPr txBox="1"/>
          <p:nvPr>
            <p:ph type="title"/>
          </p:nvPr>
        </p:nvSpPr>
        <p:spPr>
          <a:xfrm>
            <a:off x="1226100" y="640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GitLab in COM3505</a:t>
            </a:r>
            <a:endParaRPr/>
          </a:p>
        </p:txBody>
      </p:sp>
      <p:sp>
        <p:nvSpPr>
          <p:cNvPr id="366" name="Google Shape;366;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67" name="Google Shape;367;p56"/>
          <p:cNvSpPr txBox="1"/>
          <p:nvPr>
            <p:ph idx="2" type="body"/>
          </p:nvPr>
        </p:nvSpPr>
        <p:spPr>
          <a:xfrm>
            <a:off x="4120650" y="619075"/>
            <a:ext cx="4900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7"/>
          <p:cNvSpPr txBox="1"/>
          <p:nvPr>
            <p:ph type="title"/>
          </p:nvPr>
        </p:nvSpPr>
        <p:spPr>
          <a:xfrm>
            <a:off x="845100" y="22375"/>
            <a:ext cx="8023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Labs: soldering, breadboards, measuring, IDE</a:t>
            </a:r>
            <a:endParaRPr/>
          </a:p>
        </p:txBody>
      </p:sp>
      <p:sp>
        <p:nvSpPr>
          <p:cNvPr id="373" name="Google Shape;373;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74" name="Google Shape;374;p57"/>
          <p:cNvSpPr txBox="1"/>
          <p:nvPr>
            <p:ph idx="1" type="body"/>
          </p:nvPr>
        </p:nvSpPr>
        <p:spPr>
          <a:xfrm>
            <a:off x="4655100" y="722325"/>
            <a:ext cx="41898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Why learn to prototype circuits?</a:t>
            </a:r>
            <a:endParaRPr sz="1800"/>
          </a:p>
          <a:p>
            <a:pPr indent="-342900" lvl="0" marL="457200" rtl="0" algn="l">
              <a:spcBef>
                <a:spcPts val="0"/>
              </a:spcBef>
              <a:spcAft>
                <a:spcPts val="0"/>
              </a:spcAft>
              <a:buSzPts val="1800"/>
              <a:buChar char="●"/>
            </a:pPr>
            <a:r>
              <a:rPr lang="en-GB" sz="1800"/>
              <a:t>the more we can build locally, the more resilient we are</a:t>
            </a:r>
            <a:endParaRPr sz="1800"/>
          </a:p>
          <a:p>
            <a:pPr indent="-342900" lvl="0" marL="457200" rtl="0" algn="l">
              <a:spcBef>
                <a:spcPts val="0"/>
              </a:spcBef>
              <a:spcAft>
                <a:spcPts val="0"/>
              </a:spcAft>
              <a:buSzPts val="1800"/>
              <a:buChar char="●"/>
            </a:pPr>
            <a:r>
              <a:rPr lang="en-GB" sz="1800"/>
              <a:t>there’s a new raft of opportunity around modern embedded computation</a:t>
            </a:r>
            <a:endParaRPr sz="1800"/>
          </a:p>
          <a:p>
            <a:pPr indent="-342900" lvl="0" marL="457200" rtl="0" algn="l">
              <a:spcBef>
                <a:spcPts val="0"/>
              </a:spcBef>
              <a:spcAft>
                <a:spcPts val="0"/>
              </a:spcAft>
              <a:buSzPts val="1800"/>
              <a:buChar char="●"/>
            </a:pPr>
            <a:r>
              <a:rPr lang="en-GB" sz="1800"/>
              <a:t>a little knowledge goes a long way</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Why learn to solder?</a:t>
            </a:r>
            <a:endParaRPr sz="1800"/>
          </a:p>
          <a:p>
            <a:pPr indent="-342900" lvl="0" marL="457200" rtl="0" algn="l">
              <a:spcBef>
                <a:spcPts val="0"/>
              </a:spcBef>
              <a:spcAft>
                <a:spcPts val="0"/>
              </a:spcAft>
              <a:buSzPts val="1800"/>
              <a:buChar char="●"/>
            </a:pPr>
            <a:r>
              <a:rPr lang="en-GB" sz="1800"/>
              <a:t>more robust than breadboards</a:t>
            </a:r>
            <a:endParaRPr sz="1800"/>
          </a:p>
          <a:p>
            <a:pPr indent="-342900" lvl="0" marL="457200" rtl="0" algn="l">
              <a:spcBef>
                <a:spcPts val="0"/>
              </a:spcBef>
              <a:spcAft>
                <a:spcPts val="0"/>
              </a:spcAft>
              <a:buSzPts val="1800"/>
              <a:buChar char="●"/>
            </a:pPr>
            <a:r>
              <a:rPr lang="en-GB" sz="1800"/>
              <a:t>promotes manual dexterity</a:t>
            </a:r>
            <a:endParaRPr sz="1800"/>
          </a:p>
          <a:p>
            <a:pPr indent="-342900" lvl="0" marL="457200" rtl="0" algn="l">
              <a:spcBef>
                <a:spcPts val="0"/>
              </a:spcBef>
              <a:spcAft>
                <a:spcPts val="0"/>
              </a:spcAft>
              <a:buSzPts val="1800"/>
              <a:buChar char="●"/>
            </a:pPr>
            <a:r>
              <a:rPr lang="en-GB" sz="1800"/>
              <a:t>exercise another part of your brain! (avoid Alzheimers!)</a:t>
            </a:r>
            <a:endParaRPr sz="1800"/>
          </a:p>
        </p:txBody>
      </p:sp>
      <p:sp>
        <p:nvSpPr>
          <p:cNvPr id="375" name="Google Shape;375;p57"/>
          <p:cNvSpPr txBox="1"/>
          <p:nvPr>
            <p:ph idx="1" type="body"/>
          </p:nvPr>
        </p:nvSpPr>
        <p:spPr>
          <a:xfrm>
            <a:off x="387900" y="722325"/>
            <a:ext cx="41898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EE lab, DIA 2.02,:</a:t>
            </a:r>
            <a:endParaRPr sz="1800"/>
          </a:p>
          <a:p>
            <a:pPr indent="-342900" lvl="0" marL="457200" rtl="0" algn="l">
              <a:spcBef>
                <a:spcPts val="1000"/>
              </a:spcBef>
              <a:spcAft>
                <a:spcPts val="0"/>
              </a:spcAft>
              <a:buSzPts val="1800"/>
              <a:buChar char="●"/>
            </a:pPr>
            <a:r>
              <a:rPr lang="en-GB" sz="1800"/>
              <a:t>breadboarding</a:t>
            </a:r>
            <a:endParaRPr sz="1800"/>
          </a:p>
          <a:p>
            <a:pPr indent="-342900" lvl="0" marL="457200" rtl="0" algn="l">
              <a:spcBef>
                <a:spcPts val="0"/>
              </a:spcBef>
              <a:spcAft>
                <a:spcPts val="0"/>
              </a:spcAft>
              <a:buSzPts val="1800"/>
              <a:buChar char="●"/>
            </a:pPr>
            <a:r>
              <a:rPr lang="en-GB" sz="1800"/>
              <a:t>soldering a little example PCB</a:t>
            </a:r>
            <a:endParaRPr sz="1800"/>
          </a:p>
          <a:p>
            <a:pPr indent="-342900" lvl="0" marL="457200" rtl="0" algn="l">
              <a:spcBef>
                <a:spcPts val="0"/>
              </a:spcBef>
              <a:spcAft>
                <a:spcPts val="0"/>
              </a:spcAft>
              <a:buSzPts val="1800"/>
              <a:buChar char="●"/>
            </a:pPr>
            <a:r>
              <a:rPr lang="en-GB" sz="1800"/>
              <a:t>generating (an AC) signal</a:t>
            </a:r>
            <a:endParaRPr sz="1800"/>
          </a:p>
          <a:p>
            <a:pPr indent="-342900" lvl="0" marL="457200" rtl="0" algn="l">
              <a:spcBef>
                <a:spcPts val="0"/>
              </a:spcBef>
              <a:spcAft>
                <a:spcPts val="0"/>
              </a:spcAft>
              <a:buSzPts val="1800"/>
              <a:buChar char="●"/>
            </a:pPr>
            <a:r>
              <a:rPr lang="en-GB" sz="1800"/>
              <a:t>measuring voltage and resistance</a:t>
            </a:r>
            <a:endParaRPr sz="1800"/>
          </a:p>
          <a:p>
            <a:pPr indent="-342900" lvl="0" marL="457200" rtl="0" algn="l">
              <a:spcBef>
                <a:spcPts val="0"/>
              </a:spcBef>
              <a:spcAft>
                <a:spcPts val="0"/>
              </a:spcAft>
              <a:buSzPts val="1800"/>
              <a:buChar char="●"/>
            </a:pPr>
            <a:r>
              <a:rPr lang="en-GB" sz="1800"/>
              <a:t>setting up your gitlab repo</a:t>
            </a:r>
            <a:endParaRPr sz="1800"/>
          </a:p>
          <a:p>
            <a:pPr indent="-342900" lvl="0" marL="457200" rtl="0" algn="l">
              <a:spcBef>
                <a:spcPts val="0"/>
              </a:spcBef>
              <a:spcAft>
                <a:spcPts val="0"/>
              </a:spcAft>
              <a:buSzPts val="1800"/>
              <a:buChar char="●"/>
            </a:pPr>
            <a:r>
              <a:rPr lang="en-GB" sz="1800"/>
              <a:t>setting up the Arduino IDE etc.</a:t>
            </a:r>
            <a:endParaRPr sz="1800"/>
          </a:p>
          <a:p>
            <a:pPr indent="-342900" lvl="0" marL="457200" rtl="0" algn="l">
              <a:spcBef>
                <a:spcPts val="0"/>
              </a:spcBef>
              <a:spcAft>
                <a:spcPts val="0"/>
              </a:spcAft>
              <a:buSzPts val="1800"/>
              <a:buChar char="●"/>
            </a:pPr>
            <a:r>
              <a:rPr lang="en-GB" sz="1800"/>
              <a:t>you should already know all this: </a:t>
            </a:r>
            <a:r>
              <a:rPr lang="en-GB" sz="1800" u="sng">
                <a:solidFill>
                  <a:schemeClr val="hlink"/>
                </a:solidFill>
                <a:hlinkClick r:id="rId3"/>
              </a:rPr>
              <a:t>sheffield.ac.uk/diamond/hs</a:t>
            </a:r>
            <a:r>
              <a:rPr lang="en-GB" sz="1800"/>
              <a:t>: no food, no phones, bags in cupboards (don’t trip!), soldering irons get hot!, etc. etc.: READ IT!</a:t>
            </a:r>
            <a:endParaRPr sz="1800"/>
          </a:p>
          <a:p>
            <a:pPr indent="0" lvl="0" marL="0" rtl="0" algn="l">
              <a:spcBef>
                <a:spcPts val="1000"/>
              </a:spcBef>
              <a:spcAft>
                <a:spcPts val="1000"/>
              </a:spcAft>
              <a:buNone/>
            </a:pPr>
            <a:r>
              <a:t/>
            </a:r>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pic>
        <p:nvPicPr>
          <p:cNvPr id="380" name="Google Shape;380;p58"/>
          <p:cNvPicPr preferRelativeResize="0"/>
          <p:nvPr/>
        </p:nvPicPr>
        <p:blipFill>
          <a:blip r:embed="rId3">
            <a:alphaModFix/>
          </a:blip>
          <a:stretch>
            <a:fillRect/>
          </a:stretch>
        </p:blipFill>
        <p:spPr>
          <a:xfrm>
            <a:off x="2007625" y="543875"/>
            <a:ext cx="3069701" cy="2302276"/>
          </a:xfrm>
          <a:prstGeom prst="rect">
            <a:avLst/>
          </a:prstGeom>
          <a:noFill/>
          <a:ln>
            <a:noFill/>
          </a:ln>
        </p:spPr>
      </p:pic>
      <p:sp>
        <p:nvSpPr>
          <p:cNvPr id="381" name="Google Shape;381;p58"/>
          <p:cNvSpPr txBox="1"/>
          <p:nvPr>
            <p:ph type="title"/>
          </p:nvPr>
        </p:nvSpPr>
        <p:spPr>
          <a:xfrm>
            <a:off x="1184625" y="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Lab kit (weeks 1—8)</a:t>
            </a:r>
            <a:endParaRPr/>
          </a:p>
        </p:txBody>
      </p:sp>
      <p:sp>
        <p:nvSpPr>
          <p:cNvPr id="382" name="Google Shape;382;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83" name="Google Shape;383;p58"/>
          <p:cNvSpPr txBox="1"/>
          <p:nvPr>
            <p:ph idx="1" type="body"/>
          </p:nvPr>
        </p:nvSpPr>
        <p:spPr>
          <a:xfrm>
            <a:off x="5036100" y="-39675"/>
            <a:ext cx="4189800" cy="3846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Adafruit ESP32 Feather</a:t>
            </a:r>
            <a:br>
              <a:rPr lang="en-GB" sz="1800"/>
            </a:br>
            <a:r>
              <a:rPr lang="en-GB" sz="1800"/>
              <a:t>Huzzah</a:t>
            </a:r>
            <a:endParaRPr sz="1800"/>
          </a:p>
          <a:p>
            <a:pPr indent="-342900" lvl="0" marL="457200" rtl="0" algn="l">
              <a:spcBef>
                <a:spcPts val="0"/>
              </a:spcBef>
              <a:spcAft>
                <a:spcPts val="0"/>
              </a:spcAft>
              <a:buSzPts val="1800"/>
              <a:buChar char="●"/>
            </a:pPr>
            <a:r>
              <a:rPr lang="en-GB" sz="1800"/>
              <a:t>micro USB cable</a:t>
            </a:r>
            <a:endParaRPr sz="1800"/>
          </a:p>
          <a:p>
            <a:pPr indent="-342900" lvl="0" marL="457200" rtl="0" algn="l">
              <a:spcBef>
                <a:spcPts val="0"/>
              </a:spcBef>
              <a:spcAft>
                <a:spcPts val="0"/>
              </a:spcAft>
              <a:buSzPts val="1800"/>
              <a:buChar char="●"/>
            </a:pPr>
            <a:r>
              <a:rPr lang="en-GB" sz="1800"/>
              <a:t>breadboard; matrixboard</a:t>
            </a:r>
            <a:endParaRPr sz="1800"/>
          </a:p>
          <a:p>
            <a:pPr indent="-342900" lvl="0" marL="457200" rtl="0" algn="l">
              <a:spcBef>
                <a:spcPts val="0"/>
              </a:spcBef>
              <a:spcAft>
                <a:spcPts val="0"/>
              </a:spcAft>
              <a:buSzPts val="1800"/>
              <a:buChar char="●"/>
            </a:pPr>
            <a:r>
              <a:rPr lang="en-GB" sz="1800"/>
              <a:t>LEDs</a:t>
            </a:r>
            <a:endParaRPr sz="1800"/>
          </a:p>
          <a:p>
            <a:pPr indent="-342900" lvl="0" marL="457200" rtl="0" algn="l">
              <a:spcBef>
                <a:spcPts val="0"/>
              </a:spcBef>
              <a:spcAft>
                <a:spcPts val="0"/>
              </a:spcAft>
              <a:buSzPts val="1800"/>
              <a:buChar char="●"/>
            </a:pPr>
            <a:r>
              <a:rPr lang="en-GB" sz="1800"/>
              <a:t>4.7kΩ resistors</a:t>
            </a:r>
            <a:endParaRPr sz="1800"/>
          </a:p>
          <a:p>
            <a:pPr indent="-342900" lvl="0" marL="457200" rtl="0" algn="l">
              <a:spcBef>
                <a:spcPts val="0"/>
              </a:spcBef>
              <a:spcAft>
                <a:spcPts val="0"/>
              </a:spcAft>
              <a:buSzPts val="1800"/>
              <a:buChar char="●"/>
            </a:pPr>
            <a:r>
              <a:rPr lang="en-GB" sz="1800"/>
              <a:t>180Ω, 1MΩ and 220kΩ resistors</a:t>
            </a:r>
            <a:endParaRPr sz="1800"/>
          </a:p>
          <a:p>
            <a:pPr indent="-342900" lvl="0" marL="457200" rtl="0" algn="l">
              <a:spcBef>
                <a:spcPts val="0"/>
              </a:spcBef>
              <a:spcAft>
                <a:spcPts val="0"/>
              </a:spcAft>
              <a:buSzPts val="1800"/>
              <a:buChar char="●"/>
            </a:pPr>
            <a:r>
              <a:rPr lang="en-GB" sz="1800"/>
              <a:t>SPST switch (single pole / single throw, push-to-make, momentary, duplicated pins)</a:t>
            </a:r>
            <a:endParaRPr sz="1800"/>
          </a:p>
          <a:p>
            <a:pPr indent="-342900" lvl="0" marL="457200" rtl="0" algn="l">
              <a:spcBef>
                <a:spcPts val="0"/>
              </a:spcBef>
              <a:spcAft>
                <a:spcPts val="0"/>
              </a:spcAft>
              <a:buSzPts val="1800"/>
              <a:buChar char="●"/>
            </a:pPr>
            <a:r>
              <a:rPr lang="en-GB" sz="1800"/>
              <a:t>jumpers: 2 power, 10 assorted</a:t>
            </a:r>
            <a:endParaRPr sz="1800"/>
          </a:p>
        </p:txBody>
      </p:sp>
      <p:pic>
        <p:nvPicPr>
          <p:cNvPr id="384" name="Google Shape;384;p58"/>
          <p:cNvPicPr preferRelativeResize="0"/>
          <p:nvPr/>
        </p:nvPicPr>
        <p:blipFill rotWithShape="1">
          <a:blip r:embed="rId4">
            <a:alphaModFix/>
          </a:blip>
          <a:srcRect b="0" l="3351" r="11802" t="18897"/>
          <a:stretch/>
        </p:blipFill>
        <p:spPr>
          <a:xfrm rot="5400000">
            <a:off x="403835" y="2292747"/>
            <a:ext cx="2433124" cy="3100851"/>
          </a:xfrm>
          <a:prstGeom prst="rect">
            <a:avLst/>
          </a:prstGeom>
          <a:noFill/>
          <a:ln>
            <a:noFill/>
          </a:ln>
        </p:spPr>
      </p:pic>
      <p:pic>
        <p:nvPicPr>
          <p:cNvPr id="385" name="Google Shape;385;p58"/>
          <p:cNvPicPr preferRelativeResize="0"/>
          <p:nvPr/>
        </p:nvPicPr>
        <p:blipFill rotWithShape="1">
          <a:blip r:embed="rId5">
            <a:alphaModFix/>
          </a:blip>
          <a:srcRect b="14782" l="30230" r="35637" t="19665"/>
          <a:stretch/>
        </p:blipFill>
        <p:spPr>
          <a:xfrm>
            <a:off x="4783920" y="757275"/>
            <a:ext cx="369074" cy="945101"/>
          </a:xfrm>
          <a:prstGeom prst="rect">
            <a:avLst/>
          </a:prstGeom>
          <a:noFill/>
          <a:ln>
            <a:noFill/>
          </a:ln>
        </p:spPr>
      </p:pic>
      <p:sp>
        <p:nvSpPr>
          <p:cNvPr id="386" name="Google Shape;386;p58"/>
          <p:cNvSpPr txBox="1"/>
          <p:nvPr>
            <p:ph idx="1" type="body"/>
          </p:nvPr>
        </p:nvSpPr>
        <p:spPr>
          <a:xfrm>
            <a:off x="3094625" y="3472825"/>
            <a:ext cx="6162600" cy="2854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basic LED circuit (packs of 2, 1 per pair)</a:t>
            </a:r>
            <a:endParaRPr sz="1800"/>
          </a:p>
          <a:p>
            <a:pPr indent="-342900" lvl="0" marL="457200" rtl="0" algn="l">
              <a:spcBef>
                <a:spcPts val="0"/>
              </a:spcBef>
              <a:spcAft>
                <a:spcPts val="0"/>
              </a:spcAft>
              <a:buSzPts val="1800"/>
              <a:buChar char="●"/>
            </a:pPr>
            <a:r>
              <a:rPr lang="en-GB" sz="1800"/>
              <a:t>two printed circuit boards (PCBs)</a:t>
            </a:r>
            <a:endParaRPr sz="1800"/>
          </a:p>
          <a:p>
            <a:pPr indent="-342900" lvl="0" marL="457200" rtl="0" algn="l">
              <a:spcBef>
                <a:spcPts val="0"/>
              </a:spcBef>
              <a:spcAft>
                <a:spcPts val="0"/>
              </a:spcAft>
              <a:buSzPts val="1800"/>
              <a:buChar char="●"/>
            </a:pPr>
            <a:r>
              <a:rPr lang="en-GB" sz="1800"/>
              <a:t>two LEDs</a:t>
            </a:r>
            <a:endParaRPr sz="1800"/>
          </a:p>
          <a:p>
            <a:pPr indent="-342900" lvl="0" marL="457200" rtl="0" algn="l">
              <a:spcBef>
                <a:spcPts val="0"/>
              </a:spcBef>
              <a:spcAft>
                <a:spcPts val="0"/>
              </a:spcAft>
              <a:buSzPts val="1800"/>
              <a:buChar char="●"/>
            </a:pPr>
            <a:r>
              <a:rPr lang="en-GB" sz="1800"/>
              <a:t>two 470Ω resistors</a:t>
            </a:r>
            <a:endParaRPr sz="1800"/>
          </a:p>
          <a:p>
            <a:pPr indent="-342900" lvl="0" marL="457200" rtl="0" algn="l">
              <a:spcBef>
                <a:spcPts val="0"/>
              </a:spcBef>
              <a:spcAft>
                <a:spcPts val="0"/>
              </a:spcAft>
              <a:buSzPts val="1800"/>
              <a:buChar char="●"/>
            </a:pPr>
            <a:r>
              <a:rPr lang="en-GB" sz="1800"/>
              <a:t>solder</a:t>
            </a:r>
            <a:endParaRPr sz="18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0" name="Shape 390"/>
        <p:cNvGrpSpPr/>
        <p:nvPr/>
      </p:nvGrpSpPr>
      <p:grpSpPr>
        <a:xfrm>
          <a:off x="0" y="0"/>
          <a:ext cx="0" cy="0"/>
          <a:chOff x="0" y="0"/>
          <a:chExt cx="0" cy="0"/>
        </a:xfrm>
      </p:grpSpPr>
      <p:sp>
        <p:nvSpPr>
          <p:cNvPr id="391" name="Google Shape;391;p59"/>
          <p:cNvSpPr txBox="1"/>
          <p:nvPr>
            <p:ph type="title"/>
          </p:nvPr>
        </p:nvSpPr>
        <p:spPr>
          <a:xfrm>
            <a:off x="9975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Soldering the headers on the FeatherWings</a:t>
            </a:r>
            <a:endParaRPr/>
          </a:p>
        </p:txBody>
      </p:sp>
      <p:sp>
        <p:nvSpPr>
          <p:cNvPr id="392" name="Google Shape;392;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93" name="Google Shape;393;p59"/>
          <p:cNvPicPr preferRelativeResize="0"/>
          <p:nvPr/>
        </p:nvPicPr>
        <p:blipFill>
          <a:blip r:embed="rId3">
            <a:alphaModFix/>
          </a:blip>
          <a:stretch>
            <a:fillRect/>
          </a:stretch>
        </p:blipFill>
        <p:spPr>
          <a:xfrm>
            <a:off x="4116275" y="1170125"/>
            <a:ext cx="4875325" cy="2523684"/>
          </a:xfrm>
          <a:prstGeom prst="rect">
            <a:avLst/>
          </a:prstGeom>
          <a:noFill/>
          <a:ln>
            <a:noFill/>
          </a:ln>
        </p:spPr>
      </p:pic>
      <p:sp>
        <p:nvSpPr>
          <p:cNvPr id="394" name="Google Shape;394;p59"/>
          <p:cNvSpPr txBox="1"/>
          <p:nvPr>
            <p:ph idx="1" type="body"/>
          </p:nvPr>
        </p:nvSpPr>
        <p:spPr>
          <a:xfrm>
            <a:off x="264875" y="771475"/>
            <a:ext cx="3851400" cy="3955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FeatherWings come without headers attached</a:t>
            </a:r>
            <a:endParaRPr sz="1800"/>
          </a:p>
          <a:p>
            <a:pPr indent="-342900" lvl="0" marL="457200" rtl="0" algn="l">
              <a:spcBef>
                <a:spcPts val="0"/>
              </a:spcBef>
              <a:spcAft>
                <a:spcPts val="0"/>
              </a:spcAft>
              <a:buSzPts val="1800"/>
              <a:buChar char="●"/>
            </a:pPr>
            <a:r>
              <a:rPr lang="en-GB" sz="1800"/>
              <a:t>we need headers that we can fit to a breadboard, for example</a:t>
            </a:r>
            <a:endParaRPr sz="1800"/>
          </a:p>
          <a:p>
            <a:pPr indent="-342900" lvl="0" marL="457200" rtl="0" algn="l">
              <a:spcBef>
                <a:spcPts val="0"/>
              </a:spcBef>
              <a:spcAft>
                <a:spcPts val="0"/>
              </a:spcAft>
              <a:buSzPts val="1800"/>
              <a:buChar char="●"/>
            </a:pPr>
            <a:r>
              <a:rPr lang="en-GB" sz="1800"/>
              <a:t>the board is supplied with low-profile headers</a:t>
            </a:r>
            <a:endParaRPr sz="1800"/>
          </a:p>
          <a:p>
            <a:pPr indent="-342900" lvl="0" marL="457200" rtl="0" algn="l">
              <a:spcBef>
                <a:spcPts val="0"/>
              </a:spcBef>
              <a:spcAft>
                <a:spcPts val="0"/>
              </a:spcAft>
              <a:buSzPts val="1800"/>
              <a:buChar char="●"/>
            </a:pPr>
            <a:r>
              <a:rPr lang="en-GB" sz="1800"/>
              <a:t>in the lab you can practice soldering on a small example PCB</a:t>
            </a:r>
            <a:endParaRPr sz="1800"/>
          </a:p>
          <a:p>
            <a:pPr indent="-342900" lvl="0" marL="457200" rtl="0" algn="l">
              <a:spcBef>
                <a:spcPts val="0"/>
              </a:spcBef>
              <a:spcAft>
                <a:spcPts val="0"/>
              </a:spcAft>
              <a:buSzPts val="1800"/>
              <a:buChar char="●"/>
            </a:pPr>
            <a:r>
              <a:rPr lang="en-GB" sz="1800"/>
              <a:t>later in term you will need (depending on project choice) to solder headers onto a FeatherWing</a:t>
            </a:r>
            <a:endParaRPr sz="18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8" name="Shape 398"/>
        <p:cNvGrpSpPr/>
        <p:nvPr/>
      </p:nvGrpSpPr>
      <p:grpSpPr>
        <a:xfrm>
          <a:off x="0" y="0"/>
          <a:ext cx="0" cy="0"/>
          <a:chOff x="0" y="0"/>
          <a:chExt cx="0" cy="0"/>
        </a:xfrm>
      </p:grpSpPr>
      <p:sp>
        <p:nvSpPr>
          <p:cNvPr id="399" name="Google Shape;399;p60"/>
          <p:cNvSpPr txBox="1"/>
          <p:nvPr>
            <p:ph type="title"/>
          </p:nvPr>
        </p:nvSpPr>
        <p:spPr>
          <a:xfrm>
            <a:off x="1165875" y="0"/>
            <a:ext cx="7168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Soldering basics</a:t>
            </a:r>
            <a:endParaRPr/>
          </a:p>
        </p:txBody>
      </p:sp>
      <p:sp>
        <p:nvSpPr>
          <p:cNvPr id="400" name="Google Shape;400;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Learn the basics of soldering from Collin Cunningham!&#10;Adafruit guide to excellent soldering: https://learn.adafruit.com/adafruit-guide-excellent-soldering/&#10;Entry level soldering iron: http://adafruit.com/products/180&#10;Hakko FX-888 soldering iron: http://www.adafruit.com/products/1204&#10;&#10;More Collin's Lab:&#10;Breadboards: https://www.youtube.com/watch?v=w0c3t0fJhXU&#10;Multimeters: https://www.youtube.com/watch?v=rPGoMbVSUu8&#10;-----------------------------------------&#10;Visit the Adafruit shop online - http://www.adafruit.com&#10;&#10;Subscribe to Adafruit on YouTube: http://adafru.it/subscribe&#10;&#10;Join our weekly Show &amp; Tell on G+ Hangouts On Air: http://adafru.it/showtell&#10;&#10;Watch our latest project videos: http://adafru.it/latest&#10;&#10;New tutorials on the Adafruit Learning System: http://learn.adafruit.com/&#10;&#10;Music by bartlebeats: http://soundcloud.com/bartlebeats&#10;-----------------------------------------" id="401" name="Google Shape;401;p60" title="Collin's Lab: Soldering">
            <a:hlinkClick r:id="rId3"/>
          </p:cNvPr>
          <p:cNvPicPr preferRelativeResize="0"/>
          <p:nvPr/>
        </p:nvPicPr>
        <p:blipFill>
          <a:blip r:embed="rId4">
            <a:alphaModFix/>
          </a:blip>
          <a:stretch>
            <a:fillRect/>
          </a:stretch>
        </p:blipFill>
        <p:spPr>
          <a:xfrm>
            <a:off x="1394475" y="572700"/>
            <a:ext cx="5746876" cy="43101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5" name="Shape 405"/>
        <p:cNvGrpSpPr/>
        <p:nvPr/>
      </p:nvGrpSpPr>
      <p:grpSpPr>
        <a:xfrm>
          <a:off x="0" y="0"/>
          <a:ext cx="0" cy="0"/>
          <a:chOff x="0" y="0"/>
          <a:chExt cx="0" cy="0"/>
        </a:xfrm>
      </p:grpSpPr>
      <p:sp>
        <p:nvSpPr>
          <p:cNvPr id="406" name="Google Shape;406;p61"/>
          <p:cNvSpPr txBox="1"/>
          <p:nvPr>
            <p:ph type="title"/>
          </p:nvPr>
        </p:nvSpPr>
        <p:spPr>
          <a:xfrm>
            <a:off x="1165875" y="0"/>
            <a:ext cx="7168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Soldering Feather[Wing] headers</a:t>
            </a:r>
            <a:endParaRPr/>
          </a:p>
        </p:txBody>
      </p:sp>
      <p:sp>
        <p:nvSpPr>
          <p:cNvPr id="407" name="Google Shape;407;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08" name="Google Shape;408;p61"/>
          <p:cNvSpPr txBox="1"/>
          <p:nvPr>
            <p:ph idx="1" type="body"/>
          </p:nvPr>
        </p:nvSpPr>
        <p:spPr>
          <a:xfrm>
            <a:off x="112475" y="771475"/>
            <a:ext cx="2739300" cy="38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Gotchas:</a:t>
            </a:r>
            <a:endParaRPr sz="1800"/>
          </a:p>
          <a:p>
            <a:pPr indent="-342900" lvl="0" marL="457200" rtl="0" algn="l">
              <a:spcBef>
                <a:spcPts val="0"/>
              </a:spcBef>
              <a:spcAft>
                <a:spcPts val="0"/>
              </a:spcAft>
              <a:buSzPts val="1800"/>
              <a:buChar char="●"/>
            </a:pPr>
            <a:r>
              <a:rPr lang="en-GB" sz="1800"/>
              <a:t>board wrong way up</a:t>
            </a:r>
            <a:endParaRPr sz="1800"/>
          </a:p>
          <a:p>
            <a:pPr indent="-342900" lvl="0" marL="457200" rtl="0" algn="l">
              <a:spcBef>
                <a:spcPts val="0"/>
              </a:spcBef>
              <a:spcAft>
                <a:spcPts val="0"/>
              </a:spcAft>
              <a:buSzPts val="1800"/>
              <a:buChar char="●"/>
            </a:pPr>
            <a:r>
              <a:rPr lang="en-GB" sz="1800"/>
              <a:t>dry joints (check conductivity)</a:t>
            </a:r>
            <a:endParaRPr sz="1800"/>
          </a:p>
          <a:p>
            <a:pPr indent="-342900" lvl="0" marL="457200" rtl="0" algn="l">
              <a:spcBef>
                <a:spcPts val="0"/>
              </a:spcBef>
              <a:spcAft>
                <a:spcPts val="0"/>
              </a:spcAft>
              <a:buSzPts val="1800"/>
              <a:buChar char="●"/>
            </a:pPr>
            <a:r>
              <a:rPr lang="en-GB" sz="1800"/>
              <a:t>headers not seated properly (need to be at exactly 90°)</a:t>
            </a:r>
            <a:endParaRPr sz="1800"/>
          </a:p>
          <a:p>
            <a:pPr indent="-342900" lvl="0" marL="457200" rtl="0" algn="l">
              <a:spcBef>
                <a:spcPts val="0"/>
              </a:spcBef>
              <a:spcAft>
                <a:spcPts val="0"/>
              </a:spcAft>
              <a:buSzPts val="1800"/>
              <a:buChar char="●"/>
            </a:pPr>
            <a:r>
              <a:rPr lang="en-GB" sz="1800"/>
              <a:t>leaving solder on the pins (5:00, 7:00)</a:t>
            </a:r>
            <a:endParaRPr sz="1800"/>
          </a:p>
          <a:p>
            <a:pPr indent="-342900" lvl="0" marL="457200" rtl="0" algn="l">
              <a:spcBef>
                <a:spcPts val="0"/>
              </a:spcBef>
              <a:spcAft>
                <a:spcPts val="0"/>
              </a:spcAft>
              <a:buSzPts val="1800"/>
              <a:buChar char="●"/>
            </a:pPr>
            <a:r>
              <a:rPr lang="en-GB" sz="1800"/>
              <a:t>bending the pins when breadboarding</a:t>
            </a:r>
            <a:endParaRPr sz="1800"/>
          </a:p>
        </p:txBody>
      </p:sp>
      <p:pic>
        <p:nvPicPr>
          <p:cNvPr descr="Don't burn your fingers!" id="409" name="Google Shape;409;p61" title="Soldering stacking headers onto the Adafruit ESP32 Feather">
            <a:hlinkClick r:id="rId3"/>
          </p:cNvPr>
          <p:cNvPicPr preferRelativeResize="0"/>
          <p:nvPr/>
        </p:nvPicPr>
        <p:blipFill>
          <a:blip r:embed="rId4">
            <a:alphaModFix/>
          </a:blip>
          <a:stretch>
            <a:fillRect/>
          </a:stretch>
        </p:blipFill>
        <p:spPr>
          <a:xfrm>
            <a:off x="3067100" y="772684"/>
            <a:ext cx="5539350" cy="41545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3" name="Shape 413"/>
        <p:cNvGrpSpPr/>
        <p:nvPr/>
      </p:nvGrpSpPr>
      <p:grpSpPr>
        <a:xfrm>
          <a:off x="0" y="0"/>
          <a:ext cx="0" cy="0"/>
          <a:chOff x="0" y="0"/>
          <a:chExt cx="0" cy="0"/>
        </a:xfrm>
      </p:grpSpPr>
      <p:sp>
        <p:nvSpPr>
          <p:cNvPr id="414" name="Google Shape;414;p62"/>
          <p:cNvSpPr txBox="1"/>
          <p:nvPr>
            <p:ph type="title"/>
          </p:nvPr>
        </p:nvSpPr>
        <p:spPr>
          <a:xfrm>
            <a:off x="1184625" y="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And now… the labs!</a:t>
            </a:r>
            <a:endParaRPr/>
          </a:p>
        </p:txBody>
      </p:sp>
      <p:sp>
        <p:nvSpPr>
          <p:cNvPr id="415" name="Google Shape;415;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416" name="Google Shape;416;p62"/>
          <p:cNvPicPr preferRelativeResize="0"/>
          <p:nvPr/>
        </p:nvPicPr>
        <p:blipFill>
          <a:blip r:embed="rId3">
            <a:alphaModFix/>
          </a:blip>
          <a:stretch>
            <a:fillRect/>
          </a:stretch>
        </p:blipFill>
        <p:spPr>
          <a:xfrm>
            <a:off x="1981200" y="572700"/>
            <a:ext cx="3608751" cy="4266001"/>
          </a:xfrm>
          <a:prstGeom prst="rect">
            <a:avLst/>
          </a:prstGeom>
          <a:noFill/>
          <a:ln>
            <a:noFill/>
          </a:ln>
        </p:spPr>
      </p:pic>
      <p:pic>
        <p:nvPicPr>
          <p:cNvPr id="417" name="Google Shape;417;p62"/>
          <p:cNvPicPr preferRelativeResize="0"/>
          <p:nvPr/>
        </p:nvPicPr>
        <p:blipFill>
          <a:blip r:embed="rId4">
            <a:alphaModFix/>
          </a:blip>
          <a:stretch>
            <a:fillRect/>
          </a:stretch>
        </p:blipFill>
        <p:spPr>
          <a:xfrm>
            <a:off x="5437551" y="725100"/>
            <a:ext cx="3567119" cy="4266000"/>
          </a:xfrm>
          <a:prstGeom prst="rect">
            <a:avLst/>
          </a:prstGeom>
          <a:noFill/>
          <a:ln>
            <a:noFill/>
          </a:ln>
        </p:spPr>
      </p:pic>
      <p:sp>
        <p:nvSpPr>
          <p:cNvPr id="418" name="Google Shape;418;p62"/>
          <p:cNvSpPr txBox="1"/>
          <p:nvPr/>
        </p:nvSpPr>
        <p:spPr>
          <a:xfrm>
            <a:off x="51925" y="2120575"/>
            <a:ext cx="4354200" cy="3022800"/>
          </a:xfrm>
          <a:prstGeom prst="rect">
            <a:avLst/>
          </a:prstGeom>
          <a:solidFill>
            <a:srgbClr val="FFFFFF"/>
          </a:solid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GB"/>
              <a:t>create a GitLab repo called </a:t>
            </a:r>
            <a:r>
              <a:rPr lang="en-GB" u="sng"/>
              <a:t>com3505-2019-student</a:t>
            </a:r>
            <a:r>
              <a:rPr lang="en-GB"/>
              <a:t> and invite Hamish as a maintainer — </a:t>
            </a:r>
            <a:r>
              <a:rPr lang="en-GB"/>
              <a:t>see the week zero notes for details</a:t>
            </a:r>
            <a:endParaRPr/>
          </a:p>
          <a:p>
            <a:pPr indent="-317500" lvl="0" marL="457200" rtl="0" algn="l">
              <a:lnSpc>
                <a:spcPct val="115000"/>
              </a:lnSpc>
              <a:spcBef>
                <a:spcPts val="0"/>
              </a:spcBef>
              <a:spcAft>
                <a:spcPts val="0"/>
              </a:spcAft>
              <a:buSzPts val="1400"/>
              <a:buChar char="●"/>
            </a:pPr>
            <a:r>
              <a:rPr lang="en-GB"/>
              <a:t>get into your team (mostly pairs) and get a workstation; </a:t>
            </a:r>
            <a:r>
              <a:rPr b="1" lang="en-GB"/>
              <a:t>there are ~70 teams &amp; ~70 workstations</a:t>
            </a:r>
            <a:r>
              <a:rPr lang="en-GB"/>
              <a:t>!</a:t>
            </a:r>
            <a:endParaRPr/>
          </a:p>
          <a:p>
            <a:pPr indent="-317500" lvl="0" marL="457200" rtl="0" algn="l">
              <a:lnSpc>
                <a:spcPct val="115000"/>
              </a:lnSpc>
              <a:spcBef>
                <a:spcPts val="0"/>
              </a:spcBef>
              <a:spcAft>
                <a:spcPts val="0"/>
              </a:spcAft>
              <a:buSzPts val="1400"/>
              <a:buChar char="●"/>
            </a:pPr>
            <a:r>
              <a:rPr lang="en-GB"/>
              <a:t>you </a:t>
            </a:r>
            <a:r>
              <a:rPr b="1" lang="en-GB"/>
              <a:t>should already know</a:t>
            </a:r>
            <a:r>
              <a:rPr lang="en-GB"/>
              <a:t> all this: </a:t>
            </a:r>
            <a:r>
              <a:rPr lang="en-GB" u="sng">
                <a:solidFill>
                  <a:schemeClr val="hlink"/>
                </a:solidFill>
                <a:hlinkClick r:id="rId5"/>
              </a:rPr>
              <a:t>sheffield.ac.uk/diamond/hs</a:t>
            </a:r>
            <a:r>
              <a:rPr lang="en-GB"/>
              <a:t>: no food, no phones, bags in cupboards (don’t trip!), </a:t>
            </a:r>
            <a:r>
              <a:rPr b="1" lang="en-GB"/>
              <a:t>soldering irons get hot!</a:t>
            </a:r>
            <a:r>
              <a:rPr lang="en-GB"/>
              <a:t>, etc. etc.: </a:t>
            </a:r>
            <a:r>
              <a:rPr b="1" lang="en-GB"/>
              <a:t>READ IT</a:t>
            </a:r>
            <a:r>
              <a:rPr lang="en-GB"/>
              <a: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2" name="Shape 422"/>
        <p:cNvGrpSpPr/>
        <p:nvPr/>
      </p:nvGrpSpPr>
      <p:grpSpPr>
        <a:xfrm>
          <a:off x="0" y="0"/>
          <a:ext cx="0" cy="0"/>
          <a:chOff x="0" y="0"/>
          <a:chExt cx="0" cy="0"/>
        </a:xfrm>
      </p:grpSpPr>
      <p:sp>
        <p:nvSpPr>
          <p:cNvPr id="423" name="Google Shape;423;p63"/>
          <p:cNvSpPr txBox="1"/>
          <p:nvPr>
            <p:ph idx="1" type="body"/>
          </p:nvPr>
        </p:nvSpPr>
        <p:spPr>
          <a:xfrm>
            <a:off x="140575" y="565550"/>
            <a:ext cx="4305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TODO  delete? covered earlier now?</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GB" sz="1800"/>
              <a:t>no teamwork :(</a:t>
            </a:r>
            <a:br>
              <a:rPr lang="en-GB" sz="1800"/>
            </a:br>
            <a:r>
              <a:rPr lang="en-GB" sz="1800"/>
              <a:t>(you can make informal teams, but will be assessed singly)</a:t>
            </a:r>
            <a:endParaRPr sz="1800"/>
          </a:p>
          <a:p>
            <a:pPr indent="-342900" lvl="0" marL="457200" rtl="0" algn="l">
              <a:spcBef>
                <a:spcPts val="0"/>
              </a:spcBef>
              <a:spcAft>
                <a:spcPts val="0"/>
              </a:spcAft>
              <a:buSzPts val="1800"/>
              <a:buChar char="●"/>
            </a:pPr>
            <a:r>
              <a:rPr lang="en-GB" sz="1800"/>
              <a:t>less lab time (after Easter?)</a:t>
            </a:r>
            <a:endParaRPr sz="1800"/>
          </a:p>
          <a:p>
            <a:pPr indent="-342900" lvl="0" marL="457200" rtl="0" algn="l">
              <a:spcBef>
                <a:spcPts val="0"/>
              </a:spcBef>
              <a:spcAft>
                <a:spcPts val="0"/>
              </a:spcAft>
              <a:buSzPts val="1800"/>
              <a:buChar char="●"/>
            </a:pPr>
            <a:r>
              <a:rPr lang="en-GB" sz="1800"/>
              <a:t>we post you the kits (one now, one after Easter), or pickup from DCS</a:t>
            </a:r>
            <a:endParaRPr sz="1800"/>
          </a:p>
          <a:p>
            <a:pPr indent="-342900" lvl="0" marL="457200" rtl="0" algn="l">
              <a:spcBef>
                <a:spcPts val="0"/>
              </a:spcBef>
              <a:spcAft>
                <a:spcPts val="0"/>
              </a:spcAft>
              <a:buSzPts val="1800"/>
              <a:buChar char="●"/>
            </a:pPr>
            <a:r>
              <a:rPr lang="en-GB" sz="1800"/>
              <a:t>example code and notes up-front: work at your own pace on your own schedule</a:t>
            </a:r>
            <a:endParaRPr sz="1800"/>
          </a:p>
          <a:p>
            <a:pPr indent="-342900" lvl="0" marL="457200" rtl="0" algn="l">
              <a:spcBef>
                <a:spcPts val="0"/>
              </a:spcBef>
              <a:spcAft>
                <a:spcPts val="0"/>
              </a:spcAft>
              <a:buSzPts val="1800"/>
              <a:buChar char="●"/>
            </a:pPr>
            <a:r>
              <a:rPr lang="en-GB" sz="1800"/>
              <a:t>threshold and grading assessment</a:t>
            </a:r>
            <a:endParaRPr sz="1800"/>
          </a:p>
        </p:txBody>
      </p:sp>
      <p:sp>
        <p:nvSpPr>
          <p:cNvPr id="424" name="Google Shape;424;p63"/>
          <p:cNvSpPr txBox="1"/>
          <p:nvPr>
            <p:ph type="title"/>
          </p:nvPr>
        </p:nvSpPr>
        <p:spPr>
          <a:xfrm>
            <a:off x="9975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Changes in 2022 (iteration 5)</a:t>
            </a:r>
            <a:endParaRPr/>
          </a:p>
        </p:txBody>
      </p:sp>
      <p:sp>
        <p:nvSpPr>
          <p:cNvPr id="425" name="Google Shape;425;p63"/>
          <p:cNvSpPr txBox="1"/>
          <p:nvPr>
            <p:ph idx="1" type="body"/>
          </p:nvPr>
        </p:nvSpPr>
        <p:spPr>
          <a:xfrm>
            <a:off x="4413900" y="565550"/>
            <a:ext cx="45630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so: a lot of this is </a:t>
            </a:r>
            <a:r>
              <a:rPr b="1" lang="en-GB" sz="1800"/>
              <a:t>new to us</a:t>
            </a:r>
            <a:r>
              <a:rPr lang="en-GB" sz="1800"/>
              <a:t>, just as it is new to you!</a:t>
            </a:r>
            <a:endParaRPr sz="1800"/>
          </a:p>
          <a:p>
            <a:pPr indent="-342900" lvl="0" marL="457200" rtl="0" algn="l">
              <a:spcBef>
                <a:spcPts val="0"/>
              </a:spcBef>
              <a:spcAft>
                <a:spcPts val="0"/>
              </a:spcAft>
              <a:buSzPts val="1800"/>
              <a:buChar char="●"/>
            </a:pPr>
            <a:r>
              <a:rPr lang="en-GB" sz="1800"/>
              <a:t>if you see errors or omissions, or you can think of a better way, get in touch!</a:t>
            </a:r>
            <a:endParaRPr sz="1800"/>
          </a:p>
          <a:p>
            <a:pPr indent="-342900" lvl="0" marL="457200" rtl="0" algn="l">
              <a:spcBef>
                <a:spcPts val="0"/>
              </a:spcBef>
              <a:spcAft>
                <a:spcPts val="0"/>
              </a:spcAft>
              <a:buSzPts val="1800"/>
              <a:buChar char="●"/>
            </a:pPr>
            <a:r>
              <a:rPr lang="en-GB" sz="1800"/>
              <a:t>route number 1: the discussion board</a:t>
            </a:r>
            <a:endParaRPr sz="1800"/>
          </a:p>
          <a:p>
            <a:pPr indent="-342900" lvl="0" marL="457200" rtl="0" algn="l">
              <a:spcBef>
                <a:spcPts val="0"/>
              </a:spcBef>
              <a:spcAft>
                <a:spcPts val="0"/>
              </a:spcAft>
              <a:buSzPts val="1800"/>
              <a:buChar char="●"/>
            </a:pPr>
            <a:r>
              <a:rPr lang="en-GB" sz="1800"/>
              <a:t>email: </a:t>
            </a:r>
            <a:r>
              <a:rPr lang="en-GB" sz="1800" u="sng">
                <a:solidFill>
                  <a:schemeClr val="hlink"/>
                </a:solidFill>
                <a:hlinkClick r:id="rId3"/>
              </a:rPr>
              <a:t>hamish@gate.ac.uk</a:t>
            </a:r>
            <a:endParaRPr sz="1800"/>
          </a:p>
        </p:txBody>
      </p:sp>
      <p:sp>
        <p:nvSpPr>
          <p:cNvPr id="426" name="Google Shape;426;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0" name="Shape 430"/>
        <p:cNvGrpSpPr/>
        <p:nvPr/>
      </p:nvGrpSpPr>
      <p:grpSpPr>
        <a:xfrm>
          <a:off x="0" y="0"/>
          <a:ext cx="0" cy="0"/>
          <a:chOff x="0" y="0"/>
          <a:chExt cx="0" cy="0"/>
        </a:xfrm>
      </p:grpSpPr>
      <p:sp>
        <p:nvSpPr>
          <p:cNvPr id="431" name="Google Shape;431;p64"/>
          <p:cNvSpPr txBox="1"/>
          <p:nvPr>
            <p:ph type="title"/>
          </p:nvPr>
        </p:nvSpPr>
        <p:spPr>
          <a:xfrm>
            <a:off x="9213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Demo(s)</a:t>
            </a:r>
            <a:endParaRPr/>
          </a:p>
        </p:txBody>
      </p:sp>
      <p:sp>
        <p:nvSpPr>
          <p:cNvPr id="432" name="Google Shape;432;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33" name="Google Shape;433;p64"/>
          <p:cNvSpPr txBox="1"/>
          <p:nvPr>
            <p:ph idx="1" type="body"/>
          </p:nvPr>
        </p:nvSpPr>
        <p:spPr>
          <a:xfrm>
            <a:off x="428725" y="560525"/>
            <a:ext cx="8179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ctr">
              <a:spcBef>
                <a:spcPts val="0"/>
              </a:spcBef>
              <a:spcAft>
                <a:spcPts val="0"/>
              </a:spcAft>
              <a:buNone/>
            </a:pPr>
            <a:r>
              <a:rPr lang="en-GB" sz="1800"/>
              <a:t>&lt;&lt;setting up a GitLab repo&gt;&gt;</a:t>
            </a:r>
            <a:endParaRPr sz="1800"/>
          </a:p>
          <a:p>
            <a:pPr indent="0" lvl="0" marL="0" rtl="0" algn="ctr">
              <a:spcBef>
                <a:spcPts val="0"/>
              </a:spcBef>
              <a:spcAft>
                <a:spcPts val="0"/>
              </a:spcAft>
              <a:buNone/>
            </a:pPr>
            <a:r>
              <a:t/>
            </a:r>
            <a:endParaRPr sz="1800"/>
          </a:p>
          <a:p>
            <a:pPr indent="0" lvl="0" marL="0" rtl="0" algn="ctr">
              <a:spcBef>
                <a:spcPts val="0"/>
              </a:spcBef>
              <a:spcAft>
                <a:spcPts val="0"/>
              </a:spcAft>
              <a:buNone/>
            </a:pPr>
            <a:r>
              <a:rPr lang="en-GB" sz="1800"/>
              <a:t>&lt;&lt;SDK setup, Thing and HelloWorld&gt;&gt;</a:t>
            </a:r>
            <a:endParaRPr sz="1800"/>
          </a:p>
          <a:p>
            <a:pPr indent="0" lvl="0" marL="0" rtl="0" algn="ctr">
              <a:spcBef>
                <a:spcPts val="0"/>
              </a:spcBef>
              <a:spcAft>
                <a:spcPts val="0"/>
              </a:spcAft>
              <a:buClr>
                <a:schemeClr val="dk1"/>
              </a:buClr>
              <a:buSzPts val="1100"/>
              <a:buFont typeface="Arial"/>
              <a:buNone/>
            </a:pPr>
            <a:r>
              <a:t/>
            </a:r>
            <a:endParaRPr sz="1800"/>
          </a:p>
          <a:p>
            <a:pPr indent="0" lvl="0" marL="0" rtl="0" algn="ctr">
              <a:spcBef>
                <a:spcPts val="0"/>
              </a:spcBef>
              <a:spcAft>
                <a:spcPts val="0"/>
              </a:spcAft>
              <a:buNone/>
            </a:pPr>
            <a:r>
              <a:t/>
            </a: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7" name="Shape 437"/>
        <p:cNvGrpSpPr/>
        <p:nvPr/>
      </p:nvGrpSpPr>
      <p:grpSpPr>
        <a:xfrm>
          <a:off x="0" y="0"/>
          <a:ext cx="0" cy="0"/>
          <a:chOff x="0" y="0"/>
          <a:chExt cx="0" cy="0"/>
        </a:xfrm>
      </p:grpSpPr>
      <p:sp>
        <p:nvSpPr>
          <p:cNvPr id="438" name="Google Shape;438;p65"/>
          <p:cNvSpPr txBox="1"/>
          <p:nvPr>
            <p:ph type="title"/>
          </p:nvPr>
        </p:nvSpPr>
        <p:spPr>
          <a:xfrm>
            <a:off x="9213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Questions from Me...</a:t>
            </a:r>
            <a:endParaRPr/>
          </a:p>
        </p:txBody>
      </p:sp>
      <p:sp>
        <p:nvSpPr>
          <p:cNvPr id="439" name="Google Shape;439;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40" name="Google Shape;440;p65"/>
          <p:cNvSpPr txBox="1"/>
          <p:nvPr>
            <p:ph idx="1" type="body"/>
          </p:nvPr>
        </p:nvSpPr>
        <p:spPr>
          <a:xfrm>
            <a:off x="140575" y="565550"/>
            <a:ext cx="4305300" cy="172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Are you….</a:t>
            </a:r>
            <a:endParaRPr sz="1800"/>
          </a:p>
          <a:p>
            <a:pPr indent="-342900" lvl="0" marL="457200" rtl="0" algn="l">
              <a:spcBef>
                <a:spcPts val="0"/>
              </a:spcBef>
              <a:spcAft>
                <a:spcPts val="0"/>
              </a:spcAft>
              <a:buSzPts val="1800"/>
              <a:buAutoNum type="arabicPeriod"/>
            </a:pPr>
            <a:r>
              <a:rPr lang="en-GB" sz="1800"/>
              <a:t>...in Sheffield?</a:t>
            </a:r>
            <a:endParaRPr sz="1800"/>
          </a:p>
          <a:p>
            <a:pPr indent="-342900" lvl="0" marL="457200" rtl="0" algn="l">
              <a:spcBef>
                <a:spcPts val="0"/>
              </a:spcBef>
              <a:spcAft>
                <a:spcPts val="0"/>
              </a:spcAft>
              <a:buSzPts val="1800"/>
              <a:buAutoNum type="arabicPeriod"/>
            </a:pPr>
            <a:r>
              <a:rPr lang="en-GB" sz="1800"/>
              <a:t>...elsewhere in the UK?</a:t>
            </a:r>
            <a:endParaRPr sz="1800"/>
          </a:p>
          <a:p>
            <a:pPr indent="-342900" lvl="0" marL="457200" rtl="0" algn="l">
              <a:spcBef>
                <a:spcPts val="0"/>
              </a:spcBef>
              <a:spcAft>
                <a:spcPts val="0"/>
              </a:spcAft>
              <a:buSzPts val="1800"/>
              <a:buAutoNum type="arabicPeriod"/>
            </a:pPr>
            <a:r>
              <a:rPr lang="en-GB" sz="1800"/>
              <a:t>...abroad?</a:t>
            </a:r>
            <a:endParaRPr sz="1800"/>
          </a:p>
        </p:txBody>
      </p:sp>
      <p:sp>
        <p:nvSpPr>
          <p:cNvPr id="441" name="Google Shape;441;p65"/>
          <p:cNvSpPr txBox="1"/>
          <p:nvPr>
            <p:ph idx="1" type="body"/>
          </p:nvPr>
        </p:nvSpPr>
        <p:spPr>
          <a:xfrm>
            <a:off x="4413900" y="565550"/>
            <a:ext cx="4563000" cy="172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Is your network…</a:t>
            </a:r>
            <a:endParaRPr sz="1800"/>
          </a:p>
          <a:p>
            <a:pPr indent="-342900" lvl="0" marL="457200" rtl="0" algn="l">
              <a:spcBef>
                <a:spcPts val="0"/>
              </a:spcBef>
              <a:spcAft>
                <a:spcPts val="0"/>
              </a:spcAft>
              <a:buSzPts val="1800"/>
              <a:buAutoNum type="arabicPeriod"/>
            </a:pPr>
            <a:r>
              <a:rPr lang="en-GB" sz="1800"/>
              <a:t>...brilliant?</a:t>
            </a:r>
            <a:endParaRPr sz="1800"/>
          </a:p>
          <a:p>
            <a:pPr indent="-342900" lvl="0" marL="457200" rtl="0" algn="l">
              <a:spcBef>
                <a:spcPts val="0"/>
              </a:spcBef>
              <a:spcAft>
                <a:spcPts val="0"/>
              </a:spcAft>
              <a:buSzPts val="1800"/>
              <a:buAutoNum type="arabicPeriod"/>
            </a:pPr>
            <a:r>
              <a:rPr lang="en-GB" sz="1800"/>
              <a:t>...ok?</a:t>
            </a:r>
            <a:endParaRPr sz="1800"/>
          </a:p>
          <a:p>
            <a:pPr indent="-342900" lvl="0" marL="457200" rtl="0" algn="l">
              <a:spcBef>
                <a:spcPts val="0"/>
              </a:spcBef>
              <a:spcAft>
                <a:spcPts val="0"/>
              </a:spcAft>
              <a:buSzPts val="1800"/>
              <a:buAutoNum type="arabicPeriod"/>
            </a:pPr>
            <a:r>
              <a:rPr lang="en-GB" sz="1800"/>
              <a:t>...unreliable?</a:t>
            </a:r>
            <a:endParaRPr sz="1800"/>
          </a:p>
        </p:txBody>
      </p:sp>
      <p:sp>
        <p:nvSpPr>
          <p:cNvPr id="442" name="Google Shape;442;p65"/>
          <p:cNvSpPr txBox="1"/>
          <p:nvPr>
            <p:ph idx="1" type="body"/>
          </p:nvPr>
        </p:nvSpPr>
        <p:spPr>
          <a:xfrm>
            <a:off x="140585" y="2622950"/>
            <a:ext cx="4563000" cy="172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Do you have a parts kit?</a:t>
            </a:r>
            <a:endParaRPr sz="1800"/>
          </a:p>
          <a:p>
            <a:pPr indent="-342900" lvl="0" marL="457200" rtl="0" algn="l">
              <a:spcBef>
                <a:spcPts val="0"/>
              </a:spcBef>
              <a:spcAft>
                <a:spcPts val="0"/>
              </a:spcAft>
              <a:buSzPts val="1800"/>
              <a:buAutoNum type="arabicPeriod"/>
            </a:pPr>
            <a:r>
              <a:rPr lang="en-GB" sz="1800"/>
              <a:t>...yes?</a:t>
            </a:r>
            <a:endParaRPr sz="1800"/>
          </a:p>
          <a:p>
            <a:pPr indent="-342900" lvl="0" marL="457200" rtl="0" algn="l">
              <a:spcBef>
                <a:spcPts val="0"/>
              </a:spcBef>
              <a:spcAft>
                <a:spcPts val="0"/>
              </a:spcAft>
              <a:buSzPts val="1800"/>
              <a:buAutoNum type="arabicPeriod"/>
            </a:pPr>
            <a:r>
              <a:rPr lang="en-GB" sz="1800"/>
              <a:t>...no (I’m in Sheffield)?</a:t>
            </a:r>
            <a:endParaRPr sz="1800"/>
          </a:p>
          <a:p>
            <a:pPr indent="-342900" lvl="0" marL="457200" rtl="0" algn="l">
              <a:spcBef>
                <a:spcPts val="0"/>
              </a:spcBef>
              <a:spcAft>
                <a:spcPts val="0"/>
              </a:spcAft>
              <a:buSzPts val="1800"/>
              <a:buAutoNum type="arabicPeriod"/>
            </a:pPr>
            <a:r>
              <a:rPr lang="en-GB" sz="1800"/>
              <a:t>...no (I’m outside Sheffield)?</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1000"/>
                                        <p:tgtEl>
                                          <p:spTgt spid="4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000"/>
                                        <p:tgtEl>
                                          <p:spTgt spid="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1000"/>
                                        <p:tgtEl>
                                          <p:spTgt spid="4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
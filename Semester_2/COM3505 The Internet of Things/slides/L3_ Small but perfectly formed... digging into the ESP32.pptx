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3"/>
    <p:sldMasterId id="2147483685" r:id="rId4"/>
    <p:sldMasterId id="214748368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embeddedFontLst>
    <p:embeddedFont>
      <p:font typeface="Ubuntu"/>
      <p:regular r:id="rId61"/>
      <p:bold r:id="rId62"/>
      <p:italic r:id="rId63"/>
      <p:boldItalic r:id="rId64"/>
    </p:embeddedFont>
    <p:embeddedFont>
      <p:font typeface="Roboto"/>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Ubuntu-bold.fntdata"/><Relationship Id="rId61" Type="http://schemas.openxmlformats.org/officeDocument/2006/relationships/font" Target="fonts/Ubuntu-regular.fntdata"/><Relationship Id="rId20" Type="http://schemas.openxmlformats.org/officeDocument/2006/relationships/slide" Target="slides/slide14.xml"/><Relationship Id="rId64" Type="http://schemas.openxmlformats.org/officeDocument/2006/relationships/font" Target="fonts/Ubuntu-boldItalic.fntdata"/><Relationship Id="rId63" Type="http://schemas.openxmlformats.org/officeDocument/2006/relationships/font" Target="fonts/Ubuntu-italic.fntdata"/><Relationship Id="rId22" Type="http://schemas.openxmlformats.org/officeDocument/2006/relationships/slide" Target="slides/slide16.xml"/><Relationship Id="rId66" Type="http://schemas.openxmlformats.org/officeDocument/2006/relationships/font" Target="fonts/Roboto-bold.fntdata"/><Relationship Id="rId21" Type="http://schemas.openxmlformats.org/officeDocument/2006/relationships/slide" Target="slides/slide15.xml"/><Relationship Id="rId65" Type="http://schemas.openxmlformats.org/officeDocument/2006/relationships/font" Target="fonts/Roboto-regular.fntdata"/><Relationship Id="rId24" Type="http://schemas.openxmlformats.org/officeDocument/2006/relationships/slide" Target="slides/slide18.xml"/><Relationship Id="rId68" Type="http://schemas.openxmlformats.org/officeDocument/2006/relationships/font" Target="fonts/Roboto-boldItalic.fntdata"/><Relationship Id="rId23" Type="http://schemas.openxmlformats.org/officeDocument/2006/relationships/slide" Target="slides/slide17.xml"/><Relationship Id="rId67" Type="http://schemas.openxmlformats.org/officeDocument/2006/relationships/font" Target="fonts/Roboto-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43cb9c99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43cb9c99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b93d80b3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b93d80b3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897f710c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897f710c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ba7211e0c4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ba7211e0c4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b93d80b3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b93d80b3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43cb9c993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43cb9c993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60353e801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60353e801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60353e80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60353e80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6e80b1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6e80b1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43c7da0c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43c7da0c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43c7da0ca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43c7da0ca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43cb9c993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43cb9c993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c01eae8c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c01eae8c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could be teaching you the corporate view of the IoT… AWS, IBM, Siemens, ...COM3505: build stuff, corporation-agnostic …. ASR, “Bonsley”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383c65d8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383c65d8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43c7da0ca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43c7da0ca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fbdfdfb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fbdfdfb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383c65d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383c65d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43c7da0ca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43c7da0ca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383c65d8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383c65d8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383c65d8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383c65d8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383c65d8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383c65d8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b64d3e5e7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b64d3e5e7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43cb9c993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43cb9c993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43cb9c993d_5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43cb9c993d_5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43c7da0ca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43c7da0ca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43c7da0ca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43c7da0caa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43c7da0ca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43c7da0ca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383c65d8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383c65d8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43cb9c993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43cb9c993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4d83a3ed6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4d83a3ed6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44d233fd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44d233fd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383c65d8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383c65d8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383c65d8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383c65d8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383c65d8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383c65d8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383c65d8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383c65d8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383c65d8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383c65d8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383c65d87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383c65d87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43cb9c993d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43cb9c993d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43cb9c993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43cb9c993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6e80b1f3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26e80b1f3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43cb9c993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43cb9c993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be50361f7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be50361f7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be50361f7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be50361f7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ba7211e0c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ba7211e0c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ba7211e0c4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ba7211e0c4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ba7211e0c4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ba7211e0c4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be50361f7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be50361f7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be50361f74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be50361f74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be50361f7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be50361f7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43cb9c993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43cb9c993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630d6a630c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630d6a630c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630d6a630c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630d6a630c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7a6b0a3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27a6b0a3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Char char="●"/>
              <a:defRPr sz="1400">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4" name="Google Shape;24;p4"/>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5" name="Google Shape;65;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6"/>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16"/>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8" name="Google Shape;7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7" name="Shape 87"/>
        <p:cNvGrpSpPr/>
        <p:nvPr/>
      </p:nvGrpSpPr>
      <p:grpSpPr>
        <a:xfrm>
          <a:off x="0" y="0"/>
          <a:ext cx="0" cy="0"/>
          <a:chOff x="0" y="0"/>
          <a:chExt cx="0" cy="0"/>
        </a:xfrm>
      </p:grpSpPr>
      <p:sp>
        <p:nvSpPr>
          <p:cNvPr id="88" name="Google Shape;8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3" name="Google Shape;9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4" name="Google Shape;9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5" name="Google Shape;9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6" name="Shape 96"/>
        <p:cNvGrpSpPr/>
        <p:nvPr/>
      </p:nvGrpSpPr>
      <p:grpSpPr>
        <a:xfrm>
          <a:off x="0" y="0"/>
          <a:ext cx="0" cy="0"/>
          <a:chOff x="0" y="0"/>
          <a:chExt cx="0" cy="0"/>
        </a:xfrm>
      </p:grpSpPr>
      <p:sp>
        <p:nvSpPr>
          <p:cNvPr id="97" name="Google Shape;9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8" name="Google Shape;9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9" name="Shape 99"/>
        <p:cNvGrpSpPr/>
        <p:nvPr/>
      </p:nvGrpSpPr>
      <p:grpSpPr>
        <a:xfrm>
          <a:off x="0" y="0"/>
          <a:ext cx="0" cy="0"/>
          <a:chOff x="0" y="0"/>
          <a:chExt cx="0" cy="0"/>
        </a:xfrm>
      </p:grpSpPr>
      <p:sp>
        <p:nvSpPr>
          <p:cNvPr id="100" name="Google Shape;10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1" name="Google Shape;10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2" name="Google Shape;10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sp>
        <p:nvSpPr>
          <p:cNvPr id="104" name="Google Shape;10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3" name="Shape 113"/>
        <p:cNvGrpSpPr/>
        <p:nvPr/>
      </p:nvGrpSpPr>
      <p:grpSpPr>
        <a:xfrm>
          <a:off x="0" y="0"/>
          <a:ext cx="0" cy="0"/>
          <a:chOff x="0" y="0"/>
          <a:chExt cx="0" cy="0"/>
        </a:xfrm>
      </p:grpSpPr>
      <p:sp>
        <p:nvSpPr>
          <p:cNvPr id="114" name="Google Shape;114;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5" name="Google Shape;115;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7" name="Shape 117"/>
        <p:cNvGrpSpPr/>
        <p:nvPr/>
      </p:nvGrpSpPr>
      <p:grpSpPr>
        <a:xfrm>
          <a:off x="0" y="0"/>
          <a:ext cx="0" cy="0"/>
          <a:chOff x="0" y="0"/>
          <a:chExt cx="0" cy="0"/>
        </a:xfrm>
      </p:grpSpPr>
      <p:sp>
        <p:nvSpPr>
          <p:cNvPr id="118" name="Google Shape;118;p2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9" name="Google Shape;119;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0" name="Shape 120"/>
        <p:cNvGrpSpPr/>
        <p:nvPr/>
      </p:nvGrpSpPr>
      <p:grpSpPr>
        <a:xfrm>
          <a:off x="0" y="0"/>
          <a:ext cx="0" cy="0"/>
          <a:chOff x="0" y="0"/>
          <a:chExt cx="0" cy="0"/>
        </a:xfrm>
      </p:grpSpPr>
      <p:sp>
        <p:nvSpPr>
          <p:cNvPr id="121" name="Google Shape;121;p28"/>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2" name="Google Shape;122;p28"/>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
        <p:nvSpPr>
          <p:cNvPr id="123" name="Google Shape;123;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24" name="Google Shape;124;p28"/>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5" name="Shape 125"/>
        <p:cNvGrpSpPr/>
        <p:nvPr/>
      </p:nvGrpSpPr>
      <p:grpSpPr>
        <a:xfrm>
          <a:off x="0" y="0"/>
          <a:ext cx="0" cy="0"/>
          <a:chOff x="0" y="0"/>
          <a:chExt cx="0" cy="0"/>
        </a:xfrm>
      </p:grpSpPr>
      <p:sp>
        <p:nvSpPr>
          <p:cNvPr id="126" name="Google Shape;126;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 name="Google Shape;12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28" name="Google Shape;128;p2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29" name="Google Shape;129;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3" name="Shape 133"/>
        <p:cNvGrpSpPr/>
        <p:nvPr/>
      </p:nvGrpSpPr>
      <p:grpSpPr>
        <a:xfrm>
          <a:off x="0" y="0"/>
          <a:ext cx="0" cy="0"/>
          <a:chOff x="0" y="0"/>
          <a:chExt cx="0" cy="0"/>
        </a:xfrm>
      </p:grpSpPr>
      <p:sp>
        <p:nvSpPr>
          <p:cNvPr id="134" name="Google Shape;134;p3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35" name="Google Shape;135;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6" name="Google Shape;136;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 name="Shape 137"/>
        <p:cNvGrpSpPr/>
        <p:nvPr/>
      </p:nvGrpSpPr>
      <p:grpSpPr>
        <a:xfrm>
          <a:off x="0" y="0"/>
          <a:ext cx="0" cy="0"/>
          <a:chOff x="0" y="0"/>
          <a:chExt cx="0" cy="0"/>
        </a:xfrm>
      </p:grpSpPr>
      <p:sp>
        <p:nvSpPr>
          <p:cNvPr id="138" name="Google Shape;138;p3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39" name="Google Shape;139;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0" name="Shape 140"/>
        <p:cNvGrpSpPr/>
        <p:nvPr/>
      </p:nvGrpSpPr>
      <p:grpSpPr>
        <a:xfrm>
          <a:off x="0" y="0"/>
          <a:ext cx="0" cy="0"/>
          <a:chOff x="0" y="0"/>
          <a:chExt cx="0" cy="0"/>
        </a:xfrm>
      </p:grpSpPr>
      <p:sp>
        <p:nvSpPr>
          <p:cNvPr id="141" name="Google Shape;141;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3" name="Google Shape;143;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4" name="Google Shape;144;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45" name="Google Shape;145;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6" name="Shape 146"/>
        <p:cNvGrpSpPr/>
        <p:nvPr/>
      </p:nvGrpSpPr>
      <p:grpSpPr>
        <a:xfrm>
          <a:off x="0" y="0"/>
          <a:ext cx="0" cy="0"/>
          <a:chOff x="0" y="0"/>
          <a:chExt cx="0" cy="0"/>
        </a:xfrm>
      </p:grpSpPr>
      <p:sp>
        <p:nvSpPr>
          <p:cNvPr id="147" name="Google Shape;147;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48" name="Google Shape;148;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9" name="Shape 149"/>
        <p:cNvGrpSpPr/>
        <p:nvPr/>
      </p:nvGrpSpPr>
      <p:grpSpPr>
        <a:xfrm>
          <a:off x="0" y="0"/>
          <a:ext cx="0" cy="0"/>
          <a:chOff x="0" y="0"/>
          <a:chExt cx="0" cy="0"/>
        </a:xfrm>
      </p:grpSpPr>
      <p:sp>
        <p:nvSpPr>
          <p:cNvPr id="150" name="Google Shape;150;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51" name="Google Shape;151;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52" name="Google Shape;152;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3" name="Shape 153"/>
        <p:cNvGrpSpPr/>
        <p:nvPr/>
      </p:nvGrpSpPr>
      <p:grpSpPr>
        <a:xfrm>
          <a:off x="0" y="0"/>
          <a:ext cx="0" cy="0"/>
          <a:chOff x="0" y="0"/>
          <a:chExt cx="0" cy="0"/>
        </a:xfrm>
      </p:grpSpPr>
      <p:sp>
        <p:nvSpPr>
          <p:cNvPr id="154" name="Google Shape;154;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55" name="Shape 155"/>
        <p:cNvGrpSpPr/>
        <p:nvPr/>
      </p:nvGrpSpPr>
      <p:grpSpPr>
        <a:xfrm>
          <a:off x="0" y="0"/>
          <a:ext cx="0" cy="0"/>
          <a:chOff x="0" y="0"/>
          <a:chExt cx="0" cy="0"/>
        </a:xfrm>
      </p:grpSpPr>
      <p:sp>
        <p:nvSpPr>
          <p:cNvPr id="156" name="Google Shape;15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8" name="Shape 158"/>
        <p:cNvGrpSpPr/>
        <p:nvPr/>
      </p:nvGrpSpPr>
      <p:grpSpPr>
        <a:xfrm>
          <a:off x="0" y="0"/>
          <a:ext cx="0" cy="0"/>
          <a:chOff x="0" y="0"/>
          <a:chExt cx="0" cy="0"/>
        </a:xfrm>
      </p:grpSpPr>
      <p:sp>
        <p:nvSpPr>
          <p:cNvPr id="159" name="Google Shape;159;p38"/>
          <p:cNvSpPr txBox="1"/>
          <p:nvPr>
            <p:ph type="title"/>
          </p:nvPr>
        </p:nvSpPr>
        <p:spPr>
          <a:xfrm>
            <a:off x="628650" y="273844"/>
            <a:ext cx="7886700" cy="994200"/>
          </a:xfrm>
          <a:prstGeom prst="rect">
            <a:avLst/>
          </a:prstGeom>
          <a:noFill/>
          <a:ln>
            <a:noFill/>
          </a:ln>
        </p:spPr>
        <p:txBody>
          <a:bodyPr anchorCtr="0" anchor="ctr" bIns="91425" lIns="91425" spcFirstLastPara="1" rIns="91425" wrap="square" tIns="91425">
            <a:noAutofit/>
          </a:bodyPr>
          <a:lstStyle>
            <a:lvl1pPr indent="0" lvl="0" marL="0" marR="0" rtl="0" algn="l">
              <a:lnSpc>
                <a:spcPct val="90000"/>
              </a:lnSpc>
              <a:spcBef>
                <a:spcPts val="0"/>
              </a:spcBef>
              <a:spcAft>
                <a:spcPts val="0"/>
              </a:spcAft>
              <a:buClr>
                <a:schemeClr val="dk1"/>
              </a:buClr>
              <a:buSzPts val="2800"/>
              <a:buFont typeface="Calibri"/>
              <a:buNone/>
              <a:defRPr b="0" i="0" sz="3300" u="none" cap="none" strike="noStrike">
                <a:solidFill>
                  <a:schemeClr val="dk1"/>
                </a:solidFill>
                <a:latin typeface="Calibri"/>
                <a:ea typeface="Calibri"/>
                <a:cs typeface="Calibri"/>
                <a:sym typeface="Calibri"/>
              </a:defRPr>
            </a:lvl1pPr>
            <a:lvl2pPr indent="0" lvl="1" rtl="0">
              <a:spcBef>
                <a:spcPts val="0"/>
              </a:spcBef>
              <a:spcAft>
                <a:spcPts val="0"/>
              </a:spcAft>
              <a:buSzPts val="2800"/>
              <a:buNone/>
              <a:defRPr sz="1400"/>
            </a:lvl2pPr>
            <a:lvl3pPr indent="0" lvl="2" rtl="0">
              <a:spcBef>
                <a:spcPts val="0"/>
              </a:spcBef>
              <a:spcAft>
                <a:spcPts val="0"/>
              </a:spcAft>
              <a:buSzPts val="2800"/>
              <a:buNone/>
              <a:defRPr sz="1400"/>
            </a:lvl3pPr>
            <a:lvl4pPr indent="0" lvl="3" rtl="0">
              <a:spcBef>
                <a:spcPts val="0"/>
              </a:spcBef>
              <a:spcAft>
                <a:spcPts val="0"/>
              </a:spcAft>
              <a:buSzPts val="2800"/>
              <a:buNone/>
              <a:defRPr sz="1400"/>
            </a:lvl4pPr>
            <a:lvl5pPr indent="0" lvl="4" rtl="0">
              <a:spcBef>
                <a:spcPts val="0"/>
              </a:spcBef>
              <a:spcAft>
                <a:spcPts val="0"/>
              </a:spcAft>
              <a:buSzPts val="2800"/>
              <a:buNone/>
              <a:defRPr sz="1400"/>
            </a:lvl5pPr>
            <a:lvl6pPr indent="0" lvl="5" rtl="0">
              <a:spcBef>
                <a:spcPts val="0"/>
              </a:spcBef>
              <a:spcAft>
                <a:spcPts val="0"/>
              </a:spcAft>
              <a:buSzPts val="2800"/>
              <a:buNone/>
              <a:defRPr sz="1400"/>
            </a:lvl6pPr>
            <a:lvl7pPr indent="0" lvl="6" rtl="0">
              <a:spcBef>
                <a:spcPts val="0"/>
              </a:spcBef>
              <a:spcAft>
                <a:spcPts val="0"/>
              </a:spcAft>
              <a:buSzPts val="2800"/>
              <a:buNone/>
              <a:defRPr sz="1400"/>
            </a:lvl7pPr>
            <a:lvl8pPr indent="0" lvl="7" rtl="0">
              <a:spcBef>
                <a:spcPts val="0"/>
              </a:spcBef>
              <a:spcAft>
                <a:spcPts val="0"/>
              </a:spcAft>
              <a:buSzPts val="2800"/>
              <a:buNone/>
              <a:defRPr sz="1400"/>
            </a:lvl8pPr>
            <a:lvl9pPr indent="0" lvl="8" rtl="0">
              <a:spcBef>
                <a:spcPts val="0"/>
              </a:spcBef>
              <a:spcAft>
                <a:spcPts val="0"/>
              </a:spcAft>
              <a:buSzPts val="2800"/>
              <a:buNone/>
              <a:defRPr sz="1400"/>
            </a:lvl9pPr>
          </a:lstStyle>
          <a:p/>
        </p:txBody>
      </p:sp>
      <p:sp>
        <p:nvSpPr>
          <p:cNvPr id="160" name="Google Shape;160;p38"/>
          <p:cNvSpPr txBox="1"/>
          <p:nvPr>
            <p:ph idx="1" type="body"/>
          </p:nvPr>
        </p:nvSpPr>
        <p:spPr>
          <a:xfrm>
            <a:off x="628650" y="1369219"/>
            <a:ext cx="7886700" cy="3263400"/>
          </a:xfrm>
          <a:prstGeom prst="rect">
            <a:avLst/>
          </a:prstGeom>
          <a:noFill/>
          <a:ln>
            <a:noFill/>
          </a:ln>
        </p:spPr>
        <p:txBody>
          <a:bodyPr anchorCtr="0" anchor="t" bIns="91425" lIns="91425" spcFirstLastPara="1" rIns="91425" wrap="square" tIns="9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16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1600"/>
              </a:spcBef>
              <a:spcAft>
                <a:spcPts val="16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61" name="Google Shape;161;p38"/>
          <p:cNvSpPr txBox="1"/>
          <p:nvPr>
            <p:ph idx="10" type="dt"/>
          </p:nvPr>
        </p:nvSpPr>
        <p:spPr>
          <a:xfrm>
            <a:off x="628650" y="4767263"/>
            <a:ext cx="2057400" cy="2739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indent="0" lvl="1" marL="3429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0" lvl="2" marL="685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0" lvl="3" marL="10287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0" lvl="4"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0" lvl="5" marL="17145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0" lvl="6" marL="2057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0" lvl="7" marL="24003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0" lvl="8"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162" name="Google Shape;162;p38"/>
          <p:cNvSpPr txBox="1"/>
          <p:nvPr>
            <p:ph idx="11" type="ftr"/>
          </p:nvPr>
        </p:nvSpPr>
        <p:spPr>
          <a:xfrm>
            <a:off x="3028950" y="4767263"/>
            <a:ext cx="3086100" cy="2739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indent="0" lvl="1" marL="3429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0" lvl="2" marL="685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0" lvl="3" marL="10287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0" lvl="4"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0" lvl="5" marL="17145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0" lvl="6" marL="2057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0" lvl="7" marL="24003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0" lvl="8"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163" name="Google Shape;163;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64" name="Shape 164"/>
        <p:cNvGrpSpPr/>
        <p:nvPr/>
      </p:nvGrpSpPr>
      <p:grpSpPr>
        <a:xfrm>
          <a:off x="0" y="0"/>
          <a:ext cx="0" cy="0"/>
          <a:chOff x="0" y="0"/>
          <a:chExt cx="0" cy="0"/>
        </a:xfrm>
      </p:grpSpPr>
      <p:sp>
        <p:nvSpPr>
          <p:cNvPr id="165" name="Google Shape;165;p39"/>
          <p:cNvSpPr txBox="1"/>
          <p:nvPr>
            <p:ph type="title"/>
          </p:nvPr>
        </p:nvSpPr>
        <p:spPr>
          <a:xfrm>
            <a:off x="311700" y="456613"/>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6" name="Google Shape;166;p39"/>
          <p:cNvSpPr txBox="1"/>
          <p:nvPr>
            <p:ph idx="1" type="body"/>
          </p:nvPr>
        </p:nvSpPr>
        <p:spPr>
          <a:xfrm>
            <a:off x="311700" y="114302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2.jpg"/><Relationship Id="rId2" Type="http://schemas.openxmlformats.org/officeDocument/2006/relationships/image" Target="../media/image5.png"/><Relationship Id="rId3" Type="http://schemas.openxmlformats.org/officeDocument/2006/relationships/image" Target="../media/image1.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4.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 Type="http://schemas.openxmlformats.org/officeDocument/2006/relationships/image" Target="../media/image2.jpg"/><Relationship Id="rId2" Type="http://schemas.openxmlformats.org/officeDocument/2006/relationships/image" Target="../media/image5.png"/><Relationship Id="rId3" Type="http://schemas.openxmlformats.org/officeDocument/2006/relationships/image" Target="../media/image1.jpg"/><Relationship Id="rId4" Type="http://schemas.openxmlformats.org/officeDocument/2006/relationships/slideLayout" Target="../slideLayouts/slideLayout12.xml"/><Relationship Id="rId9" Type="http://schemas.openxmlformats.org/officeDocument/2006/relationships/slideLayout" Target="../slideLayouts/slideLayout17.xml"/><Relationship Id="rId15" Type="http://schemas.openxmlformats.org/officeDocument/2006/relationships/theme" Target="../theme/theme1.xml"/><Relationship Id="rId14" Type="http://schemas.openxmlformats.org/officeDocument/2006/relationships/slideLayout" Target="../slideLayouts/slideLayout2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 Type="http://schemas.openxmlformats.org/officeDocument/2006/relationships/image" Target="../media/image5.png"/><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slideLayout" Target="../slideLayouts/slideLayout23.xml"/><Relationship Id="rId9" Type="http://schemas.openxmlformats.org/officeDocument/2006/relationships/slideLayout" Target="../slideLayouts/slideLayout28.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7" Type="http://schemas.openxmlformats.org/officeDocument/2006/relationships/slideLayout" Target="../slideLayouts/slideLayout36.xml"/><Relationship Id="rId16" Type="http://schemas.openxmlformats.org/officeDocument/2006/relationships/slideLayout" Target="../slideLayouts/slideLayout35.xml"/><Relationship Id="rId5" Type="http://schemas.openxmlformats.org/officeDocument/2006/relationships/slideLayout" Target="../slideLayouts/slideLayout24.xml"/><Relationship Id="rId6" Type="http://schemas.openxmlformats.org/officeDocument/2006/relationships/slideLayout" Target="../slideLayouts/slideLayout25.xml"/><Relationship Id="rId18" Type="http://schemas.openxmlformats.org/officeDocument/2006/relationships/theme" Target="../theme/theme2.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esp32-feather.jpg" id="10" name="Google Shape;10;p1"/>
          <p:cNvPicPr preferRelativeResize="0"/>
          <p:nvPr/>
        </p:nvPicPr>
        <p:blipFill>
          <a:blip r:embed="rId1">
            <a:alphaModFix/>
          </a:blip>
          <a:stretch>
            <a:fillRect/>
          </a:stretch>
        </p:blipFill>
        <p:spPr>
          <a:xfrm>
            <a:off x="76985" y="4540237"/>
            <a:ext cx="521324" cy="520026"/>
          </a:xfrm>
          <a:prstGeom prst="rect">
            <a:avLst/>
          </a:prstGeom>
          <a:noFill/>
          <a:ln>
            <a:noFill/>
          </a:ln>
        </p:spPr>
      </p:pic>
      <p:pic>
        <p:nvPicPr>
          <p:cNvPr descr="usfd-logo-fred-350x138.png" id="11" name="Google Shape;11;p1"/>
          <p:cNvPicPr preferRelativeResize="0"/>
          <p:nvPr/>
        </p:nvPicPr>
        <p:blipFill>
          <a:blip r:embed="rId2">
            <a:alphaModFix/>
          </a:blip>
          <a:stretch>
            <a:fillRect/>
          </a:stretch>
        </p:blipFill>
        <p:spPr>
          <a:xfrm>
            <a:off x="76197" y="73575"/>
            <a:ext cx="1111675" cy="439575"/>
          </a:xfrm>
          <a:prstGeom prst="rect">
            <a:avLst/>
          </a:prstGeom>
          <a:noFill/>
          <a:ln>
            <a:noFill/>
          </a:ln>
        </p:spPr>
      </p:pic>
      <p:pic>
        <p:nvPicPr>
          <p:cNvPr descr="625px-Internet_of_Things.jpg" id="12" name="Google Shape;12;p1"/>
          <p:cNvPicPr preferRelativeResize="0"/>
          <p:nvPr/>
        </p:nvPicPr>
        <p:blipFill>
          <a:blip r:embed="rId3">
            <a:alphaModFix/>
          </a:blip>
          <a:stretch>
            <a:fillRect/>
          </a:stretch>
        </p:blipFill>
        <p:spPr>
          <a:xfrm>
            <a:off x="8362825" y="73579"/>
            <a:ext cx="691500" cy="66384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7" name="Google Shape;5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59" name="Google Shape;59;p13"/>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esp32-feather.jpg" id="60" name="Google Shape;60;p13"/>
          <p:cNvPicPr preferRelativeResize="0"/>
          <p:nvPr/>
        </p:nvPicPr>
        <p:blipFill>
          <a:blip r:embed="rId1">
            <a:alphaModFix/>
          </a:blip>
          <a:stretch>
            <a:fillRect/>
          </a:stretch>
        </p:blipFill>
        <p:spPr>
          <a:xfrm>
            <a:off x="76985" y="4540237"/>
            <a:ext cx="521324" cy="520026"/>
          </a:xfrm>
          <a:prstGeom prst="rect">
            <a:avLst/>
          </a:prstGeom>
          <a:noFill/>
          <a:ln>
            <a:noFill/>
          </a:ln>
        </p:spPr>
      </p:pic>
      <p:pic>
        <p:nvPicPr>
          <p:cNvPr descr="usfd-logo-fred-350x138.png" id="61" name="Google Shape;61;p13"/>
          <p:cNvPicPr preferRelativeResize="0"/>
          <p:nvPr/>
        </p:nvPicPr>
        <p:blipFill>
          <a:blip r:embed="rId2">
            <a:alphaModFix/>
          </a:blip>
          <a:stretch>
            <a:fillRect/>
          </a:stretch>
        </p:blipFill>
        <p:spPr>
          <a:xfrm>
            <a:off x="76197" y="73575"/>
            <a:ext cx="1111675" cy="439575"/>
          </a:xfrm>
          <a:prstGeom prst="rect">
            <a:avLst/>
          </a:prstGeom>
          <a:noFill/>
          <a:ln>
            <a:noFill/>
          </a:ln>
        </p:spPr>
      </p:pic>
      <p:pic>
        <p:nvPicPr>
          <p:cNvPr descr="625px-Internet_of_Things.jpg" id="62" name="Google Shape;62;p13"/>
          <p:cNvPicPr preferRelativeResize="0"/>
          <p:nvPr/>
        </p:nvPicPr>
        <p:blipFill>
          <a:blip r:embed="rId3">
            <a:alphaModFix/>
          </a:blip>
          <a:stretch>
            <a:fillRect/>
          </a:stretch>
        </p:blipFill>
        <p:spPr>
          <a:xfrm>
            <a:off x="8362825" y="73579"/>
            <a:ext cx="691500" cy="66384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5" name="Shape 105"/>
        <p:cNvGrpSpPr/>
        <p:nvPr/>
      </p:nvGrpSpPr>
      <p:grpSpPr>
        <a:xfrm>
          <a:off x="0" y="0"/>
          <a:ext cx="0" cy="0"/>
          <a:chOff x="0" y="0"/>
          <a:chExt cx="0" cy="0"/>
        </a:xfrm>
      </p:grpSpPr>
      <p:sp>
        <p:nvSpPr>
          <p:cNvPr id="106" name="Google Shape;10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7" name="Google Shape;10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08" name="Google Shape;10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109" name="Google Shape;109;p25"/>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usfd-logo-fred-350x138.png" id="110" name="Google Shape;110;p25"/>
          <p:cNvPicPr preferRelativeResize="0"/>
          <p:nvPr/>
        </p:nvPicPr>
        <p:blipFill>
          <a:blip r:embed="rId1">
            <a:alphaModFix/>
          </a:blip>
          <a:stretch>
            <a:fillRect/>
          </a:stretch>
        </p:blipFill>
        <p:spPr>
          <a:xfrm>
            <a:off x="76197" y="73575"/>
            <a:ext cx="1111675" cy="439575"/>
          </a:xfrm>
          <a:prstGeom prst="rect">
            <a:avLst/>
          </a:prstGeom>
          <a:noFill/>
          <a:ln>
            <a:noFill/>
          </a:ln>
        </p:spPr>
      </p:pic>
      <p:pic>
        <p:nvPicPr>
          <p:cNvPr descr="625px-Internet_of_Things.jpg" id="111" name="Google Shape;111;p25"/>
          <p:cNvPicPr preferRelativeResize="0"/>
          <p:nvPr/>
        </p:nvPicPr>
        <p:blipFill>
          <a:blip r:embed="rId2">
            <a:alphaModFix/>
          </a:blip>
          <a:stretch>
            <a:fillRect/>
          </a:stretch>
        </p:blipFill>
        <p:spPr>
          <a:xfrm>
            <a:off x="8362825" y="73579"/>
            <a:ext cx="691500" cy="663842"/>
          </a:xfrm>
          <a:prstGeom prst="rect">
            <a:avLst/>
          </a:prstGeom>
          <a:noFill/>
          <a:ln>
            <a:noFill/>
          </a:ln>
        </p:spPr>
      </p:pic>
      <p:pic>
        <p:nvPicPr>
          <p:cNvPr descr="esp32-feather.jpg" id="112" name="Google Shape;112;p25"/>
          <p:cNvPicPr preferRelativeResize="0"/>
          <p:nvPr/>
        </p:nvPicPr>
        <p:blipFill>
          <a:blip r:embed="rId3">
            <a:alphaModFix/>
          </a:blip>
          <a:stretch>
            <a:fillRect/>
          </a:stretch>
        </p:blipFill>
        <p:spPr>
          <a:xfrm>
            <a:off x="76985" y="4540237"/>
            <a:ext cx="521324" cy="520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learn-c.org/" TargetMode="External"/><Relationship Id="rId4" Type="http://schemas.openxmlformats.org/officeDocument/2006/relationships/hyperlink" Target="https://www.tutorialspoint.com/cprogramming/" TargetMode="External"/><Relationship Id="rId5" Type="http://schemas.openxmlformats.org/officeDocument/2006/relationships/hyperlink" Target="https://www.tutorialspoint.com/cplusplus/index.htm" TargetMode="External"/><Relationship Id="rId6" Type="http://schemas.openxmlformats.org/officeDocument/2006/relationships/hyperlink" Target="http://www.learncpp.com/" TargetMode="External"/><Relationship Id="rId7" Type="http://schemas.openxmlformats.org/officeDocument/2006/relationships/hyperlink" Target="https://gcc.gnu.org/onlinedocs/" TargetMode="External"/><Relationship Id="rId8" Type="http://schemas.openxmlformats.org/officeDocument/2006/relationships/hyperlink" Target="https://askubuntu.com/questions/36520/how-could-i-begin-c-programming-on-ubuntu"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forklog.net/the-way-iot-and-blockchain-change-the-world/" TargetMode="External"/><Relationship Id="rId4" Type="http://schemas.openxmlformats.org/officeDocument/2006/relationships/image" Target="../media/image10.png"/><Relationship Id="rId5" Type="http://schemas.openxmlformats.org/officeDocument/2006/relationships/hyperlink" Target="http://forklog.net/the-way-iot-and-blockchain-change-the-worl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hyperlink" Target="https://riscv.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hyperlink" Target="https://goo.gl/kLfVEM" TargetMode="External"/><Relationship Id="rId4" Type="http://schemas.openxmlformats.org/officeDocument/2006/relationships/hyperlink" Target="https://goo.gl/Smxx3K"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hyperlink" Target="https://www.linux.com/news/linux-and-open-source-hardware-iot" TargetMode="External"/><Relationship Id="rId4" Type="http://schemas.openxmlformats.org/officeDocument/2006/relationships/hyperlink" Target="http://www.eetimes.com/author.asp?section_id=36&amp;doc_id=132973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cdn.sparkfun.com/assets/home_page_posts/2/0/1/7/esp32-block-diagram.png" TargetMode="Externa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cdn.sparkfun.com/assets/home_page_posts/2/0/1/7/esp32-block-diagram.png" TargetMode="Externa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vimeo.com/216975153" TargetMode="External"/><Relationship Id="rId4" Type="http://schemas.openxmlformats.org/officeDocument/2006/relationships/hyperlink" Target="https://vimeo.com/216975153" TargetMode="External"/><Relationship Id="rId5" Type="http://schemas.openxmlformats.org/officeDocument/2006/relationships/hyperlink" Target="http://www.youtube.com/watch?v=HLStxYBnV2w" TargetMode="External"/><Relationship Id="rId6" Type="http://schemas.openxmlformats.org/officeDocument/2006/relationships/image" Target="../media/image1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www.cuelogic.com/blog/wp-content/uploads/2016/05/IoT-programming-languages-graph.png" TargetMode="Externa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cnx-software.com/wp-content/uploads/2017/05/IoT-Programming-Languages-Constrained-Devices.png" TargetMode="Externa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www.cnx-software.com/wp-content/uploads/2017/05/IoT-Programming-Languages-Gateways.png" TargetMode="Externa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www.cnx-software.com/wp-content/uploads/2017/05/IoT-Programming-Languages-Cloud.png" TargetMode="Externa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www.cnx-software.com/wp-content/uploads/2017/05/IoT-Devices-Operating-Systems.png" TargetMode="Externa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www.youtube.com/watch?v=scySICLlhsk" TargetMode="External"/><Relationship Id="rId4" Type="http://schemas.openxmlformats.org/officeDocument/2006/relationships/image" Target="../media/image1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www.youtube.com/watch?v=mNrZMsJm-e0" TargetMode="External"/><Relationship Id="rId4" Type="http://schemas.openxmlformats.org/officeDocument/2006/relationships/image" Target="../media/image18.jpg"/><Relationship Id="rId5" Type="http://schemas.openxmlformats.org/officeDocument/2006/relationships/hyperlink" Target="https://youtu.be/d8_xXNcGYgo"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goo.gl/LtNx60" TargetMode="External"/><Relationship Id="rId4" Type="http://schemas.openxmlformats.org/officeDocument/2006/relationships/hyperlink" Target="https://www.youtube.com/atomic14" TargetMode="External"/><Relationship Id="rId9" Type="http://schemas.openxmlformats.org/officeDocument/2006/relationships/hyperlink" Target="https://youtu.be/5IhhyJjjCxo" TargetMode="External"/><Relationship Id="rId5" Type="http://schemas.openxmlformats.org/officeDocument/2006/relationships/hyperlink" Target="http://www.youtube.com/watch?v=uYf7vFREV98" TargetMode="External"/><Relationship Id="rId6" Type="http://schemas.openxmlformats.org/officeDocument/2006/relationships/image" Target="../media/image20.jpg"/><Relationship Id="rId7" Type="http://schemas.openxmlformats.org/officeDocument/2006/relationships/hyperlink" Target="http://www.youtube.com/watch?v=vEkfa3OMvec" TargetMode="External"/><Relationship Id="rId8" Type="http://schemas.openxmlformats.org/officeDocument/2006/relationships/image" Target="../media/image2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iot.unphone.net/#troubleshooting-port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forums.adafruit.com/viewtopic.php?p=959330#p959330" TargetMode="External"/><Relationship Id="rId4" Type="http://schemas.openxmlformats.org/officeDocument/2006/relationships/hyperlink" Target="https://forums.adafruit.com/viewtopic.php?p=959478#p959478" TargetMode="External"/><Relationship Id="rId5" Type="http://schemas.openxmlformats.org/officeDocument/2006/relationships/hyperlink" Target="https://forums.adafruit.com/viewtopic.php?p=959981#p959981" TargetMode="External"/><Relationship Id="rId6" Type="http://schemas.openxmlformats.org/officeDocument/2006/relationships/hyperlink" Target="https://github.com/espressif/arduino-esp32/pull/7828" TargetMode="External"/><Relationship Id="rId7" Type="http://schemas.openxmlformats.org/officeDocument/2006/relationships/hyperlink" Target="https://gitlab.com/hamishcunningham/the-internet-of-things/-/blob/master/exercises/HelloWorld/platformio.ini#L17"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hyperlink" Target="https://www.linux.com/news/who-needs-internet-thing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www.esp32.com/viewtopic.php?t=5669"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40"/>
          <p:cNvSpPr txBox="1"/>
          <p:nvPr>
            <p:ph type="ctrTitle"/>
          </p:nvPr>
        </p:nvSpPr>
        <p:spPr>
          <a:xfrm>
            <a:off x="311708" y="10023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4800"/>
              <a:t>Small but perfectly formed... connected Microcontrollers</a:t>
            </a:r>
            <a:endParaRPr sz="4800"/>
          </a:p>
          <a:p>
            <a:pPr indent="0" lvl="0" marL="0" rtl="0" algn="ctr">
              <a:spcBef>
                <a:spcPts val="0"/>
              </a:spcBef>
              <a:spcAft>
                <a:spcPts val="0"/>
              </a:spcAft>
              <a:buClr>
                <a:schemeClr val="dk1"/>
              </a:buClr>
              <a:buSzPts val="1100"/>
              <a:buFont typeface="Arial"/>
              <a:buNone/>
            </a:pPr>
            <a:r>
              <a:rPr lang="en-GB" sz="4800"/>
              <a:t>— CO-ND-BU</a:t>
            </a:r>
            <a:endParaRPr sz="4800"/>
          </a:p>
        </p:txBody>
      </p:sp>
      <p:sp>
        <p:nvSpPr>
          <p:cNvPr id="172" name="Google Shape;172;p40"/>
          <p:cNvSpPr txBox="1"/>
          <p:nvPr>
            <p:ph idx="1" type="subTitle"/>
          </p:nvPr>
        </p:nvSpPr>
        <p:spPr>
          <a:xfrm>
            <a:off x="1627650" y="2834125"/>
            <a:ext cx="58887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GB"/>
              <a:t>COM3505, Lecture 3</a:t>
            </a:r>
            <a:endParaRPr/>
          </a:p>
          <a:p>
            <a:pPr indent="0" lvl="0" marL="0" rtl="0" algn="ctr">
              <a:spcBef>
                <a:spcPts val="0"/>
              </a:spcBef>
              <a:spcAft>
                <a:spcPts val="0"/>
              </a:spcAft>
              <a:buNone/>
            </a:pPr>
            <a:r>
              <a:rPr lang="en-GB"/>
              <a:t>Prof Hamish Cunningham</a:t>
            </a:r>
            <a:endParaRPr/>
          </a:p>
        </p:txBody>
      </p:sp>
      <p:sp>
        <p:nvSpPr>
          <p:cNvPr id="173" name="Google Shape;173;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41"/>
          <p:cNvPicPr preferRelativeResize="0"/>
          <p:nvPr/>
        </p:nvPicPr>
        <p:blipFill rotWithShape="1">
          <a:blip r:embed="rId3">
            <a:alphaModFix/>
          </a:blip>
          <a:srcRect b="25104" l="18771" r="0" t="0"/>
          <a:stretch/>
        </p:blipFill>
        <p:spPr>
          <a:xfrm>
            <a:off x="5379275" y="3854825"/>
            <a:ext cx="2130702" cy="1193424"/>
          </a:xfrm>
          <a:prstGeom prst="rect">
            <a:avLst/>
          </a:prstGeom>
          <a:noFill/>
          <a:ln>
            <a:noFill/>
          </a:ln>
        </p:spPr>
      </p:pic>
      <p:sp>
        <p:nvSpPr>
          <p:cNvPr id="179" name="Google Shape;179;p41"/>
          <p:cNvSpPr txBox="1"/>
          <p:nvPr>
            <p:ph idx="1" type="body"/>
          </p:nvPr>
        </p:nvSpPr>
        <p:spPr>
          <a:xfrm>
            <a:off x="278250" y="473675"/>
            <a:ext cx="83400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How do you connect an LED to a microcontroller so you can blink it?</a:t>
            </a:r>
            <a:endParaRPr sz="1800"/>
          </a:p>
        </p:txBody>
      </p:sp>
      <p:sp>
        <p:nvSpPr>
          <p:cNvPr id="180" name="Google Shape;180;p41"/>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1" name="Google Shape;181;p41"/>
          <p:cNvSpPr txBox="1"/>
          <p:nvPr>
            <p:ph idx="1" type="body"/>
          </p:nvPr>
        </p:nvSpPr>
        <p:spPr>
          <a:xfrm>
            <a:off x="278250" y="778475"/>
            <a:ext cx="8340000" cy="528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sz="1800"/>
              <a:t>Connect the long pin (anode) to a GPIO pin and run a resistor to ground from the short pin (cathode).</a:t>
            </a:r>
            <a:endParaRPr sz="1800"/>
          </a:p>
        </p:txBody>
      </p:sp>
      <p:sp>
        <p:nvSpPr>
          <p:cNvPr id="182" name="Google Shape;182;p41"/>
          <p:cNvSpPr txBox="1"/>
          <p:nvPr>
            <p:ph idx="1" type="body"/>
          </p:nvPr>
        </p:nvSpPr>
        <p:spPr>
          <a:xfrm>
            <a:off x="278250" y="1540475"/>
            <a:ext cx="83400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What’s the resistor for?</a:t>
            </a:r>
            <a:endParaRPr sz="1800"/>
          </a:p>
        </p:txBody>
      </p:sp>
      <p:sp>
        <p:nvSpPr>
          <p:cNvPr id="183" name="Google Shape;183;p41"/>
          <p:cNvSpPr txBox="1"/>
          <p:nvPr>
            <p:ph idx="1" type="body"/>
          </p:nvPr>
        </p:nvSpPr>
        <p:spPr>
          <a:xfrm>
            <a:off x="278250" y="1845275"/>
            <a:ext cx="8340000" cy="528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sz="1800"/>
              <a:t>Limit current through the LED to prolong its life (and control brightness).</a:t>
            </a:r>
            <a:endParaRPr sz="1800"/>
          </a:p>
        </p:txBody>
      </p:sp>
      <p:sp>
        <p:nvSpPr>
          <p:cNvPr id="184" name="Google Shape;184;p41"/>
          <p:cNvSpPr txBox="1"/>
          <p:nvPr>
            <p:ph idx="1" type="body"/>
          </p:nvPr>
        </p:nvSpPr>
        <p:spPr>
          <a:xfrm>
            <a:off x="278250" y="2302475"/>
            <a:ext cx="83400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How do you toggle a GPIO pin?</a:t>
            </a:r>
            <a:endParaRPr sz="1800"/>
          </a:p>
        </p:txBody>
      </p:sp>
      <p:sp>
        <p:nvSpPr>
          <p:cNvPr id="185" name="Google Shape;185;p41"/>
          <p:cNvSpPr txBox="1"/>
          <p:nvPr>
            <p:ph idx="1" type="body"/>
          </p:nvPr>
        </p:nvSpPr>
        <p:spPr>
          <a:xfrm>
            <a:off x="278250" y="2607275"/>
            <a:ext cx="8340000" cy="528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a:latin typeface="Courier New"/>
                <a:ea typeface="Courier New"/>
                <a:cs typeface="Courier New"/>
                <a:sym typeface="Courier New"/>
              </a:rPr>
              <a:t>uint8_t MY_LED = 14;              </a:t>
            </a:r>
            <a:r>
              <a:rPr b="1" lang="en-GB">
                <a:latin typeface="Courier New"/>
                <a:ea typeface="Courier New"/>
                <a:cs typeface="Courier New"/>
                <a:sym typeface="Courier New"/>
              </a:rPr>
              <a:t>setup</a:t>
            </a:r>
            <a:r>
              <a:rPr lang="en-GB">
                <a:latin typeface="Courier New"/>
                <a:ea typeface="Courier New"/>
                <a:cs typeface="Courier New"/>
                <a:sym typeface="Courier New"/>
              </a:rPr>
              <a:t>: pinMode(MY_LED, OUTPUT);</a:t>
            </a:r>
            <a:br>
              <a:rPr lang="en-GB">
                <a:latin typeface="Courier New"/>
                <a:ea typeface="Courier New"/>
                <a:cs typeface="Courier New"/>
                <a:sym typeface="Courier New"/>
              </a:rPr>
            </a:br>
            <a:r>
              <a:rPr b="1" lang="en-GB">
                <a:latin typeface="Courier New"/>
                <a:ea typeface="Courier New"/>
                <a:cs typeface="Courier New"/>
                <a:sym typeface="Courier New"/>
              </a:rPr>
              <a:t>loop</a:t>
            </a:r>
            <a:r>
              <a:rPr lang="en-GB">
                <a:latin typeface="Courier New"/>
                <a:ea typeface="Courier New"/>
                <a:cs typeface="Courier New"/>
                <a:sym typeface="Courier New"/>
              </a:rPr>
              <a:t>: digitalWrite(MY_LED, HIGH); </a:t>
            </a:r>
            <a:r>
              <a:rPr b="1" lang="en-GB">
                <a:latin typeface="Courier New"/>
                <a:ea typeface="Courier New"/>
                <a:cs typeface="Courier New"/>
                <a:sym typeface="Courier New"/>
              </a:rPr>
              <a:t>…</a:t>
            </a:r>
            <a:r>
              <a:rPr lang="en-GB">
                <a:latin typeface="Courier New"/>
                <a:ea typeface="Courier New"/>
                <a:cs typeface="Courier New"/>
                <a:sym typeface="Courier New"/>
              </a:rPr>
              <a:t>      digitalWrite(MY_LED, LOW);</a:t>
            </a:r>
            <a:endParaRPr>
              <a:latin typeface="Courier New"/>
              <a:ea typeface="Courier New"/>
              <a:cs typeface="Courier New"/>
              <a:sym typeface="Courier New"/>
            </a:endParaRPr>
          </a:p>
        </p:txBody>
      </p:sp>
      <p:sp>
        <p:nvSpPr>
          <p:cNvPr id="186" name="Google Shape;186;p41"/>
          <p:cNvSpPr txBox="1"/>
          <p:nvPr>
            <p:ph idx="1" type="body"/>
          </p:nvPr>
        </p:nvSpPr>
        <p:spPr>
          <a:xfrm>
            <a:off x="278250" y="3750275"/>
            <a:ext cx="8340000" cy="528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sz="1800"/>
              <a:t>Read from the switch. Gotchas:</a:t>
            </a:r>
            <a:endParaRPr sz="1800"/>
          </a:p>
          <a:p>
            <a:pPr indent="0" lvl="0" marL="457200" rtl="0" algn="l">
              <a:spcBef>
                <a:spcPts val="0"/>
              </a:spcBef>
              <a:spcAft>
                <a:spcPts val="0"/>
              </a:spcAft>
              <a:buNone/>
            </a:pPr>
            <a:r>
              <a:rPr lang="en-GB" sz="1800"/>
              <a:t>it is an “SPST push-to-make non-latching”</a:t>
            </a:r>
            <a:br>
              <a:rPr lang="en-GB" sz="1800"/>
            </a:br>
            <a:r>
              <a:rPr lang="en-GB" sz="1800"/>
              <a:t>so you need the right corners, and you need</a:t>
            </a:r>
            <a:br>
              <a:rPr lang="en-GB" sz="1800"/>
            </a:br>
            <a:r>
              <a:rPr lang="en-GB" sz="1800"/>
              <a:t>to read at the same time as it is pressed</a:t>
            </a:r>
            <a:endParaRPr sz="1800"/>
          </a:p>
        </p:txBody>
      </p:sp>
      <p:sp>
        <p:nvSpPr>
          <p:cNvPr id="187" name="Google Shape;187;p41"/>
          <p:cNvSpPr txBox="1"/>
          <p:nvPr>
            <p:ph idx="1" type="body"/>
          </p:nvPr>
        </p:nvSpPr>
        <p:spPr>
          <a:xfrm>
            <a:off x="278250" y="3445475"/>
            <a:ext cx="83400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How do you get user input using the kit we’ve given you so far?</a:t>
            </a:r>
            <a:endParaRPr sz="1800"/>
          </a:p>
        </p:txBody>
      </p:sp>
      <p:pic>
        <p:nvPicPr>
          <p:cNvPr id="188" name="Google Shape;188;p41"/>
          <p:cNvPicPr preferRelativeResize="0"/>
          <p:nvPr/>
        </p:nvPicPr>
        <p:blipFill>
          <a:blip r:embed="rId4">
            <a:alphaModFix/>
          </a:blip>
          <a:stretch>
            <a:fillRect/>
          </a:stretch>
        </p:blipFill>
        <p:spPr>
          <a:xfrm>
            <a:off x="6631487" y="3517175"/>
            <a:ext cx="2936383" cy="1531075"/>
          </a:xfrm>
          <a:prstGeom prst="rect">
            <a:avLst/>
          </a:prstGeom>
          <a:noFill/>
          <a:ln>
            <a:noFill/>
          </a:ln>
        </p:spPr>
      </p:pic>
      <p:sp>
        <p:nvSpPr>
          <p:cNvPr id="189" name="Google Shape;189;p41"/>
          <p:cNvSpPr txBox="1"/>
          <p:nvPr>
            <p:ph idx="1" type="body"/>
          </p:nvPr>
        </p:nvSpPr>
        <p:spPr>
          <a:xfrm>
            <a:off x="827525" y="92675"/>
            <a:ext cx="39066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Hands up if… You’re wearing shoes.</a:t>
            </a:r>
            <a:endParaRPr sz="1800"/>
          </a:p>
        </p:txBody>
      </p:sp>
      <p:sp>
        <p:nvSpPr>
          <p:cNvPr id="190" name="Google Shape;190;p41"/>
          <p:cNvSpPr txBox="1"/>
          <p:nvPr>
            <p:ph idx="1" type="body"/>
          </p:nvPr>
        </p:nvSpPr>
        <p:spPr>
          <a:xfrm>
            <a:off x="4677450" y="92675"/>
            <a:ext cx="43437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You</a:t>
            </a:r>
            <a:r>
              <a:rPr lang="en-GB" sz="1800"/>
              <a:t> haven’t flashed the EP32 yet.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2"/>
          <p:cNvSpPr txBox="1"/>
          <p:nvPr>
            <p:ph idx="1" type="body"/>
          </p:nvPr>
        </p:nvSpPr>
        <p:spPr>
          <a:xfrm>
            <a:off x="428800" y="563875"/>
            <a:ext cx="76803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GB" sz="1800"/>
              <a:t>…and you escape from UniShef PLC, you may get a job in computing tech</a:t>
            </a:r>
            <a:br>
              <a:rPr lang="en-GB" sz="1800"/>
            </a:br>
            <a:r>
              <a:rPr lang="en-GB" sz="1800"/>
              <a:t>(or you may wake up and decide to be a nurse or a brainsurgeon or a </a:t>
            </a:r>
            <a:r>
              <a:rPr lang="en-GB" sz="1800"/>
              <a:t>gardner instead)</a:t>
            </a:r>
            <a:endParaRPr sz="1800"/>
          </a:p>
          <a:p>
            <a:pPr indent="-342900" lvl="0" marL="457200" marR="0" rtl="0" algn="l">
              <a:lnSpc>
                <a:spcPct val="115000"/>
              </a:lnSpc>
              <a:spcBef>
                <a:spcPts val="0"/>
              </a:spcBef>
              <a:spcAft>
                <a:spcPts val="0"/>
              </a:spcAft>
              <a:buSzPts val="1800"/>
              <a:buChar char="●"/>
            </a:pPr>
            <a:r>
              <a:rPr lang="en-GB" sz="1800"/>
              <a:t>if you’re in tech, your role may sit at a layer where installation and system integration issues and the like are solved by someone else: you may turn up and be told “use tool X to do job Y, that’s the way we do it here”</a:t>
            </a:r>
            <a:endParaRPr sz="1800"/>
          </a:p>
          <a:p>
            <a:pPr indent="-342900" lvl="0" marL="457200" marR="0" rtl="0" algn="l">
              <a:lnSpc>
                <a:spcPct val="115000"/>
              </a:lnSpc>
              <a:spcBef>
                <a:spcPts val="0"/>
              </a:spcBef>
              <a:spcAft>
                <a:spcPts val="0"/>
              </a:spcAft>
              <a:buSzPts val="1800"/>
              <a:buChar char="●"/>
            </a:pPr>
            <a:r>
              <a:rPr lang="en-GB" sz="1800"/>
              <a:t>alternatively, you might have to figure out, given objective Z, which tool is best for getting you in the right general direction</a:t>
            </a:r>
            <a:endParaRPr sz="1800"/>
          </a:p>
          <a:p>
            <a:pPr indent="-342900" lvl="0" marL="457200" marR="0" rtl="0" algn="l">
              <a:lnSpc>
                <a:spcPct val="115000"/>
              </a:lnSpc>
              <a:spcBef>
                <a:spcPts val="0"/>
              </a:spcBef>
              <a:spcAft>
                <a:spcPts val="0"/>
              </a:spcAft>
              <a:buSzPts val="1800"/>
              <a:buChar char="●"/>
            </a:pPr>
            <a:r>
              <a:rPr lang="en-GB" sz="1800"/>
              <a:t>this course is more like the latter: things break, we fix them, they break again, we cobble something together and… get the job done by hook or by crook</a:t>
            </a:r>
            <a:endParaRPr sz="1800"/>
          </a:p>
          <a:p>
            <a:pPr indent="-342900" lvl="0" marL="457200" marR="0" rtl="0" algn="l">
              <a:lnSpc>
                <a:spcPct val="115000"/>
              </a:lnSpc>
              <a:spcBef>
                <a:spcPts val="0"/>
              </a:spcBef>
              <a:spcAft>
                <a:spcPts val="0"/>
              </a:spcAft>
              <a:buSzPts val="1800"/>
              <a:buChar char="●"/>
            </a:pPr>
            <a:r>
              <a:rPr lang="en-GB" sz="1800"/>
              <a:t>therefore: …</a:t>
            </a:r>
            <a:endParaRPr sz="1800"/>
          </a:p>
        </p:txBody>
      </p:sp>
      <p:sp>
        <p:nvSpPr>
          <p:cNvPr id="196" name="Google Shape;196;p42"/>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When you’ve finished the tunnel…</a:t>
            </a:r>
            <a:endParaRPr/>
          </a:p>
        </p:txBody>
      </p:sp>
      <p:sp>
        <p:nvSpPr>
          <p:cNvPr id="197" name="Google Shape;197;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3"/>
          <p:cNvSpPr txBox="1"/>
          <p:nvPr>
            <p:ph type="title"/>
          </p:nvPr>
        </p:nvSpPr>
        <p:spPr>
          <a:xfrm>
            <a:off x="759998" y="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You might have noticed: we’re </a:t>
            </a:r>
            <a:r>
              <a:rPr lang="en-GB" sz="2400" u="sng"/>
              <a:t>NOT</a:t>
            </a:r>
            <a:r>
              <a:rPr lang="en-GB" sz="2400"/>
              <a:t> teaching you C[++]...</a:t>
            </a:r>
            <a:endParaRPr sz="2400"/>
          </a:p>
        </p:txBody>
      </p:sp>
      <p:sp>
        <p:nvSpPr>
          <p:cNvPr id="203" name="Google Shape;203;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4" name="Google Shape;204;p43"/>
          <p:cNvSpPr txBox="1"/>
          <p:nvPr>
            <p:ph idx="2" type="body"/>
          </p:nvPr>
        </p:nvSpPr>
        <p:spPr>
          <a:xfrm>
            <a:off x="136200" y="574425"/>
            <a:ext cx="8884800" cy="232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t>Huh?!  You’re all </a:t>
            </a:r>
            <a:r>
              <a:rPr b="1" lang="en-GB" sz="1600"/>
              <a:t>already programmers</a:t>
            </a:r>
            <a:r>
              <a:rPr lang="en-GB" sz="1600"/>
              <a:t>: you no longer need to study every bracket and comma of the syntax of new languages. You’re </a:t>
            </a:r>
            <a:r>
              <a:rPr b="1" lang="en-GB" sz="1600"/>
              <a:t>nearly professionals</a:t>
            </a:r>
            <a:r>
              <a:rPr lang="en-GB" sz="1600"/>
              <a:t>: so you need to get ready to beg, borrow and steal (i.e. google it, </a:t>
            </a:r>
            <a:r>
              <a:rPr b="1" lang="en-GB" sz="1600"/>
              <a:t>copy</a:t>
            </a:r>
            <a:r>
              <a:rPr lang="en-GB" sz="1600"/>
              <a:t> it, </a:t>
            </a:r>
            <a:r>
              <a:rPr b="1" lang="en-GB" sz="1600"/>
              <a:t>share</a:t>
            </a:r>
            <a:r>
              <a:rPr lang="en-GB" sz="1600"/>
              <a:t> your improvements) your next bit of code inspiration.</a:t>
            </a:r>
            <a:endParaRPr sz="16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Clr>
                <a:schemeClr val="dk1"/>
              </a:buClr>
              <a:buSzPts val="1100"/>
              <a:buFont typeface="Arial"/>
              <a:buNone/>
            </a:pPr>
            <a:r>
              <a:rPr lang="en-GB" sz="1600"/>
              <a:t>And: code “completion” is likely going to be one of the major</a:t>
            </a:r>
            <a:br>
              <a:rPr lang="en-GB" sz="1600"/>
            </a:br>
            <a:r>
              <a:rPr lang="en-GB" sz="1600"/>
              <a:t>applications of GPTs — cf. GitHub Copilot, based on OpenAI’s</a:t>
            </a:r>
            <a:br>
              <a:rPr lang="en-GB" sz="1600"/>
            </a:br>
            <a:r>
              <a:rPr b="1" lang="en-GB" sz="1600"/>
              <a:t>Codex GPT</a:t>
            </a:r>
            <a:r>
              <a:rPr lang="en-GB" sz="1600"/>
              <a:t> (what ChatGPT uses for code-related questions)</a:t>
            </a:r>
            <a:endParaRPr sz="1600"/>
          </a:p>
          <a:p>
            <a:pPr indent="0" lvl="0" marL="0" rtl="0" algn="l">
              <a:spcBef>
                <a:spcPts val="0"/>
              </a:spcBef>
              <a:spcAft>
                <a:spcPts val="0"/>
              </a:spcAft>
              <a:buNone/>
            </a:pPr>
            <a:r>
              <a:t/>
            </a:r>
            <a:endParaRPr b="1" sz="1600"/>
          </a:p>
          <a:p>
            <a:pPr indent="0" lvl="0" marL="0" rtl="0" algn="l">
              <a:spcBef>
                <a:spcPts val="0"/>
              </a:spcBef>
              <a:spcAft>
                <a:spcPts val="0"/>
              </a:spcAft>
              <a:buNone/>
            </a:pPr>
            <a:r>
              <a:rPr b="1" lang="en-GB" sz="1600"/>
              <a:t>Quick! Learn C!</a:t>
            </a:r>
            <a:r>
              <a:rPr lang="en-GB" sz="1600"/>
              <a:t> Some resources to help:</a:t>
            </a:r>
            <a:endParaRPr sz="1600"/>
          </a:p>
          <a:p>
            <a:pPr indent="-330200" lvl="0" marL="914400" rtl="0" algn="l">
              <a:spcBef>
                <a:spcPts val="0"/>
              </a:spcBef>
              <a:spcAft>
                <a:spcPts val="0"/>
              </a:spcAft>
              <a:buSzPts val="1600"/>
              <a:buChar char="●"/>
            </a:pPr>
            <a:r>
              <a:rPr lang="en-GB" sz="1600" u="sng">
                <a:solidFill>
                  <a:schemeClr val="hlink"/>
                </a:solidFill>
                <a:hlinkClick r:id="rId3"/>
              </a:rPr>
              <a:t>www.learn-c.org</a:t>
            </a:r>
            <a:r>
              <a:rPr lang="en-GB" sz="1600"/>
              <a:t>; </a:t>
            </a:r>
            <a:r>
              <a:rPr lang="en-GB" sz="1600" u="sng">
                <a:solidFill>
                  <a:schemeClr val="hlink"/>
                </a:solidFill>
                <a:hlinkClick r:id="rId4"/>
              </a:rPr>
              <a:t>www.tutorialspoint.com/cprogramming</a:t>
            </a:r>
            <a:r>
              <a:rPr lang="en-GB" sz="1600"/>
              <a:t>;</a:t>
            </a:r>
            <a:br>
              <a:rPr lang="en-GB" sz="1600"/>
            </a:br>
            <a:r>
              <a:rPr lang="en-GB" sz="1600" u="sng">
                <a:solidFill>
                  <a:schemeClr val="hlink"/>
                </a:solidFill>
                <a:hlinkClick r:id="rId5"/>
              </a:rPr>
              <a:t>www.tutorialspoint.com/cplusplus</a:t>
            </a:r>
            <a:r>
              <a:rPr lang="en-GB" sz="1600"/>
              <a:t>; </a:t>
            </a:r>
            <a:r>
              <a:rPr lang="en-GB" sz="1600" u="sng">
                <a:solidFill>
                  <a:schemeClr val="hlink"/>
                </a:solidFill>
                <a:hlinkClick r:id="rId6"/>
              </a:rPr>
              <a:t>www.learncpp.com</a:t>
            </a:r>
            <a:endParaRPr sz="1600"/>
          </a:p>
          <a:p>
            <a:pPr indent="0" lvl="0" marL="0" rtl="0" algn="l">
              <a:spcBef>
                <a:spcPts val="0"/>
              </a:spcBef>
              <a:spcAft>
                <a:spcPts val="0"/>
              </a:spcAft>
              <a:buNone/>
            </a:pPr>
            <a:r>
              <a:rPr lang="en-GB" sz="1600"/>
              <a:t>On GNU Linux or Ubuntu:</a:t>
            </a:r>
            <a:endParaRPr sz="1600"/>
          </a:p>
          <a:p>
            <a:pPr indent="-330200" lvl="0" marL="914400" rtl="0" algn="l">
              <a:spcBef>
                <a:spcPts val="0"/>
              </a:spcBef>
              <a:spcAft>
                <a:spcPts val="0"/>
              </a:spcAft>
              <a:buSzPts val="1600"/>
              <a:buChar char="●"/>
            </a:pPr>
            <a:r>
              <a:rPr lang="en-GB" sz="1600" u="sng">
                <a:solidFill>
                  <a:schemeClr val="hlink"/>
                </a:solidFill>
                <a:hlinkClick r:id="rId7"/>
              </a:rPr>
              <a:t>gcc.gnu.org/onlinedocs/</a:t>
            </a:r>
            <a:r>
              <a:rPr lang="en-GB" sz="1600"/>
              <a:t>;</a:t>
            </a:r>
            <a:endParaRPr sz="1600"/>
          </a:p>
          <a:p>
            <a:pPr indent="-330200" lvl="0" marL="914400" rtl="0" algn="l">
              <a:spcBef>
                <a:spcPts val="0"/>
              </a:spcBef>
              <a:spcAft>
                <a:spcPts val="0"/>
              </a:spcAft>
              <a:buSzPts val="1600"/>
              <a:buChar char="●"/>
            </a:pPr>
            <a:r>
              <a:rPr lang="en-GB" sz="1600" u="sng">
                <a:solidFill>
                  <a:schemeClr val="hlink"/>
                </a:solidFill>
                <a:hlinkClick r:id="rId8"/>
              </a:rPr>
              <a:t>askubuntu.com/questions/36520/how-could-i-begin-c-programming-on-ubuntu</a:t>
            </a:r>
            <a:endParaRPr sz="1600"/>
          </a:p>
          <a:p>
            <a:pPr indent="0" lvl="0" marL="0" rtl="0" algn="l">
              <a:spcBef>
                <a:spcPts val="0"/>
              </a:spcBef>
              <a:spcAft>
                <a:spcPts val="0"/>
              </a:spcAft>
              <a:buNone/>
            </a:pPr>
            <a:r>
              <a:t/>
            </a:r>
            <a:endParaRPr sz="1600"/>
          </a:p>
        </p:txBody>
      </p:sp>
      <p:sp>
        <p:nvSpPr>
          <p:cNvPr id="205" name="Google Shape;205;p43"/>
          <p:cNvSpPr txBox="1"/>
          <p:nvPr/>
        </p:nvSpPr>
        <p:spPr>
          <a:xfrm>
            <a:off x="6288700" y="1643150"/>
            <a:ext cx="2780400" cy="23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Finally</a:t>
            </a:r>
            <a:r>
              <a:rPr lang="en-GB">
                <a:solidFill>
                  <a:schemeClr val="dk1"/>
                </a:solidFill>
              </a:rPr>
              <a:t>, rely on the libraries, example sketches, and the set of solutions we distribute via the git repositories.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We’re </a:t>
            </a:r>
            <a:r>
              <a:rPr b="1" lang="en-GB">
                <a:solidFill>
                  <a:schemeClr val="dk1"/>
                </a:solidFill>
              </a:rPr>
              <a:t>teaching you to solve problems</a:t>
            </a:r>
            <a:r>
              <a:rPr lang="en-GB">
                <a:solidFill>
                  <a:schemeClr val="dk1"/>
                </a:solidFill>
              </a:rPr>
              <a:t> and develop solutions in a new environment.</a:t>
            </a:r>
            <a:endParaRPr>
              <a:solidFill>
                <a:schemeClr val="dk1"/>
              </a:solidFill>
            </a:endParaRPr>
          </a:p>
          <a:p>
            <a:pPr indent="0" lvl="0" marL="0" rtl="0" algn="l">
              <a:lnSpc>
                <a:spcPct val="115000"/>
              </a:lnSpc>
              <a:spcBef>
                <a:spcPts val="0"/>
              </a:spcBef>
              <a:spcAft>
                <a:spcPts val="0"/>
              </a:spcAft>
              <a:buNone/>
            </a:pPr>
            <a:r>
              <a:rPr lang="en-GB">
                <a:solidFill>
                  <a:schemeClr val="dk1"/>
                </a:solidFill>
              </a:rPr>
              <a:t>Aka: have fun hacking!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4"/>
          <p:cNvSpPr txBox="1"/>
          <p:nvPr>
            <p:ph idx="1" type="body"/>
          </p:nvPr>
        </p:nvSpPr>
        <p:spPr>
          <a:xfrm>
            <a:off x="428800" y="563875"/>
            <a:ext cx="76803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GB" sz="1800"/>
              <a:t>now that everyone is running their own machine…</a:t>
            </a:r>
            <a:endParaRPr sz="1800"/>
          </a:p>
          <a:p>
            <a:pPr indent="-342900" lvl="1" marL="914400" marR="0" rtl="0" algn="l">
              <a:lnSpc>
                <a:spcPct val="115000"/>
              </a:lnSpc>
              <a:spcBef>
                <a:spcPts val="0"/>
              </a:spcBef>
              <a:spcAft>
                <a:spcPts val="0"/>
              </a:spcAft>
              <a:buSzPts val="1800"/>
              <a:buChar char="○"/>
            </a:pPr>
            <a:r>
              <a:rPr lang="en-GB" sz="1800"/>
              <a:t>wifi is slow :(</a:t>
            </a:r>
            <a:endParaRPr sz="1800"/>
          </a:p>
          <a:p>
            <a:pPr indent="-342900" lvl="1" marL="914400" marR="0" rtl="0" algn="l">
              <a:lnSpc>
                <a:spcPct val="115000"/>
              </a:lnSpc>
              <a:spcBef>
                <a:spcPts val="0"/>
              </a:spcBef>
              <a:spcAft>
                <a:spcPts val="0"/>
              </a:spcAft>
              <a:buSzPts val="1800"/>
              <a:buChar char="○"/>
            </a:pPr>
            <a:r>
              <a:rPr lang="en-GB" sz="1800"/>
              <a:t>you can do stuff elsewhere and elsewhen :)</a:t>
            </a:r>
            <a:endParaRPr sz="1800"/>
          </a:p>
          <a:p>
            <a:pPr indent="-342900" lvl="1" marL="914400" marR="0" rtl="0" algn="l">
              <a:lnSpc>
                <a:spcPct val="115000"/>
              </a:lnSpc>
              <a:spcBef>
                <a:spcPts val="0"/>
              </a:spcBef>
              <a:spcAft>
                <a:spcPts val="0"/>
              </a:spcAft>
              <a:buSzPts val="1800"/>
              <a:buChar char="○"/>
            </a:pPr>
            <a:r>
              <a:rPr lang="en-GB" sz="1800"/>
              <a:t>use the lab time to figure out what and how, and get help when you need it, then experiment more outside of the lab</a:t>
            </a:r>
            <a:endParaRPr sz="1800"/>
          </a:p>
          <a:p>
            <a:pPr indent="-342900" lvl="0" marL="457200" marR="0" rtl="0" algn="l">
              <a:lnSpc>
                <a:spcPct val="115000"/>
              </a:lnSpc>
              <a:spcBef>
                <a:spcPts val="0"/>
              </a:spcBef>
              <a:spcAft>
                <a:spcPts val="0"/>
              </a:spcAft>
              <a:buSzPts val="1800"/>
              <a:buChar char="●"/>
            </a:pPr>
            <a:r>
              <a:rPr lang="en-GB" sz="1800"/>
              <a:t>if you’re running the docker image, I’ve now pushed an updated version that includes latest core (2.0.14); to refresh your copy:</a:t>
            </a:r>
            <a:endParaRPr sz="1800"/>
          </a:p>
          <a:p>
            <a:pPr indent="-342900" lvl="1" marL="914400" marR="0" rtl="0" algn="l">
              <a:lnSpc>
                <a:spcPct val="115000"/>
              </a:lnSpc>
              <a:spcBef>
                <a:spcPts val="0"/>
              </a:spcBef>
              <a:spcAft>
                <a:spcPts val="0"/>
              </a:spcAft>
              <a:buSzPts val="1800"/>
              <a:buChar char="○"/>
            </a:pPr>
            <a:r>
              <a:rPr lang="en-GB" sz="1800"/>
              <a:t>docker pull hamishcunningham/iot:magic</a:t>
            </a:r>
            <a:br>
              <a:rPr lang="en-GB" sz="1800"/>
            </a:br>
            <a:r>
              <a:rPr lang="en-GB" sz="1800"/>
              <a:t>(but be prepared for the ~10GB download)</a:t>
            </a:r>
            <a:endParaRPr sz="1800"/>
          </a:p>
          <a:p>
            <a:pPr indent="-342900" lvl="1" marL="914400" marR="0" rtl="0" algn="l">
              <a:lnSpc>
                <a:spcPct val="115000"/>
              </a:lnSpc>
              <a:spcBef>
                <a:spcPts val="0"/>
              </a:spcBef>
              <a:spcAft>
                <a:spcPts val="0"/>
              </a:spcAft>
              <a:buSzPts val="1800"/>
              <a:buChar char="○"/>
            </a:pPr>
            <a:r>
              <a:rPr lang="en-GB" sz="1800"/>
              <a:t>optimising recompiles: see demo</a:t>
            </a:r>
            <a:endParaRPr sz="1800"/>
          </a:p>
          <a:p>
            <a:pPr indent="-342900" lvl="0" marL="457200" marR="0" rtl="0" algn="l">
              <a:lnSpc>
                <a:spcPct val="115000"/>
              </a:lnSpc>
              <a:spcBef>
                <a:spcPts val="0"/>
              </a:spcBef>
              <a:spcAft>
                <a:spcPts val="0"/>
              </a:spcAft>
              <a:buSzPts val="1800"/>
              <a:buChar char="●"/>
            </a:pPr>
            <a:r>
              <a:rPr b="1" lang="en-GB" sz="1800" u="sng"/>
              <a:t>if you haven’t got welcome.txt in your repo, please come see me in the lab tomorrow</a:t>
            </a:r>
            <a:endParaRPr b="1" sz="1800" u="sng"/>
          </a:p>
          <a:p>
            <a:pPr indent="-342900" lvl="0" marL="457200" marR="0" rtl="0" algn="l">
              <a:lnSpc>
                <a:spcPct val="115000"/>
              </a:lnSpc>
              <a:spcBef>
                <a:spcPts val="0"/>
              </a:spcBef>
              <a:spcAft>
                <a:spcPts val="0"/>
              </a:spcAft>
              <a:buSzPts val="1800"/>
              <a:buChar char="●"/>
            </a:pPr>
            <a:r>
              <a:rPr lang="en-GB" sz="1800"/>
              <a:t>(and if you haven’t got a .gitignore, please fix it!)</a:t>
            </a:r>
            <a:endParaRPr sz="1800"/>
          </a:p>
          <a:p>
            <a:pPr indent="-342900" lvl="0" marL="457200" marR="0" rtl="0" algn="l">
              <a:lnSpc>
                <a:spcPct val="115000"/>
              </a:lnSpc>
              <a:spcBef>
                <a:spcPts val="0"/>
              </a:spcBef>
              <a:spcAft>
                <a:spcPts val="0"/>
              </a:spcAft>
              <a:buSzPts val="1800"/>
              <a:buChar char="●"/>
            </a:pPr>
            <a:r>
              <a:rPr lang="en-GB" sz="1800"/>
              <a:t>to git or not to git…? (contributing to existing projects)</a:t>
            </a:r>
            <a:endParaRPr sz="1800"/>
          </a:p>
          <a:p>
            <a:pPr indent="0" lvl="0" marL="0" marR="0" rtl="0" algn="l">
              <a:lnSpc>
                <a:spcPct val="115000"/>
              </a:lnSpc>
              <a:spcBef>
                <a:spcPts val="0"/>
              </a:spcBef>
              <a:spcAft>
                <a:spcPts val="0"/>
              </a:spcAft>
              <a:buNone/>
            </a:pPr>
            <a:r>
              <a:t/>
            </a:r>
            <a:endParaRPr sz="1800"/>
          </a:p>
        </p:txBody>
      </p:sp>
      <p:sp>
        <p:nvSpPr>
          <p:cNvPr id="211" name="Google Shape;211;p44"/>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News from the lab</a:t>
            </a:r>
            <a:endParaRPr/>
          </a:p>
        </p:txBody>
      </p:sp>
      <p:sp>
        <p:nvSpPr>
          <p:cNvPr id="212" name="Google Shape;21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5"/>
          <p:cNvSpPr txBox="1"/>
          <p:nvPr>
            <p:ph idx="1" type="body"/>
          </p:nvPr>
        </p:nvSpPr>
        <p:spPr>
          <a:xfrm>
            <a:off x="428800" y="563875"/>
            <a:ext cx="71226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n-GB" sz="1800"/>
              <a:t>…</a:t>
            </a:r>
            <a:endParaRPr sz="1800"/>
          </a:p>
        </p:txBody>
      </p:sp>
      <p:sp>
        <p:nvSpPr>
          <p:cNvPr id="218" name="Google Shape;218;p45"/>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 Skynet’s little sister | docker builds</a:t>
            </a:r>
            <a:endParaRPr/>
          </a:p>
        </p:txBody>
      </p:sp>
      <p:sp>
        <p:nvSpPr>
          <p:cNvPr id="219" name="Google Shape;219;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6"/>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3</a:t>
            </a:r>
            <a:endParaRPr/>
          </a:p>
        </p:txBody>
      </p:sp>
      <p:sp>
        <p:nvSpPr>
          <p:cNvPr id="225" name="Google Shape;225;p46"/>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b="1" lang="en-GB" sz="1800"/>
              <a:t>review of model solutions for last week</a:t>
            </a:r>
            <a:endParaRPr b="1" sz="1800"/>
          </a:p>
          <a:p>
            <a:pPr indent="-342900" lvl="0" marL="457200" rtl="0" algn="l">
              <a:spcBef>
                <a:spcPts val="1000"/>
              </a:spcBef>
              <a:spcAft>
                <a:spcPts val="0"/>
              </a:spcAft>
              <a:buSzPts val="1800"/>
              <a:buAutoNum type="arabicPeriod"/>
            </a:pPr>
            <a:r>
              <a:rPr lang="en-GB" sz="1800"/>
              <a:t>the IoT hardware space: MCUs on devices and ARM on gateways</a:t>
            </a:r>
            <a:endParaRPr sz="1800"/>
          </a:p>
          <a:p>
            <a:pPr indent="-342900" lvl="0" marL="457200" rtl="0" algn="l">
              <a:spcBef>
                <a:spcPts val="1000"/>
              </a:spcBef>
              <a:spcAft>
                <a:spcPts val="0"/>
              </a:spcAft>
              <a:buSzPts val="1800"/>
              <a:buAutoNum type="arabicPeriod"/>
            </a:pPr>
            <a:r>
              <a:rPr lang="en-GB" sz="1800"/>
              <a:t>Maker Tech and the implications of digital fabrication</a:t>
            </a:r>
            <a:endParaRPr sz="1800"/>
          </a:p>
          <a:p>
            <a:pPr indent="-342900" lvl="0" marL="457200" rtl="0" algn="l">
              <a:spcBef>
                <a:spcPts val="1000"/>
              </a:spcBef>
              <a:spcAft>
                <a:spcPts val="0"/>
              </a:spcAft>
              <a:buSzPts val="1800"/>
              <a:buAutoNum type="arabicPeriod"/>
            </a:pPr>
            <a:r>
              <a:rPr lang="en-GB" sz="1800"/>
              <a:t>coding for the IoT: languages for layers; (yet) more on the Arduino (maybe)</a:t>
            </a:r>
            <a:endParaRPr sz="1800"/>
          </a:p>
          <a:p>
            <a:pPr indent="-342900" lvl="0" marL="457200" rtl="0" algn="l">
              <a:spcBef>
                <a:spcPts val="1000"/>
              </a:spcBef>
              <a:spcAft>
                <a:spcPts val="0"/>
              </a:spcAft>
              <a:buSzPts val="1800"/>
              <a:buAutoNum type="arabicPeriod"/>
            </a:pPr>
            <a:r>
              <a:rPr lang="en-GB" sz="1800"/>
              <a:t>meet Andreas, Mr. ESP</a:t>
            </a:r>
            <a:endParaRPr sz="1800"/>
          </a:p>
          <a:p>
            <a:pPr indent="0" lvl="0" marL="0" rtl="0" algn="l">
              <a:spcBef>
                <a:spcPts val="1000"/>
              </a:spcBef>
              <a:spcAft>
                <a:spcPts val="0"/>
              </a:spcAft>
              <a:buNone/>
            </a:pPr>
            <a:r>
              <a:t/>
            </a:r>
            <a:endParaRPr sz="1800"/>
          </a:p>
        </p:txBody>
      </p:sp>
      <p:sp>
        <p:nvSpPr>
          <p:cNvPr id="226" name="Google Shape;226;p46"/>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7"/>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Exercises 1 &amp; 2</a:t>
            </a:r>
            <a:endParaRPr/>
          </a:p>
        </p:txBody>
      </p:sp>
      <p:sp>
        <p:nvSpPr>
          <p:cNvPr id="232" name="Google Shape;232;p47"/>
          <p:cNvSpPr txBox="1"/>
          <p:nvPr>
            <p:ph idx="1" type="body"/>
          </p:nvPr>
        </p:nvSpPr>
        <p:spPr>
          <a:xfrm>
            <a:off x="428800" y="563875"/>
            <a:ext cx="71226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GB" sz="1800"/>
              <a:t>Using the breadboard, code and test the following:</a:t>
            </a:r>
            <a:endParaRPr sz="1800"/>
          </a:p>
          <a:p>
            <a:pPr indent="0" lvl="0" marL="0" marR="0" rtl="0" algn="l">
              <a:lnSpc>
                <a:spcPct val="115000"/>
              </a:lnSpc>
              <a:spcBef>
                <a:spcPts val="0"/>
              </a:spcBef>
              <a:spcAft>
                <a:spcPts val="0"/>
              </a:spcAft>
              <a:buNone/>
            </a:pPr>
            <a:r>
              <a:t/>
            </a:r>
            <a:endParaRPr sz="1800"/>
          </a:p>
          <a:p>
            <a:pPr indent="-342900" lvl="0" marL="457200" marR="0" rtl="0" algn="l">
              <a:lnSpc>
                <a:spcPct val="115000"/>
              </a:lnSpc>
              <a:spcBef>
                <a:spcPts val="0"/>
              </a:spcBef>
              <a:spcAft>
                <a:spcPts val="0"/>
              </a:spcAft>
              <a:buSzPts val="1800"/>
              <a:buChar char="●"/>
            </a:pPr>
            <a:r>
              <a:rPr b="1" lang="en-GB" sz="1800"/>
              <a:t>Ex01</a:t>
            </a:r>
            <a:r>
              <a:rPr lang="en-GB" sz="1800"/>
              <a:t>: blink the built-in LED; print the device MAC address on the serial line (and monitor it in the IDE)</a:t>
            </a:r>
            <a:endParaRPr sz="1800"/>
          </a:p>
          <a:p>
            <a:pPr indent="-342900" lvl="0" marL="457200" marR="0" rtl="0" algn="l">
              <a:lnSpc>
                <a:spcPct val="115000"/>
              </a:lnSpc>
              <a:spcBef>
                <a:spcPts val="0"/>
              </a:spcBef>
              <a:spcAft>
                <a:spcPts val="0"/>
              </a:spcAft>
              <a:buSzPts val="1800"/>
              <a:buChar char="●"/>
            </a:pPr>
            <a:r>
              <a:rPr b="1" lang="en-GB" sz="1800"/>
              <a:t>Ex02</a:t>
            </a:r>
            <a:r>
              <a:rPr lang="en-GB" sz="1800"/>
              <a:t>: blink the external LED; read from the switch</a:t>
            </a:r>
            <a:endParaRPr sz="1800"/>
          </a:p>
        </p:txBody>
      </p:sp>
      <p:sp>
        <p:nvSpPr>
          <p:cNvPr id="233" name="Google Shape;233;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8"/>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Model code runner: Thing.ino</a:t>
            </a:r>
            <a:endParaRPr/>
          </a:p>
        </p:txBody>
      </p:sp>
      <p:sp>
        <p:nvSpPr>
          <p:cNvPr id="239" name="Google Shape;239;p48"/>
          <p:cNvSpPr txBox="1"/>
          <p:nvPr>
            <p:ph idx="1" type="body"/>
          </p:nvPr>
        </p:nvSpPr>
        <p:spPr>
          <a:xfrm>
            <a:off x="202050" y="549875"/>
            <a:ext cx="4530300" cy="3846600"/>
          </a:xfrm>
          <a:prstGeom prst="rect">
            <a:avLst/>
          </a:prstGeom>
        </p:spPr>
        <p:txBody>
          <a:bodyPr anchorCtr="0" anchor="t" bIns="91425" lIns="91425" spcFirstLastPara="1" rIns="91425" wrap="square" tIns="91425">
            <a:noAutofit/>
          </a:bodyPr>
          <a:lstStyle/>
          <a:p>
            <a:pPr indent="0" lvl="0" marL="0" rtl="0" algn="l">
              <a:lnSpc>
                <a:spcPct val="142857"/>
              </a:lnSpc>
              <a:spcBef>
                <a:spcPts val="0"/>
              </a:spcBef>
              <a:spcAft>
                <a:spcPts val="0"/>
              </a:spcAft>
              <a:buNone/>
            </a:pPr>
            <a:r>
              <a:rPr lang="en-GB" sz="1000">
                <a:solidFill>
                  <a:srgbClr val="6A737D"/>
                </a:solidFill>
                <a:highlight>
                  <a:srgbClr val="FFFFFF"/>
                </a:highlight>
                <a:latin typeface="Consolas"/>
                <a:ea typeface="Consolas"/>
                <a:cs typeface="Consolas"/>
                <a:sym typeface="Consolas"/>
              </a:rPr>
              <a:t>// Thing.ino -- COM3505 lab exercise runner sketch</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a:t>
            </a:r>
            <a:r>
              <a:rPr lang="en-GB" sz="1000">
                <a:solidFill>
                  <a:srgbClr val="D73A49"/>
                </a:solidFill>
                <a:highlight>
                  <a:srgbClr val="FFFFFF"/>
                </a:highlight>
                <a:latin typeface="Consolas"/>
                <a:ea typeface="Consolas"/>
                <a:cs typeface="Consolas"/>
                <a:sym typeface="Consolas"/>
              </a:rPr>
              <a:t>include</a:t>
            </a:r>
            <a:r>
              <a:rPr lang="en-GB" sz="1000">
                <a:solidFill>
                  <a:srgbClr val="24292E"/>
                </a:solidFill>
                <a:highlight>
                  <a:srgbClr val="FFFFFF"/>
                </a:highlight>
                <a:latin typeface="Consolas"/>
                <a:ea typeface="Consolas"/>
                <a:cs typeface="Consolas"/>
                <a:sym typeface="Consolas"/>
              </a:rPr>
              <a:t> </a:t>
            </a:r>
            <a:r>
              <a:rPr lang="en-GB" sz="1000">
                <a:solidFill>
                  <a:srgbClr val="032F62"/>
                </a:solidFill>
                <a:highlight>
                  <a:srgbClr val="FFFFFF"/>
                </a:highlight>
                <a:latin typeface="Consolas"/>
                <a:ea typeface="Consolas"/>
                <a:cs typeface="Consolas"/>
                <a:sym typeface="Consolas"/>
              </a:rPr>
              <a:t>"Ex01.h"</a:t>
            </a:r>
            <a:endParaRPr sz="1000">
              <a:solidFill>
                <a:srgbClr val="032F62"/>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a:t>
            </a:r>
            <a:endParaRPr sz="1000">
              <a:solidFill>
                <a:srgbClr val="032F62"/>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a:t>
            </a:r>
            <a:r>
              <a:rPr lang="en-GB" sz="1000">
                <a:solidFill>
                  <a:srgbClr val="D73A49"/>
                </a:solidFill>
                <a:highlight>
                  <a:srgbClr val="FFFFFF"/>
                </a:highlight>
                <a:latin typeface="Consolas"/>
                <a:ea typeface="Consolas"/>
                <a:cs typeface="Consolas"/>
                <a:sym typeface="Consolas"/>
              </a:rPr>
              <a:t>include</a:t>
            </a:r>
            <a:r>
              <a:rPr lang="en-GB" sz="1000">
                <a:solidFill>
                  <a:srgbClr val="24292E"/>
                </a:solidFill>
                <a:highlight>
                  <a:srgbClr val="FFFFFF"/>
                </a:highlight>
                <a:latin typeface="Consolas"/>
                <a:ea typeface="Consolas"/>
                <a:cs typeface="Consolas"/>
                <a:sym typeface="Consolas"/>
              </a:rPr>
              <a:t> </a:t>
            </a:r>
            <a:r>
              <a:rPr lang="en-GB" sz="1000">
                <a:solidFill>
                  <a:srgbClr val="032F62"/>
                </a:solidFill>
                <a:highlight>
                  <a:srgbClr val="FFFFFF"/>
                </a:highlight>
                <a:latin typeface="Consolas"/>
                <a:ea typeface="Consolas"/>
                <a:cs typeface="Consolas"/>
                <a:sym typeface="Consolas"/>
              </a:rPr>
              <a:t>"Ex20.h"</a:t>
            </a:r>
            <a:endParaRPr sz="1000">
              <a:solidFill>
                <a:srgbClr val="032F62"/>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032F62"/>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D73A49"/>
                </a:solidFill>
                <a:highlight>
                  <a:srgbClr val="FFFFFF"/>
                </a:highlight>
                <a:latin typeface="Consolas"/>
                <a:ea typeface="Consolas"/>
                <a:cs typeface="Consolas"/>
                <a:sym typeface="Consolas"/>
              </a:rPr>
              <a:t>int</a:t>
            </a:r>
            <a:r>
              <a:rPr lang="en-GB" sz="1000">
                <a:solidFill>
                  <a:srgbClr val="24292E"/>
                </a:solidFill>
                <a:highlight>
                  <a:srgbClr val="FFFFFF"/>
                </a:highlight>
                <a:latin typeface="Consolas"/>
                <a:ea typeface="Consolas"/>
                <a:cs typeface="Consolas"/>
                <a:sym typeface="Consolas"/>
              </a:rPr>
              <a:t> LABNUM = </a:t>
            </a:r>
            <a:r>
              <a:rPr lang="en-GB" sz="1000">
                <a:solidFill>
                  <a:srgbClr val="005CC5"/>
                </a:solidFill>
                <a:highlight>
                  <a:srgbClr val="FFFFFF"/>
                </a:highlight>
                <a:latin typeface="Consolas"/>
                <a:ea typeface="Consolas"/>
                <a:cs typeface="Consolas"/>
                <a:sym typeface="Consolas"/>
              </a:rPr>
              <a:t>4</a:t>
            </a:r>
            <a:r>
              <a:rPr lang="en-GB" sz="1000">
                <a:solidFill>
                  <a:srgbClr val="24292E"/>
                </a:solidFill>
                <a:highlight>
                  <a:srgbClr val="FFFFFF"/>
                </a:highlight>
                <a:latin typeface="Consolas"/>
                <a:ea typeface="Consolas"/>
                <a:cs typeface="Consolas"/>
                <a:sym typeface="Consolas"/>
              </a:rPr>
              <a:t>; </a:t>
            </a:r>
            <a:r>
              <a:rPr lang="en-GB" sz="1000">
                <a:solidFill>
                  <a:srgbClr val="6A737D"/>
                </a:solidFill>
                <a:highlight>
                  <a:srgbClr val="FFFFFF"/>
                </a:highlight>
                <a:latin typeface="Consolas"/>
                <a:ea typeface="Consolas"/>
                <a:cs typeface="Consolas"/>
                <a:sym typeface="Consolas"/>
              </a:rPr>
              <a:t>// which lab exercise number are we doing?</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6A737D"/>
                </a:solidFill>
                <a:highlight>
                  <a:srgbClr val="FFFFFF"/>
                </a:highlight>
                <a:latin typeface="Consolas"/>
                <a:ea typeface="Consolas"/>
                <a:cs typeface="Consolas"/>
                <a:sym typeface="Consolas"/>
              </a:rPr>
              <a:t>// initialisation entry point</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D73A49"/>
                </a:solidFill>
                <a:highlight>
                  <a:srgbClr val="FFFFFF"/>
                </a:highlight>
                <a:latin typeface="Consolas"/>
                <a:ea typeface="Consolas"/>
                <a:cs typeface="Consolas"/>
                <a:sym typeface="Consolas"/>
              </a:rPr>
              <a:t>void</a:t>
            </a:r>
            <a:r>
              <a:rPr lang="en-GB" sz="1000">
                <a:solidFill>
                  <a:srgbClr val="24292E"/>
                </a:solidFill>
                <a:highlight>
                  <a:srgbClr val="FFFFFF"/>
                </a:highlight>
                <a:latin typeface="Consolas"/>
                <a:ea typeface="Consolas"/>
                <a:cs typeface="Consolas"/>
                <a:sym typeface="Consolas"/>
              </a:rPr>
              <a:t> </a:t>
            </a:r>
            <a:r>
              <a:rPr lang="en-GB" sz="1000">
                <a:solidFill>
                  <a:srgbClr val="6F42C1"/>
                </a:solidFill>
                <a:highlight>
                  <a:srgbClr val="FFFFFF"/>
                </a:highlight>
                <a:latin typeface="Consolas"/>
                <a:ea typeface="Consolas"/>
                <a:cs typeface="Consolas"/>
                <a:sym typeface="Consolas"/>
              </a:rPr>
              <a:t>setup</a:t>
            </a:r>
            <a:r>
              <a:rPr lang="en-GB" sz="1000">
                <a:solidFill>
                  <a:srgbClr val="24292E"/>
                </a:solidFill>
                <a:highlight>
                  <a:srgbClr val="FFFFFF"/>
                </a:highlight>
                <a:latin typeface="Consolas"/>
                <a:ea typeface="Consolas"/>
                <a:cs typeface="Consolas"/>
                <a:sym typeface="Consolas"/>
              </a:rPr>
              <a:t>() {</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switch</a:t>
            </a:r>
            <a:r>
              <a:rPr lang="en-GB" sz="1000">
                <a:solidFill>
                  <a:srgbClr val="24292E"/>
                </a:solidFill>
                <a:highlight>
                  <a:srgbClr val="FFFFFF"/>
                </a:highlight>
                <a:latin typeface="Consolas"/>
                <a:ea typeface="Consolas"/>
                <a:cs typeface="Consolas"/>
                <a:sym typeface="Consolas"/>
              </a:rPr>
              <a:t>(LABNUM) {</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case</a:t>
            </a:r>
            <a:r>
              <a:rPr lang="en-GB" sz="1000">
                <a:solidFill>
                  <a:srgbClr val="24292E"/>
                </a:solidFill>
                <a:highlight>
                  <a:srgbClr val="FFFFFF"/>
                </a:highlight>
                <a:latin typeface="Consolas"/>
                <a:ea typeface="Consolas"/>
                <a:cs typeface="Consolas"/>
                <a:sym typeface="Consolas"/>
              </a:rPr>
              <a:t>  </a:t>
            </a:r>
            <a:r>
              <a:rPr lang="en-GB" sz="1000">
                <a:solidFill>
                  <a:srgbClr val="005CC5"/>
                </a:solidFill>
                <a:highlight>
                  <a:srgbClr val="FFFFFF"/>
                </a:highlight>
                <a:latin typeface="Consolas"/>
                <a:ea typeface="Consolas"/>
                <a:cs typeface="Consolas"/>
                <a:sym typeface="Consolas"/>
              </a:rPr>
              <a:t>1</a:t>
            </a:r>
            <a:r>
              <a:rPr lang="en-GB" sz="1000">
                <a:solidFill>
                  <a:srgbClr val="24292E"/>
                </a:solidFill>
                <a:highlight>
                  <a:srgbClr val="FFFFFF"/>
                </a:highlight>
                <a:latin typeface="Consolas"/>
                <a:ea typeface="Consolas"/>
                <a:cs typeface="Consolas"/>
                <a:sym typeface="Consolas"/>
              </a:rPr>
              <a:t>: </a:t>
            </a:r>
            <a:r>
              <a:rPr lang="en-GB" sz="1000">
                <a:solidFill>
                  <a:srgbClr val="005CC5"/>
                </a:solidFill>
                <a:highlight>
                  <a:srgbClr val="FFFFFF"/>
                </a:highlight>
                <a:latin typeface="Consolas"/>
                <a:ea typeface="Consolas"/>
                <a:cs typeface="Consolas"/>
                <a:sym typeface="Consolas"/>
              </a:rPr>
              <a:t>setup01</a:t>
            </a: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break</a:t>
            </a:r>
            <a:r>
              <a:rPr lang="en-GB" sz="1000">
                <a:solidFill>
                  <a:srgbClr val="24292E"/>
                </a:solidFill>
                <a:highlight>
                  <a:srgbClr val="FFFFFF"/>
                </a:highlight>
                <a:latin typeface="Consolas"/>
                <a:ea typeface="Consolas"/>
                <a:cs typeface="Consolas"/>
                <a:sym typeface="Consolas"/>
              </a:rPr>
              <a:t>;</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case</a:t>
            </a:r>
            <a:r>
              <a:rPr lang="en-GB" sz="1000">
                <a:solidFill>
                  <a:srgbClr val="24292E"/>
                </a:solidFill>
                <a:highlight>
                  <a:srgbClr val="FFFFFF"/>
                </a:highlight>
                <a:latin typeface="Consolas"/>
                <a:ea typeface="Consolas"/>
                <a:cs typeface="Consolas"/>
                <a:sym typeface="Consolas"/>
              </a:rPr>
              <a:t> </a:t>
            </a:r>
            <a:r>
              <a:rPr lang="en-GB" sz="1000">
                <a:solidFill>
                  <a:srgbClr val="005CC5"/>
                </a:solidFill>
                <a:highlight>
                  <a:srgbClr val="FFFFFF"/>
                </a:highlight>
                <a:latin typeface="Consolas"/>
                <a:ea typeface="Consolas"/>
                <a:cs typeface="Consolas"/>
                <a:sym typeface="Consolas"/>
              </a:rPr>
              <a:t>20</a:t>
            </a:r>
            <a:r>
              <a:rPr lang="en-GB" sz="1000">
                <a:solidFill>
                  <a:srgbClr val="24292E"/>
                </a:solidFill>
                <a:highlight>
                  <a:srgbClr val="FFFFFF"/>
                </a:highlight>
                <a:latin typeface="Consolas"/>
                <a:ea typeface="Consolas"/>
                <a:cs typeface="Consolas"/>
                <a:sym typeface="Consolas"/>
              </a:rPr>
              <a:t>: </a:t>
            </a:r>
            <a:r>
              <a:rPr lang="en-GB" sz="1000">
                <a:solidFill>
                  <a:srgbClr val="005CC5"/>
                </a:solidFill>
                <a:highlight>
                  <a:srgbClr val="FFFFFF"/>
                </a:highlight>
                <a:latin typeface="Consolas"/>
                <a:ea typeface="Consolas"/>
                <a:cs typeface="Consolas"/>
                <a:sym typeface="Consolas"/>
              </a:rPr>
              <a:t>setup20</a:t>
            </a: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break</a:t>
            </a:r>
            <a:r>
              <a:rPr lang="en-GB" sz="1000">
                <a:solidFill>
                  <a:srgbClr val="24292E"/>
                </a:solidFill>
                <a:highlight>
                  <a:srgbClr val="FFFFFF"/>
                </a:highlight>
                <a:latin typeface="Consolas"/>
                <a:ea typeface="Consolas"/>
                <a:cs typeface="Consolas"/>
                <a:sym typeface="Consolas"/>
              </a:rPr>
              <a:t>;</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default</a:t>
            </a:r>
            <a:r>
              <a:rPr lang="en-GB" sz="1000">
                <a:solidFill>
                  <a:srgbClr val="24292E"/>
                </a:solidFill>
                <a:highlight>
                  <a:srgbClr val="FFFFFF"/>
                </a:highlight>
                <a:latin typeface="Consolas"/>
                <a:ea typeface="Consolas"/>
                <a:cs typeface="Consolas"/>
                <a:sym typeface="Consolas"/>
              </a:rPr>
              <a:t>: Serial.</a:t>
            </a:r>
            <a:r>
              <a:rPr lang="en-GB" sz="1000">
                <a:solidFill>
                  <a:srgbClr val="005CC5"/>
                </a:solidFill>
                <a:highlight>
                  <a:srgbClr val="FFFFFF"/>
                </a:highlight>
                <a:latin typeface="Consolas"/>
                <a:ea typeface="Consolas"/>
                <a:cs typeface="Consolas"/>
                <a:sym typeface="Consolas"/>
              </a:rPr>
              <a:t>println</a:t>
            </a:r>
            <a:r>
              <a:rPr lang="en-GB" sz="1000">
                <a:solidFill>
                  <a:srgbClr val="24292E"/>
                </a:solidFill>
                <a:highlight>
                  <a:srgbClr val="FFFFFF"/>
                </a:highlight>
                <a:latin typeface="Consolas"/>
                <a:ea typeface="Consolas"/>
                <a:cs typeface="Consolas"/>
                <a:sym typeface="Consolas"/>
              </a:rPr>
              <a:t>(</a:t>
            </a:r>
            <a:r>
              <a:rPr lang="en-GB" sz="1000">
                <a:solidFill>
                  <a:srgbClr val="032F62"/>
                </a:solidFill>
                <a:highlight>
                  <a:srgbClr val="FFFFFF"/>
                </a:highlight>
                <a:latin typeface="Consolas"/>
                <a:ea typeface="Consolas"/>
                <a:cs typeface="Consolas"/>
                <a:sym typeface="Consolas"/>
              </a:rPr>
              <a:t>"oops! invalid lab number"</a:t>
            </a:r>
            <a:r>
              <a:rPr lang="en-GB" sz="1000">
                <a:solidFill>
                  <a:srgbClr val="24292E"/>
                </a:solidFill>
                <a:highlight>
                  <a:srgbClr val="FFFFFF"/>
                </a:highlight>
                <a:latin typeface="Consolas"/>
                <a:ea typeface="Consolas"/>
                <a:cs typeface="Consolas"/>
                <a:sym typeface="Consolas"/>
              </a:rPr>
              <a:t>);</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a:t>
            </a:r>
            <a:endParaRPr sz="1000">
              <a:solidFill>
                <a:srgbClr val="24292E"/>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sz="1000"/>
          </a:p>
        </p:txBody>
      </p:sp>
      <p:sp>
        <p:nvSpPr>
          <p:cNvPr id="240" name="Google Shape;240;p48"/>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1" name="Google Shape;241;p48"/>
          <p:cNvSpPr txBox="1"/>
          <p:nvPr>
            <p:ph idx="1" type="body"/>
          </p:nvPr>
        </p:nvSpPr>
        <p:spPr>
          <a:xfrm>
            <a:off x="4697850" y="842275"/>
            <a:ext cx="4391700" cy="3846600"/>
          </a:xfrm>
          <a:prstGeom prst="rect">
            <a:avLst/>
          </a:prstGeom>
        </p:spPr>
        <p:txBody>
          <a:bodyPr anchorCtr="0" anchor="t" bIns="91425" lIns="91425" spcFirstLastPara="1" rIns="91425" wrap="square" tIns="91425">
            <a:noAutofit/>
          </a:bodyPr>
          <a:lstStyle/>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6A737D"/>
                </a:solidFill>
                <a:highlight>
                  <a:srgbClr val="FFFFFF"/>
                </a:highlight>
                <a:latin typeface="Consolas"/>
                <a:ea typeface="Consolas"/>
                <a:cs typeface="Consolas"/>
                <a:sym typeface="Consolas"/>
              </a:rPr>
              <a:t>// task loop entry point</a:t>
            </a:r>
            <a:endParaRPr sz="10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D73A49"/>
                </a:solidFill>
                <a:highlight>
                  <a:srgbClr val="FFFFFF"/>
                </a:highlight>
                <a:latin typeface="Consolas"/>
                <a:ea typeface="Consolas"/>
                <a:cs typeface="Consolas"/>
                <a:sym typeface="Consolas"/>
              </a:rPr>
              <a:t>void</a:t>
            </a:r>
            <a:r>
              <a:rPr lang="en-GB" sz="1000">
                <a:solidFill>
                  <a:srgbClr val="24292E"/>
                </a:solidFill>
                <a:highlight>
                  <a:srgbClr val="FFFFFF"/>
                </a:highlight>
                <a:latin typeface="Consolas"/>
                <a:ea typeface="Consolas"/>
                <a:cs typeface="Consolas"/>
                <a:sym typeface="Consolas"/>
              </a:rPr>
              <a:t> </a:t>
            </a:r>
            <a:r>
              <a:rPr lang="en-GB" sz="1000">
                <a:solidFill>
                  <a:srgbClr val="6F42C1"/>
                </a:solidFill>
                <a:highlight>
                  <a:srgbClr val="FFFFFF"/>
                </a:highlight>
                <a:latin typeface="Consolas"/>
                <a:ea typeface="Consolas"/>
                <a:cs typeface="Consolas"/>
                <a:sym typeface="Consolas"/>
              </a:rPr>
              <a:t>loop</a:t>
            </a:r>
            <a:r>
              <a:rPr lang="en-GB" sz="1000">
                <a:solidFill>
                  <a:srgbClr val="24292E"/>
                </a:solidFill>
                <a:highlight>
                  <a:srgbClr val="FFFFFF"/>
                </a:highlight>
                <a:latin typeface="Consolas"/>
                <a:ea typeface="Consolas"/>
                <a:cs typeface="Consolas"/>
                <a:sym typeface="Consolas"/>
              </a:rPr>
              <a:t>() {</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switch</a:t>
            </a:r>
            <a:r>
              <a:rPr lang="en-GB" sz="1000">
                <a:solidFill>
                  <a:srgbClr val="24292E"/>
                </a:solidFill>
                <a:highlight>
                  <a:srgbClr val="FFFFFF"/>
                </a:highlight>
                <a:latin typeface="Consolas"/>
                <a:ea typeface="Consolas"/>
                <a:cs typeface="Consolas"/>
                <a:sym typeface="Consolas"/>
              </a:rPr>
              <a:t>(LABNUM) {</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case</a:t>
            </a:r>
            <a:r>
              <a:rPr lang="en-GB" sz="1000">
                <a:solidFill>
                  <a:srgbClr val="24292E"/>
                </a:solidFill>
                <a:highlight>
                  <a:srgbClr val="FFFFFF"/>
                </a:highlight>
                <a:latin typeface="Consolas"/>
                <a:ea typeface="Consolas"/>
                <a:cs typeface="Consolas"/>
                <a:sym typeface="Consolas"/>
              </a:rPr>
              <a:t>  </a:t>
            </a:r>
            <a:r>
              <a:rPr lang="en-GB" sz="1000">
                <a:solidFill>
                  <a:srgbClr val="005CC5"/>
                </a:solidFill>
                <a:highlight>
                  <a:srgbClr val="FFFFFF"/>
                </a:highlight>
                <a:latin typeface="Consolas"/>
                <a:ea typeface="Consolas"/>
                <a:cs typeface="Consolas"/>
                <a:sym typeface="Consolas"/>
              </a:rPr>
              <a:t>1</a:t>
            </a:r>
            <a:r>
              <a:rPr lang="en-GB" sz="1000">
                <a:solidFill>
                  <a:srgbClr val="24292E"/>
                </a:solidFill>
                <a:highlight>
                  <a:srgbClr val="FFFFFF"/>
                </a:highlight>
                <a:latin typeface="Consolas"/>
                <a:ea typeface="Consolas"/>
                <a:cs typeface="Consolas"/>
                <a:sym typeface="Consolas"/>
              </a:rPr>
              <a:t>: </a:t>
            </a:r>
            <a:r>
              <a:rPr lang="en-GB" sz="1000">
                <a:solidFill>
                  <a:srgbClr val="005CC5"/>
                </a:solidFill>
                <a:highlight>
                  <a:srgbClr val="FFFFFF"/>
                </a:highlight>
                <a:latin typeface="Consolas"/>
                <a:ea typeface="Consolas"/>
                <a:cs typeface="Consolas"/>
                <a:sym typeface="Consolas"/>
              </a:rPr>
              <a:t>loop01</a:t>
            </a: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break</a:t>
            </a:r>
            <a:r>
              <a:rPr lang="en-GB" sz="1000">
                <a:solidFill>
                  <a:srgbClr val="24292E"/>
                </a:solidFill>
                <a:highlight>
                  <a:srgbClr val="FFFFFF"/>
                </a:highlight>
                <a:latin typeface="Consolas"/>
                <a:ea typeface="Consolas"/>
                <a:cs typeface="Consolas"/>
                <a:sym typeface="Consolas"/>
              </a:rPr>
              <a:t>;</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Clr>
                <a:schemeClr val="dk1"/>
              </a:buClr>
              <a:buSzPts val="1100"/>
              <a:buFont typeface="Arial"/>
              <a:buNone/>
            </a:pPr>
            <a:r>
              <a:rPr lang="en-GB" sz="1000">
                <a:solidFill>
                  <a:srgbClr val="24292E"/>
                </a:solidFill>
                <a:highlight>
                  <a:srgbClr val="FFFFFF"/>
                </a:highlight>
                <a:latin typeface="Consolas"/>
                <a:ea typeface="Consolas"/>
                <a:cs typeface="Consolas"/>
                <a:sym typeface="Consolas"/>
              </a:rPr>
              <a:t> ...</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case</a:t>
            </a:r>
            <a:r>
              <a:rPr lang="en-GB" sz="1000">
                <a:solidFill>
                  <a:srgbClr val="24292E"/>
                </a:solidFill>
                <a:highlight>
                  <a:srgbClr val="FFFFFF"/>
                </a:highlight>
                <a:latin typeface="Consolas"/>
                <a:ea typeface="Consolas"/>
                <a:cs typeface="Consolas"/>
                <a:sym typeface="Consolas"/>
              </a:rPr>
              <a:t> </a:t>
            </a:r>
            <a:r>
              <a:rPr lang="en-GB" sz="1000">
                <a:solidFill>
                  <a:srgbClr val="005CC5"/>
                </a:solidFill>
                <a:highlight>
                  <a:srgbClr val="FFFFFF"/>
                </a:highlight>
                <a:latin typeface="Consolas"/>
                <a:ea typeface="Consolas"/>
                <a:cs typeface="Consolas"/>
                <a:sym typeface="Consolas"/>
              </a:rPr>
              <a:t>20</a:t>
            </a:r>
            <a:r>
              <a:rPr lang="en-GB" sz="1000">
                <a:solidFill>
                  <a:srgbClr val="24292E"/>
                </a:solidFill>
                <a:highlight>
                  <a:srgbClr val="FFFFFF"/>
                </a:highlight>
                <a:latin typeface="Consolas"/>
                <a:ea typeface="Consolas"/>
                <a:cs typeface="Consolas"/>
                <a:sym typeface="Consolas"/>
              </a:rPr>
              <a:t>: </a:t>
            </a:r>
            <a:r>
              <a:rPr lang="en-GB" sz="1000">
                <a:solidFill>
                  <a:srgbClr val="005CC5"/>
                </a:solidFill>
                <a:highlight>
                  <a:srgbClr val="FFFFFF"/>
                </a:highlight>
                <a:latin typeface="Consolas"/>
                <a:ea typeface="Consolas"/>
                <a:cs typeface="Consolas"/>
                <a:sym typeface="Consolas"/>
              </a:rPr>
              <a:t>loop20</a:t>
            </a: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break</a:t>
            </a:r>
            <a:r>
              <a:rPr lang="en-GB" sz="1000">
                <a:solidFill>
                  <a:srgbClr val="24292E"/>
                </a:solidFill>
                <a:highlight>
                  <a:srgbClr val="FFFFFF"/>
                </a:highlight>
                <a:latin typeface="Consolas"/>
                <a:ea typeface="Consolas"/>
                <a:cs typeface="Consolas"/>
                <a:sym typeface="Consolas"/>
              </a:rPr>
              <a:t>;</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r>
              <a:rPr lang="en-GB" sz="1000">
                <a:solidFill>
                  <a:srgbClr val="D73A49"/>
                </a:solidFill>
                <a:highlight>
                  <a:srgbClr val="FFFFFF"/>
                </a:highlight>
                <a:latin typeface="Consolas"/>
                <a:ea typeface="Consolas"/>
                <a:cs typeface="Consolas"/>
                <a:sym typeface="Consolas"/>
              </a:rPr>
              <a:t>default</a:t>
            </a:r>
            <a:r>
              <a:rPr lang="en-GB" sz="1000">
                <a:solidFill>
                  <a:srgbClr val="24292E"/>
                </a:solidFill>
                <a:highlight>
                  <a:srgbClr val="FFFFFF"/>
                </a:highlight>
                <a:latin typeface="Consolas"/>
                <a:ea typeface="Consolas"/>
                <a:cs typeface="Consolas"/>
                <a:sym typeface="Consolas"/>
              </a:rPr>
              <a:t>: Serial.</a:t>
            </a:r>
            <a:r>
              <a:rPr lang="en-GB" sz="1000">
                <a:solidFill>
                  <a:srgbClr val="005CC5"/>
                </a:solidFill>
                <a:highlight>
                  <a:srgbClr val="FFFFFF"/>
                </a:highlight>
                <a:latin typeface="Consolas"/>
                <a:ea typeface="Consolas"/>
                <a:cs typeface="Consolas"/>
                <a:sym typeface="Consolas"/>
              </a:rPr>
              <a:t>println</a:t>
            </a:r>
            <a:r>
              <a:rPr lang="en-GB" sz="1000">
                <a:solidFill>
                  <a:srgbClr val="24292E"/>
                </a:solidFill>
                <a:highlight>
                  <a:srgbClr val="FFFFFF"/>
                </a:highlight>
                <a:latin typeface="Consolas"/>
                <a:ea typeface="Consolas"/>
                <a:cs typeface="Consolas"/>
                <a:sym typeface="Consolas"/>
              </a:rPr>
              <a:t>(</a:t>
            </a:r>
            <a:r>
              <a:rPr lang="en-GB" sz="1000">
                <a:solidFill>
                  <a:srgbClr val="032F62"/>
                </a:solidFill>
                <a:highlight>
                  <a:srgbClr val="FFFFFF"/>
                </a:highlight>
                <a:latin typeface="Consolas"/>
                <a:ea typeface="Consolas"/>
                <a:cs typeface="Consolas"/>
                <a:sym typeface="Consolas"/>
              </a:rPr>
              <a:t>"oops! invalid lab number"</a:t>
            </a:r>
            <a:r>
              <a:rPr lang="en-GB" sz="1000">
                <a:solidFill>
                  <a:srgbClr val="24292E"/>
                </a:solidFill>
                <a:highlight>
                  <a:srgbClr val="FFFFFF"/>
                </a:highlight>
                <a:latin typeface="Consolas"/>
                <a:ea typeface="Consolas"/>
                <a:cs typeface="Consolas"/>
                <a:sym typeface="Consolas"/>
              </a:rPr>
              <a:t>);</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   }</a:t>
            </a:r>
            <a:endParaRPr sz="10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None/>
            </a:pPr>
            <a:r>
              <a:rPr lang="en-GB" sz="1000">
                <a:solidFill>
                  <a:srgbClr val="24292E"/>
                </a:solidFill>
                <a:highlight>
                  <a:srgbClr val="FFFFFF"/>
                </a:highlight>
                <a:latin typeface="Consolas"/>
                <a:ea typeface="Consolas"/>
                <a:cs typeface="Consolas"/>
                <a:sym typeface="Consolas"/>
              </a:rPr>
              <a:t>}</a:t>
            </a:r>
            <a:endParaRPr sz="1000">
              <a:solidFill>
                <a:srgbClr val="24292E"/>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b="1"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9"/>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Exercises 1—2 </a:t>
            </a:r>
            <a:endParaRPr/>
          </a:p>
        </p:txBody>
      </p:sp>
      <p:sp>
        <p:nvSpPr>
          <p:cNvPr id="247" name="Google Shape;247;p49"/>
          <p:cNvSpPr txBox="1"/>
          <p:nvPr>
            <p:ph idx="1" type="body"/>
          </p:nvPr>
        </p:nvSpPr>
        <p:spPr>
          <a:xfrm>
            <a:off x="352600" y="563875"/>
            <a:ext cx="79779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GB" sz="1800"/>
              <a:t>Based on a new circuit that adds an external LED and switch to your ESP (build instructions are in Notes/Ex02Notes/README.mkd in your repo):</a:t>
            </a:r>
            <a:endParaRPr sz="1800"/>
          </a:p>
          <a:p>
            <a:pPr indent="0" lvl="0" marL="0" rtl="0" algn="l">
              <a:spcBef>
                <a:spcPts val="0"/>
              </a:spcBef>
              <a:spcAft>
                <a:spcPts val="0"/>
              </a:spcAft>
              <a:buNone/>
            </a:pPr>
            <a:r>
              <a:t/>
            </a:r>
            <a:endParaRPr sz="1800"/>
          </a:p>
        </p:txBody>
      </p:sp>
      <p:sp>
        <p:nvSpPr>
          <p:cNvPr id="248" name="Google Shape;248;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Blinky-in-breadboard-with-connections.png" id="249" name="Google Shape;249;p49"/>
          <p:cNvPicPr preferRelativeResize="0"/>
          <p:nvPr/>
        </p:nvPicPr>
        <p:blipFill>
          <a:blip r:embed="rId3">
            <a:alphaModFix/>
          </a:blip>
          <a:stretch>
            <a:fillRect/>
          </a:stretch>
        </p:blipFill>
        <p:spPr>
          <a:xfrm>
            <a:off x="642225" y="1302800"/>
            <a:ext cx="2220750" cy="3147499"/>
          </a:xfrm>
          <a:prstGeom prst="rect">
            <a:avLst/>
          </a:prstGeom>
          <a:noFill/>
          <a:ln>
            <a:noFill/>
          </a:ln>
        </p:spPr>
      </p:pic>
      <p:pic>
        <p:nvPicPr>
          <p:cNvPr descr="Blinky-schematic.png" id="250" name="Google Shape;250;p49"/>
          <p:cNvPicPr preferRelativeResize="0"/>
          <p:nvPr/>
        </p:nvPicPr>
        <p:blipFill>
          <a:blip r:embed="rId4">
            <a:alphaModFix/>
          </a:blip>
          <a:stretch>
            <a:fillRect/>
          </a:stretch>
        </p:blipFill>
        <p:spPr>
          <a:xfrm>
            <a:off x="2887825" y="1373100"/>
            <a:ext cx="2606350" cy="3006900"/>
          </a:xfrm>
          <a:prstGeom prst="rect">
            <a:avLst/>
          </a:prstGeom>
          <a:noFill/>
          <a:ln>
            <a:noFill/>
          </a:ln>
        </p:spPr>
      </p:pic>
      <p:pic>
        <p:nvPicPr>
          <p:cNvPr id="251" name="Google Shape;251;p49"/>
          <p:cNvPicPr preferRelativeResize="0"/>
          <p:nvPr/>
        </p:nvPicPr>
        <p:blipFill rotWithShape="1">
          <a:blip r:embed="rId5">
            <a:alphaModFix/>
          </a:blip>
          <a:srcRect b="25104" l="18771" r="0" t="0"/>
          <a:stretch/>
        </p:blipFill>
        <p:spPr>
          <a:xfrm>
            <a:off x="6141275" y="2254625"/>
            <a:ext cx="2130702" cy="11934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50"/>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a:t>
            </a:r>
            <a:r>
              <a:rPr lang="en-GB" sz="2400"/>
              <a:t>ESP32 Firmware, the Story so Far (1) — last week]</a:t>
            </a:r>
            <a:endParaRPr sz="2400"/>
          </a:p>
        </p:txBody>
      </p:sp>
      <p:sp>
        <p:nvSpPr>
          <p:cNvPr id="257" name="Google Shape;257;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8" name="Google Shape;258;p50"/>
          <p:cNvSpPr txBox="1"/>
          <p:nvPr>
            <p:ph idx="1" type="body"/>
          </p:nvPr>
        </p:nvSpPr>
        <p:spPr>
          <a:xfrm>
            <a:off x="4025725" y="477250"/>
            <a:ext cx="50823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000">
                <a:solidFill>
                  <a:srgbClr val="696969"/>
                </a:solidFill>
                <a:highlight>
                  <a:srgbClr val="FFFFFF"/>
                </a:highlight>
              </a:rPr>
              <a:t>// ...Ex01.ino…</a:t>
            </a:r>
            <a:br>
              <a:rPr lang="en-GB" sz="1000">
                <a:solidFill>
                  <a:srgbClr val="696969"/>
                </a:solidFill>
                <a:highlight>
                  <a:srgbClr val="FFFFFF"/>
                </a:highlight>
              </a:rPr>
            </a:br>
            <a:br>
              <a:rPr lang="en-GB" sz="1000">
                <a:highlight>
                  <a:srgbClr val="FFFFFF"/>
                </a:highlight>
              </a:rPr>
            </a:br>
            <a:r>
              <a:rPr b="1" lang="en-GB" sz="1000">
                <a:solidFill>
                  <a:srgbClr val="800000"/>
                </a:solidFill>
                <a:highlight>
                  <a:srgbClr val="FFFFFF"/>
                </a:highlight>
              </a:rPr>
              <a:t>void</a:t>
            </a:r>
            <a:r>
              <a:rPr lang="en-GB" sz="1000">
                <a:highlight>
                  <a:srgbClr val="FFFFFF"/>
                </a:highlight>
              </a:rPr>
              <a:t> loop01</a:t>
            </a:r>
            <a:r>
              <a:rPr lang="en-GB" sz="1000">
                <a:solidFill>
                  <a:srgbClr val="808030"/>
                </a:solidFill>
                <a:highlight>
                  <a:srgbClr val="FFFFFF"/>
                </a:highlight>
              </a:rPr>
              <a:t>()</a:t>
            </a:r>
            <a:r>
              <a:rPr lang="en-GB" sz="1000">
                <a:highlight>
                  <a:srgbClr val="FFFFFF"/>
                </a:highlight>
              </a:rPr>
              <a:t> </a:t>
            </a:r>
            <a:r>
              <a:rPr lang="en-GB" sz="1000">
                <a:solidFill>
                  <a:srgbClr val="800080"/>
                </a:solidFill>
                <a:highlight>
                  <a:srgbClr val="FFFFFF"/>
                </a:highlight>
              </a:rPr>
              <a:t>{</a:t>
            </a:r>
            <a:br>
              <a:rPr lang="en-GB" sz="1000">
                <a:highlight>
                  <a:srgbClr val="FFFFFF"/>
                </a:highlight>
              </a:rPr>
            </a:br>
            <a:r>
              <a:rPr lang="en-GB" sz="1000">
                <a:highlight>
                  <a:srgbClr val="FFFFFF"/>
                </a:highlight>
              </a:rPr>
              <a:t>  Serial</a:t>
            </a:r>
            <a:r>
              <a:rPr lang="en-GB" sz="1000">
                <a:solidFill>
                  <a:srgbClr val="808030"/>
                </a:solidFill>
                <a:highlight>
                  <a:srgbClr val="FFFFFF"/>
                </a:highlight>
              </a:rPr>
              <a:t>.</a:t>
            </a:r>
            <a:r>
              <a:rPr lang="en-GB" sz="1000">
                <a:highlight>
                  <a:srgbClr val="FFFFFF"/>
                </a:highlight>
              </a:rPr>
              <a:t>printf</a:t>
            </a:r>
            <a:r>
              <a:rPr lang="en-GB" sz="1000">
                <a:solidFill>
                  <a:srgbClr val="808030"/>
                </a:solidFill>
                <a:highlight>
                  <a:srgbClr val="FFFFFF"/>
                </a:highlight>
              </a:rPr>
              <a:t>(</a:t>
            </a:r>
            <a:r>
              <a:rPr lang="en-GB" sz="1000">
                <a:solidFill>
                  <a:srgbClr val="800000"/>
                </a:solidFill>
                <a:highlight>
                  <a:srgbClr val="FFFFFF"/>
                </a:highlight>
              </a:rPr>
              <a:t>"</a:t>
            </a:r>
            <a:r>
              <a:rPr lang="en-GB" sz="1000">
                <a:solidFill>
                  <a:srgbClr val="0000E6"/>
                </a:solidFill>
                <a:highlight>
                  <a:srgbClr val="FFFFFF"/>
                </a:highlight>
              </a:rPr>
              <a:t>ESP32 MAC = </a:t>
            </a:r>
            <a:r>
              <a:rPr lang="en-GB" sz="1000">
                <a:solidFill>
                  <a:srgbClr val="007997"/>
                </a:solidFill>
                <a:highlight>
                  <a:srgbClr val="FFFFFF"/>
                </a:highlight>
              </a:rPr>
              <a:t>%s</a:t>
            </a:r>
            <a:r>
              <a:rPr lang="en-GB" sz="1000">
                <a:solidFill>
                  <a:srgbClr val="0F69FF"/>
                </a:solidFill>
                <a:highlight>
                  <a:srgbClr val="FFFFFF"/>
                </a:highlight>
              </a:rPr>
              <a:t>\n</a:t>
            </a:r>
            <a:r>
              <a:rPr lang="en-GB" sz="1000">
                <a:solidFill>
                  <a:srgbClr val="800000"/>
                </a:solidFill>
                <a:highlight>
                  <a:srgbClr val="FFFFFF"/>
                </a:highlight>
              </a:rPr>
              <a:t>"</a:t>
            </a:r>
            <a:r>
              <a:rPr lang="en-GB" sz="1000">
                <a:solidFill>
                  <a:srgbClr val="808030"/>
                </a:solidFill>
                <a:highlight>
                  <a:srgbClr val="FFFFFF"/>
                </a:highlight>
              </a:rPr>
              <a:t>,</a:t>
            </a:r>
            <a:r>
              <a:rPr lang="en-GB" sz="1000">
                <a:highlight>
                  <a:srgbClr val="FFFFFF"/>
                </a:highlight>
              </a:rPr>
              <a:t> MAC_ADDRESS</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print the ESP's "ID"</a:t>
            </a:r>
            <a:br>
              <a:rPr lang="en-GB" sz="1000">
                <a:highlight>
                  <a:srgbClr val="FFFFFF"/>
                </a:highlight>
              </a:rPr>
            </a:br>
            <a:r>
              <a:rPr lang="en-GB" sz="1000">
                <a:highlight>
                  <a:srgbClr val="FFFFFF"/>
                </a:highlight>
              </a:rPr>
              <a:t>  blink</a:t>
            </a:r>
            <a:r>
              <a:rPr lang="en-GB" sz="1000">
                <a:solidFill>
                  <a:srgbClr val="808030"/>
                </a:solidFill>
                <a:highlight>
                  <a:srgbClr val="FFFFFF"/>
                </a:highlight>
              </a:rPr>
              <a:t>(</a:t>
            </a:r>
            <a:r>
              <a:rPr lang="en-GB" sz="1000">
                <a:solidFill>
                  <a:srgbClr val="008C00"/>
                </a:solidFill>
                <a:highlight>
                  <a:srgbClr val="FFFFFF"/>
                </a:highlight>
              </a:rPr>
              <a:t>3</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blink the on-board LED...</a:t>
            </a:r>
            <a:br>
              <a:rPr lang="en-GB" sz="1000">
                <a:highlight>
                  <a:srgbClr val="FFFFFF"/>
                </a:highlight>
              </a:rPr>
            </a:br>
            <a:r>
              <a:rPr lang="en-GB" sz="1000">
                <a:highlight>
                  <a:srgbClr val="FFFFFF"/>
                </a:highlight>
              </a:rPr>
              <a:t>  delay</a:t>
            </a:r>
            <a:r>
              <a:rPr lang="en-GB" sz="1000">
                <a:solidFill>
                  <a:srgbClr val="808030"/>
                </a:solidFill>
                <a:highlight>
                  <a:srgbClr val="FFFFFF"/>
                </a:highlight>
              </a:rPr>
              <a:t>(</a:t>
            </a:r>
            <a:r>
              <a:rPr lang="en-GB" sz="1000">
                <a:solidFill>
                  <a:srgbClr val="008C00"/>
                </a:solidFill>
                <a:highlight>
                  <a:srgbClr val="FFFFFF"/>
                </a:highlight>
              </a:rPr>
              <a:t>1000</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...and pause</a:t>
            </a:r>
            <a:br>
              <a:rPr lang="en-GB" sz="1000">
                <a:highlight>
                  <a:srgbClr val="FFFFFF"/>
                </a:highlight>
              </a:rPr>
            </a:br>
            <a:r>
              <a:rPr lang="en-GB" sz="1000">
                <a:solidFill>
                  <a:srgbClr val="800080"/>
                </a:solidFill>
                <a:highlight>
                  <a:srgbClr val="FFFFFF"/>
                </a:highlight>
              </a:rPr>
              <a:t>}</a:t>
            </a:r>
            <a:br>
              <a:rPr lang="en-GB" sz="1000">
                <a:solidFill>
                  <a:srgbClr val="800080"/>
                </a:solidFill>
                <a:highlight>
                  <a:srgbClr val="FFFFFF"/>
                </a:highlight>
              </a:rPr>
            </a:br>
            <a:br>
              <a:rPr lang="en-GB" sz="1000">
                <a:highlight>
                  <a:srgbClr val="FFFFFF"/>
                </a:highlight>
              </a:rPr>
            </a:br>
            <a:r>
              <a:rPr lang="en-GB" sz="1000">
                <a:solidFill>
                  <a:srgbClr val="696969"/>
                </a:solidFill>
                <a:highlight>
                  <a:srgbClr val="FFFFFF"/>
                </a:highlight>
              </a:rPr>
              <a:t>// why not have getMAC return a String? we could, but see:</a:t>
            </a:r>
            <a:br>
              <a:rPr lang="en-GB" sz="1000">
                <a:highlight>
                  <a:srgbClr val="FFFFFF"/>
                </a:highlight>
              </a:rPr>
            </a:br>
            <a:r>
              <a:rPr lang="en-GB" sz="1000">
                <a:solidFill>
                  <a:srgbClr val="696969"/>
                </a:solidFill>
                <a:highlight>
                  <a:srgbClr val="FFFFFF"/>
                </a:highlight>
              </a:rPr>
              <a:t>// </a:t>
            </a:r>
            <a:r>
              <a:rPr lang="en-GB" sz="1000">
                <a:solidFill>
                  <a:srgbClr val="5555DD"/>
                </a:solidFill>
                <a:highlight>
                  <a:srgbClr val="FFFFFF"/>
                </a:highlight>
              </a:rPr>
              <a:t>https://hackingmajenkoblog.wordpress.com/2016/02/04/the-evils-of-arduino-strings/</a:t>
            </a:r>
            <a:br>
              <a:rPr lang="en-GB" sz="1000">
                <a:highlight>
                  <a:srgbClr val="FFFFFF"/>
                </a:highlight>
              </a:rPr>
            </a:br>
            <a:r>
              <a:rPr lang="en-GB" sz="1000">
                <a:solidFill>
                  <a:srgbClr val="696969"/>
                </a:solidFill>
                <a:highlight>
                  <a:srgbClr val="FFFFFF"/>
                </a:highlight>
              </a:rPr>
              <a:t>// </a:t>
            </a:r>
            <a:r>
              <a:rPr lang="en-GB" sz="1000">
                <a:solidFill>
                  <a:srgbClr val="5555DD"/>
                </a:solidFill>
                <a:highlight>
                  <a:srgbClr val="FFFFFF"/>
                </a:highlight>
              </a:rPr>
              <a:t>https://www.youtube.com/watch?v=eVGvPsCrQ_Y</a:t>
            </a:r>
            <a:br>
              <a:rPr lang="en-GB" sz="1000">
                <a:highlight>
                  <a:srgbClr val="FFFFFF"/>
                </a:highlight>
              </a:rPr>
            </a:br>
            <a:r>
              <a:rPr b="1" lang="en-GB" sz="1000">
                <a:solidFill>
                  <a:srgbClr val="800000"/>
                </a:solidFill>
                <a:highlight>
                  <a:srgbClr val="FFFFFF"/>
                </a:highlight>
              </a:rPr>
              <a:t>void</a:t>
            </a:r>
            <a:r>
              <a:rPr lang="en-GB" sz="1000">
                <a:highlight>
                  <a:srgbClr val="FFFFFF"/>
                </a:highlight>
              </a:rPr>
              <a:t> getMAC</a:t>
            </a:r>
            <a:r>
              <a:rPr lang="en-GB" sz="1000">
                <a:solidFill>
                  <a:srgbClr val="808030"/>
                </a:solidFill>
                <a:highlight>
                  <a:srgbClr val="FFFFFF"/>
                </a:highlight>
              </a:rPr>
              <a:t>(</a:t>
            </a:r>
            <a:r>
              <a:rPr b="1" lang="en-GB" sz="1000">
                <a:solidFill>
                  <a:srgbClr val="800000"/>
                </a:solidFill>
                <a:highlight>
                  <a:srgbClr val="FFFFFF"/>
                </a:highlight>
              </a:rPr>
              <a:t>char</a:t>
            </a:r>
            <a:r>
              <a:rPr lang="en-GB" sz="1000">
                <a:highlight>
                  <a:srgbClr val="FFFFFF"/>
                </a:highlight>
              </a:rPr>
              <a:t> </a:t>
            </a:r>
            <a:r>
              <a:rPr lang="en-GB" sz="1000">
                <a:solidFill>
                  <a:srgbClr val="808030"/>
                </a:solidFill>
                <a:highlight>
                  <a:srgbClr val="FFFFFF"/>
                </a:highlight>
              </a:rPr>
              <a:t>*</a:t>
            </a:r>
            <a:r>
              <a:rPr lang="en-GB" sz="1000">
                <a:highlight>
                  <a:srgbClr val="FFFFFF"/>
                </a:highlight>
              </a:rPr>
              <a:t>buf</a:t>
            </a:r>
            <a:r>
              <a:rPr lang="en-GB" sz="1000">
                <a:solidFill>
                  <a:srgbClr val="808030"/>
                </a:solidFill>
                <a:highlight>
                  <a:srgbClr val="FFFFFF"/>
                </a:highlight>
              </a:rPr>
              <a:t>)</a:t>
            </a:r>
            <a:r>
              <a:rPr lang="en-GB" sz="1000">
                <a:highlight>
                  <a:srgbClr val="FFFFFF"/>
                </a:highlight>
              </a:rPr>
              <a:t> </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the MAC is 6 bytes, so needs careful conversion...</a:t>
            </a:r>
            <a:br>
              <a:rPr lang="en-GB" sz="1000">
                <a:highlight>
                  <a:srgbClr val="FFFFFF"/>
                </a:highlight>
              </a:rPr>
            </a:br>
            <a:r>
              <a:rPr lang="en-GB" sz="1000">
                <a:highlight>
                  <a:srgbClr val="FFFFFF"/>
                </a:highlight>
              </a:rPr>
              <a:t>  uint64_t mac </a:t>
            </a:r>
            <a:r>
              <a:rPr lang="en-GB" sz="1000">
                <a:solidFill>
                  <a:srgbClr val="808030"/>
                </a:solidFill>
                <a:highlight>
                  <a:srgbClr val="FFFFFF"/>
                </a:highlight>
              </a:rPr>
              <a:t>=</a:t>
            </a:r>
            <a:r>
              <a:rPr lang="en-GB" sz="1000">
                <a:highlight>
                  <a:srgbClr val="FFFFFF"/>
                </a:highlight>
              </a:rPr>
              <a:t> ESP</a:t>
            </a:r>
            <a:r>
              <a:rPr lang="en-GB" sz="1000">
                <a:solidFill>
                  <a:srgbClr val="808030"/>
                </a:solidFill>
                <a:highlight>
                  <a:srgbClr val="FFFFFF"/>
                </a:highlight>
              </a:rPr>
              <a:t>.</a:t>
            </a:r>
            <a:r>
              <a:rPr lang="en-GB" sz="1000">
                <a:highlight>
                  <a:srgbClr val="FFFFFF"/>
                </a:highlight>
              </a:rPr>
              <a:t>getEfuseMac</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...to string (high 2, low 4):</a:t>
            </a:r>
            <a:br>
              <a:rPr lang="en-GB" sz="1000">
                <a:highlight>
                  <a:srgbClr val="FFFFFF"/>
                </a:highlight>
              </a:rPr>
            </a:br>
            <a:r>
              <a:rPr lang="en-GB" sz="1000">
                <a:highlight>
                  <a:srgbClr val="FFFFFF"/>
                </a:highlight>
              </a:rPr>
              <a:t>  </a:t>
            </a:r>
            <a:r>
              <a:rPr lang="en-GB" sz="1000">
                <a:solidFill>
                  <a:srgbClr val="603000"/>
                </a:solidFill>
                <a:highlight>
                  <a:srgbClr val="FFFFFF"/>
                </a:highlight>
              </a:rPr>
              <a:t>sprintf</a:t>
            </a:r>
            <a:r>
              <a:rPr lang="en-GB" sz="1000">
                <a:solidFill>
                  <a:srgbClr val="808030"/>
                </a:solidFill>
                <a:highlight>
                  <a:srgbClr val="FFFFFF"/>
                </a:highlight>
              </a:rPr>
              <a:t>(</a:t>
            </a:r>
            <a:r>
              <a:rPr lang="en-GB" sz="1000">
                <a:highlight>
                  <a:srgbClr val="FFFFFF"/>
                </a:highlight>
              </a:rPr>
              <a:t>buf</a:t>
            </a:r>
            <a:r>
              <a:rPr lang="en-GB" sz="1000">
                <a:solidFill>
                  <a:srgbClr val="808030"/>
                </a:solidFill>
                <a:highlight>
                  <a:srgbClr val="FFFFFF"/>
                </a:highlight>
              </a:rPr>
              <a:t>,</a:t>
            </a:r>
            <a:r>
              <a:rPr lang="en-GB" sz="1000">
                <a:highlight>
                  <a:srgbClr val="FFFFFF"/>
                </a:highlight>
              </a:rPr>
              <a:t> </a:t>
            </a:r>
            <a:r>
              <a:rPr lang="en-GB" sz="1000">
                <a:solidFill>
                  <a:srgbClr val="800000"/>
                </a:solidFill>
                <a:highlight>
                  <a:srgbClr val="FFFFFF"/>
                </a:highlight>
              </a:rPr>
              <a:t>"</a:t>
            </a:r>
            <a:r>
              <a:rPr lang="en-GB" sz="1000">
                <a:solidFill>
                  <a:srgbClr val="007997"/>
                </a:solidFill>
                <a:highlight>
                  <a:srgbClr val="FFFFFF"/>
                </a:highlight>
              </a:rPr>
              <a:t>%04X%08X</a:t>
            </a:r>
            <a:r>
              <a:rPr lang="en-GB" sz="1000">
                <a:solidFill>
                  <a:srgbClr val="800000"/>
                </a:solidFill>
                <a:highlight>
                  <a:srgbClr val="FFFFFF"/>
                </a:highlight>
              </a:rPr>
              <a:t>"</a:t>
            </a:r>
            <a:r>
              <a:rPr lang="en-GB" sz="1000">
                <a:solidFill>
                  <a:srgbClr val="808030"/>
                </a:solidFill>
                <a:highlight>
                  <a:srgbClr val="FFFFFF"/>
                </a:highlight>
              </a:rPr>
              <a:t>,</a:t>
            </a:r>
            <a:r>
              <a:rPr lang="en-GB" sz="1000">
                <a:highlight>
                  <a:srgbClr val="FFFFFF"/>
                </a:highlight>
              </a:rPr>
              <a:t> </a:t>
            </a:r>
            <a:r>
              <a:rPr lang="en-GB" sz="1000">
                <a:solidFill>
                  <a:srgbClr val="808030"/>
                </a:solidFill>
                <a:highlight>
                  <a:srgbClr val="FFFFFF"/>
                </a:highlight>
              </a:rPr>
              <a:t>(</a:t>
            </a:r>
            <a:r>
              <a:rPr lang="en-GB" sz="1000">
                <a:highlight>
                  <a:srgbClr val="FFFFFF"/>
                </a:highlight>
              </a:rPr>
              <a:t>uint16_t</a:t>
            </a:r>
            <a:r>
              <a:rPr lang="en-GB" sz="1000">
                <a:solidFill>
                  <a:srgbClr val="808030"/>
                </a:solidFill>
                <a:highlight>
                  <a:srgbClr val="FFFFFF"/>
                </a:highlight>
              </a:rPr>
              <a:t>)</a:t>
            </a:r>
            <a:r>
              <a:rPr lang="en-GB" sz="1000">
                <a:highlight>
                  <a:srgbClr val="FFFFFF"/>
                </a:highlight>
              </a:rPr>
              <a:t> </a:t>
            </a:r>
            <a:r>
              <a:rPr lang="en-GB" sz="1000">
                <a:solidFill>
                  <a:srgbClr val="808030"/>
                </a:solidFill>
                <a:highlight>
                  <a:srgbClr val="FFFFFF"/>
                </a:highlight>
              </a:rPr>
              <a:t>(</a:t>
            </a:r>
            <a:r>
              <a:rPr lang="en-GB" sz="1000">
                <a:highlight>
                  <a:srgbClr val="FFFFFF"/>
                </a:highlight>
              </a:rPr>
              <a:t>mac </a:t>
            </a:r>
            <a:r>
              <a:rPr lang="en-GB" sz="1000">
                <a:solidFill>
                  <a:srgbClr val="808030"/>
                </a:solidFill>
                <a:highlight>
                  <a:srgbClr val="FFFFFF"/>
                </a:highlight>
              </a:rPr>
              <a:t>&gt;&gt;</a:t>
            </a:r>
            <a:r>
              <a:rPr lang="en-GB" sz="1000">
                <a:highlight>
                  <a:srgbClr val="FFFFFF"/>
                </a:highlight>
              </a:rPr>
              <a:t> </a:t>
            </a:r>
            <a:r>
              <a:rPr lang="en-GB" sz="1000">
                <a:solidFill>
                  <a:srgbClr val="008C00"/>
                </a:solidFill>
                <a:highlight>
                  <a:srgbClr val="FFFFFF"/>
                </a:highlight>
              </a:rPr>
              <a:t>32</a:t>
            </a:r>
            <a:r>
              <a:rPr lang="en-GB" sz="1000">
                <a:solidFill>
                  <a:srgbClr val="808030"/>
                </a:solidFill>
                <a:highlight>
                  <a:srgbClr val="FFFFFF"/>
                </a:highlight>
              </a:rPr>
              <a:t>),</a:t>
            </a:r>
            <a:r>
              <a:rPr lang="en-GB" sz="1000">
                <a:highlight>
                  <a:srgbClr val="FFFFFF"/>
                </a:highlight>
              </a:rPr>
              <a:t> </a:t>
            </a:r>
            <a:r>
              <a:rPr lang="en-GB" sz="1000">
                <a:solidFill>
                  <a:srgbClr val="808030"/>
                </a:solidFill>
                <a:highlight>
                  <a:srgbClr val="FFFFFF"/>
                </a:highlight>
              </a:rPr>
              <a:t>(</a:t>
            </a:r>
            <a:r>
              <a:rPr lang="en-GB" sz="1000">
                <a:highlight>
                  <a:srgbClr val="FFFFFF"/>
                </a:highlight>
              </a:rPr>
              <a:t>uint32_t</a:t>
            </a:r>
            <a:r>
              <a:rPr lang="en-GB" sz="1000">
                <a:solidFill>
                  <a:srgbClr val="808030"/>
                </a:solidFill>
                <a:highlight>
                  <a:srgbClr val="FFFFFF"/>
                </a:highlight>
              </a:rPr>
              <a:t>)</a:t>
            </a:r>
            <a:r>
              <a:rPr lang="en-GB" sz="1000">
                <a:highlight>
                  <a:srgbClr val="FFFFFF"/>
                </a:highlight>
              </a:rPr>
              <a:t> mac</a:t>
            </a:r>
            <a:r>
              <a:rPr lang="en-GB" sz="1000">
                <a:solidFill>
                  <a:srgbClr val="808030"/>
                </a:solidFill>
                <a:highlight>
                  <a:srgbClr val="FFFFFF"/>
                </a:highlight>
              </a:rPr>
              <a:t>)</a:t>
            </a:r>
            <a:r>
              <a:rPr lang="en-GB" sz="1000">
                <a:solidFill>
                  <a:srgbClr val="800080"/>
                </a:solidFill>
                <a:highlight>
                  <a:srgbClr val="FFFFFF"/>
                </a:highlight>
              </a:rPr>
              <a:t>;</a:t>
            </a:r>
            <a:br>
              <a:rPr lang="en-GB" sz="1000">
                <a:highlight>
                  <a:srgbClr val="FFFFFF"/>
                </a:highlight>
              </a:rPr>
            </a:br>
            <a:r>
              <a:rPr lang="en-GB" sz="1000">
                <a:solidFill>
                  <a:srgbClr val="800080"/>
                </a:solidFill>
                <a:highlight>
                  <a:srgbClr val="FFFFFF"/>
                </a:highlight>
              </a:rPr>
              <a:t>}</a:t>
            </a:r>
            <a:br>
              <a:rPr lang="en-GB" sz="1000">
                <a:solidFill>
                  <a:srgbClr val="800080"/>
                </a:solidFill>
                <a:highlight>
                  <a:srgbClr val="FFFFFF"/>
                </a:highlight>
              </a:rPr>
            </a:br>
            <a:r>
              <a:rPr lang="en-GB" sz="1100">
                <a:solidFill>
                  <a:srgbClr val="800080"/>
                </a:solidFill>
                <a:highlight>
                  <a:srgbClr val="FFFFFF"/>
                </a:highlight>
              </a:rPr>
              <a:t>// That </a:t>
            </a:r>
            <a:r>
              <a:rPr b="1" lang="en-GB" sz="1100">
                <a:solidFill>
                  <a:srgbClr val="800080"/>
                </a:solidFill>
                <a:highlight>
                  <a:srgbClr val="FFFFFF"/>
                </a:highlight>
              </a:rPr>
              <a:t>DOESN’T MEAN </a:t>
            </a:r>
            <a:r>
              <a:rPr lang="en-GB" sz="1100">
                <a:solidFill>
                  <a:srgbClr val="800080"/>
                </a:solidFill>
                <a:highlight>
                  <a:srgbClr val="FFFFFF"/>
                </a:highlight>
              </a:rPr>
              <a:t>never use String! Just be aware of potential problems.</a:t>
            </a:r>
            <a:endParaRPr sz="1100">
              <a:solidFill>
                <a:srgbClr val="800080"/>
              </a:solidFill>
              <a:highlight>
                <a:srgbClr val="FFFFFF"/>
              </a:highlight>
            </a:endParaRPr>
          </a:p>
          <a:p>
            <a:pPr indent="0" lvl="0" marL="0" rtl="0" algn="l">
              <a:spcBef>
                <a:spcPts val="0"/>
              </a:spcBef>
              <a:spcAft>
                <a:spcPts val="0"/>
              </a:spcAft>
              <a:buClr>
                <a:schemeClr val="dk1"/>
              </a:buClr>
              <a:buSzPts val="1100"/>
              <a:buFont typeface="Arial"/>
              <a:buNone/>
            </a:pPr>
            <a:br>
              <a:rPr lang="en-GB" sz="1000">
                <a:highlight>
                  <a:srgbClr val="FFFFFF"/>
                </a:highlight>
              </a:rPr>
            </a:br>
            <a:r>
              <a:rPr b="1" lang="en-GB" sz="1000">
                <a:solidFill>
                  <a:srgbClr val="800000"/>
                </a:solidFill>
                <a:highlight>
                  <a:srgbClr val="FFFFFF"/>
                </a:highlight>
              </a:rPr>
              <a:t>void</a:t>
            </a:r>
            <a:r>
              <a:rPr lang="en-GB" sz="1000">
                <a:highlight>
                  <a:srgbClr val="FFFFFF"/>
                </a:highlight>
              </a:rPr>
              <a:t> ledOn</a:t>
            </a:r>
            <a:r>
              <a:rPr lang="en-GB" sz="1000">
                <a:solidFill>
                  <a:srgbClr val="808030"/>
                </a:solidFill>
                <a:highlight>
                  <a:srgbClr val="FFFFFF"/>
                </a:highlight>
              </a:rPr>
              <a:t>()</a:t>
            </a:r>
            <a:r>
              <a:rPr lang="en-GB" sz="1000">
                <a:highlight>
                  <a:srgbClr val="FFFFFF"/>
                </a:highlight>
              </a:rPr>
              <a:t>  </a:t>
            </a:r>
            <a:r>
              <a:rPr lang="en-GB" sz="1000">
                <a:solidFill>
                  <a:srgbClr val="800080"/>
                </a:solidFill>
                <a:highlight>
                  <a:srgbClr val="FFFFFF"/>
                </a:highlight>
              </a:rPr>
              <a:t>{</a:t>
            </a:r>
            <a:r>
              <a:rPr lang="en-GB" sz="1000">
                <a:highlight>
                  <a:srgbClr val="FFFFFF"/>
                </a:highlight>
              </a:rPr>
              <a:t> digitalWrite</a:t>
            </a:r>
            <a:r>
              <a:rPr lang="en-GB" sz="1000">
                <a:solidFill>
                  <a:srgbClr val="808030"/>
                </a:solidFill>
                <a:highlight>
                  <a:srgbClr val="FFFFFF"/>
                </a:highlight>
              </a:rPr>
              <a:t>(</a:t>
            </a:r>
            <a:r>
              <a:rPr lang="en-GB" sz="1000">
                <a:highlight>
                  <a:srgbClr val="FFFFFF"/>
                </a:highlight>
              </a:rPr>
              <a:t>BUILTIN_LED</a:t>
            </a:r>
            <a:r>
              <a:rPr lang="en-GB" sz="1000">
                <a:solidFill>
                  <a:srgbClr val="808030"/>
                </a:solidFill>
                <a:highlight>
                  <a:srgbClr val="FFFFFF"/>
                </a:highlight>
              </a:rPr>
              <a:t>,</a:t>
            </a:r>
            <a:r>
              <a:rPr lang="en-GB" sz="1000">
                <a:highlight>
                  <a:srgbClr val="FFFFFF"/>
                </a:highlight>
              </a:rPr>
              <a:t> HIGH</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800080"/>
                </a:solidFill>
                <a:highlight>
                  <a:srgbClr val="FFFFFF"/>
                </a:highlight>
              </a:rPr>
              <a:t>}</a:t>
            </a:r>
            <a:br>
              <a:rPr lang="en-GB" sz="1000">
                <a:highlight>
                  <a:srgbClr val="FFFFFF"/>
                </a:highlight>
              </a:rPr>
            </a:br>
            <a:r>
              <a:rPr b="1" lang="en-GB" sz="1000">
                <a:solidFill>
                  <a:srgbClr val="800000"/>
                </a:solidFill>
                <a:highlight>
                  <a:srgbClr val="FFFFFF"/>
                </a:highlight>
              </a:rPr>
              <a:t>void</a:t>
            </a:r>
            <a:r>
              <a:rPr lang="en-GB" sz="1000">
                <a:highlight>
                  <a:srgbClr val="FFFFFF"/>
                </a:highlight>
              </a:rPr>
              <a:t> ledOff</a:t>
            </a:r>
            <a:r>
              <a:rPr lang="en-GB" sz="1000">
                <a:solidFill>
                  <a:srgbClr val="808030"/>
                </a:solidFill>
                <a:highlight>
                  <a:srgbClr val="FFFFFF"/>
                </a:highlight>
              </a:rPr>
              <a:t>()</a:t>
            </a:r>
            <a:r>
              <a:rPr lang="en-GB" sz="1000">
                <a:highlight>
                  <a:srgbClr val="FFFFFF"/>
                </a:highlight>
              </a:rPr>
              <a:t> </a:t>
            </a:r>
            <a:r>
              <a:rPr lang="en-GB" sz="1000">
                <a:solidFill>
                  <a:srgbClr val="800080"/>
                </a:solidFill>
                <a:highlight>
                  <a:srgbClr val="FFFFFF"/>
                </a:highlight>
              </a:rPr>
              <a:t>{</a:t>
            </a:r>
            <a:r>
              <a:rPr lang="en-GB" sz="1000">
                <a:highlight>
                  <a:srgbClr val="FFFFFF"/>
                </a:highlight>
              </a:rPr>
              <a:t> digitalWrite</a:t>
            </a:r>
            <a:r>
              <a:rPr lang="en-GB" sz="1000">
                <a:solidFill>
                  <a:srgbClr val="808030"/>
                </a:solidFill>
                <a:highlight>
                  <a:srgbClr val="FFFFFF"/>
                </a:highlight>
              </a:rPr>
              <a:t>(</a:t>
            </a:r>
            <a:r>
              <a:rPr lang="en-GB" sz="1000">
                <a:highlight>
                  <a:srgbClr val="FFFFFF"/>
                </a:highlight>
              </a:rPr>
              <a:t>BUILTIN_LED</a:t>
            </a:r>
            <a:r>
              <a:rPr lang="en-GB" sz="1000">
                <a:solidFill>
                  <a:srgbClr val="808030"/>
                </a:solidFill>
                <a:highlight>
                  <a:srgbClr val="FFFFFF"/>
                </a:highlight>
              </a:rPr>
              <a:t>,</a:t>
            </a:r>
            <a:r>
              <a:rPr lang="en-GB" sz="1000">
                <a:highlight>
                  <a:srgbClr val="FFFFFF"/>
                </a:highlight>
              </a:rPr>
              <a:t> LOW</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800080"/>
                </a:solidFill>
                <a:highlight>
                  <a:srgbClr val="FFFFFF"/>
                </a:highlight>
              </a:rPr>
              <a:t>}</a:t>
            </a:r>
            <a:br>
              <a:rPr lang="en-GB" sz="1000">
                <a:highlight>
                  <a:srgbClr val="FFFFFF"/>
                </a:highlight>
              </a:rPr>
            </a:br>
            <a:r>
              <a:rPr b="1" lang="en-GB" sz="1000">
                <a:solidFill>
                  <a:srgbClr val="800000"/>
                </a:solidFill>
                <a:highlight>
                  <a:srgbClr val="FFFFFF"/>
                </a:highlight>
              </a:rPr>
              <a:t>void</a:t>
            </a:r>
            <a:r>
              <a:rPr lang="en-GB" sz="1000">
                <a:highlight>
                  <a:srgbClr val="FFFFFF"/>
                </a:highlight>
              </a:rPr>
              <a:t> blink</a:t>
            </a:r>
            <a:r>
              <a:rPr lang="en-GB" sz="1000">
                <a:solidFill>
                  <a:srgbClr val="808030"/>
                </a:solidFill>
                <a:highlight>
                  <a:srgbClr val="FFFFFF"/>
                </a:highlight>
              </a:rPr>
              <a:t>(</a:t>
            </a:r>
            <a:r>
              <a:rPr b="1" lang="en-GB" sz="1000">
                <a:solidFill>
                  <a:srgbClr val="800000"/>
                </a:solidFill>
                <a:highlight>
                  <a:srgbClr val="FFFFFF"/>
                </a:highlight>
              </a:rPr>
              <a:t>int</a:t>
            </a:r>
            <a:r>
              <a:rPr lang="en-GB" sz="1000">
                <a:highlight>
                  <a:srgbClr val="FFFFFF"/>
                </a:highlight>
              </a:rPr>
              <a:t> times</a:t>
            </a:r>
            <a:r>
              <a:rPr lang="en-GB" sz="1000">
                <a:solidFill>
                  <a:srgbClr val="808030"/>
                </a:solidFill>
                <a:highlight>
                  <a:srgbClr val="FFFFFF"/>
                </a:highlight>
              </a:rPr>
              <a:t>,</a:t>
            </a:r>
            <a:r>
              <a:rPr lang="en-GB" sz="1000">
                <a:highlight>
                  <a:srgbClr val="FFFFFF"/>
                </a:highlight>
              </a:rPr>
              <a:t> </a:t>
            </a:r>
            <a:r>
              <a:rPr b="1" lang="en-GB" sz="1000">
                <a:solidFill>
                  <a:srgbClr val="800000"/>
                </a:solidFill>
                <a:highlight>
                  <a:srgbClr val="FFFFFF"/>
                </a:highlight>
              </a:rPr>
              <a:t>int</a:t>
            </a:r>
            <a:r>
              <a:rPr lang="en-GB" sz="1000">
                <a:highlight>
                  <a:srgbClr val="FFFFFF"/>
                </a:highlight>
              </a:rPr>
              <a:t> pause</a:t>
            </a:r>
            <a:r>
              <a:rPr lang="en-GB" sz="1000">
                <a:solidFill>
                  <a:srgbClr val="808030"/>
                </a:solidFill>
                <a:highlight>
                  <a:srgbClr val="FFFFFF"/>
                </a:highlight>
              </a:rPr>
              <a:t>)</a:t>
            </a:r>
            <a:r>
              <a:rPr lang="en-GB" sz="1000">
                <a:highlight>
                  <a:srgbClr val="FFFFFF"/>
                </a:highlight>
              </a:rPr>
              <a:t> </a:t>
            </a:r>
            <a:r>
              <a:rPr lang="en-GB" sz="1000">
                <a:solidFill>
                  <a:srgbClr val="800080"/>
                </a:solidFill>
                <a:highlight>
                  <a:srgbClr val="FFFFFF"/>
                </a:highlight>
              </a:rPr>
              <a:t>{</a:t>
            </a:r>
            <a:br>
              <a:rPr lang="en-GB" sz="1000">
                <a:highlight>
                  <a:srgbClr val="FFFFFF"/>
                </a:highlight>
              </a:rPr>
            </a:br>
            <a:r>
              <a:rPr lang="en-GB" sz="1000">
                <a:highlight>
                  <a:srgbClr val="FFFFFF"/>
                </a:highlight>
              </a:rPr>
              <a:t>  ledOff</a:t>
            </a:r>
            <a:r>
              <a:rPr lang="en-GB" sz="1000">
                <a:solidFill>
                  <a:srgbClr val="808030"/>
                </a:solidFill>
                <a:highlight>
                  <a:srgbClr val="FFFFFF"/>
                </a:highlight>
              </a:rPr>
              <a:t>()</a:t>
            </a:r>
            <a:r>
              <a:rPr lang="en-GB" sz="1000">
                <a:solidFill>
                  <a:srgbClr val="800080"/>
                </a:solidFill>
                <a:highlight>
                  <a:srgbClr val="FFFFFF"/>
                </a:highlight>
              </a:rPr>
              <a:t>;</a:t>
            </a:r>
            <a:br>
              <a:rPr lang="en-GB" sz="1000">
                <a:highlight>
                  <a:srgbClr val="FFFFFF"/>
                </a:highlight>
              </a:rPr>
            </a:br>
            <a:r>
              <a:rPr lang="en-GB" sz="1000">
                <a:highlight>
                  <a:srgbClr val="FFFFFF"/>
                </a:highlight>
              </a:rPr>
              <a:t>  </a:t>
            </a:r>
            <a:r>
              <a:rPr b="1" lang="en-GB" sz="1000">
                <a:solidFill>
                  <a:srgbClr val="800000"/>
                </a:solidFill>
                <a:highlight>
                  <a:srgbClr val="FFFFFF"/>
                </a:highlight>
              </a:rPr>
              <a:t>for</a:t>
            </a:r>
            <a:r>
              <a:rPr lang="en-GB" sz="1000">
                <a:solidFill>
                  <a:srgbClr val="808030"/>
                </a:solidFill>
                <a:highlight>
                  <a:srgbClr val="FFFFFF"/>
                </a:highlight>
              </a:rPr>
              <a:t>(</a:t>
            </a:r>
            <a:r>
              <a:rPr b="1" lang="en-GB" sz="1000">
                <a:solidFill>
                  <a:srgbClr val="800000"/>
                </a:solidFill>
                <a:highlight>
                  <a:srgbClr val="FFFFFF"/>
                </a:highlight>
              </a:rPr>
              <a:t>int</a:t>
            </a:r>
            <a:r>
              <a:rPr lang="en-GB" sz="1000">
                <a:highlight>
                  <a:srgbClr val="FFFFFF"/>
                </a:highlight>
              </a:rPr>
              <a:t> i</a:t>
            </a:r>
            <a:r>
              <a:rPr lang="en-GB" sz="1000">
                <a:solidFill>
                  <a:srgbClr val="808030"/>
                </a:solidFill>
                <a:highlight>
                  <a:srgbClr val="FFFFFF"/>
                </a:highlight>
              </a:rPr>
              <a:t>=</a:t>
            </a:r>
            <a:r>
              <a:rPr lang="en-GB" sz="1000">
                <a:solidFill>
                  <a:srgbClr val="008C00"/>
                </a:solidFill>
                <a:highlight>
                  <a:srgbClr val="FFFFFF"/>
                </a:highlight>
              </a:rPr>
              <a:t>0</a:t>
            </a:r>
            <a:r>
              <a:rPr lang="en-GB" sz="1000">
                <a:solidFill>
                  <a:srgbClr val="800080"/>
                </a:solidFill>
                <a:highlight>
                  <a:srgbClr val="FFFFFF"/>
                </a:highlight>
              </a:rPr>
              <a:t>;</a:t>
            </a:r>
            <a:r>
              <a:rPr lang="en-GB" sz="1000">
                <a:highlight>
                  <a:srgbClr val="FFFFFF"/>
                </a:highlight>
              </a:rPr>
              <a:t> i</a:t>
            </a:r>
            <a:r>
              <a:rPr lang="en-GB" sz="1000">
                <a:solidFill>
                  <a:srgbClr val="808030"/>
                </a:solidFill>
                <a:highlight>
                  <a:srgbClr val="FFFFFF"/>
                </a:highlight>
              </a:rPr>
              <a:t>&lt;</a:t>
            </a:r>
            <a:r>
              <a:rPr lang="en-GB" sz="1000">
                <a:highlight>
                  <a:srgbClr val="FFFFFF"/>
                </a:highlight>
              </a:rPr>
              <a:t>times</a:t>
            </a:r>
            <a:r>
              <a:rPr lang="en-GB" sz="1000">
                <a:solidFill>
                  <a:srgbClr val="800080"/>
                </a:solidFill>
                <a:highlight>
                  <a:srgbClr val="FFFFFF"/>
                </a:highlight>
              </a:rPr>
              <a:t>;</a:t>
            </a:r>
            <a:r>
              <a:rPr lang="en-GB" sz="1000">
                <a:highlight>
                  <a:srgbClr val="FFFFFF"/>
                </a:highlight>
              </a:rPr>
              <a:t> i</a:t>
            </a:r>
            <a:r>
              <a:rPr lang="en-GB" sz="1000">
                <a:solidFill>
                  <a:srgbClr val="808030"/>
                </a:solidFill>
                <a:highlight>
                  <a:srgbClr val="FFFFFF"/>
                </a:highlight>
              </a:rPr>
              <a:t>++)</a:t>
            </a:r>
            <a:r>
              <a:rPr lang="en-GB" sz="1000">
                <a:highlight>
                  <a:srgbClr val="FFFFFF"/>
                </a:highlight>
              </a:rPr>
              <a:t> </a:t>
            </a:r>
            <a:r>
              <a:rPr lang="en-GB" sz="1000">
                <a:solidFill>
                  <a:srgbClr val="800080"/>
                </a:solidFill>
                <a:highlight>
                  <a:srgbClr val="FFFFFF"/>
                </a:highlight>
              </a:rPr>
              <a:t>{</a:t>
            </a:r>
            <a:br>
              <a:rPr lang="en-GB" sz="1000">
                <a:highlight>
                  <a:srgbClr val="FFFFFF"/>
                </a:highlight>
              </a:rPr>
            </a:br>
            <a:r>
              <a:rPr lang="en-GB" sz="1000">
                <a:highlight>
                  <a:srgbClr val="FFFFFF"/>
                </a:highlight>
              </a:rPr>
              <a:t>    ledOn</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delay</a:t>
            </a:r>
            <a:r>
              <a:rPr lang="en-GB" sz="1000">
                <a:solidFill>
                  <a:srgbClr val="808030"/>
                </a:solidFill>
                <a:highlight>
                  <a:srgbClr val="FFFFFF"/>
                </a:highlight>
              </a:rPr>
              <a:t>(</a:t>
            </a:r>
            <a:r>
              <a:rPr lang="en-GB" sz="1000">
                <a:highlight>
                  <a:srgbClr val="FFFFFF"/>
                </a:highlight>
              </a:rPr>
              <a:t>pause</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ledOff</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delay</a:t>
            </a:r>
            <a:r>
              <a:rPr lang="en-GB" sz="1000">
                <a:solidFill>
                  <a:srgbClr val="808030"/>
                </a:solidFill>
                <a:highlight>
                  <a:srgbClr val="FFFFFF"/>
                </a:highlight>
              </a:rPr>
              <a:t>(</a:t>
            </a:r>
            <a:r>
              <a:rPr lang="en-GB" sz="1000">
                <a:highlight>
                  <a:srgbClr val="FFFFFF"/>
                </a:highlight>
              </a:rPr>
              <a:t>pause</a:t>
            </a:r>
            <a:r>
              <a:rPr lang="en-GB" sz="1000">
                <a:solidFill>
                  <a:srgbClr val="808030"/>
                </a:solidFill>
                <a:highlight>
                  <a:srgbClr val="FFFFFF"/>
                </a:highlight>
              </a:rPr>
              <a:t>)</a:t>
            </a:r>
            <a:r>
              <a:rPr lang="en-GB" sz="1000">
                <a:solidFill>
                  <a:srgbClr val="800080"/>
                </a:solidFill>
                <a:highlight>
                  <a:srgbClr val="FFFFFF"/>
                </a:highlight>
              </a:rPr>
              <a:t>;</a:t>
            </a:r>
            <a:br>
              <a:rPr lang="en-GB" sz="1000">
                <a:highlight>
                  <a:srgbClr val="FFFFFF"/>
                </a:highlight>
              </a:rPr>
            </a:br>
            <a:r>
              <a:rPr lang="en-GB" sz="1000">
                <a:highlight>
                  <a:srgbClr val="FFFFFF"/>
                </a:highlight>
              </a:rPr>
              <a:t>  </a:t>
            </a:r>
            <a:r>
              <a:rPr lang="en-GB" sz="1000">
                <a:solidFill>
                  <a:srgbClr val="800080"/>
                </a:solidFill>
                <a:highlight>
                  <a:srgbClr val="FFFFFF"/>
                </a:highlight>
              </a:rPr>
              <a:t>}</a:t>
            </a:r>
            <a:br>
              <a:rPr lang="en-GB" sz="1000">
                <a:highlight>
                  <a:srgbClr val="FFFFFF"/>
                </a:highlight>
              </a:rPr>
            </a:br>
            <a:r>
              <a:rPr lang="en-GB" sz="1000">
                <a:solidFill>
                  <a:srgbClr val="800080"/>
                </a:solidFill>
                <a:highlight>
                  <a:srgbClr val="FFFFFF"/>
                </a:highlight>
              </a:rPr>
              <a:t>}</a:t>
            </a:r>
            <a:endParaRPr sz="1000"/>
          </a:p>
        </p:txBody>
      </p:sp>
      <p:sp>
        <p:nvSpPr>
          <p:cNvPr id="259" name="Google Shape;259;p50"/>
          <p:cNvSpPr/>
          <p:nvPr/>
        </p:nvSpPr>
        <p:spPr>
          <a:xfrm>
            <a:off x="34925" y="4529835"/>
            <a:ext cx="593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0"/>
          <p:cNvSpPr txBox="1"/>
          <p:nvPr>
            <p:ph idx="1" type="body"/>
          </p:nvPr>
        </p:nvSpPr>
        <p:spPr>
          <a:xfrm>
            <a:off x="159300" y="493725"/>
            <a:ext cx="4309500" cy="4563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000">
                <a:solidFill>
                  <a:srgbClr val="696969"/>
                </a:solidFill>
                <a:highlight>
                  <a:srgbClr val="FFFFFF"/>
                </a:highlight>
              </a:rPr>
              <a:t>// Ex01.h</a:t>
            </a:r>
            <a:endParaRPr sz="1000">
              <a:solidFill>
                <a:srgbClr val="696969"/>
              </a:solidFill>
              <a:highlight>
                <a:srgbClr val="FFFFFF"/>
              </a:highlight>
            </a:endParaRPr>
          </a:p>
          <a:p>
            <a:pPr indent="0" lvl="0" marL="0" rtl="0" algn="l">
              <a:lnSpc>
                <a:spcPct val="100000"/>
              </a:lnSpc>
              <a:spcBef>
                <a:spcPts val="0"/>
              </a:spcBef>
              <a:spcAft>
                <a:spcPts val="0"/>
              </a:spcAft>
              <a:buNone/>
            </a:pPr>
            <a:br>
              <a:rPr lang="en-GB" sz="1000">
                <a:solidFill>
                  <a:srgbClr val="000000"/>
                </a:solidFill>
                <a:highlight>
                  <a:srgbClr val="FFFFFF"/>
                </a:highlight>
              </a:rPr>
            </a:br>
            <a:r>
              <a:rPr lang="en-GB" sz="1000">
                <a:solidFill>
                  <a:srgbClr val="004A43"/>
                </a:solidFill>
                <a:highlight>
                  <a:srgbClr val="FFFFFF"/>
                </a:highlight>
              </a:rPr>
              <a:t>#ifndef LAB_01_H</a:t>
            </a:r>
            <a:br>
              <a:rPr lang="en-GB" sz="1000">
                <a:solidFill>
                  <a:srgbClr val="000000"/>
                </a:solidFill>
                <a:highlight>
                  <a:srgbClr val="FFFFFF"/>
                </a:highlight>
              </a:rPr>
            </a:br>
            <a:r>
              <a:rPr lang="en-GB" sz="1000">
                <a:solidFill>
                  <a:srgbClr val="004A43"/>
                </a:solidFill>
                <a:highlight>
                  <a:srgbClr val="FFFFFF"/>
                </a:highlight>
              </a:rPr>
              <a:t>#define LAB_01_H</a:t>
            </a:r>
            <a:endParaRPr sz="1000">
              <a:solidFill>
                <a:srgbClr val="004A43"/>
              </a:solidFill>
              <a:highlight>
                <a:srgbClr val="FFFFFF"/>
              </a:highlight>
            </a:endParaRPr>
          </a:p>
          <a:p>
            <a:pPr indent="0" lvl="0" marL="0" rtl="0" algn="l">
              <a:lnSpc>
                <a:spcPct val="100000"/>
              </a:lnSpc>
              <a:spcBef>
                <a:spcPts val="0"/>
              </a:spcBef>
              <a:spcAft>
                <a:spcPts val="0"/>
              </a:spcAft>
              <a:buNone/>
            </a:pPr>
            <a:br>
              <a:rPr lang="en-GB" sz="1000">
                <a:solidFill>
                  <a:srgbClr val="000000"/>
                </a:solidFill>
                <a:highlight>
                  <a:srgbClr val="FFFFFF"/>
                </a:highlight>
              </a:rPr>
            </a:br>
            <a:r>
              <a:rPr lang="en-GB" sz="1000">
                <a:solidFill>
                  <a:srgbClr val="696969"/>
                </a:solidFill>
                <a:highlight>
                  <a:srgbClr val="FFFFFF"/>
                </a:highlight>
              </a:rPr>
              <a:t>// MAC address ///////////////////////////////////////////////////////////////</a:t>
            </a:r>
            <a:br>
              <a:rPr lang="en-GB" sz="1000">
                <a:solidFill>
                  <a:srgbClr val="000000"/>
                </a:solidFill>
                <a:highlight>
                  <a:srgbClr val="FFFFFF"/>
                </a:highlight>
              </a:rPr>
            </a:br>
            <a:r>
              <a:rPr b="1" lang="en-GB" sz="1000">
                <a:solidFill>
                  <a:srgbClr val="800000"/>
                </a:solidFill>
                <a:highlight>
                  <a:srgbClr val="FFFFFF"/>
                </a:highlight>
              </a:rPr>
              <a:t>char</a:t>
            </a:r>
            <a:r>
              <a:rPr lang="en-GB" sz="1000">
                <a:solidFill>
                  <a:srgbClr val="000000"/>
                </a:solidFill>
                <a:highlight>
                  <a:srgbClr val="FFFFFF"/>
                </a:highlight>
              </a:rPr>
              <a:t> MAC_ADDRESS</a:t>
            </a:r>
            <a:r>
              <a:rPr lang="en-GB" sz="1000">
                <a:solidFill>
                  <a:srgbClr val="808030"/>
                </a:solidFill>
                <a:highlight>
                  <a:srgbClr val="FFFFFF"/>
                </a:highlight>
              </a:rPr>
              <a:t>[</a:t>
            </a:r>
            <a:r>
              <a:rPr lang="en-GB" sz="1000">
                <a:solidFill>
                  <a:srgbClr val="008C00"/>
                </a:solidFill>
                <a:highlight>
                  <a:srgbClr val="FFFFFF"/>
                </a:highlight>
              </a:rPr>
              <a:t>13</a:t>
            </a:r>
            <a:r>
              <a:rPr lang="en-GB" sz="1000">
                <a:solidFill>
                  <a:srgbClr val="808030"/>
                </a:solidFill>
                <a:highlight>
                  <a:srgbClr val="FFFFFF"/>
                </a:highlight>
              </a:rPr>
              <a:t>]</a:t>
            </a:r>
            <a:r>
              <a:rPr lang="en-GB" sz="1000">
                <a:solidFill>
                  <a:srgbClr val="800080"/>
                </a:solidFill>
                <a:highlight>
                  <a:srgbClr val="FFFFFF"/>
                </a:highlight>
              </a:rPr>
              <a:t>;</a:t>
            </a:r>
            <a:r>
              <a:rPr lang="en-GB" sz="1000">
                <a:solidFill>
                  <a:srgbClr val="000000"/>
                </a:solidFill>
                <a:highlight>
                  <a:srgbClr val="FFFFFF"/>
                </a:highlight>
              </a:rPr>
              <a:t> </a:t>
            </a:r>
            <a:r>
              <a:rPr lang="en-GB" sz="1000">
                <a:solidFill>
                  <a:srgbClr val="696969"/>
                </a:solidFill>
                <a:highlight>
                  <a:srgbClr val="FFFFFF"/>
                </a:highlight>
              </a:rPr>
              <a:t>// 12 char MAC, + NULL terminator</a:t>
            </a:r>
            <a:br>
              <a:rPr lang="en-GB" sz="1000">
                <a:solidFill>
                  <a:srgbClr val="000000"/>
                </a:solidFill>
                <a:highlight>
                  <a:srgbClr val="FFFFFF"/>
                </a:highlight>
              </a:rPr>
            </a:br>
            <a:r>
              <a:rPr b="1" lang="en-GB" sz="1000">
                <a:solidFill>
                  <a:srgbClr val="800000"/>
                </a:solidFill>
                <a:highlight>
                  <a:srgbClr val="FFFFFF"/>
                </a:highlight>
              </a:rPr>
              <a:t>void</a:t>
            </a:r>
            <a:r>
              <a:rPr lang="en-GB" sz="1000">
                <a:solidFill>
                  <a:srgbClr val="000000"/>
                </a:solidFill>
                <a:highlight>
                  <a:srgbClr val="FFFFFF"/>
                </a:highlight>
              </a:rPr>
              <a:t> getMAC</a:t>
            </a:r>
            <a:r>
              <a:rPr lang="en-GB" sz="1000">
                <a:solidFill>
                  <a:srgbClr val="808030"/>
                </a:solidFill>
                <a:highlight>
                  <a:srgbClr val="FFFFFF"/>
                </a:highlight>
              </a:rPr>
              <a:t>(</a:t>
            </a:r>
            <a:r>
              <a:rPr b="1" lang="en-GB" sz="1000">
                <a:solidFill>
                  <a:srgbClr val="800000"/>
                </a:solidFill>
                <a:highlight>
                  <a:srgbClr val="FFFFFF"/>
                </a:highlight>
              </a:rPr>
              <a:t>char</a:t>
            </a:r>
            <a:r>
              <a:rPr lang="en-GB" sz="1000">
                <a:solidFill>
                  <a:srgbClr val="000000"/>
                </a:solidFill>
                <a:highlight>
                  <a:srgbClr val="FFFFFF"/>
                </a:highlight>
              </a:rPr>
              <a:t> </a:t>
            </a:r>
            <a:r>
              <a:rPr lang="en-GB" sz="1000">
                <a:solidFill>
                  <a:srgbClr val="808030"/>
                </a:solidFill>
                <a:highlight>
                  <a:srgbClr val="FFFFFF"/>
                </a:highlight>
              </a:rPr>
              <a:t>*)</a:t>
            </a:r>
            <a:r>
              <a:rPr lang="en-GB" sz="1000">
                <a:solidFill>
                  <a:srgbClr val="800080"/>
                </a:solidFill>
                <a:highlight>
                  <a:srgbClr val="FFFFFF"/>
                </a:highlight>
              </a:rPr>
              <a:t>;</a:t>
            </a:r>
            <a:endParaRPr sz="1000">
              <a:solidFill>
                <a:srgbClr val="800080"/>
              </a:solidFill>
              <a:highlight>
                <a:srgbClr val="FFFFFF"/>
              </a:highlight>
            </a:endParaRPr>
          </a:p>
          <a:p>
            <a:pPr indent="0" lvl="0" marL="0" rtl="0" algn="l">
              <a:lnSpc>
                <a:spcPct val="100000"/>
              </a:lnSpc>
              <a:spcBef>
                <a:spcPts val="0"/>
              </a:spcBef>
              <a:spcAft>
                <a:spcPts val="0"/>
              </a:spcAft>
              <a:buNone/>
            </a:pPr>
            <a:br>
              <a:rPr lang="en-GB" sz="1000">
                <a:solidFill>
                  <a:srgbClr val="000000"/>
                </a:solidFill>
                <a:highlight>
                  <a:srgbClr val="FFFFFF"/>
                </a:highlight>
              </a:rPr>
            </a:br>
            <a:r>
              <a:rPr lang="en-GB" sz="1000">
                <a:solidFill>
                  <a:srgbClr val="696969"/>
                </a:solidFill>
                <a:highlight>
                  <a:srgbClr val="FFFFFF"/>
                </a:highlight>
              </a:rPr>
              <a:t>// LED utilities /////////////////////////////////////////////////////////////</a:t>
            </a:r>
            <a:br>
              <a:rPr lang="en-GB" sz="1000">
                <a:solidFill>
                  <a:srgbClr val="000000"/>
                </a:solidFill>
                <a:highlight>
                  <a:srgbClr val="FFFFFF"/>
                </a:highlight>
              </a:rPr>
            </a:br>
            <a:r>
              <a:rPr b="1" lang="en-GB" sz="1000">
                <a:solidFill>
                  <a:srgbClr val="800000"/>
                </a:solidFill>
                <a:highlight>
                  <a:srgbClr val="FFFFFF"/>
                </a:highlight>
              </a:rPr>
              <a:t>void</a:t>
            </a:r>
            <a:r>
              <a:rPr lang="en-GB" sz="1000">
                <a:solidFill>
                  <a:srgbClr val="000000"/>
                </a:solidFill>
                <a:highlight>
                  <a:srgbClr val="FFFFFF"/>
                </a:highlight>
              </a:rPr>
              <a:t> ledOn</a:t>
            </a:r>
            <a:r>
              <a:rPr lang="en-GB" sz="1000">
                <a:solidFill>
                  <a:srgbClr val="808030"/>
                </a:solidFill>
                <a:highlight>
                  <a:srgbClr val="FFFFFF"/>
                </a:highlight>
              </a:rPr>
              <a:t>()</a:t>
            </a:r>
            <a:r>
              <a:rPr lang="en-GB" sz="1000">
                <a:solidFill>
                  <a:srgbClr val="800080"/>
                </a:solidFill>
                <a:highlight>
                  <a:srgbClr val="FFFFFF"/>
                </a:highlight>
              </a:rPr>
              <a:t>;</a:t>
            </a:r>
            <a:br>
              <a:rPr lang="en-GB" sz="1000">
                <a:solidFill>
                  <a:srgbClr val="000000"/>
                </a:solidFill>
                <a:highlight>
                  <a:srgbClr val="FFFFFF"/>
                </a:highlight>
              </a:rPr>
            </a:br>
            <a:r>
              <a:rPr b="1" lang="en-GB" sz="1000">
                <a:solidFill>
                  <a:srgbClr val="800000"/>
                </a:solidFill>
                <a:highlight>
                  <a:srgbClr val="FFFFFF"/>
                </a:highlight>
              </a:rPr>
              <a:t>void</a:t>
            </a:r>
            <a:r>
              <a:rPr lang="en-GB" sz="1000">
                <a:solidFill>
                  <a:srgbClr val="000000"/>
                </a:solidFill>
                <a:highlight>
                  <a:srgbClr val="FFFFFF"/>
                </a:highlight>
              </a:rPr>
              <a:t> ledOff</a:t>
            </a:r>
            <a:r>
              <a:rPr lang="en-GB" sz="1000">
                <a:solidFill>
                  <a:srgbClr val="808030"/>
                </a:solidFill>
                <a:highlight>
                  <a:srgbClr val="FFFFFF"/>
                </a:highlight>
              </a:rPr>
              <a:t>()</a:t>
            </a:r>
            <a:r>
              <a:rPr lang="en-GB" sz="1000">
                <a:solidFill>
                  <a:srgbClr val="800080"/>
                </a:solidFill>
                <a:highlight>
                  <a:srgbClr val="FFFFFF"/>
                </a:highlight>
              </a:rPr>
              <a:t>;</a:t>
            </a:r>
            <a:br>
              <a:rPr lang="en-GB" sz="1000">
                <a:solidFill>
                  <a:srgbClr val="000000"/>
                </a:solidFill>
                <a:highlight>
                  <a:srgbClr val="FFFFFF"/>
                </a:highlight>
              </a:rPr>
            </a:br>
            <a:r>
              <a:rPr b="1" lang="en-GB" sz="1000">
                <a:solidFill>
                  <a:srgbClr val="800000"/>
                </a:solidFill>
                <a:highlight>
                  <a:srgbClr val="FFFFFF"/>
                </a:highlight>
              </a:rPr>
              <a:t>void</a:t>
            </a:r>
            <a:r>
              <a:rPr lang="en-GB" sz="1000">
                <a:solidFill>
                  <a:srgbClr val="000000"/>
                </a:solidFill>
                <a:highlight>
                  <a:srgbClr val="FFFFFF"/>
                </a:highlight>
              </a:rPr>
              <a:t> blink</a:t>
            </a:r>
            <a:r>
              <a:rPr lang="en-GB" sz="1000">
                <a:solidFill>
                  <a:srgbClr val="808030"/>
                </a:solidFill>
                <a:highlight>
                  <a:srgbClr val="FFFFFF"/>
                </a:highlight>
              </a:rPr>
              <a:t>(</a:t>
            </a:r>
            <a:r>
              <a:rPr b="1" lang="en-GB" sz="1000">
                <a:solidFill>
                  <a:srgbClr val="800000"/>
                </a:solidFill>
                <a:highlight>
                  <a:srgbClr val="FFFFFF"/>
                </a:highlight>
              </a:rPr>
              <a:t>int</a:t>
            </a:r>
            <a:r>
              <a:rPr lang="en-GB" sz="1000">
                <a:solidFill>
                  <a:srgbClr val="000000"/>
                </a:solidFill>
                <a:highlight>
                  <a:srgbClr val="FFFFFF"/>
                </a:highlight>
              </a:rPr>
              <a:t> </a:t>
            </a:r>
            <a:r>
              <a:rPr lang="en-GB" sz="1000">
                <a:solidFill>
                  <a:srgbClr val="808030"/>
                </a:solidFill>
                <a:highlight>
                  <a:srgbClr val="FFFFFF"/>
                </a:highlight>
              </a:rPr>
              <a:t>=</a:t>
            </a:r>
            <a:r>
              <a:rPr lang="en-GB" sz="1000">
                <a:solidFill>
                  <a:srgbClr val="000000"/>
                </a:solidFill>
                <a:highlight>
                  <a:srgbClr val="FFFFFF"/>
                </a:highlight>
              </a:rPr>
              <a:t> </a:t>
            </a:r>
            <a:r>
              <a:rPr lang="en-GB" sz="1000">
                <a:solidFill>
                  <a:srgbClr val="008C00"/>
                </a:solidFill>
                <a:highlight>
                  <a:srgbClr val="FFFFFF"/>
                </a:highlight>
              </a:rPr>
              <a:t>1</a:t>
            </a:r>
            <a:r>
              <a:rPr lang="en-GB" sz="1000">
                <a:solidFill>
                  <a:srgbClr val="808030"/>
                </a:solidFill>
                <a:highlight>
                  <a:srgbClr val="FFFFFF"/>
                </a:highlight>
              </a:rPr>
              <a:t>,</a:t>
            </a:r>
            <a:r>
              <a:rPr lang="en-GB" sz="1000">
                <a:solidFill>
                  <a:srgbClr val="000000"/>
                </a:solidFill>
                <a:highlight>
                  <a:srgbClr val="FFFFFF"/>
                </a:highlight>
              </a:rPr>
              <a:t> </a:t>
            </a:r>
            <a:r>
              <a:rPr b="1" lang="en-GB" sz="1000">
                <a:solidFill>
                  <a:srgbClr val="800000"/>
                </a:solidFill>
                <a:highlight>
                  <a:srgbClr val="FFFFFF"/>
                </a:highlight>
              </a:rPr>
              <a:t>int</a:t>
            </a:r>
            <a:r>
              <a:rPr lang="en-GB" sz="1000">
                <a:solidFill>
                  <a:srgbClr val="000000"/>
                </a:solidFill>
                <a:highlight>
                  <a:srgbClr val="FFFFFF"/>
                </a:highlight>
              </a:rPr>
              <a:t> </a:t>
            </a:r>
            <a:r>
              <a:rPr lang="en-GB" sz="1000">
                <a:solidFill>
                  <a:srgbClr val="808030"/>
                </a:solidFill>
                <a:highlight>
                  <a:srgbClr val="FFFFFF"/>
                </a:highlight>
              </a:rPr>
              <a:t>=</a:t>
            </a:r>
            <a:r>
              <a:rPr lang="en-GB" sz="1000">
                <a:solidFill>
                  <a:srgbClr val="000000"/>
                </a:solidFill>
                <a:highlight>
                  <a:srgbClr val="FFFFFF"/>
                </a:highlight>
              </a:rPr>
              <a:t> </a:t>
            </a:r>
            <a:r>
              <a:rPr lang="en-GB" sz="1000">
                <a:solidFill>
                  <a:srgbClr val="008C00"/>
                </a:solidFill>
                <a:highlight>
                  <a:srgbClr val="FFFFFF"/>
                </a:highlight>
              </a:rPr>
              <a:t>300</a:t>
            </a:r>
            <a:r>
              <a:rPr lang="en-GB" sz="1000">
                <a:solidFill>
                  <a:srgbClr val="808030"/>
                </a:solidFill>
                <a:highlight>
                  <a:srgbClr val="FFFFFF"/>
                </a:highlight>
              </a:rPr>
              <a:t>)</a:t>
            </a:r>
            <a:r>
              <a:rPr lang="en-GB" sz="1000">
                <a:solidFill>
                  <a:srgbClr val="800080"/>
                </a:solidFill>
                <a:highlight>
                  <a:srgbClr val="FFFFFF"/>
                </a:highlight>
              </a:rPr>
              <a:t>;</a:t>
            </a:r>
            <a:endParaRPr sz="1000">
              <a:solidFill>
                <a:srgbClr val="800080"/>
              </a:solidFill>
              <a:highlight>
                <a:srgbClr val="FFFFFF"/>
              </a:highlight>
            </a:endParaRPr>
          </a:p>
          <a:p>
            <a:pPr indent="0" lvl="0" marL="0" rtl="0" algn="l">
              <a:lnSpc>
                <a:spcPct val="100000"/>
              </a:lnSpc>
              <a:spcBef>
                <a:spcPts val="0"/>
              </a:spcBef>
              <a:spcAft>
                <a:spcPts val="0"/>
              </a:spcAft>
              <a:buClr>
                <a:srgbClr val="000000"/>
              </a:buClr>
              <a:buSzPts val="1100"/>
              <a:buFont typeface="Arial"/>
              <a:buNone/>
            </a:pPr>
            <a:br>
              <a:rPr lang="en-GB" sz="1000">
                <a:solidFill>
                  <a:srgbClr val="000000"/>
                </a:solidFill>
                <a:highlight>
                  <a:srgbClr val="FFFFFF"/>
                </a:highlight>
              </a:rPr>
            </a:br>
            <a:r>
              <a:rPr lang="en-GB" sz="1000">
                <a:solidFill>
                  <a:srgbClr val="004A43"/>
                </a:solidFill>
                <a:highlight>
                  <a:srgbClr val="FFFFFF"/>
                </a:highlight>
              </a:rPr>
              <a:t>#endif</a:t>
            </a:r>
            <a:br>
              <a:rPr lang="en-GB" sz="1000">
                <a:solidFill>
                  <a:srgbClr val="000000"/>
                </a:solidFill>
                <a:highlight>
                  <a:srgbClr val="FFFFFF"/>
                </a:highlight>
              </a:rPr>
            </a:br>
            <a:endParaRPr sz="1000">
              <a:solidFill>
                <a:srgbClr val="000000"/>
              </a:solidFill>
              <a:highlight>
                <a:srgbClr val="FFFFFF"/>
              </a:highlight>
            </a:endParaRPr>
          </a:p>
          <a:p>
            <a:pPr indent="0" lvl="0" marL="0" rtl="0" algn="l">
              <a:spcBef>
                <a:spcPts val="0"/>
              </a:spcBef>
              <a:spcAft>
                <a:spcPts val="0"/>
              </a:spcAft>
              <a:buNone/>
            </a:pPr>
            <a:r>
              <a:t/>
            </a:r>
            <a:endParaRPr sz="1000">
              <a:highlight>
                <a:srgbClr val="FFFFFF"/>
              </a:highlight>
            </a:endParaRPr>
          </a:p>
          <a:p>
            <a:pPr indent="0" lvl="0" marL="0" rtl="0" algn="l">
              <a:spcBef>
                <a:spcPts val="1000"/>
              </a:spcBef>
              <a:spcAft>
                <a:spcPts val="0"/>
              </a:spcAft>
              <a:buNone/>
            </a:pPr>
            <a:r>
              <a:rPr lang="en-GB" sz="1000">
                <a:solidFill>
                  <a:srgbClr val="696969"/>
                </a:solidFill>
                <a:highlight>
                  <a:srgbClr val="FFFFFF"/>
                </a:highlight>
              </a:rPr>
              <a:t>// Ex01.ino: printing on the serial line; blinking the built-in LED</a:t>
            </a:r>
            <a:br>
              <a:rPr lang="en-GB" sz="1000">
                <a:highlight>
                  <a:srgbClr val="FFFFFF"/>
                </a:highlight>
              </a:rPr>
            </a:br>
            <a:r>
              <a:rPr b="1" lang="en-GB" sz="1000">
                <a:solidFill>
                  <a:srgbClr val="800000"/>
                </a:solidFill>
                <a:highlight>
                  <a:srgbClr val="FFFFFF"/>
                </a:highlight>
              </a:rPr>
              <a:t>void</a:t>
            </a:r>
            <a:r>
              <a:rPr lang="en-GB" sz="1000">
                <a:highlight>
                  <a:srgbClr val="FFFFFF"/>
                </a:highlight>
              </a:rPr>
              <a:t> setup01</a:t>
            </a:r>
            <a:r>
              <a:rPr lang="en-GB" sz="1000">
                <a:solidFill>
                  <a:srgbClr val="808030"/>
                </a:solidFill>
                <a:highlight>
                  <a:srgbClr val="FFFFFF"/>
                </a:highlight>
              </a:rPr>
              <a:t>()</a:t>
            </a:r>
            <a:r>
              <a:rPr lang="en-GB" sz="1000">
                <a:highlight>
                  <a:srgbClr val="FFFFFF"/>
                </a:highlight>
              </a:rPr>
              <a:t> </a:t>
            </a:r>
            <a:r>
              <a:rPr lang="en-GB" sz="1000">
                <a:solidFill>
                  <a:srgbClr val="800080"/>
                </a:solidFill>
                <a:highlight>
                  <a:srgbClr val="FFFFFF"/>
                </a:highlight>
              </a:rPr>
              <a:t>{</a:t>
            </a:r>
            <a:br>
              <a:rPr lang="en-GB" sz="1000">
                <a:highlight>
                  <a:srgbClr val="FFFFFF"/>
                </a:highlight>
              </a:rPr>
            </a:br>
            <a:r>
              <a:rPr lang="en-GB" sz="1000">
                <a:highlight>
                  <a:srgbClr val="FFFFFF"/>
                </a:highlight>
              </a:rPr>
              <a:t>  Serial</a:t>
            </a:r>
            <a:r>
              <a:rPr lang="en-GB" sz="1000">
                <a:solidFill>
                  <a:srgbClr val="808030"/>
                </a:solidFill>
                <a:highlight>
                  <a:srgbClr val="FFFFFF"/>
                </a:highlight>
              </a:rPr>
              <a:t>.</a:t>
            </a:r>
            <a:r>
              <a:rPr lang="en-GB" sz="1000">
                <a:highlight>
                  <a:srgbClr val="FFFFFF"/>
                </a:highlight>
              </a:rPr>
              <a:t>begin</a:t>
            </a:r>
            <a:r>
              <a:rPr lang="en-GB" sz="1000">
                <a:solidFill>
                  <a:srgbClr val="808030"/>
                </a:solidFill>
                <a:highlight>
                  <a:srgbClr val="FFFFFF"/>
                </a:highlight>
              </a:rPr>
              <a:t>(</a:t>
            </a:r>
            <a:r>
              <a:rPr lang="en-GB" sz="1000">
                <a:solidFill>
                  <a:srgbClr val="008C00"/>
                </a:solidFill>
                <a:highlight>
                  <a:srgbClr val="FFFFFF"/>
                </a:highlight>
              </a:rPr>
              <a:t>115200</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initialise the serial line</a:t>
            </a:r>
            <a:br>
              <a:rPr lang="en-GB" sz="1000">
                <a:highlight>
                  <a:srgbClr val="FFFFFF"/>
                </a:highlight>
              </a:rPr>
            </a:br>
            <a:r>
              <a:rPr lang="en-GB" sz="1000">
                <a:highlight>
                  <a:srgbClr val="FFFFFF"/>
                </a:highlight>
              </a:rPr>
              <a:t>  getMAC</a:t>
            </a:r>
            <a:r>
              <a:rPr lang="en-GB" sz="1000">
                <a:solidFill>
                  <a:srgbClr val="808030"/>
                </a:solidFill>
                <a:highlight>
                  <a:srgbClr val="FFFFFF"/>
                </a:highlight>
              </a:rPr>
              <a:t>(</a:t>
            </a:r>
            <a:r>
              <a:rPr lang="en-GB" sz="1000">
                <a:highlight>
                  <a:srgbClr val="FFFFFF"/>
                </a:highlight>
              </a:rPr>
              <a:t>MAC_ADDRESS</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store the MAC address as chip ID</a:t>
            </a:r>
            <a:br>
              <a:rPr lang="en-GB" sz="1000">
                <a:highlight>
                  <a:srgbClr val="FFFFFF"/>
                </a:highlight>
              </a:rPr>
            </a:br>
            <a:r>
              <a:rPr lang="en-GB" sz="1000">
                <a:highlight>
                  <a:srgbClr val="FFFFFF"/>
                </a:highlight>
              </a:rPr>
              <a:t>  pinMode</a:t>
            </a:r>
            <a:r>
              <a:rPr lang="en-GB" sz="1000">
                <a:solidFill>
                  <a:srgbClr val="808030"/>
                </a:solidFill>
                <a:highlight>
                  <a:srgbClr val="FFFFFF"/>
                </a:highlight>
              </a:rPr>
              <a:t>(</a:t>
            </a:r>
            <a:r>
              <a:rPr lang="en-GB" sz="1000">
                <a:highlight>
                  <a:srgbClr val="FFFFFF"/>
                </a:highlight>
              </a:rPr>
              <a:t>BUILTIN_LED</a:t>
            </a:r>
            <a:r>
              <a:rPr lang="en-GB" sz="1000">
                <a:solidFill>
                  <a:srgbClr val="808030"/>
                </a:solidFill>
                <a:highlight>
                  <a:srgbClr val="FFFFFF"/>
                </a:highlight>
              </a:rPr>
              <a:t>,</a:t>
            </a:r>
            <a:r>
              <a:rPr lang="en-GB" sz="1000">
                <a:highlight>
                  <a:srgbClr val="FFFFFF"/>
                </a:highlight>
              </a:rPr>
              <a:t> OUTPUT</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set up pin for built-in LED</a:t>
            </a:r>
            <a:br>
              <a:rPr lang="en-GB" sz="1000">
                <a:highlight>
                  <a:srgbClr val="FFFFFF"/>
                </a:highlight>
              </a:rPr>
            </a:br>
            <a:r>
              <a:rPr lang="en-GB" sz="1000">
                <a:highlight>
                  <a:srgbClr val="FFFFFF"/>
                </a:highlight>
              </a:rPr>
              <a:t>  Serial</a:t>
            </a:r>
            <a:r>
              <a:rPr lang="en-GB" sz="1000">
                <a:solidFill>
                  <a:srgbClr val="808030"/>
                </a:solidFill>
                <a:highlight>
                  <a:srgbClr val="FFFFFF"/>
                </a:highlight>
              </a:rPr>
              <a:t>.</a:t>
            </a:r>
            <a:r>
              <a:rPr lang="en-GB" sz="1000">
                <a:highlight>
                  <a:srgbClr val="FFFFFF"/>
                </a:highlight>
              </a:rPr>
              <a:t>println</a:t>
            </a:r>
            <a:r>
              <a:rPr lang="en-GB" sz="1000">
                <a:solidFill>
                  <a:srgbClr val="808030"/>
                </a:solidFill>
                <a:highlight>
                  <a:srgbClr val="FFFFFF"/>
                </a:highlight>
              </a:rPr>
              <a:t>(</a:t>
            </a:r>
            <a:r>
              <a:rPr lang="en-GB" sz="1000">
                <a:solidFill>
                  <a:srgbClr val="800000"/>
                </a:solidFill>
                <a:highlight>
                  <a:srgbClr val="FFFFFF"/>
                </a:highlight>
              </a:rPr>
              <a:t>"</a:t>
            </a:r>
            <a:r>
              <a:rPr lang="en-GB" sz="1000">
                <a:solidFill>
                  <a:srgbClr val="0F69FF"/>
                </a:solidFill>
                <a:highlight>
                  <a:srgbClr val="FFFFFF"/>
                </a:highlight>
              </a:rPr>
              <a:t>\n</a:t>
            </a:r>
            <a:r>
              <a:rPr lang="en-GB" sz="1000">
                <a:solidFill>
                  <a:srgbClr val="0000E6"/>
                </a:solidFill>
                <a:highlight>
                  <a:srgbClr val="FFFFFF"/>
                </a:highlight>
              </a:rPr>
              <a:t>setup01...</a:t>
            </a:r>
            <a:r>
              <a:rPr lang="en-GB" sz="1000">
                <a:solidFill>
                  <a:srgbClr val="800000"/>
                </a:solidFill>
                <a:highlight>
                  <a:srgbClr val="FFFFFF"/>
                </a:highlight>
              </a:rPr>
              <a:t>"</a:t>
            </a:r>
            <a:r>
              <a:rPr lang="en-GB" sz="1000">
                <a:solidFill>
                  <a:srgbClr val="808030"/>
                </a:solidFill>
                <a:highlight>
                  <a:srgbClr val="FFFFFF"/>
                </a:highlight>
              </a:rPr>
              <a:t>)</a:t>
            </a:r>
            <a:r>
              <a:rPr lang="en-GB" sz="1000">
                <a:solidFill>
                  <a:srgbClr val="800080"/>
                </a:solidFill>
                <a:highlight>
                  <a:srgbClr val="FFFFFF"/>
                </a:highlight>
              </a:rPr>
              <a:t>;</a:t>
            </a:r>
            <a:r>
              <a:rPr lang="en-GB" sz="1000">
                <a:highlight>
                  <a:srgbClr val="FFFFFF"/>
                </a:highlight>
              </a:rPr>
              <a:t> </a:t>
            </a:r>
            <a:r>
              <a:rPr lang="en-GB" sz="1000">
                <a:solidFill>
                  <a:srgbClr val="696969"/>
                </a:solidFill>
                <a:highlight>
                  <a:srgbClr val="FFFFFF"/>
                </a:highlight>
              </a:rPr>
              <a:t>// say hi</a:t>
            </a:r>
            <a:br>
              <a:rPr lang="en-GB" sz="1000">
                <a:highlight>
                  <a:srgbClr val="FFFFFF"/>
                </a:highlight>
              </a:rPr>
            </a:br>
            <a:r>
              <a:rPr lang="en-GB" sz="1000">
                <a:solidFill>
                  <a:srgbClr val="800080"/>
                </a:solidFill>
                <a:highlight>
                  <a:srgbClr val="FFFFFF"/>
                </a:highlight>
              </a:rPr>
              <a:t>}</a:t>
            </a:r>
            <a:endParaRPr sz="1000">
              <a:highlight>
                <a:srgbClr val="FFFFFF"/>
              </a:highlight>
            </a:endParaRPr>
          </a:p>
          <a:p>
            <a:pPr indent="0" lvl="0" marL="0" rtl="0" algn="l">
              <a:spcBef>
                <a:spcPts val="1000"/>
              </a:spcBef>
              <a:spcAft>
                <a:spcPts val="0"/>
              </a:spcAft>
              <a:buNone/>
            </a:pPr>
            <a:r>
              <a:t/>
            </a:r>
            <a:endParaRPr sz="900"/>
          </a:p>
          <a:p>
            <a:pPr indent="0" lvl="0" marL="457200" rtl="0" algn="l">
              <a:spcBef>
                <a:spcPts val="1000"/>
              </a:spcBef>
              <a:spcAft>
                <a:spcPts val="1000"/>
              </a:spcAft>
              <a:buClr>
                <a:schemeClr val="dk1"/>
              </a:buClr>
              <a:buSzPts val="1100"/>
              <a:buFont typeface="Arial"/>
              <a:buNone/>
            </a:pPr>
            <a:r>
              <a:t/>
            </a:r>
            <a:endParaRPr sz="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1"/>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ESP32 Firmware, the Story so Far (2)</a:t>
            </a:r>
            <a:endParaRPr sz="2400"/>
          </a:p>
        </p:txBody>
      </p:sp>
      <p:sp>
        <p:nvSpPr>
          <p:cNvPr id="266" name="Google Shape;266;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7" name="Google Shape;267;p51"/>
          <p:cNvSpPr txBox="1"/>
          <p:nvPr>
            <p:ph idx="1" type="body"/>
          </p:nvPr>
        </p:nvSpPr>
        <p:spPr>
          <a:xfrm>
            <a:off x="5625925" y="553450"/>
            <a:ext cx="50823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br>
              <a:rPr lang="en-GB" sz="1100">
                <a:highlight>
                  <a:srgbClr val="FFFFFF"/>
                </a:highlight>
              </a:rPr>
            </a:br>
            <a:r>
              <a:rPr b="1" lang="en-GB" sz="1100">
                <a:solidFill>
                  <a:srgbClr val="800000"/>
                </a:solidFill>
                <a:highlight>
                  <a:srgbClr val="FFFFFF"/>
                </a:highlight>
              </a:rPr>
              <a:t>void</a:t>
            </a:r>
            <a:r>
              <a:rPr lang="en-GB" sz="1100">
                <a:highlight>
                  <a:srgbClr val="FFFFFF"/>
                </a:highlight>
              </a:rPr>
              <a:t> loop02</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digitalRead</a:t>
            </a:r>
            <a:r>
              <a:rPr lang="en-GB" sz="1100">
                <a:solidFill>
                  <a:srgbClr val="808030"/>
                </a:solidFill>
                <a:highlight>
                  <a:srgbClr val="FFFFFF"/>
                </a:highlight>
              </a:rPr>
              <a:t>(</a:t>
            </a:r>
            <a:r>
              <a:rPr lang="en-GB" sz="1100">
                <a:solidFill>
                  <a:srgbClr val="008C00"/>
                </a:solidFill>
                <a:highlight>
                  <a:srgbClr val="FFFFFF"/>
                </a:highlight>
              </a:rPr>
              <a:t>14</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LOW</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switch pressed</a:t>
            </a:r>
            <a:br>
              <a:rPr lang="en-GB" sz="1100">
                <a:highlight>
                  <a:srgbClr val="FFFFFF"/>
                </a:highlight>
              </a:rPr>
            </a:br>
            <a:r>
              <a:rPr lang="en-GB" sz="1100">
                <a:highlight>
                  <a:srgbClr val="FFFFFF"/>
                </a:highlight>
              </a:rPr>
              <a:t>    Serial</a:t>
            </a:r>
            <a:r>
              <a:rPr lang="en-GB" sz="1100">
                <a:solidFill>
                  <a:srgbClr val="808030"/>
                </a:solidFill>
                <a:highlight>
                  <a:srgbClr val="FFFFFF"/>
                </a:highlight>
              </a:rPr>
              <a:t>.</a:t>
            </a:r>
            <a:r>
              <a:rPr lang="en-GB" sz="1100">
                <a:highlight>
                  <a:srgbClr val="FFFFFF"/>
                </a:highlight>
              </a:rPr>
              <a:t>printf</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000E6"/>
                </a:solidFill>
                <a:highlight>
                  <a:srgbClr val="FFFFFF"/>
                </a:highlight>
              </a:rPr>
              <a:t>switch is pressed...</a:t>
            </a:r>
            <a:r>
              <a:rPr lang="en-GB" sz="1100">
                <a:solidFill>
                  <a:srgbClr val="0F69FF"/>
                </a:solidFill>
                <a:highlight>
                  <a:srgbClr val="FFFFFF"/>
                </a:highlight>
              </a:rPr>
              <a:t>\n</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useInternalLED </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useInternalLED</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br>
              <a:rPr lang="en-GB" sz="1100">
                <a:highlight>
                  <a:srgbClr val="FFFFFF"/>
                </a:highlight>
              </a:rPr>
            </a:b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useInternalLED</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Serial</a:t>
            </a:r>
            <a:r>
              <a:rPr lang="en-GB" sz="1100">
                <a:solidFill>
                  <a:srgbClr val="808030"/>
                </a:solidFill>
                <a:highlight>
                  <a:srgbClr val="FFFFFF"/>
                </a:highlight>
              </a:rPr>
              <a:t>.</a:t>
            </a:r>
            <a:r>
              <a:rPr lang="en-GB" sz="1100">
                <a:highlight>
                  <a:srgbClr val="FFFFFF"/>
                </a:highlight>
              </a:rPr>
              <a:t>printf</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000E6"/>
                </a:solidFill>
                <a:highlight>
                  <a:srgbClr val="FFFFFF"/>
                </a:highlight>
              </a:rPr>
              <a:t>blinking internal LED...</a:t>
            </a:r>
            <a:r>
              <a:rPr lang="en-GB" sz="1100">
                <a:solidFill>
                  <a:srgbClr val="0F69FF"/>
                </a:solidFill>
                <a:highlight>
                  <a:srgbClr val="FFFFFF"/>
                </a:highlight>
              </a:rPr>
              <a:t>\n</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blink</a:t>
            </a:r>
            <a:r>
              <a:rPr lang="en-GB" sz="1100">
                <a:solidFill>
                  <a:srgbClr val="808030"/>
                </a:solidFill>
                <a:highlight>
                  <a:srgbClr val="FFFFFF"/>
                </a:highlight>
              </a:rPr>
              <a:t>(</a:t>
            </a:r>
            <a:r>
              <a:rPr lang="en-GB" sz="1100">
                <a:solidFill>
                  <a:srgbClr val="008C00"/>
                </a:solidFill>
                <a:highlight>
                  <a:srgbClr val="FFFFFF"/>
                </a:highlight>
              </a:rPr>
              <a:t>1</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500</a:t>
            </a:r>
            <a:r>
              <a:rPr lang="en-GB" sz="1100">
                <a:solidFill>
                  <a:srgbClr val="808030"/>
                </a:solidFill>
                <a:highlight>
                  <a:srgbClr val="FFFFFF"/>
                </a:highlight>
              </a:rPr>
              <a:t>)</a:t>
            </a:r>
            <a:r>
              <a:rPr lang="en-GB" sz="1100">
                <a:solidFill>
                  <a:srgbClr val="800080"/>
                </a:solidFill>
                <a:highlight>
                  <a:srgbClr val="FFFFFF"/>
                </a:highlight>
              </a:rPr>
              <a:t>; </a:t>
            </a:r>
            <a:r>
              <a:rPr lang="en-GB" sz="1100" u="sng">
                <a:solidFill>
                  <a:srgbClr val="800080"/>
                </a:solidFill>
                <a:highlight>
                  <a:srgbClr val="FFFFFF"/>
                </a:highlight>
              </a:rPr>
              <a:t>// </a:t>
            </a:r>
            <a:r>
              <a:rPr b="1" lang="en-GB" sz="1100" u="sng">
                <a:solidFill>
                  <a:srgbClr val="800080"/>
                </a:solidFill>
                <a:highlight>
                  <a:srgbClr val="FFFFFF"/>
                </a:highlight>
              </a:rPr>
              <a:t>where did this come from?</a:t>
            </a:r>
            <a:r>
              <a:rPr lang="en-GB" sz="1100" u="sng">
                <a:solidFill>
                  <a:srgbClr val="800080"/>
                </a:solidFill>
                <a:highlight>
                  <a:srgbClr val="FFFFFF"/>
                </a:highlight>
              </a:rPr>
              <a:t> Ex01.h</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b="1" lang="en-GB" sz="1100">
                <a:solidFill>
                  <a:srgbClr val="800000"/>
                </a:solidFill>
                <a:highlight>
                  <a:srgbClr val="FFFFFF"/>
                </a:highlight>
              </a:rPr>
              <a:t>else</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Serial</a:t>
            </a:r>
            <a:r>
              <a:rPr lang="en-GB" sz="1100">
                <a:solidFill>
                  <a:srgbClr val="808030"/>
                </a:solidFill>
                <a:highlight>
                  <a:srgbClr val="FFFFFF"/>
                </a:highlight>
              </a:rPr>
              <a:t>.</a:t>
            </a:r>
            <a:r>
              <a:rPr lang="en-GB" sz="1100">
                <a:highlight>
                  <a:srgbClr val="FFFFFF"/>
                </a:highlight>
              </a:rPr>
              <a:t>printf</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000E6"/>
                </a:solidFill>
                <a:highlight>
                  <a:srgbClr val="FFFFFF"/>
                </a:highlight>
              </a:rPr>
              <a:t>setting 32 HIGH...</a:t>
            </a:r>
            <a:r>
              <a:rPr lang="en-GB" sz="1100">
                <a:solidFill>
                  <a:srgbClr val="0F69FF"/>
                </a:solidFill>
                <a:highlight>
                  <a:srgbClr val="FFFFFF"/>
                </a:highlight>
              </a:rPr>
              <a:t>\n</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solidFill>
                  <a:srgbClr val="008C00"/>
                </a:solidFill>
                <a:highlight>
                  <a:srgbClr val="FFFFFF"/>
                </a:highlight>
              </a:rPr>
              <a:t>32</a:t>
            </a:r>
            <a:r>
              <a:rPr lang="en-GB" sz="1100">
                <a:solidFill>
                  <a:srgbClr val="808030"/>
                </a:solidFill>
                <a:highlight>
                  <a:srgbClr val="FFFFFF"/>
                </a:highlight>
              </a:rPr>
              <a:t>,</a:t>
            </a:r>
            <a:r>
              <a:rPr lang="en-GB" sz="1100">
                <a:highlight>
                  <a:srgbClr val="FFFFFF"/>
                </a:highlight>
              </a:rPr>
              <a:t> HIGH</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on...</a:t>
            </a:r>
            <a:br>
              <a:rPr lang="en-GB" sz="1100">
                <a:highlight>
                  <a:srgbClr val="FFFFFF"/>
                </a:highlight>
              </a:rPr>
            </a:br>
            <a:r>
              <a:rPr lang="en-GB" sz="1100">
                <a:highlight>
                  <a:srgbClr val="FFFFFF"/>
                </a:highlight>
              </a:rPr>
              <a:t>    delay</a:t>
            </a:r>
            <a:r>
              <a:rPr lang="en-GB" sz="1100">
                <a:solidFill>
                  <a:srgbClr val="808030"/>
                </a:solidFill>
                <a:highlight>
                  <a:srgbClr val="FFFFFF"/>
                </a:highlight>
              </a:rPr>
              <a:t>(</a:t>
            </a:r>
            <a:r>
              <a:rPr lang="en-GB" sz="1100">
                <a:solidFill>
                  <a:srgbClr val="008C00"/>
                </a:solidFill>
                <a:highlight>
                  <a:srgbClr val="FFFFFF"/>
                </a:highlight>
              </a:rPr>
              <a:t>500</a:t>
            </a:r>
            <a:r>
              <a:rPr lang="en-GB" sz="1100">
                <a:solidFill>
                  <a:srgbClr val="808030"/>
                </a:solidFill>
                <a:highlight>
                  <a:srgbClr val="FFFFFF"/>
                </a:highlight>
              </a:rPr>
              <a:t>)</a:t>
            </a:r>
            <a:r>
              <a:rPr lang="en-GB" sz="1100">
                <a:solidFill>
                  <a:srgbClr val="800080"/>
                </a:solidFill>
                <a:highlight>
                  <a:srgbClr val="FFFFFF"/>
                </a:highlight>
              </a:rPr>
              <a:t>;</a:t>
            </a:r>
            <a:br>
              <a:rPr lang="en-GB" sz="1100">
                <a:solidFill>
                  <a:srgbClr val="800080"/>
                </a:solidFill>
                <a:highlight>
                  <a:srgbClr val="FFFFFF"/>
                </a:highlight>
              </a:rPr>
            </a:br>
            <a:br>
              <a:rPr lang="en-GB" sz="1100">
                <a:highlight>
                  <a:srgbClr val="FFFFFF"/>
                </a:highlight>
              </a:rPr>
            </a:br>
            <a:r>
              <a:rPr lang="en-GB" sz="1100">
                <a:highlight>
                  <a:srgbClr val="FFFFFF"/>
                </a:highlight>
              </a:rPr>
              <a:t>    Serial</a:t>
            </a:r>
            <a:r>
              <a:rPr lang="en-GB" sz="1100">
                <a:solidFill>
                  <a:srgbClr val="808030"/>
                </a:solidFill>
                <a:highlight>
                  <a:srgbClr val="FFFFFF"/>
                </a:highlight>
              </a:rPr>
              <a:t>.</a:t>
            </a:r>
            <a:r>
              <a:rPr lang="en-GB" sz="1100">
                <a:highlight>
                  <a:srgbClr val="FFFFFF"/>
                </a:highlight>
              </a:rPr>
              <a:t>printf</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000E6"/>
                </a:solidFill>
                <a:highlight>
                  <a:srgbClr val="FFFFFF"/>
                </a:highlight>
              </a:rPr>
              <a:t>setting 32 LOW...</a:t>
            </a:r>
            <a:r>
              <a:rPr lang="en-GB" sz="1100">
                <a:solidFill>
                  <a:srgbClr val="0F69FF"/>
                </a:solidFill>
                <a:highlight>
                  <a:srgbClr val="FFFFFF"/>
                </a:highlight>
              </a:rPr>
              <a:t>\n</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solidFill>
                  <a:srgbClr val="008C00"/>
                </a:solidFill>
                <a:highlight>
                  <a:srgbClr val="FFFFFF"/>
                </a:highlight>
              </a:rPr>
              <a:t>32</a:t>
            </a:r>
            <a:r>
              <a:rPr lang="en-GB" sz="1100">
                <a:solidFill>
                  <a:srgbClr val="808030"/>
                </a:solidFill>
                <a:highlight>
                  <a:srgbClr val="FFFFFF"/>
                </a:highlight>
              </a:rPr>
              <a:t>,</a:t>
            </a:r>
            <a:r>
              <a:rPr lang="en-GB" sz="1100">
                <a:highlight>
                  <a:srgbClr val="FFFFFF"/>
                </a:highlight>
              </a:rPr>
              <a:t> LOW</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off...</a:t>
            </a:r>
            <a:br>
              <a:rPr lang="en-GB" sz="1100">
                <a:highlight>
                  <a:srgbClr val="FFFFFF"/>
                </a:highlight>
              </a:rPr>
            </a:br>
            <a:r>
              <a:rPr lang="en-GB" sz="1100">
                <a:highlight>
                  <a:srgbClr val="FFFFFF"/>
                </a:highlight>
              </a:rPr>
              <a:t>    delay</a:t>
            </a:r>
            <a:r>
              <a:rPr lang="en-GB" sz="1100">
                <a:solidFill>
                  <a:srgbClr val="808030"/>
                </a:solidFill>
                <a:highlight>
                  <a:srgbClr val="FFFFFF"/>
                </a:highlight>
              </a:rPr>
              <a:t>(</a:t>
            </a:r>
            <a:r>
              <a:rPr lang="en-GB" sz="1100">
                <a:solidFill>
                  <a:srgbClr val="008C00"/>
                </a:solidFill>
                <a:highlight>
                  <a:srgbClr val="FFFFFF"/>
                </a:highlight>
              </a:rPr>
              <a:t>500</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solidFill>
                  <a:srgbClr val="800080"/>
                </a:solidFill>
                <a:highlight>
                  <a:srgbClr val="FFFFFF"/>
                </a:highlight>
              </a:rPr>
              <a:t>}</a:t>
            </a:r>
            <a:endParaRPr sz="1100">
              <a:solidFill>
                <a:srgbClr val="800080"/>
              </a:solidFill>
              <a:highlight>
                <a:srgbClr val="FFFFFF"/>
              </a:highlight>
            </a:endParaRPr>
          </a:p>
          <a:p>
            <a:pPr indent="0" lvl="0" marL="0" rtl="0" algn="l">
              <a:spcBef>
                <a:spcPts val="1000"/>
              </a:spcBef>
              <a:spcAft>
                <a:spcPts val="1000"/>
              </a:spcAft>
              <a:buClr>
                <a:schemeClr val="dk1"/>
              </a:buClr>
              <a:buSzPts val="1100"/>
              <a:buFont typeface="Arial"/>
              <a:buNone/>
            </a:pPr>
            <a:r>
              <a:t/>
            </a:r>
            <a:endParaRPr sz="1000">
              <a:solidFill>
                <a:srgbClr val="696969"/>
              </a:solidFill>
              <a:highlight>
                <a:srgbClr val="FFFFFF"/>
              </a:highlight>
            </a:endParaRPr>
          </a:p>
        </p:txBody>
      </p:sp>
      <p:sp>
        <p:nvSpPr>
          <p:cNvPr id="268" name="Google Shape;268;p51"/>
          <p:cNvSpPr/>
          <p:nvPr/>
        </p:nvSpPr>
        <p:spPr>
          <a:xfrm>
            <a:off x="34925" y="4529835"/>
            <a:ext cx="593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1"/>
          <p:cNvSpPr txBox="1"/>
          <p:nvPr>
            <p:ph idx="1" type="body"/>
          </p:nvPr>
        </p:nvSpPr>
        <p:spPr>
          <a:xfrm>
            <a:off x="159300" y="722325"/>
            <a:ext cx="5508000" cy="4563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100">
                <a:solidFill>
                  <a:srgbClr val="696969"/>
                </a:solidFill>
                <a:highlight>
                  <a:srgbClr val="FFFFFF"/>
                </a:highlight>
              </a:rPr>
              <a:t>// Ex02.h</a:t>
            </a:r>
            <a:br>
              <a:rPr lang="en-GB" sz="1100">
                <a:highlight>
                  <a:srgbClr val="FFFFFF"/>
                </a:highlight>
              </a:rPr>
            </a:br>
            <a:r>
              <a:rPr lang="en-GB" sz="1100">
                <a:solidFill>
                  <a:srgbClr val="004A43"/>
                </a:solidFill>
                <a:highlight>
                  <a:srgbClr val="FFFFFF"/>
                </a:highlight>
              </a:rPr>
              <a:t>#ifndef LAB_02_H </a:t>
            </a:r>
            <a:br>
              <a:rPr lang="en-GB" sz="1100">
                <a:highlight>
                  <a:srgbClr val="FFFFFF"/>
                </a:highlight>
              </a:rPr>
            </a:br>
            <a:r>
              <a:rPr lang="en-GB" sz="1100">
                <a:solidFill>
                  <a:srgbClr val="004A43"/>
                </a:solidFill>
                <a:highlight>
                  <a:srgbClr val="FFFFFF"/>
                </a:highlight>
              </a:rPr>
              <a:t>#define LAB_02_H</a:t>
            </a:r>
            <a:br>
              <a:rPr lang="en-GB" sz="1100">
                <a:highlight>
                  <a:srgbClr val="FFFFFF"/>
                </a:highlight>
              </a:rPr>
            </a:br>
            <a:r>
              <a:rPr b="1" lang="en-GB" sz="1100">
                <a:solidFill>
                  <a:srgbClr val="800000"/>
                </a:solidFill>
                <a:highlight>
                  <a:srgbClr val="FFFFFF"/>
                </a:highlight>
              </a:rPr>
              <a:t>bool</a:t>
            </a:r>
            <a:r>
              <a:rPr lang="en-GB" sz="1100">
                <a:highlight>
                  <a:srgbClr val="FFFFFF"/>
                </a:highlight>
              </a:rPr>
              <a:t> useInternalLED </a:t>
            </a:r>
            <a:r>
              <a:rPr lang="en-GB" sz="1100">
                <a:solidFill>
                  <a:srgbClr val="808030"/>
                </a:solidFill>
                <a:highlight>
                  <a:srgbClr val="FFFFFF"/>
                </a:highlight>
              </a:rPr>
              <a:t>=</a:t>
            </a:r>
            <a:r>
              <a:rPr lang="en-GB" sz="1100">
                <a:highlight>
                  <a:srgbClr val="FFFFFF"/>
                </a:highlight>
              </a:rPr>
              <a:t> </a:t>
            </a:r>
            <a:r>
              <a:rPr b="1" lang="en-GB" sz="1100">
                <a:solidFill>
                  <a:srgbClr val="800000"/>
                </a:solidFill>
                <a:highlight>
                  <a:srgbClr val="FFFFFF"/>
                </a:highlight>
              </a:rPr>
              <a:t>true</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which LED to blink</a:t>
            </a:r>
            <a:br>
              <a:rPr lang="en-GB" sz="1100">
                <a:highlight>
                  <a:srgbClr val="FFFFFF"/>
                </a:highlight>
              </a:rPr>
            </a:br>
            <a:r>
              <a:rPr lang="en-GB" sz="1100">
                <a:solidFill>
                  <a:srgbClr val="004A43"/>
                </a:solidFill>
                <a:highlight>
                  <a:srgbClr val="FFFFFF"/>
                </a:highlight>
              </a:rPr>
              <a:t>#endif</a:t>
            </a:r>
            <a:endParaRPr sz="1100">
              <a:solidFill>
                <a:srgbClr val="004A43"/>
              </a:solidFill>
              <a:highlight>
                <a:srgbClr val="FFFFFF"/>
              </a:highlight>
            </a:endParaRPr>
          </a:p>
          <a:p>
            <a:pPr indent="0" lvl="0" marL="0" rtl="0" algn="l">
              <a:lnSpc>
                <a:spcPct val="100000"/>
              </a:lnSpc>
              <a:spcBef>
                <a:spcPts val="0"/>
              </a:spcBef>
              <a:spcAft>
                <a:spcPts val="0"/>
              </a:spcAft>
              <a:buNone/>
            </a:pPr>
            <a:r>
              <a:t/>
            </a:r>
            <a:endParaRPr sz="1000">
              <a:solidFill>
                <a:srgbClr val="696969"/>
              </a:solidFill>
              <a:highlight>
                <a:srgbClr val="FFFFFF"/>
              </a:highlight>
            </a:endParaRPr>
          </a:p>
          <a:p>
            <a:pPr indent="0" lvl="0" marL="0" rtl="0" algn="l">
              <a:lnSpc>
                <a:spcPct val="100000"/>
              </a:lnSpc>
              <a:spcBef>
                <a:spcPts val="0"/>
              </a:spcBef>
              <a:spcAft>
                <a:spcPts val="0"/>
              </a:spcAft>
              <a:buNone/>
            </a:pPr>
            <a:r>
              <a:t/>
            </a:r>
            <a:endParaRPr sz="1000">
              <a:solidFill>
                <a:srgbClr val="696969"/>
              </a:solidFill>
              <a:highlight>
                <a:srgbClr val="FFFFFF"/>
              </a:highlight>
            </a:endParaRPr>
          </a:p>
          <a:p>
            <a:pPr indent="0" lvl="0" marL="0" rtl="0" algn="l">
              <a:lnSpc>
                <a:spcPct val="100000"/>
              </a:lnSpc>
              <a:spcBef>
                <a:spcPts val="0"/>
              </a:spcBef>
              <a:spcAft>
                <a:spcPts val="0"/>
              </a:spcAft>
              <a:buNone/>
            </a:pPr>
            <a:r>
              <a:rPr lang="en-GB" sz="1100">
                <a:solidFill>
                  <a:srgbClr val="696969"/>
                </a:solidFill>
                <a:highlight>
                  <a:srgbClr val="FFFFFF"/>
                </a:highlight>
              </a:rPr>
              <a:t>// Ex02.ino</a:t>
            </a:r>
            <a:br>
              <a:rPr lang="en-GB" sz="1100">
                <a:highlight>
                  <a:srgbClr val="FFFFFF"/>
                </a:highlight>
              </a:rPr>
            </a:br>
            <a:r>
              <a:rPr lang="en-GB" sz="1100">
                <a:solidFill>
                  <a:srgbClr val="696969"/>
                </a:solidFill>
                <a:highlight>
                  <a:srgbClr val="FFFFFF"/>
                </a:highlight>
              </a:rPr>
              <a:t>// blinking an external LED; reading from a switch</a:t>
            </a:r>
            <a:endParaRPr sz="1100">
              <a:solidFill>
                <a:srgbClr val="696969"/>
              </a:solidFill>
              <a:highlight>
                <a:srgbClr val="FFFFFF"/>
              </a:highlight>
            </a:endParaRPr>
          </a:p>
          <a:p>
            <a:pPr indent="0" lvl="0" marL="0" rtl="0" algn="l">
              <a:lnSpc>
                <a:spcPct val="100000"/>
              </a:lnSpc>
              <a:spcBef>
                <a:spcPts val="0"/>
              </a:spcBef>
              <a:spcAft>
                <a:spcPts val="0"/>
              </a:spcAft>
              <a:buNone/>
            </a:pPr>
            <a:br>
              <a:rPr lang="en-GB" sz="1100">
                <a:highlight>
                  <a:srgbClr val="FFFFFF"/>
                </a:highlight>
              </a:rPr>
            </a:br>
            <a:r>
              <a:rPr b="1" lang="en-GB" sz="1100">
                <a:solidFill>
                  <a:srgbClr val="800000"/>
                </a:solidFill>
                <a:highlight>
                  <a:srgbClr val="FFFFFF"/>
                </a:highlight>
              </a:rPr>
              <a:t>void</a:t>
            </a:r>
            <a:r>
              <a:rPr lang="en-GB" sz="1100">
                <a:highlight>
                  <a:srgbClr val="FFFFFF"/>
                </a:highlight>
              </a:rPr>
              <a:t> setup02</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setup01</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include previous setup for serial, and for the internal LED</a:t>
            </a:r>
            <a:br>
              <a:rPr lang="en-GB" sz="1100">
                <a:highlight>
                  <a:srgbClr val="FFFFFF"/>
                </a:highlight>
              </a:rPr>
            </a:br>
            <a:r>
              <a:rPr lang="en-GB" sz="1100">
                <a:highlight>
                  <a:srgbClr val="FFFFFF"/>
                </a:highlight>
              </a:rPr>
              <a:t>  Serial</a:t>
            </a:r>
            <a:r>
              <a:rPr lang="en-GB" sz="1100">
                <a:solidFill>
                  <a:srgbClr val="808030"/>
                </a:solidFill>
                <a:highlight>
                  <a:srgbClr val="FFFFFF"/>
                </a:highlight>
              </a:rPr>
              <a:t>.</a:t>
            </a:r>
            <a:r>
              <a:rPr lang="en-GB" sz="1100">
                <a:highlight>
                  <a:srgbClr val="FFFFFF"/>
                </a:highlight>
              </a:rPr>
              <a:t>printf</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F69FF"/>
                </a:solidFill>
                <a:highlight>
                  <a:srgbClr val="FFFFFF"/>
                </a:highlight>
              </a:rPr>
              <a:t>\n</a:t>
            </a:r>
            <a:r>
              <a:rPr lang="en-GB" sz="1100">
                <a:solidFill>
                  <a:srgbClr val="0000E6"/>
                </a:solidFill>
                <a:highlight>
                  <a:srgbClr val="FFFFFF"/>
                </a:highlight>
              </a:rPr>
              <a:t>setup02...</a:t>
            </a:r>
            <a:r>
              <a:rPr lang="en-GB" sz="1100">
                <a:solidFill>
                  <a:srgbClr val="0F69FF"/>
                </a:solidFill>
                <a:highlight>
                  <a:srgbClr val="FFFFFF"/>
                </a:highlight>
              </a:rPr>
              <a:t>\n</a:t>
            </a:r>
            <a:r>
              <a:rPr lang="en-GB" sz="1100">
                <a:solidFill>
                  <a:srgbClr val="0000E6"/>
                </a:solidFill>
                <a:highlight>
                  <a:srgbClr val="FFFFFF"/>
                </a:highlight>
              </a:rPr>
              <a:t>ESP32 MAC = </a:t>
            </a:r>
            <a:r>
              <a:rPr lang="en-GB" sz="1100">
                <a:solidFill>
                  <a:srgbClr val="007997"/>
                </a:solidFill>
                <a:highlight>
                  <a:srgbClr val="FFFFFF"/>
                </a:highlight>
              </a:rPr>
              <a:t>%s</a:t>
            </a:r>
            <a:r>
              <a:rPr lang="en-GB" sz="1100">
                <a:solidFill>
                  <a:srgbClr val="0F69FF"/>
                </a:solidFill>
                <a:highlight>
                  <a:srgbClr val="FFFFFF"/>
                </a:highlight>
              </a:rPr>
              <a:t>\n</a:t>
            </a:r>
            <a:r>
              <a:rPr lang="en-GB" sz="1100">
                <a:solidFill>
                  <a:srgbClr val="800000"/>
                </a:solidFill>
                <a:highlight>
                  <a:srgbClr val="FFFFFF"/>
                </a:highlight>
              </a:rPr>
              <a:t>"</a:t>
            </a:r>
            <a:r>
              <a:rPr lang="en-GB" sz="1100">
                <a:solidFill>
                  <a:srgbClr val="808030"/>
                </a:solidFill>
                <a:highlight>
                  <a:srgbClr val="FFFFFF"/>
                </a:highlight>
              </a:rPr>
              <a:t>,</a:t>
            </a:r>
            <a:r>
              <a:rPr lang="en-GB" sz="1100">
                <a:highlight>
                  <a:srgbClr val="FFFFFF"/>
                </a:highlight>
              </a:rPr>
              <a:t> MAC_ADDRESS</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ESP's "ID"</a:t>
            </a:r>
            <a:endParaRPr sz="1100">
              <a:solidFill>
                <a:srgbClr val="696969"/>
              </a:solidFill>
              <a:highlight>
                <a:srgbClr val="FFFFFF"/>
              </a:highlight>
            </a:endParaRPr>
          </a:p>
          <a:p>
            <a:pPr indent="0" lvl="0" marL="0" rtl="0" algn="l">
              <a:lnSpc>
                <a:spcPct val="100000"/>
              </a:lnSpc>
              <a:spcBef>
                <a:spcPts val="0"/>
              </a:spcBef>
              <a:spcAft>
                <a:spcPts val="0"/>
              </a:spcAft>
              <a:buNone/>
            </a:pPr>
            <a:br>
              <a:rPr lang="en-GB" sz="1100">
                <a:highlight>
                  <a:srgbClr val="FFFFFF"/>
                </a:highlight>
              </a:rPr>
            </a:br>
            <a:r>
              <a:rPr lang="en-GB" sz="1100">
                <a:highlight>
                  <a:srgbClr val="FFFFFF"/>
                </a:highlight>
              </a:rPr>
              <a:t>  </a:t>
            </a:r>
            <a:r>
              <a:rPr lang="en-GB" sz="1100">
                <a:solidFill>
                  <a:srgbClr val="696969"/>
                </a:solidFill>
                <a:highlight>
                  <a:srgbClr val="FFFFFF"/>
                </a:highlight>
              </a:rPr>
              <a:t>// set up GPIO pin for an external LED</a:t>
            </a:r>
            <a:br>
              <a:rPr lang="en-GB" sz="1100">
                <a:highlight>
                  <a:srgbClr val="FFFFFF"/>
                </a:highlight>
              </a:rPr>
            </a:br>
            <a:r>
              <a:rPr lang="en-GB" sz="1100">
                <a:highlight>
                  <a:srgbClr val="FFFFFF"/>
                </a:highlight>
              </a:rPr>
              <a:t>  pinMode</a:t>
            </a:r>
            <a:r>
              <a:rPr lang="en-GB" sz="1100">
                <a:solidFill>
                  <a:srgbClr val="808030"/>
                </a:solidFill>
                <a:highlight>
                  <a:srgbClr val="FFFFFF"/>
                </a:highlight>
              </a:rPr>
              <a:t>(</a:t>
            </a:r>
            <a:r>
              <a:rPr lang="en-GB" sz="1100">
                <a:solidFill>
                  <a:srgbClr val="008C00"/>
                </a:solidFill>
                <a:highlight>
                  <a:srgbClr val="FFFFFF"/>
                </a:highlight>
              </a:rPr>
              <a:t>32</a:t>
            </a:r>
            <a:r>
              <a:rPr lang="en-GB" sz="1100">
                <a:solidFill>
                  <a:srgbClr val="808030"/>
                </a:solidFill>
                <a:highlight>
                  <a:srgbClr val="FFFFFF"/>
                </a:highlight>
              </a:rPr>
              <a:t>,</a:t>
            </a:r>
            <a:r>
              <a:rPr lang="en-GB" sz="1100">
                <a:highlight>
                  <a:srgbClr val="FFFFFF"/>
                </a:highlight>
              </a:rPr>
              <a:t> OUTPUT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set up pin 32 as a digital output</a:t>
            </a:r>
            <a:endParaRPr sz="1100">
              <a:solidFill>
                <a:srgbClr val="696969"/>
              </a:solidFill>
              <a:highlight>
                <a:srgbClr val="FFFFFF"/>
              </a:highlight>
            </a:endParaRPr>
          </a:p>
          <a:p>
            <a:pPr indent="0" lvl="0" marL="0" rtl="0" algn="l">
              <a:lnSpc>
                <a:spcPct val="100000"/>
              </a:lnSpc>
              <a:spcBef>
                <a:spcPts val="0"/>
              </a:spcBef>
              <a:spcAft>
                <a:spcPts val="0"/>
              </a:spcAft>
              <a:buNone/>
            </a:pPr>
            <a:br>
              <a:rPr lang="en-GB" sz="1100">
                <a:highlight>
                  <a:srgbClr val="FFFFFF"/>
                </a:highlight>
              </a:rPr>
            </a:br>
            <a:r>
              <a:rPr lang="en-GB" sz="1100">
                <a:highlight>
                  <a:srgbClr val="FFFFFF"/>
                </a:highlight>
              </a:rPr>
              <a:t>  </a:t>
            </a:r>
            <a:r>
              <a:rPr lang="en-GB" sz="1100">
                <a:solidFill>
                  <a:srgbClr val="696969"/>
                </a:solidFill>
                <a:highlight>
                  <a:srgbClr val="FFFFFF"/>
                </a:highlight>
              </a:rPr>
              <a:t>// set up GPIO pin for a switch</a:t>
            </a:r>
            <a:br>
              <a:rPr lang="en-GB" sz="1100">
                <a:highlight>
                  <a:srgbClr val="FFFFFF"/>
                </a:highlight>
              </a:rPr>
            </a:br>
            <a:r>
              <a:rPr lang="en-GB" sz="1100">
                <a:highlight>
                  <a:srgbClr val="FFFFFF"/>
                </a:highlight>
              </a:rPr>
              <a:t>  pinMode</a:t>
            </a:r>
            <a:r>
              <a:rPr lang="en-GB" sz="1100">
                <a:solidFill>
                  <a:srgbClr val="808030"/>
                </a:solidFill>
                <a:highlight>
                  <a:srgbClr val="FFFFFF"/>
                </a:highlight>
              </a:rPr>
              <a:t>(</a:t>
            </a:r>
            <a:r>
              <a:rPr lang="en-GB" sz="1100">
                <a:solidFill>
                  <a:srgbClr val="008C00"/>
                </a:solidFill>
                <a:highlight>
                  <a:srgbClr val="FFFFFF"/>
                </a:highlight>
              </a:rPr>
              <a:t>14</a:t>
            </a:r>
            <a:r>
              <a:rPr lang="en-GB" sz="1100">
                <a:solidFill>
                  <a:srgbClr val="808030"/>
                </a:solidFill>
                <a:highlight>
                  <a:srgbClr val="FFFFFF"/>
                </a:highlight>
              </a:rPr>
              <a:t>,</a:t>
            </a:r>
            <a:r>
              <a:rPr lang="en-GB" sz="1100">
                <a:highlight>
                  <a:srgbClr val="FFFFFF"/>
                </a:highlight>
              </a:rPr>
              <a:t> INPUT_PULLUP</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pin 14: digital in, built-in pullup</a:t>
            </a:r>
            <a:br>
              <a:rPr lang="en-GB" sz="1100">
                <a:highlight>
                  <a:srgbClr val="FFFFFF"/>
                </a:highlight>
              </a:rPr>
            </a:br>
            <a:r>
              <a:rPr lang="en-GB" sz="1100">
                <a:solidFill>
                  <a:srgbClr val="800080"/>
                </a:solidFill>
                <a:highlight>
                  <a:srgbClr val="FFFFFF"/>
                </a:highlight>
              </a:rPr>
              <a:t>}</a:t>
            </a:r>
            <a:br>
              <a:rPr lang="en-GB" sz="1100">
                <a:highlight>
                  <a:srgbClr val="FFFFFF"/>
                </a:highlight>
              </a:rPr>
            </a:br>
            <a:endParaRPr sz="1000">
              <a:solidFill>
                <a:srgbClr val="696969"/>
              </a:solidFill>
              <a:highlight>
                <a:srgbClr val="FFFFFF"/>
              </a:highlight>
            </a:endParaRPr>
          </a:p>
          <a:p>
            <a:pPr indent="0" lvl="0" marL="0" rtl="0" algn="l">
              <a:lnSpc>
                <a:spcPct val="100000"/>
              </a:lnSpc>
              <a:spcBef>
                <a:spcPts val="0"/>
              </a:spcBef>
              <a:spcAft>
                <a:spcPts val="0"/>
              </a:spcAft>
              <a:buNone/>
            </a:pPr>
            <a:r>
              <a:t/>
            </a:r>
            <a:endParaRPr sz="1000">
              <a:solidFill>
                <a:srgbClr val="696969"/>
              </a:solidFill>
              <a:highlight>
                <a:srgbClr val="FFFFFF"/>
              </a:highlight>
            </a:endParaRPr>
          </a:p>
          <a:p>
            <a:pPr indent="0" lvl="0" marL="457200" rtl="0" algn="l">
              <a:spcBef>
                <a:spcPts val="0"/>
              </a:spcBef>
              <a:spcAft>
                <a:spcPts val="1000"/>
              </a:spcAft>
              <a:buClr>
                <a:schemeClr val="dk1"/>
              </a:buClr>
              <a:buSzPts val="1100"/>
              <a:buFont typeface="Arial"/>
              <a:buNone/>
            </a:pPr>
            <a:r>
              <a:t/>
            </a:r>
            <a:endParaRPr sz="900"/>
          </a:p>
        </p:txBody>
      </p:sp>
      <p:sp>
        <p:nvSpPr>
          <p:cNvPr id="270" name="Google Shape;270;p51"/>
          <p:cNvSpPr txBox="1"/>
          <p:nvPr/>
        </p:nvSpPr>
        <p:spPr>
          <a:xfrm>
            <a:off x="408050" y="4609750"/>
            <a:ext cx="7338000" cy="8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t>(but: </a:t>
            </a:r>
            <a:r>
              <a:rPr b="1" lang="en-GB" sz="1600"/>
              <a:t>what happens if you press the switch during a delay</a:t>
            </a:r>
            <a:r>
              <a:rPr lang="en-GB" sz="1600"/>
              <a:t>…? alternatives?)</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2"/>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3</a:t>
            </a:r>
            <a:endParaRPr/>
          </a:p>
        </p:txBody>
      </p:sp>
      <p:sp>
        <p:nvSpPr>
          <p:cNvPr id="276" name="Google Shape;276;p52"/>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review of model solutions for last week</a:t>
            </a:r>
            <a:endParaRPr sz="1800"/>
          </a:p>
          <a:p>
            <a:pPr indent="-342900" lvl="0" marL="457200" rtl="0" algn="l">
              <a:spcBef>
                <a:spcPts val="1000"/>
              </a:spcBef>
              <a:spcAft>
                <a:spcPts val="0"/>
              </a:spcAft>
              <a:buSzPts val="1800"/>
              <a:buAutoNum type="arabicPeriod"/>
            </a:pPr>
            <a:r>
              <a:rPr b="1" lang="en-GB" sz="1800"/>
              <a:t>the IoT hardware space: MCUs on devices and ARM on gateways</a:t>
            </a:r>
            <a:endParaRPr b="1" sz="1800"/>
          </a:p>
          <a:p>
            <a:pPr indent="-342900" lvl="0" marL="457200" rtl="0" algn="l">
              <a:spcBef>
                <a:spcPts val="1000"/>
              </a:spcBef>
              <a:spcAft>
                <a:spcPts val="0"/>
              </a:spcAft>
              <a:buSzPts val="1800"/>
              <a:buAutoNum type="arabicPeriod"/>
            </a:pPr>
            <a:r>
              <a:rPr lang="en-GB" sz="1800"/>
              <a:t>Maker Tech and the implications of digital fabrication</a:t>
            </a:r>
            <a:endParaRPr sz="1800"/>
          </a:p>
          <a:p>
            <a:pPr indent="-342900" lvl="0" marL="457200" rtl="0" algn="l">
              <a:spcBef>
                <a:spcPts val="1000"/>
              </a:spcBef>
              <a:spcAft>
                <a:spcPts val="0"/>
              </a:spcAft>
              <a:buSzPts val="1800"/>
              <a:buAutoNum type="arabicPeriod"/>
            </a:pPr>
            <a:r>
              <a:rPr lang="en-GB" sz="1800"/>
              <a:t>coding for the IoT: languages for layers; (yet) more on the Arduino (maybe)</a:t>
            </a:r>
            <a:endParaRPr sz="1800"/>
          </a:p>
          <a:p>
            <a:pPr indent="-342900" lvl="0" marL="457200" rtl="0" algn="l">
              <a:spcBef>
                <a:spcPts val="1000"/>
              </a:spcBef>
              <a:spcAft>
                <a:spcPts val="0"/>
              </a:spcAft>
              <a:buSzPts val="1800"/>
              <a:buAutoNum type="arabicPeriod"/>
            </a:pPr>
            <a:r>
              <a:rPr lang="en-GB" sz="1800"/>
              <a:t>meet Andreas, Mr. ESP</a:t>
            </a:r>
            <a:endParaRPr sz="1800"/>
          </a:p>
          <a:p>
            <a:pPr indent="0" lvl="0" marL="0" rtl="0" algn="l">
              <a:spcBef>
                <a:spcPts val="1000"/>
              </a:spcBef>
              <a:spcAft>
                <a:spcPts val="0"/>
              </a:spcAft>
              <a:buNone/>
            </a:pPr>
            <a:r>
              <a:t/>
            </a:r>
            <a:endParaRPr sz="1800"/>
          </a:p>
        </p:txBody>
      </p:sp>
      <p:sp>
        <p:nvSpPr>
          <p:cNvPr id="277" name="Google Shape;277;p52"/>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3"/>
          <p:cNvSpPr txBox="1"/>
          <p:nvPr>
            <p:ph idx="1" type="body"/>
          </p:nvPr>
        </p:nvSpPr>
        <p:spPr>
          <a:xfrm>
            <a:off x="235500" y="619075"/>
            <a:ext cx="4615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Aside from </a:t>
            </a:r>
            <a:r>
              <a:rPr b="1" lang="en-GB" sz="1800"/>
              <a:t>the devices</a:t>
            </a:r>
            <a:r>
              <a:rPr lang="en-GB" sz="1800"/>
              <a:t> themselves (connected microcontrollers running sensor/actuator rigs), IoT systems will typically also involve one or more of: </a:t>
            </a:r>
            <a:endParaRPr sz="1800"/>
          </a:p>
          <a:p>
            <a:pPr indent="-342900" lvl="0" marL="457200" rtl="0" algn="l">
              <a:spcBef>
                <a:spcPts val="0"/>
              </a:spcBef>
              <a:spcAft>
                <a:spcPts val="0"/>
              </a:spcAft>
              <a:buSzPts val="1800"/>
              <a:buChar char="●"/>
            </a:pPr>
            <a:r>
              <a:rPr lang="en-GB" sz="1800"/>
              <a:t>a </a:t>
            </a:r>
            <a:r>
              <a:rPr b="1" lang="en-GB" sz="1800"/>
              <a:t>platform</a:t>
            </a:r>
            <a:r>
              <a:rPr lang="en-GB" sz="1800"/>
              <a:t>, or backend (e.g. IFTTT, AWS IoT, IBM Watson or Adafruit.io)</a:t>
            </a:r>
            <a:endParaRPr sz="1800"/>
          </a:p>
          <a:p>
            <a:pPr indent="-342900" lvl="0" marL="457200" rtl="0" algn="l">
              <a:spcBef>
                <a:spcPts val="0"/>
              </a:spcBef>
              <a:spcAft>
                <a:spcPts val="0"/>
              </a:spcAft>
              <a:buSzPts val="1800"/>
              <a:buChar char="●"/>
            </a:pPr>
            <a:r>
              <a:rPr lang="en-GB" sz="1800"/>
              <a:t>a </a:t>
            </a:r>
            <a:r>
              <a:rPr b="1" lang="en-GB" sz="1800"/>
              <a:t>gateway</a:t>
            </a:r>
            <a:r>
              <a:rPr lang="en-GB" sz="1800"/>
              <a:t> (e.g. Google Home, Phillips Hue Bridge, Amazon Echo, Siemens Mindsphere MindConnect, a Pi...)</a:t>
            </a:r>
            <a:endParaRPr sz="1800"/>
          </a:p>
          <a:p>
            <a:pPr indent="-342900" lvl="0" marL="457200" rtl="0" algn="l">
              <a:spcBef>
                <a:spcPts val="0"/>
              </a:spcBef>
              <a:spcAft>
                <a:spcPts val="0"/>
              </a:spcAft>
              <a:buSzPts val="1800"/>
              <a:buChar char="●"/>
            </a:pPr>
            <a:r>
              <a:rPr lang="en-GB" sz="1800"/>
              <a:t>communications </a:t>
            </a:r>
            <a:r>
              <a:rPr b="1" lang="en-GB" sz="1800"/>
              <a:t>protocols</a:t>
            </a:r>
            <a:r>
              <a:rPr lang="en-GB" sz="1800"/>
              <a:t> (e.g. </a:t>
            </a:r>
            <a:r>
              <a:rPr b="1" lang="en-GB" sz="1800"/>
              <a:t>TTN</a:t>
            </a:r>
            <a:r>
              <a:rPr lang="en-GB" sz="1800"/>
              <a:t>, MQTT, COAP, HTTP, SSL/TLS...)</a:t>
            </a:r>
            <a:endParaRPr sz="1800"/>
          </a:p>
          <a:p>
            <a:pPr indent="-342900" lvl="0" marL="457200" rtl="0" algn="l">
              <a:spcBef>
                <a:spcPts val="0"/>
              </a:spcBef>
              <a:spcAft>
                <a:spcPts val="0"/>
              </a:spcAft>
              <a:buSzPts val="1800"/>
              <a:buChar char="●"/>
            </a:pPr>
            <a:r>
              <a:rPr b="1" lang="en-GB" sz="1800"/>
              <a:t>big data</a:t>
            </a:r>
            <a:r>
              <a:rPr lang="en-GB" sz="1800"/>
              <a:t> processing (Hadoop, Storm, Samza, Spark, Flink…) &amp; </a:t>
            </a:r>
            <a:r>
              <a:rPr b="1" lang="en-GB" sz="1800"/>
              <a:t>analytics</a:t>
            </a:r>
            <a:endParaRPr b="1" sz="1800"/>
          </a:p>
        </p:txBody>
      </p:sp>
      <p:sp>
        <p:nvSpPr>
          <p:cNvPr id="283" name="Google Shape;283;p53"/>
          <p:cNvSpPr txBox="1"/>
          <p:nvPr>
            <p:ph type="title"/>
          </p:nvPr>
        </p:nvSpPr>
        <p:spPr>
          <a:xfrm>
            <a:off x="985450" y="115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Software Architecture and the IoT (“fog”?!)</a:t>
            </a:r>
            <a:endParaRPr/>
          </a:p>
        </p:txBody>
      </p:sp>
      <p:sp>
        <p:nvSpPr>
          <p:cNvPr id="284" name="Google Shape;284;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IOT01.png" id="285" name="Google Shape;285;p53">
            <a:hlinkClick r:id="rId3"/>
          </p:cNvPr>
          <p:cNvPicPr preferRelativeResize="0"/>
          <p:nvPr/>
        </p:nvPicPr>
        <p:blipFill>
          <a:blip r:embed="rId4">
            <a:alphaModFix/>
          </a:blip>
          <a:stretch>
            <a:fillRect/>
          </a:stretch>
        </p:blipFill>
        <p:spPr>
          <a:xfrm>
            <a:off x="4730100" y="789125"/>
            <a:ext cx="4261499" cy="3011392"/>
          </a:xfrm>
          <a:prstGeom prst="rect">
            <a:avLst/>
          </a:prstGeom>
          <a:noFill/>
          <a:ln>
            <a:noFill/>
          </a:ln>
        </p:spPr>
      </p:pic>
      <p:sp>
        <p:nvSpPr>
          <p:cNvPr id="286" name="Google Shape;286;p53"/>
          <p:cNvSpPr txBox="1"/>
          <p:nvPr/>
        </p:nvSpPr>
        <p:spPr>
          <a:xfrm>
            <a:off x="6501525" y="3903875"/>
            <a:ext cx="3374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a:t>
            </a:r>
            <a:r>
              <a:rPr lang="en-GB" sz="800" u="sng">
                <a:solidFill>
                  <a:schemeClr val="hlink"/>
                </a:solidFill>
                <a:hlinkClick r:id="rId5"/>
              </a:rPr>
              <a:t>forklog.net</a:t>
            </a:r>
            <a:r>
              <a:rPr lang="en-GB" sz="800"/>
              <a:t>)</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4"/>
          <p:cNvSpPr txBox="1"/>
          <p:nvPr>
            <p:ph type="title"/>
          </p:nvPr>
        </p:nvSpPr>
        <p:spPr>
          <a:xfrm>
            <a:off x="783928" y="22375"/>
            <a:ext cx="7978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IoT </a:t>
            </a:r>
            <a:r>
              <a:rPr i="1" lang="en-GB"/>
              <a:t>devices</a:t>
            </a:r>
            <a:r>
              <a:rPr lang="en-GB"/>
              <a:t> mostly use a WiFi or radio MCU</a:t>
            </a:r>
            <a:endParaRPr/>
          </a:p>
        </p:txBody>
      </p:sp>
      <p:sp>
        <p:nvSpPr>
          <p:cNvPr id="292" name="Google Shape;292;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3" name="Google Shape;293;p54"/>
          <p:cNvSpPr txBox="1"/>
          <p:nvPr>
            <p:ph idx="1" type="body"/>
          </p:nvPr>
        </p:nvSpPr>
        <p:spPr>
          <a:xfrm>
            <a:off x="387900" y="569925"/>
            <a:ext cx="8406600" cy="3775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GB" sz="1800"/>
              <a:t>Constraints of power and cost</a:t>
            </a:r>
            <a:r>
              <a:rPr lang="en-GB" sz="1800"/>
              <a:t> mean the IoT is in the MCU territory.</a:t>
            </a:r>
            <a:endParaRPr sz="1800"/>
          </a:p>
          <a:p>
            <a:pPr indent="-342900" lvl="0" marL="457200" rtl="0" algn="l">
              <a:spcBef>
                <a:spcPts val="0"/>
              </a:spcBef>
              <a:spcAft>
                <a:spcPts val="0"/>
              </a:spcAft>
              <a:buSzPts val="1800"/>
              <a:buChar char="●"/>
            </a:pPr>
            <a:r>
              <a:rPr lang="en-GB" sz="1800"/>
              <a:t>Speed of development and ease of use mean the easiest option at present is WiFi (or sometimes Bluetooth or LoRaWAN).</a:t>
            </a:r>
            <a:endParaRPr sz="1800"/>
          </a:p>
          <a:p>
            <a:pPr indent="-342900" lvl="0" marL="457200" rtl="0" algn="l">
              <a:spcBef>
                <a:spcPts val="0"/>
              </a:spcBef>
              <a:spcAft>
                <a:spcPts val="0"/>
              </a:spcAft>
              <a:buSzPts val="1800"/>
              <a:buChar char="●"/>
            </a:pPr>
            <a:r>
              <a:rPr lang="en-GB" sz="1800"/>
              <a:t>Until recently devices would frequently use both an MCU (e.g. Atmel) and a separate WiFi chip (e.g. Mediatek).</a:t>
            </a:r>
            <a:endParaRPr sz="1800"/>
          </a:p>
          <a:p>
            <a:pPr indent="-342900" lvl="0" marL="457200" rtl="0" algn="l">
              <a:spcBef>
                <a:spcPts val="0"/>
              </a:spcBef>
              <a:spcAft>
                <a:spcPts val="0"/>
              </a:spcAft>
              <a:buSzPts val="1800"/>
              <a:buChar char="●"/>
            </a:pPr>
            <a:r>
              <a:rPr lang="en-GB" sz="1800"/>
              <a:t>The ESP8266 innovated in combining the two in a powerful but cheap package.</a:t>
            </a:r>
            <a:endParaRPr sz="1800"/>
          </a:p>
          <a:p>
            <a:pPr indent="-342900" lvl="0" marL="457200" rtl="0" algn="l">
              <a:spcBef>
                <a:spcPts val="0"/>
              </a:spcBef>
              <a:spcAft>
                <a:spcPts val="0"/>
              </a:spcAft>
              <a:buSzPts val="1800"/>
              <a:buChar char="●"/>
            </a:pPr>
            <a:r>
              <a:rPr lang="en-GB" sz="1800"/>
              <a:t>The ESP32 adds extra goodies inc. another core, BLE, more I/O.</a:t>
            </a:r>
            <a:endParaRPr sz="1800"/>
          </a:p>
          <a:p>
            <a:pPr indent="-342900" lvl="0" marL="457200" rtl="0" algn="l">
              <a:spcBef>
                <a:spcPts val="0"/>
              </a:spcBef>
              <a:spcAft>
                <a:spcPts val="0"/>
              </a:spcAft>
              <a:buSzPts val="1800"/>
              <a:buChar char="●"/>
            </a:pPr>
            <a:r>
              <a:rPr lang="en-GB" sz="1800"/>
              <a:t>But if you’ve got power and a higher budget…?</a:t>
            </a:r>
            <a:endParaRPr sz="1800"/>
          </a:p>
          <a:p>
            <a:pPr indent="0" lvl="0" marL="0" rtl="0" algn="l">
              <a:spcBef>
                <a:spcPts val="1000"/>
              </a:spcBef>
              <a:spcAft>
                <a:spcPts val="0"/>
              </a:spcAft>
              <a:buNone/>
            </a:pPr>
            <a:r>
              <a:t/>
            </a:r>
            <a:endParaRPr sz="1800"/>
          </a:p>
          <a:p>
            <a:pPr indent="0" lvl="0" marL="457200" rtl="0" algn="l">
              <a:spcBef>
                <a:spcPts val="1000"/>
              </a:spcBef>
              <a:spcAft>
                <a:spcPts val="1000"/>
              </a:spcAft>
              <a:buClr>
                <a:schemeClr val="dk1"/>
              </a:buClr>
              <a:buSzPts val="1100"/>
              <a:buFont typeface="Arial"/>
              <a:buNone/>
            </a:pPr>
            <a:r>
              <a:t/>
            </a:r>
            <a:endParaRPr sz="1800"/>
          </a:p>
        </p:txBody>
      </p:sp>
      <p:sp>
        <p:nvSpPr>
          <p:cNvPr id="294" name="Google Shape;294;p54"/>
          <p:cNvSpPr txBox="1"/>
          <p:nvPr/>
        </p:nvSpPr>
        <p:spPr>
          <a:xfrm>
            <a:off x="620000" y="4391375"/>
            <a:ext cx="5030100" cy="58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5"/>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What do the </a:t>
            </a:r>
            <a:r>
              <a:rPr i="1" lang="en-GB"/>
              <a:t>gateways</a:t>
            </a:r>
            <a:r>
              <a:rPr lang="en-GB"/>
              <a:t> use?</a:t>
            </a:r>
            <a:endParaRPr/>
          </a:p>
        </p:txBody>
      </p:sp>
      <p:sp>
        <p:nvSpPr>
          <p:cNvPr id="300" name="Google Shape;300;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1" name="Google Shape;301;p55"/>
          <p:cNvSpPr txBox="1"/>
          <p:nvPr>
            <p:ph idx="1" type="body"/>
          </p:nvPr>
        </p:nvSpPr>
        <p:spPr>
          <a:xfrm>
            <a:off x="4577700" y="553450"/>
            <a:ext cx="41898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So: i</a:t>
            </a:r>
            <a:r>
              <a:rPr lang="en-GB" sz="1800"/>
              <a:t>f you’re </a:t>
            </a:r>
            <a:r>
              <a:rPr b="1" lang="en-GB" sz="1800"/>
              <a:t>not constrained</a:t>
            </a:r>
            <a:r>
              <a:rPr lang="en-GB" sz="1800"/>
              <a:t> by power or cost, then a single-board computer (SBC) like the Raspberry Pi makes sense. (Or: “to ARM or not to ARM”?!)</a:t>
            </a:r>
            <a:endParaRPr sz="1800"/>
          </a:p>
          <a:p>
            <a:pPr indent="0" lvl="0" marL="0" rtl="0" algn="l">
              <a:spcBef>
                <a:spcPts val="1000"/>
              </a:spcBef>
              <a:spcAft>
                <a:spcPts val="0"/>
              </a:spcAft>
              <a:buNone/>
            </a:pPr>
            <a:r>
              <a:rPr lang="en-GB" sz="1800"/>
              <a:t>If you’ve really serious processing to do, then your IoT device will pass its data to the cloud and crunch it there (via a </a:t>
            </a:r>
            <a:r>
              <a:rPr i="1" lang="en-GB" sz="1800"/>
              <a:t>gateway</a:t>
            </a:r>
            <a:r>
              <a:rPr lang="en-GB" sz="1800"/>
              <a:t> or directly)</a:t>
            </a:r>
            <a:r>
              <a:rPr lang="en-GB" sz="1800"/>
              <a:t>.</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1000"/>
              </a:spcAft>
              <a:buClr>
                <a:schemeClr val="dk1"/>
              </a:buClr>
              <a:buSzPts val="1100"/>
              <a:buFont typeface="Arial"/>
              <a:buNone/>
            </a:pPr>
            <a:r>
              <a:rPr b="1" lang="en-GB" sz="1800"/>
              <a:t>COM3505</a:t>
            </a:r>
            <a:r>
              <a:rPr lang="en-GB" sz="1800"/>
              <a:t>: developing with the ESP32S3 and connecting to the net (first half); applications (second half); some cloud-side on the way. (No gws!)</a:t>
            </a:r>
            <a:endParaRPr sz="1800"/>
          </a:p>
        </p:txBody>
      </p:sp>
      <p:sp>
        <p:nvSpPr>
          <p:cNvPr id="302" name="Google Shape;302;p55"/>
          <p:cNvSpPr txBox="1"/>
          <p:nvPr>
            <p:ph idx="1" type="body"/>
          </p:nvPr>
        </p:nvSpPr>
        <p:spPr>
          <a:xfrm>
            <a:off x="235500" y="569925"/>
            <a:ext cx="4358400" cy="3846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Google Home: “basically an overgrown Chromecast”: Atmel ATSAMD21 32-bit </a:t>
            </a:r>
            <a:r>
              <a:rPr b="1" lang="en-GB" sz="1800"/>
              <a:t>ARM</a:t>
            </a:r>
            <a:r>
              <a:rPr lang="en-GB" sz="1800"/>
              <a:t> Cortex-M0+</a:t>
            </a:r>
            <a:endParaRPr sz="1800"/>
          </a:p>
          <a:p>
            <a:pPr indent="-342900" lvl="0" marL="457200" rtl="0" algn="l">
              <a:spcBef>
                <a:spcPts val="0"/>
              </a:spcBef>
              <a:spcAft>
                <a:spcPts val="0"/>
              </a:spcAft>
              <a:buSzPts val="1800"/>
              <a:buChar char="●"/>
            </a:pPr>
            <a:r>
              <a:rPr lang="en-GB" sz="1800"/>
              <a:t>Amazon ECHO: DM3730 Digital Media Processors </a:t>
            </a:r>
            <a:r>
              <a:rPr b="1" lang="en-GB" sz="1800"/>
              <a:t>ARM</a:t>
            </a:r>
            <a:r>
              <a:rPr lang="en-GB" sz="1800"/>
              <a:t> Cortex-A8 </a:t>
            </a:r>
            <a:endParaRPr sz="1800"/>
          </a:p>
          <a:p>
            <a:pPr indent="-342900" lvl="0" marL="457200" rtl="0" algn="l">
              <a:spcBef>
                <a:spcPts val="0"/>
              </a:spcBef>
              <a:spcAft>
                <a:spcPts val="0"/>
              </a:spcAft>
              <a:buSzPts val="1800"/>
              <a:buChar char="●"/>
            </a:pPr>
            <a:r>
              <a:rPr lang="en-GB" sz="1800"/>
              <a:t>Samsung Smart Hub: Qualcomm IPQ4019 SoC, 4x </a:t>
            </a:r>
            <a:r>
              <a:rPr b="1" lang="en-GB" sz="1800"/>
              <a:t>ARM</a:t>
            </a:r>
            <a:r>
              <a:rPr lang="en-GB" sz="1800"/>
              <a:t> Cortex A7 (or A9?)</a:t>
            </a:r>
            <a:endParaRPr sz="1800"/>
          </a:p>
          <a:p>
            <a:pPr indent="-342900" lvl="0" marL="457200" rtl="0" algn="l">
              <a:spcBef>
                <a:spcPts val="0"/>
              </a:spcBef>
              <a:spcAft>
                <a:spcPts val="0"/>
              </a:spcAft>
              <a:buSzPts val="1800"/>
              <a:buChar char="●"/>
            </a:pPr>
            <a:r>
              <a:rPr lang="en-GB" sz="1800"/>
              <a:t>Phillips Hue Bridge: Atmel (Microchip) ATSAMR21E18A SoC </a:t>
            </a:r>
            <a:r>
              <a:rPr b="1" lang="en-GB" sz="1800"/>
              <a:t>ARM</a:t>
            </a:r>
            <a:r>
              <a:rPr lang="en-GB" sz="1800"/>
              <a:t> Cortex-M0+ (32-bit) MCU</a:t>
            </a:r>
            <a:endParaRPr sz="1800"/>
          </a:p>
          <a:p>
            <a:pPr indent="-342900" lvl="0" marL="457200" rtl="0" algn="l">
              <a:spcBef>
                <a:spcPts val="0"/>
              </a:spcBef>
              <a:spcAft>
                <a:spcPts val="0"/>
              </a:spcAft>
              <a:buSzPts val="1800"/>
              <a:buChar char="●"/>
            </a:pPr>
            <a:r>
              <a:rPr lang="en-GB" sz="1800"/>
              <a:t>Google Nest Hub 2nd Gen (2021): ARM Cortex-A55 (64-bit, 2GHz </a:t>
            </a:r>
            <a:r>
              <a:rPr b="1" lang="en-GB" sz="1800"/>
              <a:t>quad core CPU</a:t>
            </a:r>
            <a:r>
              <a:rPr lang="en-GB" sz="1800"/>
              <a:t>)</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6"/>
          <p:cNvSpPr txBox="1"/>
          <p:nvPr>
            <p:ph type="title"/>
          </p:nvPr>
        </p:nvSpPr>
        <p:spPr>
          <a:xfrm>
            <a:off x="1194675" y="0"/>
            <a:ext cx="727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ESP32[S3] vs. other MCUs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8" name="Google Shape;308;p56"/>
          <p:cNvSpPr txBox="1"/>
          <p:nvPr>
            <p:ph idx="1" type="body"/>
          </p:nvPr>
        </p:nvSpPr>
        <p:spPr>
          <a:xfrm>
            <a:off x="471350" y="482550"/>
            <a:ext cx="79719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cheap! (£2/unit for the chip, £4/unit for a bare module, £20 for a posh dev board), cheaper ESP8266 still available; ESP family growing</a:t>
            </a:r>
            <a:endParaRPr sz="1800"/>
          </a:p>
          <a:p>
            <a:pPr indent="-342900" lvl="0" marL="457200" rtl="0" algn="l">
              <a:spcBef>
                <a:spcPts val="0"/>
              </a:spcBef>
              <a:spcAft>
                <a:spcPts val="0"/>
              </a:spcAft>
              <a:buSzPts val="1800"/>
              <a:buChar char="●"/>
            </a:pPr>
            <a:r>
              <a:rPr lang="en-GB" sz="1800"/>
              <a:t>good compromise on power vs. cost</a:t>
            </a:r>
            <a:endParaRPr sz="1800"/>
          </a:p>
          <a:p>
            <a:pPr indent="-342900" lvl="0" marL="457200" rtl="0" algn="l">
              <a:spcBef>
                <a:spcPts val="0"/>
              </a:spcBef>
              <a:spcAft>
                <a:spcPts val="0"/>
              </a:spcAft>
              <a:buSzPts val="1800"/>
              <a:buChar char="●"/>
            </a:pPr>
            <a:r>
              <a:rPr lang="en-GB" sz="1800"/>
              <a:t>flexible: doesn’t tie you into a proprietary vision of the IoT (or anything else!)</a:t>
            </a:r>
            <a:endParaRPr sz="1800"/>
          </a:p>
          <a:p>
            <a:pPr indent="-342900" lvl="0" marL="457200" rtl="0" algn="l">
              <a:spcBef>
                <a:spcPts val="0"/>
              </a:spcBef>
              <a:spcAft>
                <a:spcPts val="0"/>
              </a:spcAft>
              <a:buSzPts val="1800"/>
              <a:buChar char="●"/>
            </a:pPr>
            <a:r>
              <a:rPr lang="en-GB" sz="1800"/>
              <a:t>WiFi, Bluetooth Low Energy: ubiquitous and easy (though not IoT specific: WiFi is power hungry for example)</a:t>
            </a:r>
            <a:endParaRPr sz="1800"/>
          </a:p>
          <a:p>
            <a:pPr indent="-342900" lvl="0" marL="457200" rtl="0" algn="l">
              <a:spcBef>
                <a:spcPts val="0"/>
              </a:spcBef>
              <a:spcAft>
                <a:spcPts val="0"/>
              </a:spcAft>
              <a:buSzPts val="1800"/>
              <a:buChar char="●"/>
            </a:pPr>
            <a:r>
              <a:rPr lang="en-GB" sz="1800"/>
              <a:t>open source SDK and Arduino core on GitHub; closed hardware</a:t>
            </a:r>
            <a:endParaRPr sz="1800"/>
          </a:p>
          <a:p>
            <a:pPr indent="-342900" lvl="0" marL="457200" rtl="0" algn="l">
              <a:spcBef>
                <a:spcPts val="0"/>
              </a:spcBef>
              <a:spcAft>
                <a:spcPts val="0"/>
              </a:spcAft>
              <a:buSzPts val="1800"/>
              <a:buChar char="●"/>
            </a:pPr>
            <a:r>
              <a:rPr lang="en-GB" sz="1800"/>
              <a:t>layers on top of Arduino APIs and therefore a very large codebase of sensor / actuator libraries</a:t>
            </a:r>
            <a:endParaRPr sz="1800"/>
          </a:p>
          <a:p>
            <a:pPr indent="-342900" lvl="0" marL="457200" rtl="0" algn="l">
              <a:spcBef>
                <a:spcPts val="0"/>
              </a:spcBef>
              <a:spcAft>
                <a:spcPts val="0"/>
              </a:spcAft>
              <a:buSzPts val="1800"/>
              <a:buChar char="●"/>
            </a:pPr>
            <a:r>
              <a:rPr lang="en-GB" sz="1800"/>
              <a:t>vibrant and extensive contributor community (see GitHub issues and commits, ESP8266 and ESP32 forums, Hackaday projects, Kickstarters…)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309" name="Google Shape;309;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7"/>
          <p:cNvSpPr txBox="1"/>
          <p:nvPr>
            <p:ph type="title"/>
          </p:nvPr>
        </p:nvSpPr>
        <p:spPr>
          <a:xfrm>
            <a:off x="1194675" y="0"/>
            <a:ext cx="727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Tensilica Xtensa</a:t>
            </a:r>
            <a:r>
              <a:rPr lang="en-GB"/>
              <a:t> vs. ARM, RISC V, x86...</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15" name="Google Shape;315;p57"/>
          <p:cNvSpPr txBox="1"/>
          <p:nvPr>
            <p:ph idx="1" type="body"/>
          </p:nvPr>
        </p:nvSpPr>
        <p:spPr>
          <a:xfrm>
            <a:off x="471350" y="558750"/>
            <a:ext cx="79719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GB" sz="1800"/>
              <a:t>Xtensa</a:t>
            </a:r>
            <a:r>
              <a:rPr lang="en-GB" sz="1800"/>
              <a:t>: generate everything from server CPU to tiny MCU from one core definition</a:t>
            </a:r>
            <a:endParaRPr sz="1800"/>
          </a:p>
          <a:p>
            <a:pPr indent="-342900" lvl="1" marL="1371600" rtl="0" algn="l">
              <a:spcBef>
                <a:spcPts val="0"/>
              </a:spcBef>
              <a:spcAft>
                <a:spcPts val="0"/>
              </a:spcAft>
              <a:buSzPts val="1800"/>
              <a:buChar char="○"/>
            </a:pPr>
            <a:r>
              <a:rPr lang="en-GB" sz="1800"/>
              <a:t>Xtensa is current main core in ESP32S3</a:t>
            </a:r>
            <a:endParaRPr sz="1800"/>
          </a:p>
          <a:p>
            <a:pPr indent="-342900" lvl="1" marL="1371600" rtl="0" algn="l">
              <a:spcBef>
                <a:spcPts val="0"/>
              </a:spcBef>
              <a:spcAft>
                <a:spcPts val="0"/>
              </a:spcAft>
              <a:buSzPts val="1800"/>
              <a:buChar char="○"/>
            </a:pPr>
            <a:r>
              <a:rPr lang="en-GB" sz="1800"/>
              <a:t>ULP co-processor is RISC V</a:t>
            </a:r>
            <a:endParaRPr sz="1800"/>
          </a:p>
          <a:p>
            <a:pPr indent="-342900" lvl="1" marL="1371600" rtl="0" algn="l">
              <a:spcBef>
                <a:spcPts val="0"/>
              </a:spcBef>
              <a:spcAft>
                <a:spcPts val="0"/>
              </a:spcAft>
              <a:buSzPts val="1800"/>
              <a:buChar char="○"/>
            </a:pPr>
            <a:r>
              <a:rPr lang="en-GB" sz="1800"/>
              <a:t>you’ll see compilers for both in the toolchain binaries</a:t>
            </a:r>
            <a:endParaRPr sz="1800"/>
          </a:p>
          <a:p>
            <a:pPr indent="-342900" lvl="0" marL="457200" rtl="0" algn="l">
              <a:spcBef>
                <a:spcPts val="0"/>
              </a:spcBef>
              <a:spcAft>
                <a:spcPts val="0"/>
              </a:spcAft>
              <a:buSzPts val="1800"/>
              <a:buChar char="●"/>
            </a:pPr>
            <a:r>
              <a:rPr lang="en-GB" sz="1800"/>
              <a:t>customisable ISA (instruction set architecture)</a:t>
            </a:r>
            <a:endParaRPr sz="1800"/>
          </a:p>
          <a:p>
            <a:pPr indent="-342900" lvl="0" marL="457200" rtl="0" algn="l">
              <a:spcBef>
                <a:spcPts val="0"/>
              </a:spcBef>
              <a:spcAft>
                <a:spcPts val="0"/>
              </a:spcAft>
              <a:buSzPts val="1800"/>
              <a:buChar char="●"/>
            </a:pPr>
            <a:r>
              <a:rPr lang="en-GB" sz="1800"/>
              <a:t>this means less optimisation but more generality, potentially lower cost, better support for ASICs (application-specific integrated circuits)</a:t>
            </a:r>
            <a:endParaRPr sz="1800"/>
          </a:p>
          <a:p>
            <a:pPr indent="-342900" lvl="0" marL="457200" rtl="0" algn="l">
              <a:spcBef>
                <a:spcPts val="0"/>
              </a:spcBef>
              <a:spcAft>
                <a:spcPts val="0"/>
              </a:spcAft>
              <a:buSzPts val="1800"/>
              <a:buChar char="●"/>
            </a:pPr>
            <a:r>
              <a:rPr b="1" lang="en-GB" sz="1800"/>
              <a:t>ARM</a:t>
            </a:r>
            <a:r>
              <a:rPr lang="en-GB" sz="1800"/>
              <a:t>: dominant architecture by volume</a:t>
            </a:r>
            <a:endParaRPr sz="1800"/>
          </a:p>
          <a:p>
            <a:pPr indent="-342900" lvl="0" marL="457200" rtl="0" algn="l">
              <a:spcBef>
                <a:spcPts val="0"/>
              </a:spcBef>
              <a:spcAft>
                <a:spcPts val="0"/>
              </a:spcAft>
              <a:buSzPts val="1800"/>
              <a:buChar char="●"/>
            </a:pPr>
            <a:r>
              <a:rPr lang="en-GB" sz="1800"/>
              <a:t>MIPS: original RISC, less significant</a:t>
            </a:r>
            <a:endParaRPr sz="1800"/>
          </a:p>
          <a:p>
            <a:pPr indent="-342900" lvl="0" marL="457200" rtl="0" algn="l">
              <a:spcBef>
                <a:spcPts val="0"/>
              </a:spcBef>
              <a:spcAft>
                <a:spcPts val="0"/>
              </a:spcAft>
              <a:buSzPts val="1800"/>
              <a:buChar char="●"/>
            </a:pPr>
            <a:r>
              <a:rPr b="1" lang="en-GB" sz="1800"/>
              <a:t>RISC V</a:t>
            </a:r>
            <a:r>
              <a:rPr lang="en-GB" sz="1800"/>
              <a:t>: open instruction set computing </a:t>
            </a:r>
            <a:r>
              <a:rPr lang="en-GB" sz="1800" u="sng">
                <a:solidFill>
                  <a:schemeClr val="hlink"/>
                </a:solidFill>
                <a:hlinkClick r:id="rId3"/>
              </a:rPr>
              <a:t>https://riscv.org/</a:t>
            </a:r>
            <a:r>
              <a:rPr lang="en-GB" sz="1800"/>
              <a:t> — future traction: ESP32-C3 (!), -P4, …: the </a:t>
            </a:r>
            <a:r>
              <a:rPr b="1" lang="en-GB" sz="1800"/>
              <a:t>future of ESP</a:t>
            </a:r>
            <a:r>
              <a:rPr lang="en-GB" sz="1800"/>
              <a:t> chips</a:t>
            </a:r>
            <a:endParaRPr sz="1800"/>
          </a:p>
          <a:p>
            <a:pPr indent="-342900" lvl="0" marL="457200" rtl="0" algn="l">
              <a:spcBef>
                <a:spcPts val="0"/>
              </a:spcBef>
              <a:spcAft>
                <a:spcPts val="0"/>
              </a:spcAft>
              <a:buSzPts val="1800"/>
              <a:buChar char="●"/>
            </a:pPr>
            <a:r>
              <a:rPr lang="en-GB" sz="1800"/>
              <a:t>what about Intel?!</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316" name="Google Shape;316;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8"/>
          <p:cNvSpPr txBox="1"/>
          <p:nvPr>
            <p:ph type="title"/>
          </p:nvPr>
        </p:nvSpPr>
        <p:spPr>
          <a:xfrm>
            <a:off x="1194675" y="0"/>
            <a:ext cx="727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Intel IoT: ahem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2" name="Google Shape;322;p58"/>
          <p:cNvSpPr txBox="1"/>
          <p:nvPr>
            <p:ph idx="1" type="body"/>
          </p:nvPr>
        </p:nvSpPr>
        <p:spPr>
          <a:xfrm>
            <a:off x="471350" y="558750"/>
            <a:ext cx="79719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what about Intel?! seems to have given up chasing the MCU market...</a:t>
            </a:r>
            <a:endParaRPr sz="1800"/>
          </a:p>
          <a:p>
            <a:pPr indent="-342900" lvl="0" marL="914400" rtl="0" algn="l">
              <a:spcBef>
                <a:spcPts val="0"/>
              </a:spcBef>
              <a:spcAft>
                <a:spcPts val="0"/>
              </a:spcAft>
              <a:buSzPts val="1800"/>
              <a:buChar char="●"/>
            </a:pPr>
            <a:r>
              <a:rPr lang="en-GB" sz="1800"/>
              <a:t>ATOM-based: Quark, Joule, Edison: discontinued, summer 2017!</a:t>
            </a:r>
            <a:endParaRPr sz="1800"/>
          </a:p>
          <a:p>
            <a:pPr indent="-342900" lvl="0" marL="914400" rtl="0" algn="l">
              <a:spcBef>
                <a:spcPts val="0"/>
              </a:spcBef>
              <a:spcAft>
                <a:spcPts val="0"/>
              </a:spcAft>
              <a:buSzPts val="1800"/>
              <a:buChar char="●"/>
            </a:pPr>
            <a:r>
              <a:rPr lang="en-GB" sz="1800"/>
              <a:t>I wrote this 2018: “</a:t>
            </a:r>
            <a:r>
              <a:rPr lang="en-GB" sz="1800"/>
              <a:t>still available, the Curie… x86 ISA!”</a:t>
            </a:r>
            <a:endParaRPr sz="1800"/>
          </a:p>
          <a:p>
            <a:pPr indent="-342900" lvl="0" marL="914400" rtl="0" algn="l">
              <a:spcBef>
                <a:spcPts val="0"/>
              </a:spcBef>
              <a:spcAft>
                <a:spcPts val="0"/>
              </a:spcAft>
              <a:buSzPts val="1800"/>
              <a:buChar char="●"/>
            </a:pPr>
            <a:r>
              <a:rPr lang="en-GB" sz="1800"/>
              <a:t>Arduino 101: based on the Curie; but note Adafruit’s comment: “101 is very new, &amp; uses a completely new core chipset! Many libraries won't work with it”...</a:t>
            </a:r>
            <a:endParaRPr sz="1800"/>
          </a:p>
          <a:p>
            <a:pPr indent="-342900" lvl="0" marL="914400" rtl="0" algn="l">
              <a:spcBef>
                <a:spcPts val="0"/>
              </a:spcBef>
              <a:spcAft>
                <a:spcPts val="0"/>
              </a:spcAft>
              <a:buSzPts val="1800"/>
              <a:buChar char="●"/>
            </a:pPr>
            <a:r>
              <a:rPr lang="en-GB" sz="1800"/>
              <a:t>Cancelled!</a:t>
            </a:r>
            <a:endParaRPr sz="1800"/>
          </a:p>
          <a:p>
            <a:pPr indent="-342900" lvl="0" marL="457200" rtl="0" algn="l">
              <a:spcBef>
                <a:spcPts val="0"/>
              </a:spcBef>
              <a:spcAft>
                <a:spcPts val="0"/>
              </a:spcAft>
              <a:buSzPts val="1800"/>
              <a:buChar char="●"/>
            </a:pPr>
            <a:r>
              <a:rPr lang="en-GB" sz="1800"/>
              <a:t>‘</a:t>
            </a:r>
            <a:r>
              <a:rPr lang="en-GB" sz="1800"/>
              <a:t>unlikely Intel could compete at the low end of the “things” market with the ARM camp, and especially with the likes of Qualcomm, MediaTek and others that can leverage their strengths and scale in mobile phone SoC designs into IoT’ [Computer World: </a:t>
            </a:r>
            <a:r>
              <a:rPr lang="en-GB" sz="1800" u="sng">
                <a:solidFill>
                  <a:schemeClr val="hlink"/>
                </a:solidFill>
                <a:hlinkClick r:id="rId3"/>
              </a:rPr>
              <a:t>https://goo.gl/kLfVEM</a:t>
            </a:r>
            <a:r>
              <a:rPr lang="en-GB" sz="1800"/>
              <a:t>]</a:t>
            </a:r>
            <a:endParaRPr sz="1800"/>
          </a:p>
          <a:p>
            <a:pPr indent="-342900" lvl="0" marL="457200" rtl="0" algn="l">
              <a:spcBef>
                <a:spcPts val="0"/>
              </a:spcBef>
              <a:spcAft>
                <a:spcPts val="0"/>
              </a:spcAft>
              <a:buSzPts val="1800"/>
              <a:buChar char="●"/>
            </a:pPr>
            <a:r>
              <a:rPr lang="en-GB" sz="1800"/>
              <a:t>Wired 2014: getting it wrong? </a:t>
            </a:r>
            <a:r>
              <a:rPr lang="en-GB" sz="1800" u="sng">
                <a:solidFill>
                  <a:schemeClr val="hlink"/>
                </a:solidFill>
                <a:hlinkClick r:id="rId4"/>
              </a:rPr>
              <a:t>https://goo.gl/Smxx3K</a:t>
            </a:r>
            <a:endParaRPr sz="1800"/>
          </a:p>
          <a:p>
            <a:pPr indent="-342900" lvl="0" marL="457200" rtl="0" algn="l">
              <a:spcBef>
                <a:spcPts val="0"/>
              </a:spcBef>
              <a:spcAft>
                <a:spcPts val="0"/>
              </a:spcAft>
              <a:buSzPts val="1800"/>
              <a:buChar char="●"/>
            </a:pPr>
            <a:r>
              <a:rPr lang="en-GB" sz="1800"/>
              <a:t>2023: Intel selling older CPUs (Celeron, Pentium) as IoT chips</a:t>
            </a:r>
            <a:endParaRPr sz="1800"/>
          </a:p>
          <a:p>
            <a:pPr indent="-342900" lvl="0" marL="457200" rtl="0" algn="l">
              <a:spcBef>
                <a:spcPts val="0"/>
              </a:spcBef>
              <a:spcAft>
                <a:spcPts val="0"/>
              </a:spcAft>
              <a:buSzPts val="1800"/>
              <a:buChar char="●"/>
            </a:pPr>
            <a:r>
              <a:rPr lang="en-GB" sz="1800"/>
              <a:t>so: </a:t>
            </a:r>
            <a:r>
              <a:rPr b="1" lang="en-GB" sz="1800"/>
              <a:t>ARM vs. the rest?</a:t>
            </a:r>
            <a:r>
              <a:rPr lang="en-GB" sz="1800"/>
              <a:t> (2024: Intel, AMD, …: chasing NVidia!)</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323" name="Google Shape;323;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9"/>
          <p:cNvSpPr txBox="1"/>
          <p:nvPr>
            <p:ph type="title"/>
          </p:nvPr>
        </p:nvSpPr>
        <p:spPr>
          <a:xfrm>
            <a:off x="1194675" y="-76200"/>
            <a:ext cx="727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WiFi MCU for 2024…?</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9" name="Google Shape;329;p59"/>
          <p:cNvSpPr txBox="1"/>
          <p:nvPr>
            <p:ph idx="1" type="body"/>
          </p:nvPr>
        </p:nvSpPr>
        <p:spPr>
          <a:xfrm>
            <a:off x="362425" y="482550"/>
            <a:ext cx="8426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Who knows! </a:t>
            </a:r>
            <a:endParaRPr sz="1800"/>
          </a:p>
          <a:p>
            <a:pPr indent="-317500" lvl="0" marL="457200" rtl="0" algn="l">
              <a:spcBef>
                <a:spcPts val="0"/>
              </a:spcBef>
              <a:spcAft>
                <a:spcPts val="0"/>
              </a:spcAft>
              <a:buSzPts val="1400"/>
              <a:buChar char="●"/>
            </a:pPr>
            <a:r>
              <a:rPr lang="en-GB"/>
              <a:t>ESP SoCs are not the only game in town. Arduino LLC’s MKR1000 board uses an Atmel ATSAMW25H18 for WiFi. Pine64, known for its Pine-A64 Linux hacker board, recently jumped in with PADI IoT Stamp COM based on Realtek’s RTL8710AF, a WiFi-enabled ESP8266 competitor that runs FreeRTOS on a Cortex-M3. Like ESP-based modules, the PADI IoT Stamp is tiny (24x16mm), power efficient, and dirt cheap, selling for only $2 at volume.</a:t>
            </a:r>
            <a:endParaRPr/>
          </a:p>
          <a:p>
            <a:pPr indent="0" lvl="0" marL="457200" rtl="0" algn="l">
              <a:spcBef>
                <a:spcPts val="0"/>
              </a:spcBef>
              <a:spcAft>
                <a:spcPts val="0"/>
              </a:spcAft>
              <a:buNone/>
            </a:pPr>
            <a:r>
              <a:rPr lang="en-GB" u="sng">
                <a:solidFill>
                  <a:schemeClr val="hlink"/>
                </a:solidFill>
                <a:hlinkClick r:id="rId3"/>
              </a:rPr>
              <a:t>https://www.linux.com/news/linux-and-open-source-hardware-iot</a:t>
            </a:r>
            <a:endParaRPr/>
          </a:p>
          <a:p>
            <a:pPr indent="-317500" lvl="0" marL="457200" rtl="0" algn="l">
              <a:spcBef>
                <a:spcPts val="0"/>
              </a:spcBef>
              <a:spcAft>
                <a:spcPts val="0"/>
              </a:spcAft>
              <a:buSzPts val="1400"/>
              <a:buChar char="●"/>
            </a:pPr>
            <a:r>
              <a:rPr lang="en-GB"/>
              <a:t>since 2021 the Raspberry Pi 2040 has gained ground: </a:t>
            </a:r>
            <a:r>
              <a:rPr b="1" lang="en-GB"/>
              <a:t>Nordic nRF52833</a:t>
            </a:r>
            <a:r>
              <a:rPr lang="en-GB"/>
              <a:t> – 64 MHz 32-bit </a:t>
            </a:r>
            <a:r>
              <a:rPr b="1" lang="en-GB"/>
              <a:t>ARM</a:t>
            </a:r>
            <a:r>
              <a:rPr lang="en-GB"/>
              <a:t> Cortex-M4 microcontroller, 512 KB flash memory, 128 KB static RAM</a:t>
            </a:r>
            <a:endParaRPr/>
          </a:p>
          <a:p>
            <a:pPr indent="0" lvl="0" marL="0" rtl="0" algn="l">
              <a:spcBef>
                <a:spcPts val="0"/>
              </a:spcBef>
              <a:spcAft>
                <a:spcPts val="0"/>
              </a:spcAft>
              <a:buNone/>
            </a:pPr>
            <a:r>
              <a:rPr lang="en-GB" sz="1800"/>
              <a:t>Why there’s no top-ten list of IoT processors: </a:t>
            </a:r>
            <a:r>
              <a:rPr lang="en-GB" sz="1800" u="sng">
                <a:solidFill>
                  <a:schemeClr val="hlink"/>
                </a:solidFill>
                <a:hlinkClick r:id="rId4"/>
              </a:rPr>
              <a:t>http://www.eetimes.com/author.asp?section_id=36&amp;doc_id=1329732</a:t>
            </a:r>
            <a:r>
              <a:rPr lang="en-GB" sz="1800"/>
              <a:t> </a:t>
            </a:r>
            <a:br>
              <a:rPr lang="en-GB" sz="1800"/>
            </a:br>
            <a:r>
              <a:rPr lang="en-GB" sz="1800"/>
              <a:t>(market fragmentation, mergers and acquisitions, definitional confusion, ...)</a:t>
            </a:r>
            <a:endParaRPr sz="1800"/>
          </a:p>
          <a:p>
            <a:pPr indent="0" lvl="0" marL="0" rtl="0" algn="l">
              <a:spcBef>
                <a:spcPts val="1000"/>
              </a:spcBef>
              <a:spcAft>
                <a:spcPts val="0"/>
              </a:spcAft>
              <a:buNone/>
            </a:pPr>
            <a:r>
              <a:rPr lang="en-GB" sz="1800"/>
              <a:t>Microsoft’s IoT workshop goody bag: ESP32 feather :)</a:t>
            </a:r>
            <a:endParaRPr sz="1800"/>
          </a:p>
          <a:p>
            <a:pPr indent="0" lvl="0" marL="0" rtl="0" algn="l">
              <a:spcBef>
                <a:spcPts val="0"/>
              </a:spcBef>
              <a:spcAft>
                <a:spcPts val="0"/>
              </a:spcAft>
              <a:buNone/>
            </a:pPr>
            <a:r>
              <a:t/>
            </a:r>
            <a:endParaRPr/>
          </a:p>
          <a:p>
            <a:pPr indent="0" lvl="0" marL="457200" rtl="0" algn="l">
              <a:spcBef>
                <a:spcPts val="0"/>
              </a:spcBef>
              <a:spcAft>
                <a:spcPts val="0"/>
              </a:spcAft>
              <a:buNone/>
            </a:pPr>
            <a:r>
              <a:rPr lang="en-GB" sz="1800"/>
              <a:t>Which is another reason to use the Arduino ecosystem (and to know Arduino C++ and the Arduino IDE…)</a:t>
            </a:r>
            <a:endParaRPr sz="18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30" name="Google Shape;330;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60"/>
          <p:cNvSpPr txBox="1"/>
          <p:nvPr>
            <p:ph idx="1" type="body"/>
          </p:nvPr>
        </p:nvSpPr>
        <p:spPr>
          <a:xfrm>
            <a:off x="5007725" y="705850"/>
            <a:ext cx="4369500" cy="3846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240 MHz dual core Tensilica LX6 microcontroller with 600 DMIPS</a:t>
            </a:r>
            <a:endParaRPr sz="1800"/>
          </a:p>
          <a:p>
            <a:pPr indent="-342900" lvl="0" marL="457200" rtl="0" algn="l">
              <a:spcBef>
                <a:spcPts val="0"/>
              </a:spcBef>
              <a:spcAft>
                <a:spcPts val="0"/>
              </a:spcAft>
              <a:buSzPts val="1800"/>
              <a:buChar char="●"/>
            </a:pPr>
            <a:r>
              <a:rPr lang="en-GB" sz="1800"/>
              <a:t>integrated 520 KB SRAM</a:t>
            </a:r>
            <a:endParaRPr sz="1800"/>
          </a:p>
          <a:p>
            <a:pPr indent="-342900" lvl="0" marL="457200" rtl="0" algn="l">
              <a:spcBef>
                <a:spcPts val="0"/>
              </a:spcBef>
              <a:spcAft>
                <a:spcPts val="0"/>
              </a:spcAft>
              <a:buSzPts val="1800"/>
              <a:buChar char="●"/>
            </a:pPr>
            <a:r>
              <a:rPr lang="en-GB" sz="1800"/>
              <a:t>integrated 802.11 b/g/n Wi-Fi transceiver, baseband, stack and LWIP</a:t>
            </a:r>
            <a:endParaRPr sz="1800"/>
          </a:p>
          <a:p>
            <a:pPr indent="-342900" lvl="0" marL="457200" rtl="0" algn="l">
              <a:spcBef>
                <a:spcPts val="0"/>
              </a:spcBef>
              <a:spcAft>
                <a:spcPts val="0"/>
              </a:spcAft>
              <a:buSzPts val="1800"/>
              <a:buChar char="●"/>
            </a:pPr>
            <a:r>
              <a:rPr lang="en-GB" sz="1800"/>
              <a:t>Bluetooth (classic and BLE)</a:t>
            </a:r>
            <a:endParaRPr sz="1800"/>
          </a:p>
          <a:p>
            <a:pPr indent="-342900" lvl="0" marL="457200" rtl="0" algn="l">
              <a:spcBef>
                <a:spcPts val="0"/>
              </a:spcBef>
              <a:spcAft>
                <a:spcPts val="0"/>
              </a:spcAft>
              <a:buSzPts val="1800"/>
              <a:buChar char="●"/>
            </a:pPr>
            <a:r>
              <a:rPr lang="en-GB" sz="1800"/>
              <a:t>up to 16 MB memory-mapped flash</a:t>
            </a:r>
            <a:endParaRPr sz="1800"/>
          </a:p>
          <a:p>
            <a:pPr indent="-342900" lvl="0" marL="457200" rtl="0" algn="l">
              <a:spcBef>
                <a:spcPts val="0"/>
              </a:spcBef>
              <a:spcAft>
                <a:spcPts val="0"/>
              </a:spcAft>
              <a:buSzPts val="1800"/>
              <a:buChar char="●"/>
            </a:pPr>
            <a:r>
              <a:rPr lang="en-GB" sz="1800"/>
              <a:t>2.3V to 3.6V operating voltage</a:t>
            </a:r>
            <a:endParaRPr sz="1800"/>
          </a:p>
          <a:p>
            <a:pPr indent="-342900" lvl="0" marL="457200" rtl="0" algn="l">
              <a:spcBef>
                <a:spcPts val="0"/>
              </a:spcBef>
              <a:spcAft>
                <a:spcPts val="0"/>
              </a:spcAft>
              <a:buSzPts val="1800"/>
              <a:buChar char="●"/>
            </a:pPr>
            <a:r>
              <a:rPr lang="en-GB" sz="1800"/>
              <a:t>-40°C to +125°C operating temperature</a:t>
            </a:r>
            <a:endParaRPr sz="1800"/>
          </a:p>
          <a:p>
            <a:pPr indent="-342900" lvl="0" marL="457200" rtl="0" algn="l">
              <a:spcBef>
                <a:spcPts val="0"/>
              </a:spcBef>
              <a:spcAft>
                <a:spcPts val="0"/>
              </a:spcAft>
              <a:buSzPts val="1800"/>
              <a:buChar char="●"/>
            </a:pPr>
            <a:r>
              <a:rPr lang="en-GB" sz="1800"/>
              <a:t>on-board PCB antenna / IPEX connector for external antenna</a:t>
            </a:r>
            <a:endParaRPr sz="1800"/>
          </a:p>
        </p:txBody>
      </p:sp>
      <p:sp>
        <p:nvSpPr>
          <p:cNvPr id="336" name="Google Shape;336;p60"/>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ESP32: Main Elements (1: core)</a:t>
            </a:r>
            <a:endParaRPr/>
          </a:p>
        </p:txBody>
      </p:sp>
      <p:sp>
        <p:nvSpPr>
          <p:cNvPr id="337" name="Google Shape;337;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esp32-block-diagram.png" id="338" name="Google Shape;338;p60">
            <a:hlinkClick r:id="rId3"/>
          </p:cNvPr>
          <p:cNvPicPr preferRelativeResize="0"/>
          <p:nvPr/>
        </p:nvPicPr>
        <p:blipFill>
          <a:blip r:embed="rId4">
            <a:alphaModFix/>
          </a:blip>
          <a:stretch>
            <a:fillRect/>
          </a:stretch>
        </p:blipFill>
        <p:spPr>
          <a:xfrm>
            <a:off x="72950" y="813192"/>
            <a:ext cx="4961955" cy="424363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1"/>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ESP32: Main Elements (2: GPIO)</a:t>
            </a:r>
            <a:endParaRPr/>
          </a:p>
        </p:txBody>
      </p:sp>
      <p:sp>
        <p:nvSpPr>
          <p:cNvPr id="344" name="Google Shape;344;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esp32-block-diagram.png" id="345" name="Google Shape;345;p61">
            <a:hlinkClick r:id="rId3"/>
          </p:cNvPr>
          <p:cNvPicPr preferRelativeResize="0"/>
          <p:nvPr/>
        </p:nvPicPr>
        <p:blipFill>
          <a:blip r:embed="rId4">
            <a:alphaModFix/>
          </a:blip>
          <a:stretch>
            <a:fillRect/>
          </a:stretch>
        </p:blipFill>
        <p:spPr>
          <a:xfrm>
            <a:off x="72950" y="813192"/>
            <a:ext cx="4961955" cy="4243632"/>
          </a:xfrm>
          <a:prstGeom prst="rect">
            <a:avLst/>
          </a:prstGeom>
          <a:noFill/>
          <a:ln>
            <a:noFill/>
          </a:ln>
        </p:spPr>
      </p:pic>
      <p:sp>
        <p:nvSpPr>
          <p:cNvPr id="346" name="Google Shape;346;p61"/>
          <p:cNvSpPr txBox="1"/>
          <p:nvPr>
            <p:ph idx="1" type="body"/>
          </p:nvPr>
        </p:nvSpPr>
        <p:spPr>
          <a:xfrm>
            <a:off x="5034900" y="705850"/>
            <a:ext cx="41898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34 GPIO pins assignable to:</a:t>
            </a:r>
            <a:endParaRPr sz="1800"/>
          </a:p>
          <a:p>
            <a:pPr indent="-342900" lvl="0" marL="457200" rtl="0" algn="l">
              <a:spcBef>
                <a:spcPts val="0"/>
              </a:spcBef>
              <a:spcAft>
                <a:spcPts val="0"/>
              </a:spcAft>
              <a:buSzPts val="1800"/>
              <a:buChar char="●"/>
            </a:pPr>
            <a:r>
              <a:rPr lang="en-GB" sz="1800"/>
              <a:t>Analog-to-Digital Converter (ADC) </a:t>
            </a:r>
            <a:endParaRPr sz="1800"/>
          </a:p>
          <a:p>
            <a:pPr indent="-342900" lvl="0" marL="457200" rtl="0" algn="l">
              <a:spcBef>
                <a:spcPts val="0"/>
              </a:spcBef>
              <a:spcAft>
                <a:spcPts val="0"/>
              </a:spcAft>
              <a:buSzPts val="1800"/>
              <a:buChar char="●"/>
            </a:pPr>
            <a:r>
              <a:rPr lang="en-GB" sz="1800"/>
              <a:t>Digital-to-Analog Converter (DAC) </a:t>
            </a:r>
            <a:endParaRPr sz="1800"/>
          </a:p>
          <a:p>
            <a:pPr indent="-342900" lvl="0" marL="457200" rtl="0" algn="l">
              <a:spcBef>
                <a:spcPts val="0"/>
              </a:spcBef>
              <a:spcAft>
                <a:spcPts val="0"/>
              </a:spcAft>
              <a:buSzPts val="1800"/>
              <a:buChar char="●"/>
            </a:pPr>
            <a:r>
              <a:rPr lang="en-GB" sz="1800"/>
              <a:t>Pulse-Width Modulation (PWM) – dimming LEDs or running motors</a:t>
            </a:r>
            <a:endParaRPr sz="1800"/>
          </a:p>
          <a:p>
            <a:pPr indent="-342900" lvl="0" marL="457200" rtl="0" algn="l">
              <a:spcBef>
                <a:spcPts val="0"/>
              </a:spcBef>
              <a:spcAft>
                <a:spcPts val="0"/>
              </a:spcAft>
              <a:buSzPts val="1800"/>
              <a:buChar char="●"/>
            </a:pPr>
            <a:r>
              <a:rPr lang="en-GB" sz="1800"/>
              <a:t>Touch Sensor – ten capacitive sensing pins</a:t>
            </a:r>
            <a:endParaRPr sz="1800"/>
          </a:p>
          <a:p>
            <a:pPr indent="-342900" lvl="0" marL="457200" rtl="0" algn="l">
              <a:spcBef>
                <a:spcPts val="0"/>
              </a:spcBef>
              <a:spcAft>
                <a:spcPts val="0"/>
              </a:spcAft>
              <a:buSzPts val="1800"/>
              <a:buChar char="●"/>
            </a:pPr>
            <a:r>
              <a:rPr lang="en-GB" sz="1800"/>
              <a:t>UARTs</a:t>
            </a:r>
            <a:endParaRPr sz="1800"/>
          </a:p>
          <a:p>
            <a:pPr indent="-342900" lvl="0" marL="457200" rtl="0" algn="l">
              <a:spcBef>
                <a:spcPts val="0"/>
              </a:spcBef>
              <a:spcAft>
                <a:spcPts val="0"/>
              </a:spcAft>
              <a:buSzPts val="1800"/>
              <a:buChar char="●"/>
            </a:pPr>
            <a:r>
              <a:rPr lang="en-GB" sz="1800"/>
              <a:t>I2C, SPI, I2S – two I2C and three SPI interfaces to hook up all sorts of sensors and peripherals, plus two I2S sound interfaces</a:t>
            </a:r>
            <a:endParaRPr sz="1800"/>
          </a:p>
          <a:p>
            <a:pPr indent="0" lvl="0" marL="0" rtl="0" algn="l">
              <a:spcBef>
                <a:spcPts val="0"/>
              </a:spcBef>
              <a:spcAft>
                <a:spcPts val="0"/>
              </a:spcAft>
              <a:buNone/>
            </a:pPr>
            <a:r>
              <a:rPr lang="en-GB" sz="1800"/>
              <a:t>(more details of these in L5)</a:t>
            </a:r>
            <a:endParaRPr sz="1800"/>
          </a:p>
          <a:p>
            <a:pPr indent="0" lvl="0" marL="0" rtl="0" algn="l">
              <a:spcBef>
                <a:spcPts val="0"/>
              </a:spcBef>
              <a:spcAft>
                <a:spcPts val="0"/>
              </a:spcAft>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2"/>
          <p:cNvSpPr txBox="1"/>
          <p:nvPr>
            <p:ph type="title"/>
          </p:nvPr>
        </p:nvSpPr>
        <p:spPr>
          <a:xfrm>
            <a:off x="977050" y="544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Functional view</a:t>
            </a:r>
            <a:endParaRPr/>
          </a:p>
        </p:txBody>
      </p:sp>
      <p:sp>
        <p:nvSpPr>
          <p:cNvPr id="352" name="Google Shape;352;p62"/>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54" name="Google Shape;354;p62"/>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62"/>
          <p:cNvPicPr preferRelativeResize="0"/>
          <p:nvPr/>
        </p:nvPicPr>
        <p:blipFill>
          <a:blip r:embed="rId3">
            <a:alphaModFix/>
          </a:blip>
          <a:stretch>
            <a:fillRect/>
          </a:stretch>
        </p:blipFill>
        <p:spPr>
          <a:xfrm>
            <a:off x="0" y="700088"/>
            <a:ext cx="9144000" cy="3743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3"/>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3</a:t>
            </a:r>
            <a:endParaRPr/>
          </a:p>
        </p:txBody>
      </p:sp>
      <p:sp>
        <p:nvSpPr>
          <p:cNvPr id="361" name="Google Shape;361;p63"/>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review of model solutions for last week</a:t>
            </a:r>
            <a:endParaRPr sz="1800"/>
          </a:p>
          <a:p>
            <a:pPr indent="-342900" lvl="0" marL="457200" rtl="0" algn="l">
              <a:spcBef>
                <a:spcPts val="1000"/>
              </a:spcBef>
              <a:spcAft>
                <a:spcPts val="0"/>
              </a:spcAft>
              <a:buSzPts val="1800"/>
              <a:buAutoNum type="arabicPeriod"/>
            </a:pPr>
            <a:r>
              <a:rPr lang="en-GB" sz="1800"/>
              <a:t>the IoT hardware space: MCUs on devices and ARM on gateways</a:t>
            </a:r>
            <a:endParaRPr sz="1800"/>
          </a:p>
          <a:p>
            <a:pPr indent="-342900" lvl="0" marL="457200" rtl="0" algn="l">
              <a:spcBef>
                <a:spcPts val="1000"/>
              </a:spcBef>
              <a:spcAft>
                <a:spcPts val="0"/>
              </a:spcAft>
              <a:buSzPts val="1800"/>
              <a:buAutoNum type="arabicPeriod"/>
            </a:pPr>
            <a:r>
              <a:rPr b="1" lang="en-GB" sz="1800"/>
              <a:t>Maker Tech and the implications of digital fabrication</a:t>
            </a:r>
            <a:endParaRPr b="1" sz="1800"/>
          </a:p>
          <a:p>
            <a:pPr indent="-342900" lvl="0" marL="457200" rtl="0" algn="l">
              <a:spcBef>
                <a:spcPts val="1000"/>
              </a:spcBef>
              <a:spcAft>
                <a:spcPts val="0"/>
              </a:spcAft>
              <a:buSzPts val="1800"/>
              <a:buAutoNum type="arabicPeriod"/>
            </a:pPr>
            <a:r>
              <a:rPr lang="en-GB" sz="1800"/>
              <a:t>coding for the IoT: languages for layers; (yet) more on the Arduino (maybe)</a:t>
            </a:r>
            <a:endParaRPr sz="1800"/>
          </a:p>
          <a:p>
            <a:pPr indent="-342900" lvl="0" marL="457200" rtl="0" algn="l">
              <a:spcBef>
                <a:spcPts val="1000"/>
              </a:spcBef>
              <a:spcAft>
                <a:spcPts val="0"/>
              </a:spcAft>
              <a:buSzPts val="1800"/>
              <a:buAutoNum type="arabicPeriod"/>
            </a:pPr>
            <a:r>
              <a:rPr lang="en-GB" sz="1800"/>
              <a:t>meet Andreas, Mr. ESP</a:t>
            </a:r>
            <a:endParaRPr sz="1800"/>
          </a:p>
          <a:p>
            <a:pPr indent="0" lvl="0" marL="0" rtl="0" algn="l">
              <a:spcBef>
                <a:spcPts val="1000"/>
              </a:spcBef>
              <a:spcAft>
                <a:spcPts val="0"/>
              </a:spcAft>
              <a:buNone/>
            </a:pPr>
            <a:r>
              <a:t/>
            </a:r>
            <a:endParaRPr sz="1800"/>
          </a:p>
        </p:txBody>
      </p:sp>
      <p:sp>
        <p:nvSpPr>
          <p:cNvPr id="362" name="Google Shape;362;p63"/>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4"/>
          <p:cNvSpPr txBox="1"/>
          <p:nvPr>
            <p:ph idx="1" type="subTitle"/>
          </p:nvPr>
        </p:nvSpPr>
        <p:spPr>
          <a:xfrm>
            <a:off x="319800" y="579375"/>
            <a:ext cx="8257800" cy="4732500"/>
          </a:xfrm>
          <a:prstGeom prst="rect">
            <a:avLst/>
          </a:prstGeom>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000000"/>
              </a:buClr>
              <a:buSzPts val="1800"/>
              <a:buChar char="●"/>
            </a:pPr>
            <a:r>
              <a:rPr lang="en-GB" sz="1800">
                <a:solidFill>
                  <a:srgbClr val="000000"/>
                </a:solidFill>
              </a:rPr>
              <a:t>Remember when publishing meant dealing with cantankerous editors and the printed page?</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sz="1800">
                <a:solidFill>
                  <a:srgbClr val="000000"/>
                </a:solidFill>
              </a:rPr>
              <a:t>Information sharing has been transformed — and now the same tech is moving from the digital to the physical</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sz="1800">
                <a:solidFill>
                  <a:srgbClr val="000000"/>
                </a:solidFill>
              </a:rPr>
              <a:t>Digital fabrication: on-line models driving manufacturing processes</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sz="1800">
                <a:solidFill>
                  <a:srgbClr val="000000"/>
                </a:solidFill>
              </a:rPr>
              <a:t>Laser cutters, CNC routers, 3D printers, printable circuitry… more and more of our needs can be shared, modified and manipulated in the digital realm</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sz="1800">
                <a:solidFill>
                  <a:srgbClr val="000000"/>
                </a:solidFill>
              </a:rPr>
              <a:t>The potential is vast (there’s =~ an 80%-20% ratio between economic activity in the physical and the virtual realms respectively)</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b="1" lang="en-GB" sz="1800">
                <a:solidFill>
                  <a:srgbClr val="000000"/>
                </a:solidFill>
              </a:rPr>
              <a:t>Maker Tech</a:t>
            </a:r>
            <a:r>
              <a:rPr lang="en-GB" sz="1800">
                <a:solidFill>
                  <a:srgbClr val="000000"/>
                </a:solidFill>
              </a:rPr>
              <a:t>: digital fabrication for small teams</a:t>
            </a:r>
            <a:endParaRPr sz="1800">
              <a:solidFill>
                <a:srgbClr val="000000"/>
              </a:solidFill>
            </a:endParaRPr>
          </a:p>
          <a:p>
            <a:pPr indent="0" lvl="0" marL="0" rtl="0" algn="l">
              <a:spcBef>
                <a:spcPts val="0"/>
              </a:spcBef>
              <a:spcAft>
                <a:spcPts val="1000"/>
              </a:spcAft>
              <a:buNone/>
            </a:pPr>
            <a:r>
              <a:t/>
            </a:r>
            <a:endParaRPr sz="1800">
              <a:solidFill>
                <a:srgbClr val="000000"/>
              </a:solidFill>
            </a:endParaRPr>
          </a:p>
        </p:txBody>
      </p:sp>
      <p:sp>
        <p:nvSpPr>
          <p:cNvPr id="368" name="Google Shape;368;p64"/>
          <p:cNvSpPr txBox="1"/>
          <p:nvPr>
            <p:ph idx="1" type="subTitle"/>
          </p:nvPr>
        </p:nvSpPr>
        <p:spPr>
          <a:xfrm>
            <a:off x="768900" y="12532"/>
            <a:ext cx="7931100" cy="612000"/>
          </a:xfrm>
          <a:prstGeom prst="rect">
            <a:avLst/>
          </a:prstGeom>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000000"/>
                </a:solidFill>
              </a:rPr>
              <a:t>Manufacturing is changing, don’t get left behind!</a:t>
            </a:r>
            <a:endParaRPr>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5"/>
          <p:cNvSpPr txBox="1"/>
          <p:nvPr/>
        </p:nvSpPr>
        <p:spPr>
          <a:xfrm>
            <a:off x="1075600" y="-243250"/>
            <a:ext cx="7042500" cy="13188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1200"/>
              </a:spcAft>
              <a:buClr>
                <a:schemeClr val="dk1"/>
              </a:buClr>
              <a:buSzPts val="1100"/>
              <a:buFont typeface="Arial"/>
              <a:buNone/>
            </a:pPr>
            <a:r>
              <a:rPr lang="en-GB" sz="2800">
                <a:solidFill>
                  <a:srgbClr val="333333"/>
                </a:solidFill>
                <a:highlight>
                  <a:srgbClr val="FFFFFF"/>
                </a:highlight>
              </a:rPr>
              <a:t>[Terms:</a:t>
            </a:r>
            <a:r>
              <a:rPr lang="en-GB" sz="2800">
                <a:solidFill>
                  <a:srgbClr val="333333"/>
                </a:solidFill>
                <a:highlight>
                  <a:srgbClr val="FFFFFF"/>
                </a:highlight>
              </a:rPr>
              <a:t> </a:t>
            </a:r>
            <a:r>
              <a:rPr i="1" lang="en-GB" sz="2800">
                <a:solidFill>
                  <a:srgbClr val="333333"/>
                </a:solidFill>
                <a:highlight>
                  <a:srgbClr val="FFFFFF"/>
                </a:highlight>
              </a:rPr>
              <a:t>Maker Technology</a:t>
            </a:r>
            <a:r>
              <a:rPr lang="en-GB" sz="2800">
                <a:solidFill>
                  <a:srgbClr val="333333"/>
                </a:solidFill>
                <a:highlight>
                  <a:srgbClr val="FFFFFF"/>
                </a:highlight>
              </a:rPr>
              <a:t> and </a:t>
            </a:r>
            <a:r>
              <a:rPr i="1" lang="en-GB" sz="2800">
                <a:solidFill>
                  <a:srgbClr val="333333"/>
                </a:solidFill>
                <a:highlight>
                  <a:srgbClr val="FFFFFF"/>
                </a:highlight>
              </a:rPr>
              <a:t>Making</a:t>
            </a:r>
            <a:r>
              <a:rPr lang="en-GB" sz="2800">
                <a:solidFill>
                  <a:srgbClr val="333333"/>
                </a:solidFill>
                <a:highlight>
                  <a:srgbClr val="FFFFFF"/>
                </a:highlight>
              </a:rPr>
              <a:t>]</a:t>
            </a:r>
            <a:endParaRPr sz="2800"/>
          </a:p>
        </p:txBody>
      </p:sp>
      <p:sp>
        <p:nvSpPr>
          <p:cNvPr id="374" name="Google Shape;374;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75" name="Google Shape;375;p65"/>
          <p:cNvSpPr txBox="1"/>
          <p:nvPr/>
        </p:nvSpPr>
        <p:spPr>
          <a:xfrm>
            <a:off x="71775" y="471775"/>
            <a:ext cx="9072300" cy="13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GB">
                <a:solidFill>
                  <a:srgbClr val="333333"/>
                </a:solidFill>
                <a:highlight>
                  <a:srgbClr val="FFFFFF"/>
                </a:highlight>
                <a:latin typeface="Ubuntu"/>
                <a:ea typeface="Ubuntu"/>
                <a:cs typeface="Ubuntu"/>
                <a:sym typeface="Ubuntu"/>
              </a:rPr>
              <a:t>Maker Technology </a:t>
            </a:r>
            <a:r>
              <a:rPr lang="en-GB">
                <a:solidFill>
                  <a:srgbClr val="333333"/>
                </a:solidFill>
                <a:highlight>
                  <a:srgbClr val="FFFFFF"/>
                </a:highlight>
                <a:latin typeface="Ubuntu"/>
                <a:ea typeface="Ubuntu"/>
                <a:cs typeface="Ubuntu"/>
                <a:sym typeface="Ubuntu"/>
              </a:rPr>
              <a:t>is shorthand for the new wave of fabrication machines that work off digital design models (especially 3D printers, laser cutters and CNC routers). The maker culture that has arisen around the technology mixes in a smorgasbord of other manufacturing innovations ranging from wearable electronics with the Arduino to open computing on the Raspberry Pi, and also pulls in more traditional craft techniques ranging from needlework to furniture making.</a:t>
            </a:r>
            <a:endParaRPr>
              <a:solidFill>
                <a:srgbClr val="333333"/>
              </a:solidFill>
              <a:highlight>
                <a:srgbClr val="FFFFFF"/>
              </a:highlight>
              <a:latin typeface="Ubuntu"/>
              <a:ea typeface="Ubuntu"/>
              <a:cs typeface="Ubuntu"/>
              <a:sym typeface="Ubuntu"/>
            </a:endParaRPr>
          </a:p>
          <a:p>
            <a:pPr indent="0" lvl="0" marL="0" rtl="0" algn="l">
              <a:spcBef>
                <a:spcPts val="1000"/>
              </a:spcBef>
              <a:spcAft>
                <a:spcPts val="0"/>
              </a:spcAft>
              <a:buClr>
                <a:schemeClr val="dk1"/>
              </a:buClr>
              <a:buSzPts val="1100"/>
              <a:buFont typeface="Arial"/>
              <a:buNone/>
            </a:pPr>
            <a:r>
              <a:rPr lang="en-GB">
                <a:solidFill>
                  <a:srgbClr val="333333"/>
                </a:solidFill>
                <a:highlight>
                  <a:srgbClr val="FFFFFF"/>
                </a:highlight>
                <a:latin typeface="Ubuntu"/>
                <a:ea typeface="Ubuntu"/>
                <a:cs typeface="Ubuntu"/>
                <a:sym typeface="Ubuntu"/>
              </a:rPr>
              <a:t>In addition notable permeations connect </a:t>
            </a:r>
            <a:r>
              <a:rPr i="1" lang="en-GB">
                <a:solidFill>
                  <a:srgbClr val="333333"/>
                </a:solidFill>
                <a:highlight>
                  <a:srgbClr val="FFFFFF"/>
                </a:highlight>
                <a:latin typeface="Ubuntu"/>
                <a:ea typeface="Ubuntu"/>
                <a:cs typeface="Ubuntu"/>
                <a:sym typeface="Ubuntu"/>
              </a:rPr>
              <a:t>Making</a:t>
            </a:r>
            <a:r>
              <a:rPr lang="en-GB">
                <a:solidFill>
                  <a:srgbClr val="333333"/>
                </a:solidFill>
                <a:highlight>
                  <a:srgbClr val="FFFFFF"/>
                </a:highlight>
                <a:latin typeface="Ubuntu"/>
                <a:ea typeface="Ubuntu"/>
                <a:cs typeface="Ubuntu"/>
                <a:sym typeface="Ubuntu"/>
              </a:rPr>
              <a:t> to the Internet of Things and to Cloud Computing and Big Data. The projects of Open Source software (and more recently Open Hardware) have been core to the genesis of the culture. Crowdfunding, community interest and social enterprise are also common correlates.</a:t>
            </a:r>
            <a:endParaRPr>
              <a:solidFill>
                <a:srgbClr val="333333"/>
              </a:solidFill>
              <a:highlight>
                <a:srgbClr val="FFFFFF"/>
              </a:highlight>
              <a:latin typeface="Ubuntu"/>
              <a:ea typeface="Ubuntu"/>
              <a:cs typeface="Ubuntu"/>
              <a:sym typeface="Ubuntu"/>
            </a:endParaRPr>
          </a:p>
          <a:p>
            <a:pPr indent="0" lvl="0" marL="0" rtl="0" algn="l">
              <a:spcBef>
                <a:spcPts val="1000"/>
              </a:spcBef>
              <a:spcAft>
                <a:spcPts val="0"/>
              </a:spcAft>
              <a:buClr>
                <a:schemeClr val="dk1"/>
              </a:buClr>
              <a:buSzPts val="1100"/>
              <a:buFont typeface="Arial"/>
              <a:buNone/>
            </a:pPr>
            <a:r>
              <a:rPr lang="en-GB">
                <a:solidFill>
                  <a:srgbClr val="333333"/>
                </a:solidFill>
                <a:highlight>
                  <a:srgbClr val="FFFFFF"/>
                </a:highlight>
                <a:latin typeface="Ubuntu"/>
                <a:ea typeface="Ubuntu"/>
                <a:cs typeface="Ubuntu"/>
                <a:sym typeface="Ubuntu"/>
              </a:rPr>
              <a:t>There is widespread recognition that digital fabrication technology and its social expressions herald changes of a similar scale to those that have emerged with the web. For example:</a:t>
            </a:r>
            <a:endParaRPr>
              <a:solidFill>
                <a:srgbClr val="333333"/>
              </a:solidFill>
              <a:highlight>
                <a:srgbClr val="FFFFFF"/>
              </a:highlight>
              <a:latin typeface="Ubuntu"/>
              <a:ea typeface="Ubuntu"/>
              <a:cs typeface="Ubuntu"/>
              <a:sym typeface="Ubuntu"/>
            </a:endParaRPr>
          </a:p>
          <a:p>
            <a:pPr indent="0" lvl="0" marL="457200" rtl="0" algn="l">
              <a:spcBef>
                <a:spcPts val="1000"/>
              </a:spcBef>
              <a:spcAft>
                <a:spcPts val="0"/>
              </a:spcAft>
              <a:buClr>
                <a:schemeClr val="dk1"/>
              </a:buClr>
              <a:buSzPts val="1100"/>
              <a:buFont typeface="Arial"/>
              <a:buNone/>
            </a:pPr>
            <a:r>
              <a:rPr lang="en-GB">
                <a:solidFill>
                  <a:srgbClr val="333333"/>
                </a:solidFill>
                <a:highlight>
                  <a:srgbClr val="FFFFFF"/>
                </a:highlight>
                <a:latin typeface="Ubuntu"/>
                <a:ea typeface="Ubuntu"/>
                <a:cs typeface="Ubuntu"/>
                <a:sym typeface="Ubuntu"/>
              </a:rPr>
              <a:t>If the last 20 years were about the web, then the next 20 will be about </a:t>
            </a:r>
            <a:r>
              <a:rPr i="1" lang="en-GB">
                <a:solidFill>
                  <a:srgbClr val="333333"/>
                </a:solidFill>
                <a:highlight>
                  <a:srgbClr val="FFFFFF"/>
                </a:highlight>
                <a:latin typeface="Ubuntu"/>
                <a:ea typeface="Ubuntu"/>
                <a:cs typeface="Ubuntu"/>
                <a:sym typeface="Ubuntu"/>
              </a:rPr>
              <a:t>making</a:t>
            </a:r>
            <a:r>
              <a:rPr lang="en-GB">
                <a:solidFill>
                  <a:srgbClr val="333333"/>
                </a:solidFill>
                <a:highlight>
                  <a:srgbClr val="FFFFFF"/>
                </a:highlight>
                <a:latin typeface="Ubuntu"/>
                <a:ea typeface="Ubuntu"/>
                <a:cs typeface="Ubuntu"/>
                <a:sym typeface="Ubuntu"/>
              </a:rPr>
              <a:t>. Why? Ubiquitous connectivity and decentralised production in the virtual world have made revolutions in creating, sharing and consuming on-line. Now the same changes are starting in the world of manufacturing, and the consequences are likely to be massive.</a:t>
            </a:r>
            <a:endParaRPr>
              <a:solidFill>
                <a:srgbClr val="333333"/>
              </a:solidFill>
              <a:highlight>
                <a:srgbClr val="FFFFFF"/>
              </a:highlight>
              <a:latin typeface="Ubuntu"/>
              <a:ea typeface="Ubuntu"/>
              <a:cs typeface="Ubuntu"/>
              <a:sym typeface="Ubuntu"/>
            </a:endParaRPr>
          </a:p>
          <a:p>
            <a:pPr indent="0" lvl="0" marL="0" rtl="0" algn="l">
              <a:spcBef>
                <a:spcPts val="1000"/>
              </a:spcBef>
              <a:spcAft>
                <a:spcPts val="1000"/>
              </a:spcAft>
              <a:buClr>
                <a:schemeClr val="dk1"/>
              </a:buClr>
              <a:buSzPts val="1100"/>
              <a:buFont typeface="Arial"/>
              <a:buNone/>
            </a:pPr>
            <a:r>
              <a:rPr lang="en-GB">
                <a:solidFill>
                  <a:srgbClr val="333333"/>
                </a:solidFill>
                <a:highlight>
                  <a:srgbClr val="FFFFFF"/>
                </a:highlight>
                <a:latin typeface="Ubuntu"/>
                <a:ea typeface="Ubuntu"/>
                <a:cs typeface="Ubuntu"/>
                <a:sym typeface="Ubuntu"/>
              </a:rPr>
              <a:t>Indeed the resource devoted to the (re)creation of the physical conditions of human existence is much larger than that devoted to information management (there’s perhaps an 80-20 ratio between economic activity devoted to atoms in comparison to bits). We might therefore expect even more dramatic disruption to our social models in the next period as a result.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81" name="Google Shape;381;p66"/>
          <p:cNvSpPr txBox="1"/>
          <p:nvPr/>
        </p:nvSpPr>
        <p:spPr>
          <a:xfrm>
            <a:off x="126025" y="553925"/>
            <a:ext cx="4223100" cy="59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lang="en-GB">
                <a:solidFill>
                  <a:srgbClr val="333333"/>
                </a:solidFill>
                <a:highlight>
                  <a:srgbClr val="FFFFFF"/>
                </a:highlight>
              </a:rPr>
              <a:t>“</a:t>
            </a:r>
            <a:r>
              <a:rPr lang="en-GB">
                <a:solidFill>
                  <a:srgbClr val="333333"/>
                </a:solidFill>
                <a:highlight>
                  <a:srgbClr val="FFFFFF"/>
                </a:highlight>
              </a:rPr>
              <a:t>Sheffield has a strong track-record of open access makerspaces, including one of the UK’s first at Access Space (and more recent entrants including Sheffield Hardware Hackers and Makers in Portland Works, Roco on Glossop Road (now closed) or Makers on the Edge on Abbeydale Road, the iForge). These spaces have had a fantastic impact in enabling new educational opportunity and new manufacturing enterprise in the city. For example Pimoroni Ltd., a Sheffield SME that now employs around 30 staff (and has contributed equipment for our work), started with a competition entry to design the logo for the Raspberry Pi and the creation of a case for the Pi board that was prototyped on an Access Space laser cutter. This case still sells in 10s of 000s at prices far above those of the equivalent imported goods, demonstrating the disruptive power of Maker Tech.”</a:t>
            </a:r>
            <a:endParaRPr/>
          </a:p>
        </p:txBody>
      </p:sp>
      <p:sp>
        <p:nvSpPr>
          <p:cNvPr id="382" name="Google Shape;382;p66"/>
          <p:cNvSpPr txBox="1"/>
          <p:nvPr/>
        </p:nvSpPr>
        <p:spPr>
          <a:xfrm>
            <a:off x="4397750" y="296000"/>
            <a:ext cx="4793100" cy="59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Democratise... Stuff?!</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The net revolutionised the virtual world and made publishing free to all.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But what about the chair your sit on or the fork you eat with?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What if we get the ability to share, modify and build anything, in the same way we can publish anything? What if we can democratise the creation and recreation of the physical world? What if we can devolve manufacturing to individuals and communities?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Perhaps we would make different choices? Perhaps we wouldn't put profit before people? Perhaps we would stop melting the poles...?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Less optimistically, perhaps we’ll have to make everything locally because of protectionist conflict, transport breakdown, economic fragmentation….</a:t>
            </a:r>
            <a:endParaRPr/>
          </a:p>
        </p:txBody>
      </p:sp>
      <p:sp>
        <p:nvSpPr>
          <p:cNvPr id="383" name="Google Shape;383;p66"/>
          <p:cNvSpPr txBox="1"/>
          <p:nvPr>
            <p:ph idx="4294967295" type="title"/>
          </p:nvPr>
        </p:nvSpPr>
        <p:spPr>
          <a:xfrm>
            <a:off x="845100" y="0"/>
            <a:ext cx="7725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Making in Sheffield; democratising manufacture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7"/>
          <p:cNvSpPr txBox="1"/>
          <p:nvPr>
            <p:ph idx="1" type="subTitle"/>
          </p:nvPr>
        </p:nvSpPr>
        <p:spPr>
          <a:xfrm>
            <a:off x="319800" y="731775"/>
            <a:ext cx="8257800" cy="4732500"/>
          </a:xfrm>
          <a:prstGeom prst="rect">
            <a:avLst/>
          </a:prstGeom>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000000"/>
              </a:buClr>
              <a:buSzPts val="1800"/>
              <a:buChar char="●"/>
            </a:pPr>
            <a:r>
              <a:rPr lang="en-GB" sz="1800">
                <a:solidFill>
                  <a:srgbClr val="000000"/>
                </a:solidFill>
              </a:rPr>
              <a:t>The story of how digital fabrication will play out in the world of electronics (and embedded computation &amp; the IoT) is yet to be played out. Opportunity!</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sz="1800">
                <a:solidFill>
                  <a:srgbClr val="000000"/>
                </a:solidFill>
              </a:rPr>
              <a:t>There’s a big-and-getting-bigger cross-over between Maker tech and electronic prototyping.</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sz="1800">
                <a:solidFill>
                  <a:srgbClr val="000000"/>
                </a:solidFill>
              </a:rPr>
              <a:t>The board we’re using is from a Maker tech company.</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GB" sz="1800">
                <a:solidFill>
                  <a:srgbClr val="000000"/>
                </a:solidFill>
              </a:rPr>
              <a:t>Everyone needs to know about this stuff :)</a:t>
            </a:r>
            <a:endParaRPr sz="1800">
              <a:solidFill>
                <a:srgbClr val="000000"/>
              </a:solidFill>
            </a:endParaRPr>
          </a:p>
          <a:p>
            <a:pPr indent="0" lvl="0" marL="0" rtl="0" algn="l">
              <a:spcBef>
                <a:spcPts val="0"/>
              </a:spcBef>
              <a:spcAft>
                <a:spcPts val="1000"/>
              </a:spcAft>
              <a:buNone/>
            </a:pPr>
            <a:r>
              <a:t/>
            </a:r>
            <a:endParaRPr sz="1800">
              <a:solidFill>
                <a:srgbClr val="000000"/>
              </a:solidFill>
            </a:endParaRPr>
          </a:p>
        </p:txBody>
      </p:sp>
      <p:sp>
        <p:nvSpPr>
          <p:cNvPr id="389" name="Google Shape;389;p67"/>
          <p:cNvSpPr txBox="1"/>
          <p:nvPr>
            <p:ph idx="1" type="subTitle"/>
          </p:nvPr>
        </p:nvSpPr>
        <p:spPr>
          <a:xfrm>
            <a:off x="997500" y="12532"/>
            <a:ext cx="7931100" cy="612000"/>
          </a:xfrm>
          <a:prstGeom prst="rect">
            <a:avLst/>
          </a:prstGeom>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000000"/>
                </a:solidFill>
              </a:rPr>
              <a:t>Why is </a:t>
            </a:r>
            <a:r>
              <a:rPr i="1" lang="en-GB">
                <a:solidFill>
                  <a:srgbClr val="000000"/>
                </a:solidFill>
              </a:rPr>
              <a:t>Making</a:t>
            </a:r>
            <a:r>
              <a:rPr lang="en-GB">
                <a:solidFill>
                  <a:srgbClr val="000000"/>
                </a:solidFill>
              </a:rPr>
              <a:t> relevant here?</a:t>
            </a:r>
            <a:endParaRPr>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8"/>
          <p:cNvSpPr txBox="1"/>
          <p:nvPr>
            <p:ph idx="1" type="body"/>
          </p:nvPr>
        </p:nvSpPr>
        <p:spPr>
          <a:xfrm>
            <a:off x="899850" y="5143500"/>
            <a:ext cx="7344300" cy="7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Also on Vimeo: </a:t>
            </a:r>
            <a:r>
              <a:rPr lang="en-GB" sz="1800" u="sng">
                <a:solidFill>
                  <a:schemeClr val="hlink"/>
                </a:solidFill>
                <a:hlinkClick r:id="rId3"/>
              </a:rPr>
              <a:t>h</a:t>
            </a:r>
            <a:r>
              <a:rPr lang="en-GB" sz="1800" u="sng">
                <a:solidFill>
                  <a:schemeClr val="hlink"/>
                </a:solidFill>
                <a:hlinkClick r:id="rId4"/>
              </a:rPr>
              <a:t>ttps://vimeo.com/216975153</a:t>
            </a:r>
            <a:endParaRPr sz="1800"/>
          </a:p>
          <a:p>
            <a:pPr indent="0" lvl="0" marL="0" rtl="0" algn="l">
              <a:spcBef>
                <a:spcPts val="0"/>
              </a:spcBef>
              <a:spcAft>
                <a:spcPts val="0"/>
              </a:spcAft>
              <a:buNone/>
            </a:pPr>
            <a:r>
              <a:t/>
            </a:r>
            <a:endParaRPr sz="1800"/>
          </a:p>
        </p:txBody>
      </p:sp>
      <p:sp>
        <p:nvSpPr>
          <p:cNvPr id="395" name="Google Shape;395;p68"/>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Boards for Makers</a:t>
            </a:r>
            <a:r>
              <a:rPr lang="en-GB"/>
              <a:t>: Feather &amp; Featherwing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96" name="Google Shape;396;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Code.org Circuit Playground Educators' Pack (0:11) https://www.adafruit.com/product/3399?utm_source=youtube&amp;utm_medium=videodescrip&amp;utm_campaign=newproducts&#10;&#10;Makedo Scru Add-On Pack (2:04) https://www.adafruit.com/product/3510?utm_source=youtube&amp;utm_medium=videodescrip&amp;utm_campaign=newproducts&#10;&#10;Adafruit HUZZAH32 – ESP32 Feather Board (4:03) https://www.adafruit.com/product/3405?utm_source=youtube&amp;utm_medium=videodescrip&amp;utm_campaign=newproducts&#10;&#10;-----------------------------------------&#10;&#10;Shop for all of the newest Adafruit products: http://adafru.it/new&#10;&#10;Visit the Adafruit shop online - http://www.adafruit.com&#10;&#10;Subscribe to Adafruit on YouTube: http://adafru.it/subscribe&#10;&#10;Join our weekly Show &amp; Tell on G+ Hangouts On Air: http://adafru.it/showtell&#10;&#10;Watch our latest project videos: http://adafru.it/latest&#10;&#10;New tutorials on the Adafruit Learning System: http://learn.adafruit.com/&#10;&#10;Music by bartlebeats: http://soundcloud.com/bartlebeats&#10;-----------------------------------------" id="397" name="Google Shape;397;p68" title="New Products 5/10/2017">
            <a:hlinkClick r:id="rId5"/>
          </p:cNvPr>
          <p:cNvPicPr preferRelativeResize="0"/>
          <p:nvPr/>
        </p:nvPicPr>
        <p:blipFill>
          <a:blip r:embed="rId6">
            <a:alphaModFix/>
          </a:blip>
          <a:stretch>
            <a:fillRect/>
          </a:stretch>
        </p:blipFill>
        <p:spPr>
          <a:xfrm>
            <a:off x="1699100" y="595077"/>
            <a:ext cx="5745800" cy="4309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9"/>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3</a:t>
            </a:r>
            <a:endParaRPr/>
          </a:p>
        </p:txBody>
      </p:sp>
      <p:sp>
        <p:nvSpPr>
          <p:cNvPr id="403" name="Google Shape;403;p69"/>
          <p:cNvSpPr txBox="1"/>
          <p:nvPr>
            <p:ph idx="1" type="body"/>
          </p:nvPr>
        </p:nvSpPr>
        <p:spPr>
          <a:xfrm>
            <a:off x="278250" y="626075"/>
            <a:ext cx="88656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review of model solutions for last week</a:t>
            </a:r>
            <a:endParaRPr sz="1800"/>
          </a:p>
          <a:p>
            <a:pPr indent="-342900" lvl="0" marL="457200" rtl="0" algn="l">
              <a:spcBef>
                <a:spcPts val="1000"/>
              </a:spcBef>
              <a:spcAft>
                <a:spcPts val="0"/>
              </a:spcAft>
              <a:buSzPts val="1800"/>
              <a:buAutoNum type="arabicPeriod"/>
            </a:pPr>
            <a:r>
              <a:rPr lang="en-GB" sz="1800"/>
              <a:t>the IoT hardware space: MCUs on devices and ARM on gateways</a:t>
            </a:r>
            <a:endParaRPr sz="1800"/>
          </a:p>
          <a:p>
            <a:pPr indent="-342900" lvl="0" marL="457200" rtl="0" algn="l">
              <a:spcBef>
                <a:spcPts val="1000"/>
              </a:spcBef>
              <a:spcAft>
                <a:spcPts val="0"/>
              </a:spcAft>
              <a:buSzPts val="1800"/>
              <a:buAutoNum type="arabicPeriod"/>
            </a:pPr>
            <a:r>
              <a:rPr lang="en-GB" sz="1800"/>
              <a:t>Maker Tech and the implications of digital fabrication</a:t>
            </a:r>
            <a:endParaRPr sz="1800"/>
          </a:p>
          <a:p>
            <a:pPr indent="-342900" lvl="0" marL="457200" rtl="0" algn="l">
              <a:spcBef>
                <a:spcPts val="1000"/>
              </a:spcBef>
              <a:spcAft>
                <a:spcPts val="0"/>
              </a:spcAft>
              <a:buSzPts val="1800"/>
              <a:buAutoNum type="arabicPeriod"/>
            </a:pPr>
            <a:r>
              <a:rPr b="1" lang="en-GB" sz="1800"/>
              <a:t>coding for the IoT: languages for layers; (yet) more on the Arduino (maybe)</a:t>
            </a:r>
            <a:endParaRPr b="1" sz="1800"/>
          </a:p>
          <a:p>
            <a:pPr indent="-342900" lvl="0" marL="457200" rtl="0" algn="l">
              <a:spcBef>
                <a:spcPts val="1000"/>
              </a:spcBef>
              <a:spcAft>
                <a:spcPts val="0"/>
              </a:spcAft>
              <a:buSzPts val="1800"/>
              <a:buAutoNum type="arabicPeriod"/>
            </a:pPr>
            <a:r>
              <a:rPr lang="en-GB" sz="1800"/>
              <a:t>meet Andreas, Mr. ESP</a:t>
            </a:r>
            <a:endParaRPr sz="1800"/>
          </a:p>
          <a:p>
            <a:pPr indent="0" lvl="0" marL="0" rtl="0" algn="l">
              <a:spcBef>
                <a:spcPts val="1000"/>
              </a:spcBef>
              <a:spcAft>
                <a:spcPts val="0"/>
              </a:spcAft>
              <a:buNone/>
            </a:pPr>
            <a:r>
              <a:t/>
            </a:r>
            <a:endParaRPr sz="1800"/>
          </a:p>
        </p:txBody>
      </p:sp>
      <p:sp>
        <p:nvSpPr>
          <p:cNvPr id="404" name="Google Shape;404;p69"/>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70"/>
          <p:cNvSpPr txBox="1"/>
          <p:nvPr>
            <p:ph idx="1" type="body"/>
          </p:nvPr>
        </p:nvSpPr>
        <p:spPr>
          <a:xfrm>
            <a:off x="623550" y="899875"/>
            <a:ext cx="39627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According to one survey:</a:t>
            </a:r>
            <a:endParaRPr sz="1800"/>
          </a:p>
          <a:p>
            <a:pPr indent="-342900" lvl="0" marL="457200" rtl="0" algn="l">
              <a:spcBef>
                <a:spcPts val="1000"/>
              </a:spcBef>
              <a:spcAft>
                <a:spcPts val="0"/>
              </a:spcAft>
              <a:buSzPts val="1800"/>
              <a:buChar char="●"/>
            </a:pPr>
            <a:r>
              <a:rPr lang="en-GB" sz="1800"/>
              <a:t>between them C and C++ are used by &gt;80% of IoT programmers (</a:t>
            </a:r>
            <a:r>
              <a:rPr b="1" lang="en-GB" sz="1800"/>
              <a:t>devices</a:t>
            </a:r>
            <a:r>
              <a:rPr lang="en-GB" sz="1800"/>
              <a:t> only?)</a:t>
            </a:r>
            <a:endParaRPr sz="1800"/>
          </a:p>
          <a:p>
            <a:pPr indent="-342900" lvl="0" marL="457200" rtl="0" algn="l">
              <a:spcBef>
                <a:spcPts val="0"/>
              </a:spcBef>
              <a:spcAft>
                <a:spcPts val="0"/>
              </a:spcAft>
              <a:buSzPts val="1800"/>
              <a:buChar char="●"/>
            </a:pPr>
            <a:r>
              <a:rPr lang="en-GB" sz="1800"/>
              <a:t>Node.js plus Javascript are also a good bet, used by 70%.</a:t>
            </a:r>
            <a:endParaRPr sz="1800"/>
          </a:p>
          <a:p>
            <a:pPr indent="-342900" lvl="0" marL="457200" rtl="0" algn="l">
              <a:spcBef>
                <a:spcPts val="0"/>
              </a:spcBef>
              <a:spcAft>
                <a:spcPts val="0"/>
              </a:spcAft>
              <a:buSzPts val="1800"/>
              <a:buChar char="●"/>
            </a:pPr>
            <a:r>
              <a:rPr lang="en-GB" sz="1800"/>
              <a:t>Java: &gt;50%</a:t>
            </a:r>
            <a:endParaRPr sz="1800"/>
          </a:p>
          <a:p>
            <a:pPr indent="-342900" lvl="0" marL="457200" rtl="0" algn="l">
              <a:spcBef>
                <a:spcPts val="0"/>
              </a:spcBef>
              <a:spcAft>
                <a:spcPts val="0"/>
              </a:spcAft>
              <a:buSzPts val="1800"/>
              <a:buChar char="●"/>
            </a:pPr>
            <a:r>
              <a:rPr lang="en-GB" sz="1800"/>
              <a:t>Python: nearly 40%</a:t>
            </a:r>
            <a:endParaRPr sz="1800"/>
          </a:p>
          <a:p>
            <a:pPr indent="0" lvl="0" marL="0" rtl="0" algn="l">
              <a:spcBef>
                <a:spcPts val="1000"/>
              </a:spcBef>
              <a:spcAft>
                <a:spcPts val="0"/>
              </a:spcAft>
              <a:buNone/>
            </a:pPr>
            <a:r>
              <a:rPr lang="en-GB" sz="1800"/>
              <a:t>COM3505: both C and C++ (as implemented in the Arduino and Xtensa toolchains)</a:t>
            </a:r>
            <a:endParaRPr sz="1800"/>
          </a:p>
          <a:p>
            <a:pPr indent="0" lvl="0" marL="0" rtl="0" algn="l">
              <a:spcBef>
                <a:spcPts val="0"/>
              </a:spcBef>
              <a:spcAft>
                <a:spcPts val="0"/>
              </a:spcAft>
              <a:buNone/>
            </a:pPr>
            <a:r>
              <a:t/>
            </a:r>
            <a:endParaRPr sz="1800"/>
          </a:p>
        </p:txBody>
      </p:sp>
      <p:sp>
        <p:nvSpPr>
          <p:cNvPr id="410" name="Google Shape;410;p70"/>
          <p:cNvSpPr txBox="1"/>
          <p:nvPr>
            <p:ph type="title"/>
          </p:nvPr>
        </p:nvSpPr>
        <p:spPr>
          <a:xfrm>
            <a:off x="997500" y="-53825"/>
            <a:ext cx="7400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[What else do we need to learn?</a:t>
            </a:r>
            <a:endParaRPr/>
          </a:p>
          <a:p>
            <a:pPr indent="0" lvl="0" marL="0" rtl="0" algn="l">
              <a:spcBef>
                <a:spcPts val="0"/>
              </a:spcBef>
              <a:spcAft>
                <a:spcPts val="0"/>
              </a:spcAft>
              <a:buNone/>
            </a:pPr>
            <a:r>
              <a:rPr lang="en-GB"/>
              <a:t>Which programming language(s) for IoT? (1)]</a:t>
            </a:r>
            <a:endParaRPr/>
          </a:p>
        </p:txBody>
      </p:sp>
      <p:sp>
        <p:nvSpPr>
          <p:cNvPr id="411" name="Google Shape;411;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IoT-programming-languages-graph.png" id="412" name="Google Shape;412;p70">
            <a:hlinkClick r:id="rId3"/>
          </p:cNvPr>
          <p:cNvPicPr preferRelativeResize="0"/>
          <p:nvPr/>
        </p:nvPicPr>
        <p:blipFill>
          <a:blip r:embed="rId4">
            <a:alphaModFix/>
          </a:blip>
          <a:stretch>
            <a:fillRect/>
          </a:stretch>
        </p:blipFill>
        <p:spPr>
          <a:xfrm>
            <a:off x="4198282" y="832290"/>
            <a:ext cx="4866695" cy="424363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71"/>
          <p:cNvSpPr txBox="1"/>
          <p:nvPr>
            <p:ph idx="1" type="body"/>
          </p:nvPr>
        </p:nvSpPr>
        <p:spPr>
          <a:xfrm>
            <a:off x="623550" y="899875"/>
            <a:ext cx="3962700" cy="15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What does Python or Java or Node need that C or C++ doesn’t? </a:t>
            </a:r>
            <a:endParaRPr sz="1800"/>
          </a:p>
        </p:txBody>
      </p:sp>
      <p:sp>
        <p:nvSpPr>
          <p:cNvPr id="418" name="Google Shape;418;p71"/>
          <p:cNvSpPr txBox="1"/>
          <p:nvPr>
            <p:ph type="title"/>
          </p:nvPr>
        </p:nvSpPr>
        <p:spPr>
          <a:xfrm>
            <a:off x="997500" y="-53833"/>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Loading and language</a:t>
            </a:r>
            <a:endParaRPr/>
          </a:p>
        </p:txBody>
      </p:sp>
      <p:sp>
        <p:nvSpPr>
          <p:cNvPr id="419" name="Google Shape;419;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20" name="Google Shape;420;p71"/>
          <p:cNvSpPr txBox="1"/>
          <p:nvPr>
            <p:ph idx="1" type="body"/>
          </p:nvPr>
        </p:nvSpPr>
        <p:spPr>
          <a:xfrm>
            <a:off x="623550" y="2042875"/>
            <a:ext cx="3962700" cy="190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Runtime interpreter (at least of bytecode)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Which means that on IoT devices….?</a:t>
            </a:r>
            <a:endParaRPr sz="1800"/>
          </a:p>
        </p:txBody>
      </p:sp>
      <p:pic>
        <p:nvPicPr>
          <p:cNvPr id="421" name="Google Shape;421;p71"/>
          <p:cNvPicPr preferRelativeResize="0"/>
          <p:nvPr/>
        </p:nvPicPr>
        <p:blipFill>
          <a:blip r:embed="rId3">
            <a:alphaModFix/>
          </a:blip>
          <a:stretch>
            <a:fillRect/>
          </a:stretch>
        </p:blipFill>
        <p:spPr>
          <a:xfrm>
            <a:off x="4510050" y="976067"/>
            <a:ext cx="4252950" cy="3189713"/>
          </a:xfrm>
          <a:prstGeom prst="rect">
            <a:avLst/>
          </a:prstGeom>
          <a:noFill/>
          <a:ln>
            <a:noFill/>
          </a:ln>
        </p:spPr>
      </p:pic>
      <p:sp>
        <p:nvSpPr>
          <p:cNvPr id="422" name="Google Shape;422;p71"/>
          <p:cNvSpPr txBox="1"/>
          <p:nvPr>
            <p:ph idx="1" type="body"/>
          </p:nvPr>
        </p:nvSpPr>
        <p:spPr>
          <a:xfrm>
            <a:off x="623550" y="4024075"/>
            <a:ext cx="3962700" cy="15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Additional load; which means…? (Think power, cost, constraints…)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2"/>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a:r>
            <a:r>
              <a:rPr lang="en-GB"/>
              <a:t>Which programming language(s)? (2)]</a:t>
            </a:r>
            <a:endParaRPr/>
          </a:p>
        </p:txBody>
      </p:sp>
      <p:sp>
        <p:nvSpPr>
          <p:cNvPr id="428" name="Google Shape;428;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IoT-Programming-Languages-Constrained-Devices.png" id="429" name="Google Shape;429;p72">
            <a:hlinkClick r:id="rId3"/>
          </p:cNvPr>
          <p:cNvPicPr preferRelativeResize="0"/>
          <p:nvPr/>
        </p:nvPicPr>
        <p:blipFill>
          <a:blip r:embed="rId4">
            <a:alphaModFix/>
          </a:blip>
          <a:stretch>
            <a:fillRect/>
          </a:stretch>
        </p:blipFill>
        <p:spPr>
          <a:xfrm>
            <a:off x="762000" y="747467"/>
            <a:ext cx="7544238" cy="424363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3"/>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a:r>
            <a:r>
              <a:rPr lang="en-GB"/>
              <a:t>Which programming language(s)? (3)]</a:t>
            </a:r>
            <a:endParaRPr/>
          </a:p>
        </p:txBody>
      </p:sp>
      <p:sp>
        <p:nvSpPr>
          <p:cNvPr id="435" name="Google Shape;435;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IoT-Programming-Languages-Gateways.png" id="436" name="Google Shape;436;p73">
            <a:hlinkClick r:id="rId3"/>
          </p:cNvPr>
          <p:cNvPicPr preferRelativeResize="0"/>
          <p:nvPr/>
        </p:nvPicPr>
        <p:blipFill>
          <a:blip r:embed="rId4">
            <a:alphaModFix/>
          </a:blip>
          <a:stretch>
            <a:fillRect/>
          </a:stretch>
        </p:blipFill>
        <p:spPr>
          <a:xfrm>
            <a:off x="762000" y="671267"/>
            <a:ext cx="7544238" cy="424363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4"/>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a:r>
            <a:r>
              <a:rPr lang="en-GB"/>
              <a:t>Which programming language(s)? (4)]</a:t>
            </a:r>
            <a:endParaRPr/>
          </a:p>
        </p:txBody>
      </p:sp>
      <p:sp>
        <p:nvSpPr>
          <p:cNvPr id="442" name="Google Shape;442;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IoT-Programming-Languages-Cloud.png" id="443" name="Google Shape;443;p74">
            <a:hlinkClick r:id="rId3"/>
          </p:cNvPr>
          <p:cNvPicPr preferRelativeResize="0"/>
          <p:nvPr/>
        </p:nvPicPr>
        <p:blipFill>
          <a:blip r:embed="rId4">
            <a:alphaModFix/>
          </a:blip>
          <a:stretch>
            <a:fillRect/>
          </a:stretch>
        </p:blipFill>
        <p:spPr>
          <a:xfrm>
            <a:off x="838200" y="747467"/>
            <a:ext cx="7544238" cy="424363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5"/>
          <p:cNvSpPr txBox="1"/>
          <p:nvPr>
            <p:ph type="title"/>
          </p:nvPr>
        </p:nvSpPr>
        <p:spPr>
          <a:xfrm>
            <a:off x="890725" y="22375"/>
            <a:ext cx="761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a:r>
            <a:r>
              <a:rPr lang="en-GB"/>
              <a:t>Which programming language(s)? (5: the OS)]</a:t>
            </a:r>
            <a:endParaRPr/>
          </a:p>
        </p:txBody>
      </p:sp>
      <p:sp>
        <p:nvSpPr>
          <p:cNvPr id="449" name="Google Shape;449;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IoT-Devices-Operating-Systems.png" id="450" name="Google Shape;450;p75">
            <a:hlinkClick r:id="rId3"/>
          </p:cNvPr>
          <p:cNvPicPr preferRelativeResize="0"/>
          <p:nvPr/>
        </p:nvPicPr>
        <p:blipFill>
          <a:blip r:embed="rId4">
            <a:alphaModFix/>
          </a:blip>
          <a:stretch>
            <a:fillRect/>
          </a:stretch>
        </p:blipFill>
        <p:spPr>
          <a:xfrm>
            <a:off x="838200" y="747475"/>
            <a:ext cx="7544223" cy="42436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890725" y="22375"/>
            <a:ext cx="738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[Enough chat already, let’s code! (1)]</a:t>
            </a:r>
            <a:endParaRPr/>
          </a:p>
        </p:txBody>
      </p:sp>
      <p:sp>
        <p:nvSpPr>
          <p:cNvPr id="456" name="Google Shape;456;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Let's look at setting up an Arduino to start programming for it!&#10;Part 1 at https://www.youtube.com/watch?v=9KAdz3M0uKs&#10;Subscribe to my channel: http://bit.ly/1k8msFr&#10;&#10;MORE PROJECTS, POSTS AND EVENTS&#10;http://www.iliketomakestuff.com&#10;&#10;HERE'S WHAT YOU'LL NEED:&#10;http://amzn.to/1MDlgjI - Arduino Uno&#10;http://amzn.to/1OoSRPE - Electronics Parts Kit&#10;http://amzn.to/1OoT9pI - Breadboard &amp; Jumper wires&#10;Arduino development environment (IDE): https://www.arduino.cc/en/Main/Software&#10;&#10;Want to support ILTMS? Get early viewing, exclusive content and more... &#10;http://www.iliketomakestuff.com/patreon&#10;&#10;BUY A SHIRT, STICKER, PENCILS and MORE!!&#10;http://www.iliketomakestuff.com/store&#10;&#10;FOLLOW:&#10;http://twitter.com/iliketomakestuf&#10;http://instagram.com/iliketomakestuff&#10;http://facebook.com/iltms Second channel: bit.ly/iltms-2" id="457" name="Google Shape;457;p76" title="Arduino Programming Part 2 // Maker 101">
            <a:hlinkClick r:id="rId3"/>
          </p:cNvPr>
          <p:cNvPicPr preferRelativeResize="0"/>
          <p:nvPr/>
        </p:nvPicPr>
        <p:blipFill>
          <a:blip r:embed="rId4">
            <a:alphaModFix/>
          </a:blip>
          <a:stretch>
            <a:fillRect/>
          </a:stretch>
        </p:blipFill>
        <p:spPr>
          <a:xfrm>
            <a:off x="1828800" y="671275"/>
            <a:ext cx="5612800" cy="4209600"/>
          </a:xfrm>
          <a:prstGeom prst="rect">
            <a:avLst/>
          </a:prstGeom>
          <a:noFill/>
          <a:ln>
            <a:noFill/>
          </a:ln>
        </p:spPr>
      </p:pic>
      <p:sp>
        <p:nvSpPr>
          <p:cNvPr id="458" name="Google Shape;458;p76"/>
          <p:cNvSpPr txBox="1"/>
          <p:nvPr>
            <p:ph idx="1" type="body"/>
          </p:nvPr>
        </p:nvSpPr>
        <p:spPr>
          <a:xfrm>
            <a:off x="296900" y="1266225"/>
            <a:ext cx="14337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(This example uses an Arduino board, </a:t>
            </a:r>
            <a:r>
              <a:rPr b="1" lang="en-GB" sz="1800"/>
              <a:t>not</a:t>
            </a:r>
            <a:r>
              <a:rPr lang="en-GB" sz="1800"/>
              <a:t> an ESP.)</a:t>
            </a:r>
            <a:endParaRPr sz="1800"/>
          </a:p>
          <a:p>
            <a:pPr indent="0" lvl="0" marL="0" rtl="0" algn="l">
              <a:spcBef>
                <a:spcPts val="100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7"/>
          <p:cNvSpPr txBox="1"/>
          <p:nvPr>
            <p:ph type="title"/>
          </p:nvPr>
        </p:nvSpPr>
        <p:spPr>
          <a:xfrm>
            <a:off x="890725" y="22375"/>
            <a:ext cx="738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a:r>
            <a:r>
              <a:rPr lang="en-GB"/>
              <a:t>Enough chat already, let’s code! (2)]</a:t>
            </a:r>
            <a:endParaRPr/>
          </a:p>
        </p:txBody>
      </p:sp>
      <p:sp>
        <p:nvSpPr>
          <p:cNvPr id="464" name="Google Shape;464;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Now it's time to write some simple code and test a functioning  (simple) Arduino project. &#10;Subscribe to my channel: http://bit.ly/1k8msFr&#10;&#10;MORE PROJECTS, POSTS AND EVENTS&#10;http://www.iliketomakestuff.com&#10;&#10;HERE'S WHAT YOU'LL NEED:&#10;http://amzn.to/1MDlgjI - Arduino Uno&#10;http://amzn.to/1OoSRPE - Electronics Parts Kit&#10;http://amzn.to/1OoT9pI - Breadboard &amp; Jumper wires&#10;Arduino development environment (IDE): https://www.arduino.cc/en/Main/Software&#10;&#10;Want to support ILTMS? Get early viewing, exclusive content and more... &#10;http://www.iliketomakestuff.com/patreon&#10;&#10;BUY A SHIRT, STICKER, PENCILS and MORE!!&#10;http://www.iliketomakestuff.com/store&#10;&#10;FOLLOW:&#10;http://twitter.com/iliketomakestuf&#10;http://instagram.com/iliketomakestuff&#10;http://facebook.com/iltms Second channel: bit.ly/iltms-2" id="465" name="Google Shape;465;p77" title="Arduino Programming Part 3 // Maker 101">
            <a:hlinkClick r:id="rId3"/>
          </p:cNvPr>
          <p:cNvPicPr preferRelativeResize="0"/>
          <p:nvPr/>
        </p:nvPicPr>
        <p:blipFill>
          <a:blip r:embed="rId4">
            <a:alphaModFix/>
          </a:blip>
          <a:stretch>
            <a:fillRect/>
          </a:stretch>
        </p:blipFill>
        <p:spPr>
          <a:xfrm>
            <a:off x="1676400" y="595075"/>
            <a:ext cx="5663500" cy="4247625"/>
          </a:xfrm>
          <a:prstGeom prst="rect">
            <a:avLst/>
          </a:prstGeom>
          <a:noFill/>
          <a:ln>
            <a:noFill/>
          </a:ln>
        </p:spPr>
      </p:pic>
      <p:sp>
        <p:nvSpPr>
          <p:cNvPr id="466" name="Google Shape;466;p77"/>
          <p:cNvSpPr txBox="1"/>
          <p:nvPr>
            <p:ph idx="1" type="body"/>
          </p:nvPr>
        </p:nvSpPr>
        <p:spPr>
          <a:xfrm>
            <a:off x="964050" y="4747300"/>
            <a:ext cx="7737000" cy="47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Need a slower presenter?! Try: </a:t>
            </a:r>
            <a:r>
              <a:rPr lang="en-GB" sz="1800" u="sng">
                <a:solidFill>
                  <a:schemeClr val="hlink"/>
                </a:solidFill>
                <a:hlinkClick r:id="rId5"/>
              </a:rPr>
              <a:t>https://youtu.be/d8_xXNcGYgo</a:t>
            </a:r>
            <a:endParaRPr sz="1800"/>
          </a:p>
          <a:p>
            <a:pPr indent="0" lvl="0" marL="0" rtl="0" algn="l">
              <a:spcBef>
                <a:spcPts val="1000"/>
              </a:spcBef>
              <a:spcAft>
                <a:spcPts val="0"/>
              </a:spcAft>
              <a:buNone/>
            </a:pPr>
            <a:r>
              <a:t/>
            </a:r>
            <a:endParaRPr sz="1800"/>
          </a:p>
          <a:p>
            <a:pPr indent="0" lvl="0" marL="0" rtl="0" algn="l">
              <a:spcBef>
                <a:spcPts val="0"/>
              </a:spcBef>
              <a:spcAft>
                <a:spcPts val="0"/>
              </a:spcAft>
              <a:buNone/>
            </a:pPr>
            <a:r>
              <a:t/>
            </a:r>
            <a:endParaRPr sz="1800"/>
          </a:p>
        </p:txBody>
      </p:sp>
      <p:sp>
        <p:nvSpPr>
          <p:cNvPr id="467" name="Google Shape;467;p77"/>
          <p:cNvSpPr txBox="1"/>
          <p:nvPr>
            <p:ph idx="1" type="body"/>
          </p:nvPr>
        </p:nvSpPr>
        <p:spPr>
          <a:xfrm>
            <a:off x="296900" y="1266225"/>
            <a:ext cx="14337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(This example uses an Arduino board, </a:t>
            </a:r>
            <a:r>
              <a:rPr b="1" lang="en-GB" sz="1800"/>
              <a:t>not</a:t>
            </a:r>
            <a:r>
              <a:rPr lang="en-GB" sz="1800"/>
              <a:t> an ESP.)</a:t>
            </a:r>
            <a:endParaRPr sz="1800"/>
          </a:p>
          <a:p>
            <a:pPr indent="0" lvl="0" marL="0" rtl="0" algn="l">
              <a:spcBef>
                <a:spcPts val="100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8"/>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3</a:t>
            </a:r>
            <a:endParaRPr/>
          </a:p>
        </p:txBody>
      </p:sp>
      <p:sp>
        <p:nvSpPr>
          <p:cNvPr id="473" name="Google Shape;473;p78"/>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review of model solutions last week</a:t>
            </a:r>
            <a:endParaRPr sz="1800"/>
          </a:p>
          <a:p>
            <a:pPr indent="-342900" lvl="0" marL="457200" rtl="0" algn="l">
              <a:spcBef>
                <a:spcPts val="1000"/>
              </a:spcBef>
              <a:spcAft>
                <a:spcPts val="0"/>
              </a:spcAft>
              <a:buSzPts val="1800"/>
              <a:buAutoNum type="arabicPeriod"/>
            </a:pPr>
            <a:r>
              <a:rPr lang="en-GB" sz="1800"/>
              <a:t>the IoT hardware space: MCUs on devices and ARM on gateways</a:t>
            </a:r>
            <a:endParaRPr sz="1800"/>
          </a:p>
          <a:p>
            <a:pPr indent="-342900" lvl="0" marL="457200" rtl="0" algn="l">
              <a:spcBef>
                <a:spcPts val="1000"/>
              </a:spcBef>
              <a:spcAft>
                <a:spcPts val="0"/>
              </a:spcAft>
              <a:buSzPts val="1800"/>
              <a:buAutoNum type="arabicPeriod"/>
            </a:pPr>
            <a:r>
              <a:rPr lang="en-GB" sz="1800"/>
              <a:t>Maker Tech and the implications of digital fabrication</a:t>
            </a:r>
            <a:endParaRPr sz="1800"/>
          </a:p>
          <a:p>
            <a:pPr indent="-342900" lvl="0" marL="457200" rtl="0" algn="l">
              <a:spcBef>
                <a:spcPts val="1000"/>
              </a:spcBef>
              <a:spcAft>
                <a:spcPts val="0"/>
              </a:spcAft>
              <a:buSzPts val="1800"/>
              <a:buAutoNum type="arabicPeriod"/>
            </a:pPr>
            <a:r>
              <a:rPr lang="en-GB" sz="1800"/>
              <a:t>coding for the IoT: languages for layers; (yet) more on the Arduino (maybe)</a:t>
            </a:r>
            <a:endParaRPr sz="1800"/>
          </a:p>
          <a:p>
            <a:pPr indent="-342900" lvl="0" marL="457200" rtl="0" algn="l">
              <a:spcBef>
                <a:spcPts val="1000"/>
              </a:spcBef>
              <a:spcAft>
                <a:spcPts val="0"/>
              </a:spcAft>
              <a:buSzPts val="1800"/>
              <a:buAutoNum type="arabicPeriod"/>
            </a:pPr>
            <a:r>
              <a:rPr b="1" lang="en-GB" sz="1800"/>
              <a:t>meet Andreas, Mr. ESP</a:t>
            </a:r>
            <a:endParaRPr b="1" sz="1800"/>
          </a:p>
          <a:p>
            <a:pPr indent="0" lvl="0" marL="0" rtl="0" algn="l">
              <a:spcBef>
                <a:spcPts val="1000"/>
              </a:spcBef>
              <a:spcAft>
                <a:spcPts val="0"/>
              </a:spcAft>
              <a:buNone/>
            </a:pPr>
            <a:r>
              <a:t/>
            </a:r>
            <a:endParaRPr sz="1800"/>
          </a:p>
        </p:txBody>
      </p:sp>
      <p:sp>
        <p:nvSpPr>
          <p:cNvPr id="474" name="Google Shape;474;p78"/>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79"/>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Andreas Spiess, Mr. ESP</a:t>
            </a:r>
            <a:endParaRPr/>
          </a:p>
        </p:txBody>
      </p:sp>
      <p:sp>
        <p:nvSpPr>
          <p:cNvPr id="480" name="Google Shape;480;p79"/>
          <p:cNvSpPr txBox="1"/>
          <p:nvPr>
            <p:ph idx="1" type="body"/>
          </p:nvPr>
        </p:nvSpPr>
        <p:spPr>
          <a:xfrm>
            <a:off x="181200" y="626075"/>
            <a:ext cx="87897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YouTube channel: </a:t>
            </a:r>
            <a:r>
              <a:rPr lang="en-GB" sz="1800" u="sng">
                <a:solidFill>
                  <a:schemeClr val="hlink"/>
                </a:solidFill>
                <a:hlinkClick r:id="rId3"/>
              </a:rPr>
              <a:t>https://goo.gl/LtNx60</a:t>
            </a:r>
            <a:br>
              <a:rPr lang="en-GB" sz="1800"/>
            </a:br>
            <a:r>
              <a:rPr lang="en-GB" sz="1800"/>
              <a:t>(More notables: Neal Kolban; Telecom Informer/2600 Mag; </a:t>
            </a:r>
            <a:r>
              <a:rPr lang="en-GB" sz="1800" u="sng">
                <a:solidFill>
                  <a:schemeClr val="hlink"/>
                </a:solidFill>
                <a:hlinkClick r:id="rId4"/>
              </a:rPr>
              <a:t>Chris Greening</a:t>
            </a:r>
            <a:r>
              <a:rPr lang="en-GB" sz="1800"/>
              <a:t>/atomic14)</a:t>
            </a:r>
            <a:endParaRPr sz="1800"/>
          </a:p>
        </p:txBody>
      </p:sp>
      <p:sp>
        <p:nvSpPr>
          <p:cNvPr id="481" name="Google Shape;481;p79"/>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As you know, microcontroller boards have many pins, and wiring them to other components or keeping track of the different wires sometimes is not easy. Today I show you how I do it. Most of the tricks work for all microprocessor boards like the Arduino, the ESP8266 or the ESP32. And with a unique feature of the ESP32, we can optimize a little more.&#10;&#10;In this video, we will cover the following tips and tricks:&#10;1. Use colors&#10;2. Connect ground first&#10;3. Pre-fabricated wires&#10;4. Use empty Dupont shells&#10;5. Use the right pin order&#10;6. Not enough Ground or VCC connections on our development boards&#10;7. Super Glue can help sometimes&#10;8. Crimping you own wires &#10;&#10;Empty shells assortment: http://bit.ly/2DD3RQC&#10;or: http://s.click.aliexpress.com/e/bXeCZlAY&#10;&#10;Hakko Tweezers: https://amzn.to/2QkrG1b&#10;Crimping tool amazon.com: https://amzn.to/2Iq2mUz&#10;Crimping tool Amazon.de: https://amzn.to/2xOh043&#10;&#10;Single colored jumper wires (Link from a subscriber): http://bit.ly/2y6W7Au&#10;&#10;Wire holder (fusion360): https://a360.co/2Np0g8B&#10;Silicone wires: http://bit.ly/2PiMINB&#10;&#10;Supporting Material and Blog Page: http://www.sensorsiot.org&#10;Github: https://www.github.com/sensorsiot&#10;&#10;My Patreon Page: https://www.patreon.com/AndreasSpiess&#10;My Bitcoin address: 19FSmqbBzb5zsYB1d8Bq4KbxVmezToDNTV&#10;If you want to support the channel, please use the links below to start your shopping. No additional charges for you, but I get a commission (of your purchases the next 24 hours) to buy new stuff for the channel&#10;For Banggood https://bit.ly/2jAQEf4&#10;For AliExpress: http://bit.ly/2B0yTLL&#10;For Amazon.com: http://amzn.to/2EGiJcK&#10;For Amazon.de: http://amzn.to/2r0ZCYI&#10;For Amazon UK: http://amzn.to/2mxBaJf&#10;For ebay.com: http://ebay.to/2DuYXBp&#10;&#10;https://www.facebook.com/profile.php?id=100013947273409&#10;https://twitter.com/spiessa&#10;https://www.instructables.com/member/Andreas%20Spiess/&#10;Please do not try to Email me or invite me on LinkedIn. These communication channels are reserved for my primary job&#10;&#10;Equipment in my lab: http://www.sensorsiot.org/my-lab/" id="482" name="Google Shape;482;p79" title="7 Tricks on how to wire your Project (e.g. Arduino, ESP8266, ESP32) Dupont wires">
            <a:hlinkClick r:id="rId5"/>
          </p:cNvPr>
          <p:cNvPicPr preferRelativeResize="0"/>
          <p:nvPr/>
        </p:nvPicPr>
        <p:blipFill>
          <a:blip r:embed="rId6">
            <a:alphaModFix/>
          </a:blip>
          <a:stretch>
            <a:fillRect/>
          </a:stretch>
        </p:blipFill>
        <p:spPr>
          <a:xfrm>
            <a:off x="381000" y="1519075"/>
            <a:ext cx="3689575" cy="2767175"/>
          </a:xfrm>
          <a:prstGeom prst="rect">
            <a:avLst/>
          </a:prstGeom>
          <a:noFill/>
          <a:ln>
            <a:noFill/>
          </a:ln>
        </p:spPr>
      </p:pic>
      <p:pic>
        <p:nvPicPr>
          <p:cNvPr descr="Today we will start to understand how RFID cards work and how they can be used with your Arduino. You will see, which cards and readers are available and how they compare, we read RFID cards from a hotel and a trade show, and we will do some experiments to protect your cards against attacks. And maybe we even clone cards? All legal, or at least, sort of.&#10;&#10;Links: &#10;RDM6300 Sketch: http://www.mschoeffler.de/2018/01/05/arduino-tutorial-how-to-use-the-rdm630-rdm6300-rfid-reader/&#10;MFRC-522 Library: https://github.com/miguelbalboa/rfid&#10;Wiegand Library: https://github.com/monkeyboard/Wiegand-Protocol-Library-for-Arduino&#10;Good RFID reader: http://s.click.aliexpress.com/e/cHytxWOc&#10;Bad RFID reader: http://s.click.aliexpress.com/e/bX5rbSpw&#10;RDM6300 reader: http://s.click.aliexpress.com/e/bg65Xi8o&#10;MFRC-522 reader: http://s.click.aliexpress.com/e/bgciwGFm&#10;Proxmark3: https://www.aliexpress.com/item/New-proxmark3-develop-suit-Kits-3-0-proxmark-3-NFC-RFID-reader-writer-SDK-for-rfid/32808141763.html&#10;&#10;Supporting Material and Blog Page: http://www.sensorsiot.org&#10;Github: https://www.github.com/sensorsiot&#10;&#10;My Patreon Page: https://www.patreon.com/AndreasSpiess&#10;My Bitcoin address: 19FSmqbBzb5zsYB1d8Bq4KbxVmezToDNTV&#10;If you want to support the channel, please use the links below to start your shopping. No additional charges for you, but I get a commission (of your purchases the next 24 hours) to buy new stuff for the channel&#10;For Banggood https://bit.ly/2jAQEf4&#10;For AliExpress: http://bit.ly/2B0yTLL&#10;For Amazon.com: http://amzn.to/2EGiJcK&#10;For Amazon.de: http://amzn.to/2r0ZCYI&#10;For Amazon UK: http://amzn.to/2mxBaJf&#10;For ebay.com: http://ebay.to/2DuYXBp&#10;&#10;https://www.facebook.com/profile.php?id=100013947273409&#10;https://twitter.com/spiessa&#10;https://www.instructables.com/member/Andreas%20Spiess/&#10;Please do not try to Email me or invite me on LinkedIn. These communication channels are reserved for my primary job&#10;&#10;Equipment in my lab: http://www.sensorsiot.org/my-lab/" id="483" name="Google Shape;483;p79" title="RFID How-To: Not only for Arduino (only legal Stuff!)">
            <a:hlinkClick r:id="rId7"/>
          </p:cNvPr>
          <p:cNvPicPr preferRelativeResize="0"/>
          <p:nvPr/>
        </p:nvPicPr>
        <p:blipFill>
          <a:blip r:embed="rId8">
            <a:alphaModFix/>
          </a:blip>
          <a:stretch>
            <a:fillRect/>
          </a:stretch>
        </p:blipFill>
        <p:spPr>
          <a:xfrm>
            <a:off x="4997225" y="1519069"/>
            <a:ext cx="3689575" cy="2767181"/>
          </a:xfrm>
          <a:prstGeom prst="rect">
            <a:avLst/>
          </a:prstGeom>
          <a:noFill/>
          <a:ln>
            <a:noFill/>
          </a:ln>
        </p:spPr>
      </p:pic>
      <p:sp>
        <p:nvSpPr>
          <p:cNvPr id="484" name="Google Shape;484;p79"/>
          <p:cNvSpPr txBox="1"/>
          <p:nvPr>
            <p:ph idx="1" type="body"/>
          </p:nvPr>
        </p:nvSpPr>
        <p:spPr>
          <a:xfrm>
            <a:off x="630600" y="4340700"/>
            <a:ext cx="8340000" cy="80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4.30—6.30: arduino vs. esp pinouts</a:t>
            </a:r>
            <a:br>
              <a:rPr lang="en-GB" sz="1800"/>
            </a:br>
            <a:r>
              <a:rPr b="1" lang="en-GB" sz="1800"/>
              <a:t>Good to read</a:t>
            </a:r>
            <a:r>
              <a:rPr lang="en-GB" sz="1800"/>
              <a:t>: Neal Kolban’s pay-as-you-feel book on ESP32</a:t>
            </a:r>
            <a:endParaRPr sz="1800"/>
          </a:p>
        </p:txBody>
      </p:sp>
      <p:sp>
        <p:nvSpPr>
          <p:cNvPr id="485" name="Google Shape;485;p79"/>
          <p:cNvSpPr txBox="1"/>
          <p:nvPr>
            <p:ph idx="1" type="body"/>
          </p:nvPr>
        </p:nvSpPr>
        <p:spPr>
          <a:xfrm>
            <a:off x="6066125" y="267900"/>
            <a:ext cx="3916200" cy="80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ESP camera? try </a:t>
            </a:r>
            <a:r>
              <a:rPr lang="en-GB" sz="1800" u="sng">
                <a:solidFill>
                  <a:schemeClr val="hlink"/>
                </a:solidFill>
                <a:hlinkClick r:id="rId9"/>
              </a:rPr>
              <a:t>https://youtu.be/5IhhyJjjCxo</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0"/>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Threads? Processes? Ha!</a:t>
            </a:r>
            <a:endParaRPr/>
          </a:p>
        </p:txBody>
      </p:sp>
      <p:sp>
        <p:nvSpPr>
          <p:cNvPr id="491" name="Google Shape;491;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92" name="Google Shape;492;p80"/>
          <p:cNvSpPr txBox="1"/>
          <p:nvPr>
            <p:ph idx="1" type="body"/>
          </p:nvPr>
        </p:nvSpPr>
        <p:spPr>
          <a:xfrm>
            <a:off x="221875" y="411475"/>
            <a:ext cx="88938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The ESP is a 2 core device — so in order to perform multiple tasks at once</a:t>
            </a:r>
            <a:br>
              <a:rPr lang="en-GB" sz="1800"/>
            </a:br>
            <a:r>
              <a:rPr lang="en-GB" sz="1800"/>
              <a:t>we need to adopt a multiprocessing model of one sort of another.</a:t>
            </a:r>
            <a:endParaRPr sz="1800"/>
          </a:p>
          <a:p>
            <a:pPr indent="-342900" lvl="0" marL="457200" rtl="0" algn="l">
              <a:spcBef>
                <a:spcPts val="0"/>
              </a:spcBef>
              <a:spcAft>
                <a:spcPts val="0"/>
              </a:spcAft>
              <a:buSzPts val="1800"/>
              <a:buChar char="●"/>
            </a:pPr>
            <a:r>
              <a:rPr lang="en-GB" sz="1800"/>
              <a:t>Core 0 is the “protocol core”, generally only used by internals; core 1 is ours.</a:t>
            </a:r>
            <a:endParaRPr sz="1800"/>
          </a:p>
          <a:p>
            <a:pPr indent="-342900" lvl="0" marL="457200" rtl="0" algn="l">
              <a:spcBef>
                <a:spcPts val="0"/>
              </a:spcBef>
              <a:spcAft>
                <a:spcPts val="0"/>
              </a:spcAft>
              <a:buSzPts val="1800"/>
              <a:buChar char="●"/>
            </a:pPr>
            <a:r>
              <a:rPr lang="en-GB" sz="1800"/>
              <a:t>A simple model: time slicing in the main loop, using...</a:t>
            </a:r>
            <a:endParaRPr sz="1800"/>
          </a:p>
          <a:p>
            <a:pPr indent="-342900" lvl="1" marL="914400" rtl="0" algn="l">
              <a:spcBef>
                <a:spcPts val="0"/>
              </a:spcBef>
              <a:spcAft>
                <a:spcPts val="0"/>
              </a:spcAft>
              <a:buSzPts val="1800"/>
              <a:buChar char="○"/>
            </a:pPr>
            <a:r>
              <a:rPr lang="en-GB" sz="1800"/>
              <a:t>a loop counter (e.g. a uint32_t; it will overrun but we don’t care)</a:t>
            </a:r>
            <a:endParaRPr sz="1800"/>
          </a:p>
          <a:p>
            <a:pPr indent="-342900" lvl="1" marL="914400" rtl="0" algn="l">
              <a:spcBef>
                <a:spcPts val="0"/>
              </a:spcBef>
              <a:spcAft>
                <a:spcPts val="0"/>
              </a:spcAft>
              <a:buSzPts val="1800"/>
              <a:buChar char="○"/>
            </a:pPr>
            <a:r>
              <a:rPr lang="en-GB" sz="1800"/>
              <a:t>a set of iteration points at which different tasks run, e.g.:</a:t>
            </a:r>
            <a:endParaRPr sz="1800"/>
          </a:p>
          <a:p>
            <a:pPr indent="-317500" lvl="2" marL="1371600" rtl="0" algn="l">
              <a:spcBef>
                <a:spcPts val="0"/>
              </a:spcBef>
              <a:spcAft>
                <a:spcPts val="0"/>
              </a:spcAft>
              <a:buSzPts val="1400"/>
              <a:buChar char="■"/>
            </a:pPr>
            <a:r>
              <a:rPr lang="en-GB"/>
              <a:t>if(loopCounter == TICK_MONITOR) { // monitor levels, step valves, push data</a:t>
            </a:r>
            <a:endParaRPr/>
          </a:p>
          <a:p>
            <a:pPr indent="-342900" lvl="1" marL="914400" rtl="0" algn="l">
              <a:spcBef>
                <a:spcPts val="0"/>
              </a:spcBef>
              <a:spcAft>
                <a:spcPts val="0"/>
              </a:spcAft>
              <a:buSzPts val="1800"/>
              <a:buChar char="○"/>
            </a:pPr>
            <a:r>
              <a:rPr lang="en-GB" sz="1800"/>
              <a:t>and/or a slice size to modulo the loop counter:</a:t>
            </a:r>
            <a:endParaRPr sz="1800"/>
          </a:p>
          <a:p>
            <a:pPr indent="-317500" lvl="2" marL="1371600" rtl="0" algn="l">
              <a:spcBef>
                <a:spcPts val="0"/>
              </a:spcBef>
              <a:spcAft>
                <a:spcPts val="0"/>
              </a:spcAft>
              <a:buSzPts val="1400"/>
              <a:buChar char="■"/>
            </a:pPr>
            <a:r>
              <a:rPr lang="en-GB"/>
              <a:t>if(loopIteration % sliceSize == 0) { // a slice every sliceSize iterations</a:t>
            </a:r>
            <a:endParaRPr/>
          </a:p>
          <a:p>
            <a:pPr indent="-342900" lvl="0" marL="457200" rtl="0" algn="l">
              <a:spcBef>
                <a:spcPts val="0"/>
              </a:spcBef>
              <a:spcAft>
                <a:spcPts val="0"/>
              </a:spcAft>
              <a:buSzPts val="1800"/>
              <a:buChar char="●"/>
            </a:pPr>
            <a:r>
              <a:rPr lang="en-GB" sz="1800"/>
              <a:t>Exercise 5 (</a:t>
            </a:r>
            <a:r>
              <a:rPr b="1" lang="en-GB" sz="1800"/>
              <a:t>Ex05</a:t>
            </a:r>
            <a:r>
              <a:rPr lang="en-GB" sz="1800"/>
              <a:t>) is to explore models like this in your MyThing sketch. How many milliseconds does an action take? How does loop code relate to the ESP wifi stack? What other options are there?</a:t>
            </a:r>
            <a:endParaRPr sz="1800"/>
          </a:p>
          <a:p>
            <a:pPr indent="-342900" lvl="0" marL="457200" rtl="0" algn="l">
              <a:spcBef>
                <a:spcPts val="0"/>
              </a:spcBef>
              <a:spcAft>
                <a:spcPts val="0"/>
              </a:spcAft>
              <a:buSzPts val="1800"/>
              <a:buChar char="●"/>
            </a:pPr>
            <a:r>
              <a:rPr lang="en-GB" sz="1800"/>
              <a:t>Hint</a:t>
            </a:r>
            <a:r>
              <a:rPr lang="en-GB" sz="1800"/>
              <a:t>: FreeRTOS has a richer model of scheduling, using timers and interrupts.</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1"/>
          <p:cNvSpPr txBox="1"/>
          <p:nvPr>
            <p:ph type="title"/>
          </p:nvPr>
        </p:nvSpPr>
        <p:spPr>
          <a:xfrm>
            <a:off x="1070900" y="263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Your </a:t>
            </a:r>
            <a:r>
              <a:rPr b="1" lang="en-GB"/>
              <a:t>TODO</a:t>
            </a:r>
            <a:r>
              <a:rPr lang="en-GB"/>
              <a:t> list for week 3:</a:t>
            </a:r>
            <a:endParaRPr/>
          </a:p>
        </p:txBody>
      </p:sp>
      <p:sp>
        <p:nvSpPr>
          <p:cNvPr id="498" name="Google Shape;498;p81"/>
          <p:cNvSpPr txBox="1"/>
          <p:nvPr>
            <p:ph idx="1" type="body"/>
          </p:nvPr>
        </p:nvSpPr>
        <p:spPr>
          <a:xfrm>
            <a:off x="464100" y="654425"/>
            <a:ext cx="8444400" cy="400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Read and digest Chapter 3 </a:t>
            </a:r>
            <a:endParaRPr sz="1800"/>
          </a:p>
          <a:p>
            <a:pPr indent="-342900" lvl="0" marL="457200" rtl="0" algn="l">
              <a:spcBef>
                <a:spcPts val="0"/>
              </a:spcBef>
              <a:spcAft>
                <a:spcPts val="0"/>
              </a:spcAft>
              <a:buSzPts val="1800"/>
              <a:buChar char="●"/>
            </a:pPr>
            <a:r>
              <a:rPr b="1" lang="en-GB" sz="1800"/>
              <a:t>Coding: (some of) exercises 3—6</a:t>
            </a:r>
            <a:br>
              <a:rPr lang="en-GB" sz="1800"/>
            </a:br>
            <a:r>
              <a:rPr lang="en-GB" sz="1800"/>
              <a:t>(whahey! it’s the </a:t>
            </a:r>
            <a:r>
              <a:rPr i="1" lang="en-GB" sz="1800"/>
              <a:t>Internet</a:t>
            </a:r>
            <a:r>
              <a:rPr lang="en-GB" sz="1800"/>
              <a:t> of Things!  wifi access points, web servers (Ex06))</a:t>
            </a:r>
            <a:endParaRPr sz="1800"/>
          </a:p>
          <a:p>
            <a:pPr indent="-342900" lvl="0" marL="457200" rtl="0" algn="l">
              <a:spcBef>
                <a:spcPts val="0"/>
              </a:spcBef>
              <a:spcAft>
                <a:spcPts val="0"/>
              </a:spcAft>
              <a:buSzPts val="1800"/>
              <a:buChar char="●"/>
            </a:pPr>
            <a:r>
              <a:rPr lang="en-GB" sz="1800"/>
              <a:t>Build a 9 LED breadboard</a:t>
            </a:r>
            <a:endParaRPr sz="1800"/>
          </a:p>
          <a:p>
            <a:pPr indent="-342900" lvl="0" marL="457200" rtl="0" algn="l">
              <a:spcBef>
                <a:spcPts val="0"/>
              </a:spcBef>
              <a:spcAft>
                <a:spcPts val="0"/>
              </a:spcAft>
              <a:buSzPts val="1800"/>
              <a:buChar char="●"/>
            </a:pPr>
            <a:r>
              <a:rPr lang="en-GB" sz="1800"/>
              <a:t>Do the reading</a:t>
            </a:r>
            <a:endParaRPr sz="1800"/>
          </a:p>
          <a:p>
            <a:pPr indent="-342900" lvl="0" marL="457200" rtl="0" algn="l">
              <a:spcBef>
                <a:spcPts val="0"/>
              </a:spcBef>
              <a:spcAft>
                <a:spcPts val="0"/>
              </a:spcAft>
              <a:buSzPts val="1800"/>
              <a:buChar char="●"/>
            </a:pPr>
            <a:r>
              <a:rPr lang="en-GB" sz="1800"/>
              <a:t>Make sure you understood the lecture, and review the slides if needed</a:t>
            </a:r>
            <a:endParaRPr sz="1800"/>
          </a:p>
          <a:p>
            <a:pPr indent="-342900" lvl="0" marL="457200" rtl="0" algn="l">
              <a:spcBef>
                <a:spcPts val="0"/>
              </a:spcBef>
              <a:spcAft>
                <a:spcPts val="0"/>
              </a:spcAft>
              <a:buSzPts val="1800"/>
              <a:buChar char="●"/>
            </a:pPr>
            <a:r>
              <a:rPr lang="en-GB" sz="1800"/>
              <a:t>Don’t forget to hoover the cat! And chill!</a:t>
            </a:r>
            <a:endParaRPr sz="1800"/>
          </a:p>
          <a:p>
            <a:pPr indent="0" lvl="0" marL="0" rtl="0" algn="l">
              <a:spcBef>
                <a:spcPts val="0"/>
              </a:spcBef>
              <a:spcAft>
                <a:spcPts val="0"/>
              </a:spcAft>
              <a:buNone/>
            </a:pPr>
            <a:r>
              <a:t/>
            </a:r>
            <a:endParaRPr sz="1800"/>
          </a:p>
        </p:txBody>
      </p:sp>
      <p:sp>
        <p:nvSpPr>
          <p:cNvPr id="499" name="Google Shape;499;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2"/>
          <p:cNvSpPr txBox="1"/>
          <p:nvPr>
            <p:ph idx="1" type="body"/>
          </p:nvPr>
        </p:nvSpPr>
        <p:spPr>
          <a:xfrm>
            <a:off x="428900" y="730575"/>
            <a:ext cx="84444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b="1" sz="7200"/>
          </a:p>
          <a:p>
            <a:pPr indent="0" lvl="0" marL="0" rtl="0" algn="ctr">
              <a:spcBef>
                <a:spcPts val="0"/>
              </a:spcBef>
              <a:spcAft>
                <a:spcPts val="0"/>
              </a:spcAft>
              <a:buNone/>
            </a:pPr>
            <a:r>
              <a:rPr b="1" lang="en-GB" sz="7200"/>
              <a:t>THE END</a:t>
            </a:r>
            <a:endParaRPr sz="7200"/>
          </a:p>
        </p:txBody>
      </p:sp>
      <p:sp>
        <p:nvSpPr>
          <p:cNvPr id="505" name="Google Shape;505;p82"/>
          <p:cNvSpPr txBox="1"/>
          <p:nvPr>
            <p:ph type="title"/>
          </p:nvPr>
        </p:nvSpPr>
        <p:spPr>
          <a:xfrm>
            <a:off x="1184625" y="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06" name="Google Shape;506;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83"/>
          <p:cNvSpPr txBox="1"/>
          <p:nvPr>
            <p:ph idx="1" type="body"/>
          </p:nvPr>
        </p:nvSpPr>
        <p:spPr>
          <a:xfrm>
            <a:off x="428725" y="560525"/>
            <a:ext cx="8179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ctr">
              <a:spcBef>
                <a:spcPts val="0"/>
              </a:spcBef>
              <a:spcAft>
                <a:spcPts val="0"/>
              </a:spcAft>
              <a:buNone/>
            </a:pPr>
            <a:r>
              <a:rPr lang="en-GB" sz="1800"/>
              <a:t>(use them at your own risk!)</a:t>
            </a:r>
            <a:endParaRPr sz="1800"/>
          </a:p>
        </p:txBody>
      </p:sp>
      <p:sp>
        <p:nvSpPr>
          <p:cNvPr id="512" name="Google Shape;512;p83"/>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Old slides follow</a:t>
            </a:r>
            <a:endParaRPr/>
          </a:p>
        </p:txBody>
      </p:sp>
      <p:sp>
        <p:nvSpPr>
          <p:cNvPr id="513" name="Google Shape;513;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7" name="Shape 517"/>
        <p:cNvGrpSpPr/>
        <p:nvPr/>
      </p:nvGrpSpPr>
      <p:grpSpPr>
        <a:xfrm>
          <a:off x="0" y="0"/>
          <a:ext cx="0" cy="0"/>
          <a:chOff x="0" y="0"/>
          <a:chExt cx="0" cy="0"/>
        </a:xfrm>
      </p:grpSpPr>
      <p:sp>
        <p:nvSpPr>
          <p:cNvPr id="518" name="Google Shape;518;p84"/>
          <p:cNvSpPr txBox="1"/>
          <p:nvPr>
            <p:ph type="title"/>
          </p:nvPr>
        </p:nvSpPr>
        <p:spPr>
          <a:xfrm>
            <a:off x="836198" y="-7620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Open source in practice: S3 boot bug</a:t>
            </a:r>
            <a:endParaRPr/>
          </a:p>
        </p:txBody>
      </p:sp>
      <p:sp>
        <p:nvSpPr>
          <p:cNvPr id="519" name="Google Shape;519;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20" name="Google Shape;520;p84"/>
          <p:cNvSpPr txBox="1"/>
          <p:nvPr>
            <p:ph idx="2" type="body"/>
          </p:nvPr>
        </p:nvSpPr>
        <p:spPr>
          <a:xfrm>
            <a:off x="156200" y="355975"/>
            <a:ext cx="8338200" cy="2324400"/>
          </a:xfrm>
          <a:prstGeom prst="rect">
            <a:avLst/>
          </a:prstGeom>
        </p:spPr>
        <p:txBody>
          <a:bodyPr anchorCtr="0" anchor="t" bIns="91425" lIns="91425" spcFirstLastPara="1" rIns="91425" wrap="square" tIns="91425">
            <a:noAutofit/>
          </a:bodyPr>
          <a:lstStyle/>
          <a:p>
            <a:pPr indent="-333375" lvl="0" marL="457200" rtl="0" algn="l">
              <a:spcBef>
                <a:spcPts val="0"/>
              </a:spcBef>
              <a:spcAft>
                <a:spcPts val="0"/>
              </a:spcAft>
              <a:buClr>
                <a:srgbClr val="1F1F1F"/>
              </a:buClr>
              <a:buSzPts val="1650"/>
              <a:buFont typeface="Roboto"/>
              <a:buChar char="●"/>
            </a:pPr>
            <a:r>
              <a:rPr lang="en-GB" sz="1650">
                <a:solidFill>
                  <a:srgbClr val="1F1F1F"/>
                </a:solidFill>
                <a:highlight>
                  <a:srgbClr val="FFFFFF"/>
                </a:highlight>
                <a:latin typeface="Roboto"/>
                <a:ea typeface="Roboto"/>
                <a:cs typeface="Roboto"/>
                <a:sym typeface="Roboto"/>
              </a:rPr>
              <a:t>trouble flashing your new feather? see </a:t>
            </a:r>
            <a:r>
              <a:rPr lang="en-GB" sz="1650" u="sng">
                <a:solidFill>
                  <a:schemeClr val="hlink"/>
                </a:solidFill>
                <a:highlight>
                  <a:srgbClr val="FFFFFF"/>
                </a:highlight>
                <a:latin typeface="Roboto"/>
                <a:ea typeface="Roboto"/>
                <a:cs typeface="Roboto"/>
                <a:sym typeface="Roboto"/>
                <a:hlinkClick r:id="rId3"/>
              </a:rPr>
              <a:t>#troubleshooting-ports</a:t>
            </a:r>
            <a:r>
              <a:rPr lang="en-GB" sz="1650">
                <a:solidFill>
                  <a:srgbClr val="1F1F1F"/>
                </a:solidFill>
                <a:highlight>
                  <a:srgbClr val="FFFFFF"/>
                </a:highlight>
                <a:latin typeface="Roboto"/>
                <a:ea typeface="Roboto"/>
                <a:cs typeface="Roboto"/>
                <a:sym typeface="Roboto"/>
              </a:rPr>
              <a:t>; the back story:</a:t>
            </a:r>
            <a:endParaRPr sz="1650">
              <a:solidFill>
                <a:srgbClr val="1F1F1F"/>
              </a:solidFill>
              <a:highlight>
                <a:srgbClr val="FFFFFF"/>
              </a:highlight>
              <a:latin typeface="Roboto"/>
              <a:ea typeface="Roboto"/>
              <a:cs typeface="Roboto"/>
              <a:sym typeface="Roboto"/>
            </a:endParaRPr>
          </a:p>
          <a:p>
            <a:pPr indent="-333375" lvl="0" marL="457200" rtl="0" algn="l">
              <a:spcBef>
                <a:spcPts val="0"/>
              </a:spcBef>
              <a:spcAft>
                <a:spcPts val="0"/>
              </a:spcAft>
              <a:buClr>
                <a:srgbClr val="1F1F1F"/>
              </a:buClr>
              <a:buSzPts val="1650"/>
              <a:buFont typeface="Roboto"/>
              <a:buChar char="●"/>
            </a:pPr>
            <a:r>
              <a:rPr lang="en-GB" sz="1650">
                <a:solidFill>
                  <a:srgbClr val="1F1F1F"/>
                </a:solidFill>
                <a:highlight>
                  <a:srgbClr val="FFFFFF"/>
                </a:highlight>
                <a:latin typeface="Roboto"/>
                <a:ea typeface="Roboto"/>
                <a:cs typeface="Roboto"/>
                <a:sym typeface="Roboto"/>
              </a:rPr>
              <a:t>2020: voltage glitching fault injection vulnerability found in original ESP32, impossible to fix without silicon changes</a:t>
            </a:r>
            <a:endParaRPr sz="1650">
              <a:solidFill>
                <a:srgbClr val="1F1F1F"/>
              </a:solidFill>
              <a:highlight>
                <a:srgbClr val="FFFFFF"/>
              </a:highlight>
              <a:latin typeface="Roboto"/>
              <a:ea typeface="Roboto"/>
              <a:cs typeface="Roboto"/>
              <a:sym typeface="Roboto"/>
            </a:endParaRPr>
          </a:p>
          <a:p>
            <a:pPr indent="-333375" lvl="0" marL="457200" rtl="0" algn="l">
              <a:spcBef>
                <a:spcPts val="0"/>
              </a:spcBef>
              <a:spcAft>
                <a:spcPts val="0"/>
              </a:spcAft>
              <a:buClr>
                <a:srgbClr val="1F1F1F"/>
              </a:buClr>
              <a:buSzPts val="1650"/>
              <a:buFont typeface="Roboto"/>
              <a:buChar char="●"/>
            </a:pPr>
            <a:r>
              <a:rPr lang="en-GB" sz="1650">
                <a:solidFill>
                  <a:srgbClr val="1F1F1F"/>
                </a:solidFill>
                <a:highlight>
                  <a:schemeClr val="lt1"/>
                </a:highlight>
                <a:latin typeface="Roboto"/>
                <a:ea typeface="Roboto"/>
                <a:cs typeface="Roboto"/>
                <a:sym typeface="Roboto"/>
              </a:rPr>
              <a:t>in 2021 </a:t>
            </a:r>
            <a:r>
              <a:rPr lang="en-GB" sz="1650">
                <a:solidFill>
                  <a:srgbClr val="1F1F1F"/>
                </a:solidFill>
                <a:highlight>
                  <a:srgbClr val="FFFFFF"/>
                </a:highlight>
                <a:latin typeface="Roboto"/>
                <a:ea typeface="Roboto"/>
                <a:cs typeface="Roboto"/>
                <a:sym typeface="Roboto"/>
              </a:rPr>
              <a:t>started to get access to next-gen ESP32 (the S3), prompted partly by the vulnerability and also by move towards RISC V — in the co-processor — and the usual bigger+better cycle</a:t>
            </a:r>
            <a:endParaRPr sz="1650">
              <a:solidFill>
                <a:srgbClr val="1F1F1F"/>
              </a:solidFill>
              <a:highlight>
                <a:srgbClr val="FFFFFF"/>
              </a:highlight>
              <a:latin typeface="Roboto"/>
              <a:ea typeface="Roboto"/>
              <a:cs typeface="Roboto"/>
              <a:sym typeface="Roboto"/>
            </a:endParaRPr>
          </a:p>
          <a:p>
            <a:pPr indent="-333375" lvl="0" marL="457200" rtl="0" algn="l">
              <a:spcBef>
                <a:spcPts val="0"/>
              </a:spcBef>
              <a:spcAft>
                <a:spcPts val="0"/>
              </a:spcAft>
              <a:buClr>
                <a:srgbClr val="1F1F1F"/>
              </a:buClr>
              <a:buSzPts val="1650"/>
              <a:buFont typeface="Roboto"/>
              <a:buChar char="●"/>
            </a:pPr>
            <a:r>
              <a:rPr lang="en-GB" sz="1650">
                <a:solidFill>
                  <a:srgbClr val="1F1F1F"/>
                </a:solidFill>
                <a:highlight>
                  <a:srgbClr val="FFFFFF"/>
                </a:highlight>
                <a:latin typeface="Roboto"/>
                <a:ea typeface="Roboto"/>
                <a:cs typeface="Roboto"/>
                <a:sym typeface="Roboto"/>
              </a:rPr>
              <a:t>in 2022 we ported the unPhone over to the S3, and decided to supply Adafruit’s S3 feather for this course</a:t>
            </a:r>
            <a:endParaRPr sz="1650">
              <a:solidFill>
                <a:srgbClr val="1F1F1F"/>
              </a:solidFill>
              <a:highlight>
                <a:srgbClr val="FFFFFF"/>
              </a:highlight>
              <a:latin typeface="Roboto"/>
              <a:ea typeface="Roboto"/>
              <a:cs typeface="Roboto"/>
              <a:sym typeface="Roboto"/>
            </a:endParaRPr>
          </a:p>
          <a:p>
            <a:pPr indent="-333375" lvl="0" marL="457200" rtl="0" algn="l">
              <a:spcBef>
                <a:spcPts val="0"/>
              </a:spcBef>
              <a:spcAft>
                <a:spcPts val="0"/>
              </a:spcAft>
              <a:buClr>
                <a:srgbClr val="1F1F1F"/>
              </a:buClr>
              <a:buSzPts val="1650"/>
              <a:buFont typeface="Roboto"/>
              <a:buChar char="●"/>
            </a:pPr>
            <a:r>
              <a:rPr lang="en-GB" sz="1650">
                <a:solidFill>
                  <a:srgbClr val="1F1F1F"/>
                </a:solidFill>
                <a:highlight>
                  <a:srgbClr val="FFFFFF"/>
                </a:highlight>
                <a:latin typeface="Roboto"/>
                <a:ea typeface="Roboto"/>
                <a:cs typeface="Roboto"/>
                <a:sym typeface="Roboto"/>
              </a:rPr>
              <a:t>by late 2022 I had been working with the chip for what felt like a good length of time; I wasn’t expecting big surprises! there were some differences, and some instability, but it was going well on balance, and I’d run lots of code on S3s from different IDEs</a:t>
            </a:r>
            <a:endParaRPr sz="1650">
              <a:solidFill>
                <a:srgbClr val="1F1F1F"/>
              </a:solidFill>
              <a:highlight>
                <a:srgbClr val="FFFFFF"/>
              </a:highlight>
              <a:latin typeface="Roboto"/>
              <a:ea typeface="Roboto"/>
              <a:cs typeface="Roboto"/>
              <a:sym typeface="Roboto"/>
            </a:endParaRPr>
          </a:p>
          <a:p>
            <a:pPr indent="-333375" lvl="0" marL="457200" rtl="0" algn="l">
              <a:spcBef>
                <a:spcPts val="0"/>
              </a:spcBef>
              <a:spcAft>
                <a:spcPts val="0"/>
              </a:spcAft>
              <a:buClr>
                <a:srgbClr val="1F1F1F"/>
              </a:buClr>
              <a:buSzPts val="1650"/>
              <a:buFont typeface="Roboto"/>
              <a:buChar char="●"/>
            </a:pPr>
            <a:r>
              <a:rPr lang="en-GB" sz="1650">
                <a:solidFill>
                  <a:srgbClr val="1F1F1F"/>
                </a:solidFill>
                <a:highlight>
                  <a:srgbClr val="FFFFFF"/>
                </a:highlight>
                <a:latin typeface="Roboto"/>
                <a:ea typeface="Roboto"/>
                <a:cs typeface="Roboto"/>
                <a:sym typeface="Roboto"/>
              </a:rPr>
              <a:t>January: I’ll just pop into the lab to check everything is ok on the Uni machines…</a:t>
            </a:r>
            <a:endParaRPr sz="1650">
              <a:solidFill>
                <a:srgbClr val="1F1F1F"/>
              </a:solidFill>
              <a:highlight>
                <a:srgbClr val="FFFFFF"/>
              </a:highlight>
              <a:latin typeface="Roboto"/>
              <a:ea typeface="Roboto"/>
              <a:cs typeface="Roboto"/>
              <a:sym typeface="Roboto"/>
            </a:endParaRPr>
          </a:p>
          <a:p>
            <a:pPr indent="-333375" lvl="0" marL="457200" rtl="0" algn="l">
              <a:spcBef>
                <a:spcPts val="0"/>
              </a:spcBef>
              <a:spcAft>
                <a:spcPts val="0"/>
              </a:spcAft>
              <a:buClr>
                <a:srgbClr val="1F1F1F"/>
              </a:buClr>
              <a:buSzPts val="1650"/>
              <a:buFont typeface="Roboto"/>
              <a:buChar char="●"/>
            </a:pPr>
            <a:r>
              <a:rPr lang="en-GB" sz="1650">
                <a:solidFill>
                  <a:srgbClr val="1F1F1F"/>
                </a:solidFill>
                <a:highlight>
                  <a:srgbClr val="FFFFFF"/>
                </a:highlight>
                <a:latin typeface="Roboto"/>
                <a:ea typeface="Roboto"/>
                <a:cs typeface="Roboto"/>
                <a:sym typeface="Roboto"/>
              </a:rPr>
              <a:t>EEEEK!!!!  why is it so hard to flash!?</a:t>
            </a:r>
            <a:endParaRPr sz="1650">
              <a:solidFill>
                <a:srgbClr val="1F1F1F"/>
              </a:solidFill>
              <a:highlight>
                <a:srgbClr val="FFFFFF"/>
              </a:highlight>
              <a:latin typeface="Roboto"/>
              <a:ea typeface="Roboto"/>
              <a:cs typeface="Roboto"/>
              <a:sym typeface="Roboto"/>
            </a:endParaRPr>
          </a:p>
          <a:p>
            <a:pPr indent="-333375" lvl="0" marL="457200" rtl="0" algn="l">
              <a:spcBef>
                <a:spcPts val="0"/>
              </a:spcBef>
              <a:spcAft>
                <a:spcPts val="0"/>
              </a:spcAft>
              <a:buClr>
                <a:srgbClr val="1F1F1F"/>
              </a:buClr>
              <a:buSzPts val="1650"/>
              <a:buFont typeface="Roboto"/>
              <a:buChar char="●"/>
            </a:pPr>
            <a:r>
              <a:rPr lang="en-GB" sz="1650">
                <a:solidFill>
                  <a:srgbClr val="1F1F1F"/>
                </a:solidFill>
                <a:highlight>
                  <a:srgbClr val="FFFFFF"/>
                </a:highlight>
                <a:latin typeface="Roboto"/>
                <a:ea typeface="Roboto"/>
                <a:cs typeface="Roboto"/>
                <a:sym typeface="Roboto"/>
              </a:rPr>
              <a:t>cue a lot of research into bootloaders, USB modes, and IDE and OS serial management…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4" name="Shape 524"/>
        <p:cNvGrpSpPr/>
        <p:nvPr/>
      </p:nvGrpSpPr>
      <p:grpSpPr>
        <a:xfrm>
          <a:off x="0" y="0"/>
          <a:ext cx="0" cy="0"/>
          <a:chOff x="0" y="0"/>
          <a:chExt cx="0" cy="0"/>
        </a:xfrm>
      </p:grpSpPr>
      <p:sp>
        <p:nvSpPr>
          <p:cNvPr id="525" name="Google Shape;525;p85"/>
          <p:cNvSpPr txBox="1"/>
          <p:nvPr>
            <p:ph type="title"/>
          </p:nvPr>
        </p:nvSpPr>
        <p:spPr>
          <a:xfrm>
            <a:off x="836198" y="-7620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S3 boot bug (2): suspicious bootloaders…</a:t>
            </a:r>
            <a:endParaRPr/>
          </a:p>
        </p:txBody>
      </p:sp>
      <p:sp>
        <p:nvSpPr>
          <p:cNvPr id="526" name="Google Shape;526;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527" name="Google Shape;527;p85"/>
          <p:cNvPicPr preferRelativeResize="0"/>
          <p:nvPr/>
        </p:nvPicPr>
        <p:blipFill>
          <a:blip r:embed="rId3">
            <a:alphaModFix/>
          </a:blip>
          <a:stretch>
            <a:fillRect/>
          </a:stretch>
        </p:blipFill>
        <p:spPr>
          <a:xfrm>
            <a:off x="3048000" y="648900"/>
            <a:ext cx="5789600" cy="4342200"/>
          </a:xfrm>
          <a:prstGeom prst="rect">
            <a:avLst/>
          </a:prstGeom>
          <a:noFill/>
          <a:ln>
            <a:noFill/>
          </a:ln>
        </p:spPr>
      </p:pic>
      <p:sp>
        <p:nvSpPr>
          <p:cNvPr id="528" name="Google Shape;528;p85"/>
          <p:cNvSpPr txBox="1"/>
          <p:nvPr/>
        </p:nvSpPr>
        <p:spPr>
          <a:xfrm>
            <a:off x="185350" y="463075"/>
            <a:ext cx="3051600" cy="471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How do you make boards that non-specialists can use? Arduino is the previous generation’s 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More modern answers:</a:t>
            </a:r>
            <a:endParaRPr/>
          </a:p>
          <a:p>
            <a:pPr indent="-317500" lvl="0" marL="457200" rtl="0" algn="l">
              <a:spcBef>
                <a:spcPts val="0"/>
              </a:spcBef>
              <a:spcAft>
                <a:spcPts val="0"/>
              </a:spcAft>
              <a:buSzPts val="1400"/>
              <a:buChar char="●"/>
            </a:pPr>
            <a:r>
              <a:rPr lang="en-GB"/>
              <a:t>visual programming on MicroBit — good for schools but not beyond?</a:t>
            </a:r>
            <a:endParaRPr/>
          </a:p>
          <a:p>
            <a:pPr indent="-317500" lvl="0" marL="457200" rtl="0" algn="l">
              <a:spcBef>
                <a:spcPts val="0"/>
              </a:spcBef>
              <a:spcAft>
                <a:spcPts val="0"/>
              </a:spcAft>
              <a:buSzPts val="1400"/>
              <a:buChar char="●"/>
            </a:pPr>
            <a:r>
              <a:rPr lang="en-GB"/>
              <a:t>[Circuit|Micro]Python on MCUs — starting to be a contender</a:t>
            </a:r>
            <a:endParaRPr/>
          </a:p>
          <a:p>
            <a:pPr indent="-317500" lvl="0" marL="457200" rtl="0" algn="l">
              <a:spcBef>
                <a:spcPts val="0"/>
              </a:spcBef>
              <a:spcAft>
                <a:spcPts val="0"/>
              </a:spcAft>
              <a:buSzPts val="1400"/>
              <a:buChar char="●"/>
            </a:pPr>
            <a:r>
              <a:rPr lang="en-GB"/>
              <a:t>Zalan’s answer: do your own Rust port (!)</a:t>
            </a:r>
            <a:endParaRPr/>
          </a:p>
          <a:p>
            <a:pPr indent="0" lvl="0" marL="0" rtl="0" algn="l">
              <a:spcBef>
                <a:spcPts val="0"/>
              </a:spcBef>
              <a:spcAft>
                <a:spcPts val="0"/>
              </a:spcAft>
              <a:buNone/>
            </a:pPr>
            <a:r>
              <a:rPr lang="en-GB"/>
              <a:t>For the latter it is now common to use a UF2 bootloader, and have the device present as USB mass storage class. Save a .py file and reload the firmware!</a:t>
            </a:r>
            <a:endParaRPr/>
          </a:p>
          <a:p>
            <a:pPr indent="0" lvl="0" marL="0" rtl="0" algn="l">
              <a:spcBef>
                <a:spcPts val="0"/>
              </a:spcBef>
              <a:spcAft>
                <a:spcPts val="0"/>
              </a:spcAft>
              <a:buNone/>
            </a:pPr>
            <a:r>
              <a:t/>
            </a:r>
            <a:endParaRPr/>
          </a:p>
          <a:p>
            <a:pPr indent="0" lvl="0" marL="457200" rtl="0" algn="l">
              <a:spcBef>
                <a:spcPts val="0"/>
              </a:spcBef>
              <a:spcAft>
                <a:spcPts val="0"/>
              </a:spcAft>
              <a:buNone/>
            </a:pPr>
            <a:r>
              <a:rPr lang="en-GB"/>
              <a:t>Downside: bootloader becomes very complex!</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2" name="Shape 532"/>
        <p:cNvGrpSpPr/>
        <p:nvPr/>
      </p:nvGrpSpPr>
      <p:grpSpPr>
        <a:xfrm>
          <a:off x="0" y="0"/>
          <a:ext cx="0" cy="0"/>
          <a:chOff x="0" y="0"/>
          <a:chExt cx="0" cy="0"/>
        </a:xfrm>
      </p:grpSpPr>
      <p:sp>
        <p:nvSpPr>
          <p:cNvPr id="533" name="Google Shape;533;p86"/>
          <p:cNvSpPr txBox="1"/>
          <p:nvPr>
            <p:ph type="title"/>
          </p:nvPr>
        </p:nvSpPr>
        <p:spPr>
          <a:xfrm>
            <a:off x="836198" y="-7620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S3 boot bug (3)</a:t>
            </a:r>
            <a:endParaRPr/>
          </a:p>
        </p:txBody>
      </p:sp>
      <p:sp>
        <p:nvSpPr>
          <p:cNvPr id="534" name="Google Shape;534;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5" name="Google Shape;535;p86"/>
          <p:cNvSpPr txBox="1"/>
          <p:nvPr/>
        </p:nvSpPr>
        <p:spPr>
          <a:xfrm>
            <a:off x="423650" y="502950"/>
            <a:ext cx="8323200" cy="4593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GB" sz="1600"/>
              <a:t>prior to the S3 ESP32 boards used an additional chip to manage the serial line (e.g. CP2104 USB to UART Bridge; we’ll talk about the UART protocol week after next)</a:t>
            </a:r>
            <a:endParaRPr sz="1600"/>
          </a:p>
          <a:p>
            <a:pPr indent="-330200" lvl="0" marL="457200" rtl="0" algn="l">
              <a:spcBef>
                <a:spcPts val="0"/>
              </a:spcBef>
              <a:spcAft>
                <a:spcPts val="0"/>
              </a:spcAft>
              <a:buSzPts val="1600"/>
              <a:buChar char="●"/>
            </a:pPr>
            <a:r>
              <a:rPr lang="en-GB" sz="1600"/>
              <a:t>then USB capability was added natively to the chip</a:t>
            </a:r>
            <a:endParaRPr sz="1600"/>
          </a:p>
          <a:p>
            <a:pPr indent="-330200" lvl="0" marL="457200" rtl="0" algn="l">
              <a:spcBef>
                <a:spcPts val="0"/>
              </a:spcBef>
              <a:spcAft>
                <a:spcPts val="0"/>
              </a:spcAft>
              <a:buSzPts val="1600"/>
              <a:buChar char="●"/>
            </a:pPr>
            <a:r>
              <a:rPr lang="en-GB" sz="1600"/>
              <a:t>the Adafruit S3 feather (and similar boards) now connect USB directly to the ESP32, which reduces complexity and cost, but it also changes the </a:t>
            </a:r>
            <a:r>
              <a:rPr lang="en-GB" sz="1600">
                <a:solidFill>
                  <a:schemeClr val="dk1"/>
                </a:solidFill>
                <a:highlight>
                  <a:srgbClr val="FEFEFE"/>
                </a:highlight>
              </a:rPr>
              <a:t>way the device presents itself to the OS (to support CircuitPython, UF2, and JTAG over USB, for example)</a:t>
            </a:r>
            <a:endParaRPr sz="1600">
              <a:solidFill>
                <a:schemeClr val="dk1"/>
              </a:solidFill>
              <a:highlight>
                <a:srgbClr val="FEFEFE"/>
              </a:highlight>
            </a:endParaRPr>
          </a:p>
          <a:p>
            <a:pPr indent="-330200" lvl="0" marL="457200" rtl="0" algn="l">
              <a:spcBef>
                <a:spcPts val="0"/>
              </a:spcBef>
              <a:spcAft>
                <a:spcPts val="0"/>
              </a:spcAft>
              <a:buClr>
                <a:schemeClr val="dk1"/>
              </a:buClr>
              <a:buSzPts val="1600"/>
              <a:buChar char="●"/>
            </a:pPr>
            <a:r>
              <a:rPr lang="en-GB" sz="1600">
                <a:solidFill>
                  <a:schemeClr val="dk1"/>
                </a:solidFill>
                <a:highlight>
                  <a:srgbClr val="FEFEFE"/>
                </a:highlight>
              </a:rPr>
              <a:t>managing this is difficult! IDF release 4.4.3 introduced a HAL USB mode switch bug</a:t>
            </a:r>
            <a:br>
              <a:rPr lang="en-GB" sz="1600">
                <a:solidFill>
                  <a:schemeClr val="dk1"/>
                </a:solidFill>
                <a:highlight>
                  <a:srgbClr val="FEFEFE"/>
                </a:highlight>
              </a:rPr>
            </a:br>
            <a:r>
              <a:rPr lang="en-GB" sz="1600">
                <a:solidFill>
                  <a:schemeClr val="dk1"/>
                </a:solidFill>
                <a:highlight>
                  <a:srgbClr val="FEFEFE"/>
                </a:highlight>
              </a:rPr>
              <a:t>… and it only presents sometimes and on some platforms!</a:t>
            </a:r>
            <a:endParaRPr sz="1600">
              <a:solidFill>
                <a:schemeClr val="dk1"/>
              </a:solidFill>
              <a:highlight>
                <a:srgbClr val="FEFEFE"/>
              </a:highlight>
            </a:endParaRPr>
          </a:p>
          <a:p>
            <a:pPr indent="-330200" lvl="0" marL="457200" rtl="0" algn="l">
              <a:spcBef>
                <a:spcPts val="0"/>
              </a:spcBef>
              <a:spcAft>
                <a:spcPts val="0"/>
              </a:spcAft>
              <a:buClr>
                <a:schemeClr val="dk1"/>
              </a:buClr>
              <a:buSzPts val="1600"/>
              <a:buChar char="●"/>
            </a:pPr>
            <a:r>
              <a:rPr lang="en-GB" sz="1600">
                <a:solidFill>
                  <a:schemeClr val="dk1"/>
                </a:solidFill>
                <a:highlight>
                  <a:srgbClr val="FEFEFE"/>
                </a:highlight>
              </a:rPr>
              <a:t>the upshot is that sometimes it is impossible to flash :(   details:</a:t>
            </a:r>
            <a:endParaRPr sz="1600">
              <a:solidFill>
                <a:schemeClr val="dk1"/>
              </a:solidFill>
              <a:highlight>
                <a:srgbClr val="FEFEFE"/>
              </a:highlight>
            </a:endParaRPr>
          </a:p>
          <a:p>
            <a:pPr indent="-330200" lvl="1" marL="914400" rtl="0" algn="l">
              <a:lnSpc>
                <a:spcPct val="115000"/>
              </a:lnSpc>
              <a:spcBef>
                <a:spcPts val="0"/>
              </a:spcBef>
              <a:spcAft>
                <a:spcPts val="0"/>
              </a:spcAft>
              <a:buClr>
                <a:schemeClr val="dk1"/>
              </a:buClr>
              <a:buSzPts val="1600"/>
              <a:buAutoNum type="alphaLcPeriod"/>
            </a:pPr>
            <a:r>
              <a:rPr lang="en-GB" sz="1600">
                <a:solidFill>
                  <a:srgbClr val="0645AD"/>
                </a:solidFill>
                <a:highlight>
                  <a:srgbClr val="FEFEFE"/>
                </a:highlight>
                <a:uFill>
                  <a:noFill/>
                </a:uFill>
                <a:hlinkClick r:id="rId3">
                  <a:extLst>
                    <a:ext uri="{A12FA001-AC4F-418D-AE19-62706E023703}">
                      <ahyp:hlinkClr val="tx"/>
                    </a:ext>
                  </a:extLst>
                </a:hlinkClick>
              </a:rPr>
              <a:t>summary 1</a:t>
            </a:r>
            <a:r>
              <a:rPr lang="en-GB" sz="1600">
                <a:solidFill>
                  <a:schemeClr val="dk1"/>
                </a:solidFill>
                <a:highlight>
                  <a:srgbClr val="FEFEFE"/>
                </a:highlight>
              </a:rPr>
              <a:t> and </a:t>
            </a:r>
            <a:r>
              <a:rPr lang="en-GB" sz="1600" u="sng">
                <a:solidFill>
                  <a:schemeClr val="hlink"/>
                </a:solidFill>
                <a:highlight>
                  <a:srgbClr val="FEFEFE"/>
                </a:highlight>
                <a:hlinkClick r:id="rId4"/>
              </a:rPr>
              <a:t>summary 2</a:t>
            </a:r>
            <a:r>
              <a:rPr lang="en-GB" sz="1600">
                <a:solidFill>
                  <a:schemeClr val="dk1"/>
                </a:solidFill>
                <a:highlight>
                  <a:srgbClr val="FEFEFE"/>
                </a:highlight>
              </a:rPr>
              <a:t> of original discussions on Adafruit forums</a:t>
            </a:r>
            <a:endParaRPr sz="1600">
              <a:solidFill>
                <a:schemeClr val="dk1"/>
              </a:solidFill>
              <a:highlight>
                <a:srgbClr val="FEFEFE"/>
              </a:highlight>
            </a:endParaRPr>
          </a:p>
          <a:p>
            <a:pPr indent="-330200" lvl="1" marL="914400" rtl="0" algn="l">
              <a:lnSpc>
                <a:spcPct val="115000"/>
              </a:lnSpc>
              <a:spcBef>
                <a:spcPts val="0"/>
              </a:spcBef>
              <a:spcAft>
                <a:spcPts val="0"/>
              </a:spcAft>
              <a:buClr>
                <a:schemeClr val="dk1"/>
              </a:buClr>
              <a:buSzPts val="1600"/>
              <a:buAutoNum type="alphaLcPeriod"/>
            </a:pPr>
            <a:r>
              <a:rPr lang="en-GB" sz="1600">
                <a:solidFill>
                  <a:srgbClr val="0645AD"/>
                </a:solidFill>
                <a:highlight>
                  <a:srgbClr val="FEFEFE"/>
                </a:highlight>
                <a:uFill>
                  <a:noFill/>
                </a:uFill>
                <a:hlinkClick r:id="rId5">
                  <a:extLst>
                    <a:ext uri="{A12FA001-AC4F-418D-AE19-62706E023703}">
                      <ahyp:hlinkClr val="tx"/>
                    </a:ext>
                  </a:extLst>
                </a:hlinkClick>
              </a:rPr>
              <a:t>discussion</a:t>
            </a:r>
            <a:r>
              <a:rPr lang="en-GB" sz="1600">
                <a:solidFill>
                  <a:schemeClr val="dk1"/>
                </a:solidFill>
                <a:highlight>
                  <a:srgbClr val="FEFEFE"/>
                </a:highlight>
              </a:rPr>
              <a:t> and </a:t>
            </a:r>
            <a:r>
              <a:rPr lang="en-GB" sz="1600">
                <a:solidFill>
                  <a:srgbClr val="0645AD"/>
                </a:solidFill>
                <a:highlight>
                  <a:srgbClr val="FEFEFE"/>
                </a:highlight>
                <a:uFill>
                  <a:noFill/>
                </a:uFill>
                <a:hlinkClick r:id="rId6">
                  <a:extLst>
                    <a:ext uri="{A12FA001-AC4F-418D-AE19-62706E023703}">
                      <ahyp:hlinkClr val="tx"/>
                    </a:ext>
                  </a:extLst>
                </a:hlinkClick>
              </a:rPr>
              <a:t>pull request</a:t>
            </a:r>
            <a:r>
              <a:rPr lang="en-GB" sz="1600">
                <a:solidFill>
                  <a:schemeClr val="dk1"/>
                </a:solidFill>
                <a:highlight>
                  <a:srgbClr val="FEFEFE"/>
                </a:highlight>
              </a:rPr>
              <a:t> of the likely fix</a:t>
            </a:r>
            <a:endParaRPr sz="1600">
              <a:solidFill>
                <a:schemeClr val="dk1"/>
              </a:solidFill>
              <a:highlight>
                <a:srgbClr val="FEFEFE"/>
              </a:highlight>
            </a:endParaRPr>
          </a:p>
          <a:p>
            <a:pPr indent="-330200" lvl="1" marL="914400" rtl="0" algn="l">
              <a:lnSpc>
                <a:spcPct val="115000"/>
              </a:lnSpc>
              <a:spcBef>
                <a:spcPts val="0"/>
              </a:spcBef>
              <a:spcAft>
                <a:spcPts val="0"/>
              </a:spcAft>
              <a:buClr>
                <a:schemeClr val="dk1"/>
              </a:buClr>
              <a:buSzPts val="1600"/>
              <a:buAutoNum type="alphaLcPeriod"/>
            </a:pPr>
            <a:r>
              <a:rPr lang="en-GB" sz="1600">
                <a:solidFill>
                  <a:srgbClr val="0645AD"/>
                </a:solidFill>
                <a:highlight>
                  <a:srgbClr val="FEFEFE"/>
                </a:highlight>
                <a:uFill>
                  <a:noFill/>
                </a:uFill>
                <a:hlinkClick r:id="rId7">
                  <a:extLst>
                    <a:ext uri="{A12FA001-AC4F-418D-AE19-62706E023703}">
                      <ahyp:hlinkClr val="tx"/>
                    </a:ext>
                  </a:extLst>
                </a:hlinkClick>
              </a:rPr>
              <a:t>example of how to run that in PlatformIO</a:t>
            </a:r>
            <a:r>
              <a:rPr lang="en-GB" sz="1600">
                <a:solidFill>
                  <a:schemeClr val="dk1"/>
                </a:solidFill>
                <a:highlight>
                  <a:srgbClr val="FEFEFE"/>
                </a:highlight>
              </a:rPr>
              <a:t> in the course example code</a:t>
            </a:r>
            <a:br>
              <a:rPr lang="en-GB" sz="1600">
                <a:solidFill>
                  <a:schemeClr val="dk1"/>
                </a:solidFill>
                <a:highlight>
                  <a:srgbClr val="FEFEFE"/>
                </a:highlight>
              </a:rPr>
            </a:br>
            <a:r>
              <a:rPr lang="en-GB" sz="1600">
                <a:solidFill>
                  <a:schemeClr val="dk1"/>
                </a:solidFill>
                <a:highlight>
                  <a:srgbClr val="FEFEFE"/>
                </a:highlight>
              </a:rPr>
              <a:t>(triggers a big download!); upcoming 2.0.7 core will include the fix</a:t>
            </a:r>
            <a:endParaRPr sz="1600">
              <a:solidFill>
                <a:schemeClr val="dk1"/>
              </a:solidFill>
              <a:highlight>
                <a:srgbClr val="FEFEFE"/>
              </a:highlight>
            </a:endParaRPr>
          </a:p>
          <a:p>
            <a:pPr indent="-330200" lvl="1" marL="914400" rtl="0" algn="l">
              <a:lnSpc>
                <a:spcPct val="115000"/>
              </a:lnSpc>
              <a:spcBef>
                <a:spcPts val="0"/>
              </a:spcBef>
              <a:spcAft>
                <a:spcPts val="0"/>
              </a:spcAft>
              <a:buClr>
                <a:schemeClr val="dk1"/>
              </a:buClr>
              <a:buSzPts val="1600"/>
              <a:buAutoNum type="alphaLcPeriod"/>
            </a:pPr>
            <a:r>
              <a:rPr lang="en-GB" sz="1600">
                <a:solidFill>
                  <a:schemeClr val="dk1"/>
                </a:solidFill>
                <a:highlight>
                  <a:srgbClr val="FEFEFE"/>
                </a:highlight>
              </a:rPr>
              <a:t>in the Arduino IDE it may do the same to replace the stable boards manager URL in preferences with the development version, and choose the latest</a:t>
            </a:r>
            <a:endParaRPr sz="1600">
              <a:solidFill>
                <a:schemeClr val="dk1"/>
              </a:solidFill>
              <a:highlight>
                <a:srgbClr val="FEFEFE"/>
              </a:highlight>
            </a:endParaRPr>
          </a:p>
          <a:p>
            <a:pPr indent="-330200" lvl="0" marL="457200" rtl="0" algn="l">
              <a:spcBef>
                <a:spcPts val="0"/>
              </a:spcBef>
              <a:spcAft>
                <a:spcPts val="0"/>
              </a:spcAft>
              <a:buSzPts val="1600"/>
              <a:buChar char="●"/>
            </a:pPr>
            <a:r>
              <a:rPr lang="en-GB" sz="1600"/>
              <a:t>long story short: this type of thing is painful, but does prove the advantages of open source! (and, the bigger the community the faster the fix)</a:t>
            </a:r>
            <a:endParaRPr sz="16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9" name="Shape 539"/>
        <p:cNvGrpSpPr/>
        <p:nvPr/>
      </p:nvGrpSpPr>
      <p:grpSpPr>
        <a:xfrm>
          <a:off x="0" y="0"/>
          <a:ext cx="0" cy="0"/>
          <a:chOff x="0" y="0"/>
          <a:chExt cx="0" cy="0"/>
        </a:xfrm>
      </p:grpSpPr>
      <p:sp>
        <p:nvSpPr>
          <p:cNvPr id="540" name="Google Shape;540;p87"/>
          <p:cNvSpPr txBox="1"/>
          <p:nvPr>
            <p:ph type="title"/>
          </p:nvPr>
        </p:nvSpPr>
        <p:spPr>
          <a:xfrm>
            <a:off x="783928" y="22375"/>
            <a:ext cx="7978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One more question...</a:t>
            </a:r>
            <a:endParaRPr/>
          </a:p>
        </p:txBody>
      </p:sp>
      <p:sp>
        <p:nvSpPr>
          <p:cNvPr id="541" name="Google Shape;541;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42" name="Google Shape;542;p87"/>
          <p:cNvSpPr txBox="1"/>
          <p:nvPr>
            <p:ph idx="1" type="body"/>
          </p:nvPr>
        </p:nvSpPr>
        <p:spPr>
          <a:xfrm>
            <a:off x="464100" y="569925"/>
            <a:ext cx="8406600" cy="37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Who can tell me what it says in “welcome.txt”?!</a:t>
            </a:r>
            <a:endParaRPr sz="1800"/>
          </a:p>
          <a:p>
            <a:pPr indent="0" lvl="0" marL="0" rtl="0" algn="l">
              <a:spcBef>
                <a:spcPts val="1000"/>
              </a:spcBef>
              <a:spcAft>
                <a:spcPts val="0"/>
              </a:spcAft>
              <a:buClr>
                <a:schemeClr val="dk1"/>
              </a:buClr>
              <a:buSzPts val="1100"/>
              <a:buFont typeface="Arial"/>
              <a:buNone/>
            </a:pPr>
            <a:r>
              <a:rPr lang="en-GB" sz="1800"/>
              <a:t>&lt;&lt;answers in the chat&gt;&gt;</a:t>
            </a:r>
            <a:endParaRPr sz="1800"/>
          </a:p>
          <a:p>
            <a:pPr indent="0" lvl="0" marL="0" rtl="0" algn="l">
              <a:spcBef>
                <a:spcPts val="1000"/>
              </a:spcBef>
              <a:spcAft>
                <a:spcPts val="0"/>
              </a:spcAft>
              <a:buClr>
                <a:schemeClr val="dk1"/>
              </a:buClr>
              <a:buSzPts val="1100"/>
              <a:buFont typeface="Arial"/>
              <a:buNone/>
            </a:pPr>
            <a:r>
              <a:rPr lang="en-GB" sz="1800"/>
              <a:t>As of last Friday I have around 60 (out of 90) repos that are successfully pulled down from the cloud (using GitLab’s API called from a Groovy script called from a bash script called from a lot of swearing...); whenever this works you’ll get a </a:t>
            </a:r>
            <a:r>
              <a:rPr lang="en-GB" sz="1800" u="sng"/>
              <a:t>welcome.txt</a:t>
            </a:r>
            <a:r>
              <a:rPr lang="en-GB" sz="1800"/>
              <a:t> added to your repo…</a:t>
            </a:r>
            <a:endParaRPr sz="1800"/>
          </a:p>
          <a:p>
            <a:pPr indent="0" lvl="0" marL="0" rtl="0" algn="l">
              <a:spcBef>
                <a:spcPts val="1000"/>
              </a:spcBef>
              <a:spcAft>
                <a:spcPts val="0"/>
              </a:spcAft>
              <a:buClr>
                <a:schemeClr val="dk1"/>
              </a:buClr>
              <a:buSzPts val="1100"/>
              <a:buFont typeface="Arial"/>
              <a:buNone/>
            </a:pPr>
            <a:r>
              <a:rPr lang="en-GB" sz="1800"/>
              <a:t>You’re not properly enrolled until that has </a:t>
            </a:r>
            <a:r>
              <a:rPr lang="en-GB" sz="1800"/>
              <a:t>happened</a:t>
            </a:r>
            <a:r>
              <a:rPr lang="en-GB" sz="1800"/>
              <a:t>, so please give it a shot this week:</a:t>
            </a:r>
            <a:endParaRPr sz="1800"/>
          </a:p>
          <a:p>
            <a:pPr indent="-342900" lvl="0" marL="457200" rtl="0" algn="l">
              <a:spcBef>
                <a:spcPts val="1000"/>
              </a:spcBef>
              <a:spcAft>
                <a:spcPts val="0"/>
              </a:spcAft>
              <a:buSzPts val="1800"/>
              <a:buChar char="●"/>
            </a:pPr>
            <a:r>
              <a:rPr lang="en-GB" sz="1800"/>
              <a:t>create an account on gitlab.com</a:t>
            </a:r>
            <a:endParaRPr sz="1800"/>
          </a:p>
          <a:p>
            <a:pPr indent="-342900" lvl="0" marL="457200" rtl="0" algn="l">
              <a:spcBef>
                <a:spcPts val="0"/>
              </a:spcBef>
              <a:spcAft>
                <a:spcPts val="0"/>
              </a:spcAft>
              <a:buSzPts val="1800"/>
              <a:buChar char="●"/>
            </a:pPr>
            <a:r>
              <a:rPr lang="en-GB" sz="1800"/>
              <a:t>create a private project called </a:t>
            </a:r>
            <a:r>
              <a:rPr lang="en-GB" sz="1800" u="sng"/>
              <a:t>com3505-student-2021</a:t>
            </a:r>
            <a:endParaRPr sz="1800" u="sng"/>
          </a:p>
          <a:p>
            <a:pPr indent="-342900" lvl="0" marL="457200" rtl="0" algn="l">
              <a:spcBef>
                <a:spcPts val="0"/>
              </a:spcBef>
              <a:spcAft>
                <a:spcPts val="0"/>
              </a:spcAft>
              <a:buSzPts val="1800"/>
              <a:buChar char="●"/>
            </a:pPr>
            <a:r>
              <a:rPr lang="en-GB" sz="1800"/>
              <a:t>send your gitlab user ID to hc-p4-3.shef.ac.uk as per the notes</a:t>
            </a:r>
            <a:endParaRPr sz="1800"/>
          </a:p>
          <a:p>
            <a:pPr indent="-342900" lvl="0" marL="457200" rtl="0" algn="l">
              <a:spcBef>
                <a:spcPts val="0"/>
              </a:spcBef>
              <a:spcAft>
                <a:spcPts val="0"/>
              </a:spcAft>
              <a:buSzPts val="1800"/>
              <a:buChar char="●"/>
            </a:pPr>
            <a:r>
              <a:rPr lang="en-GB" sz="1800"/>
              <a:t>thanks!</a:t>
            </a:r>
            <a:endParaRPr sz="1800"/>
          </a:p>
          <a:p>
            <a:pPr indent="0" lvl="0" marL="0" rtl="0" algn="l">
              <a:spcBef>
                <a:spcPts val="1000"/>
              </a:spcBef>
              <a:spcAft>
                <a:spcPts val="0"/>
              </a:spcAft>
              <a:buNone/>
            </a:pPr>
            <a:r>
              <a:t/>
            </a:r>
            <a:endParaRPr sz="1800"/>
          </a:p>
          <a:p>
            <a:pPr indent="0" lvl="0" marL="457200" rtl="0" algn="l">
              <a:spcBef>
                <a:spcPts val="1000"/>
              </a:spcBef>
              <a:spcAft>
                <a:spcPts val="1000"/>
              </a:spcAft>
              <a:buClr>
                <a:schemeClr val="dk1"/>
              </a:buClr>
              <a:buSzPts val="1100"/>
              <a:buFont typeface="Arial"/>
              <a:buNone/>
            </a:pPr>
            <a:r>
              <a:t/>
            </a:r>
            <a:endParaRPr sz="1800"/>
          </a:p>
        </p:txBody>
      </p:sp>
      <p:sp>
        <p:nvSpPr>
          <p:cNvPr id="543" name="Google Shape;543;p87"/>
          <p:cNvSpPr txBox="1"/>
          <p:nvPr/>
        </p:nvSpPr>
        <p:spPr>
          <a:xfrm>
            <a:off x="620000" y="4391375"/>
            <a:ext cx="5030100" cy="58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0" st="0"/>
                                            </p:txEl>
                                          </p:spTgt>
                                        </p:tgtEl>
                                        <p:attrNameLst>
                                          <p:attrName>style.visibility</p:attrName>
                                        </p:attrNameLst>
                                      </p:cBhvr>
                                      <p:to>
                                        <p:strVal val="visible"/>
                                      </p:to>
                                    </p:set>
                                    <p:animEffect filter="fade" transition="in">
                                      <p:cBhvr>
                                        <p:cTn dur="1000"/>
                                        <p:tgtEl>
                                          <p:spTgt spid="5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1" st="1"/>
                                            </p:txEl>
                                          </p:spTgt>
                                        </p:tgtEl>
                                        <p:attrNameLst>
                                          <p:attrName>style.visibility</p:attrName>
                                        </p:attrNameLst>
                                      </p:cBhvr>
                                      <p:to>
                                        <p:strVal val="visible"/>
                                      </p:to>
                                    </p:set>
                                    <p:animEffect filter="fade" transition="in">
                                      <p:cBhvr>
                                        <p:cTn dur="1000"/>
                                        <p:tgtEl>
                                          <p:spTgt spid="5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2" st="2"/>
                                            </p:txEl>
                                          </p:spTgt>
                                        </p:tgtEl>
                                        <p:attrNameLst>
                                          <p:attrName>style.visibility</p:attrName>
                                        </p:attrNameLst>
                                      </p:cBhvr>
                                      <p:to>
                                        <p:strVal val="visible"/>
                                      </p:to>
                                    </p:set>
                                    <p:animEffect filter="fade" transition="in">
                                      <p:cBhvr>
                                        <p:cTn dur="1000"/>
                                        <p:tgtEl>
                                          <p:spTgt spid="5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3" st="3"/>
                                            </p:txEl>
                                          </p:spTgt>
                                        </p:tgtEl>
                                        <p:attrNameLst>
                                          <p:attrName>style.visibility</p:attrName>
                                        </p:attrNameLst>
                                      </p:cBhvr>
                                      <p:to>
                                        <p:strVal val="visible"/>
                                      </p:to>
                                    </p:set>
                                    <p:animEffect filter="fade" transition="in">
                                      <p:cBhvr>
                                        <p:cTn dur="1000"/>
                                        <p:tgtEl>
                                          <p:spTgt spid="5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4" st="4"/>
                                            </p:txEl>
                                          </p:spTgt>
                                        </p:tgtEl>
                                        <p:attrNameLst>
                                          <p:attrName>style.visibility</p:attrName>
                                        </p:attrNameLst>
                                      </p:cBhvr>
                                      <p:to>
                                        <p:strVal val="visible"/>
                                      </p:to>
                                    </p:set>
                                    <p:animEffect filter="fade" transition="in">
                                      <p:cBhvr>
                                        <p:cTn dur="1000"/>
                                        <p:tgtEl>
                                          <p:spTgt spid="5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5" st="5"/>
                                            </p:txEl>
                                          </p:spTgt>
                                        </p:tgtEl>
                                        <p:attrNameLst>
                                          <p:attrName>style.visibility</p:attrName>
                                        </p:attrNameLst>
                                      </p:cBhvr>
                                      <p:to>
                                        <p:strVal val="visible"/>
                                      </p:to>
                                    </p:set>
                                    <p:animEffect filter="fade" transition="in">
                                      <p:cBhvr>
                                        <p:cTn dur="1000"/>
                                        <p:tgtEl>
                                          <p:spTgt spid="5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6" st="6"/>
                                            </p:txEl>
                                          </p:spTgt>
                                        </p:tgtEl>
                                        <p:attrNameLst>
                                          <p:attrName>style.visibility</p:attrName>
                                        </p:attrNameLst>
                                      </p:cBhvr>
                                      <p:to>
                                        <p:strVal val="visible"/>
                                      </p:to>
                                    </p:set>
                                    <p:animEffect filter="fade" transition="in">
                                      <p:cBhvr>
                                        <p:cTn dur="1000"/>
                                        <p:tgtEl>
                                          <p:spTgt spid="54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7" st="7"/>
                                            </p:txEl>
                                          </p:spTgt>
                                        </p:tgtEl>
                                        <p:attrNameLst>
                                          <p:attrName>style.visibility</p:attrName>
                                        </p:attrNameLst>
                                      </p:cBhvr>
                                      <p:to>
                                        <p:strVal val="visible"/>
                                      </p:to>
                                    </p:set>
                                    <p:animEffect filter="fade" transition="in">
                                      <p:cBhvr>
                                        <p:cTn dur="1000"/>
                                        <p:tgtEl>
                                          <p:spTgt spid="54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8" st="8"/>
                                            </p:txEl>
                                          </p:spTgt>
                                        </p:tgtEl>
                                        <p:attrNameLst>
                                          <p:attrName>style.visibility</p:attrName>
                                        </p:attrNameLst>
                                      </p:cBhvr>
                                      <p:to>
                                        <p:strVal val="visible"/>
                                      </p:to>
                                    </p:set>
                                    <p:animEffect filter="fade" transition="in">
                                      <p:cBhvr>
                                        <p:cTn dur="1000"/>
                                        <p:tgtEl>
                                          <p:spTgt spid="54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xEl>
                                              <p:pRg end="9" st="9"/>
                                            </p:txEl>
                                          </p:spTgt>
                                        </p:tgtEl>
                                        <p:attrNameLst>
                                          <p:attrName>style.visibility</p:attrName>
                                        </p:attrNameLst>
                                      </p:cBhvr>
                                      <p:to>
                                        <p:strVal val="visible"/>
                                      </p:to>
                                    </p:set>
                                    <p:animEffect filter="fade" transition="in">
                                      <p:cBhvr>
                                        <p:cTn dur="1000"/>
                                        <p:tgtEl>
                                          <p:spTgt spid="54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7" name="Shape 547"/>
        <p:cNvGrpSpPr/>
        <p:nvPr/>
      </p:nvGrpSpPr>
      <p:grpSpPr>
        <a:xfrm>
          <a:off x="0" y="0"/>
          <a:ext cx="0" cy="0"/>
          <a:chOff x="0" y="0"/>
          <a:chExt cx="0" cy="0"/>
        </a:xfrm>
      </p:grpSpPr>
      <p:sp>
        <p:nvSpPr>
          <p:cNvPr id="548" name="Google Shape;548;p88"/>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a:t>
            </a:r>
            <a:endParaRPr/>
          </a:p>
        </p:txBody>
      </p:sp>
      <p:sp>
        <p:nvSpPr>
          <p:cNvPr id="549" name="Google Shape;549;p88"/>
          <p:cNvSpPr txBox="1"/>
          <p:nvPr>
            <p:ph idx="1" type="body"/>
          </p:nvPr>
        </p:nvSpPr>
        <p:spPr>
          <a:xfrm>
            <a:off x="1573650" y="601250"/>
            <a:ext cx="57972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&lt;&lt;breadboarding an LED (Gareth)&gt;&gt;</a:t>
            </a:r>
            <a:endParaRPr sz="1800"/>
          </a:p>
          <a:p>
            <a:pPr indent="0" lvl="0" marL="0" rtl="0" algn="l">
              <a:spcBef>
                <a:spcPts val="0"/>
              </a:spcBef>
              <a:spcAft>
                <a:spcPts val="0"/>
              </a:spcAft>
              <a:buNone/>
            </a:pPr>
            <a:r>
              <a:t/>
            </a:r>
            <a:endParaRPr sz="1800"/>
          </a:p>
        </p:txBody>
      </p:sp>
      <p:sp>
        <p:nvSpPr>
          <p:cNvPr id="550" name="Google Shape;550;p88"/>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4" name="Shape 554"/>
        <p:cNvGrpSpPr/>
        <p:nvPr/>
      </p:nvGrpSpPr>
      <p:grpSpPr>
        <a:xfrm>
          <a:off x="0" y="0"/>
          <a:ext cx="0" cy="0"/>
          <a:chOff x="0" y="0"/>
          <a:chExt cx="0" cy="0"/>
        </a:xfrm>
      </p:grpSpPr>
      <p:sp>
        <p:nvSpPr>
          <p:cNvPr id="555" name="Google Shape;555;p89"/>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Breakout groups</a:t>
            </a:r>
            <a:endParaRPr/>
          </a:p>
        </p:txBody>
      </p:sp>
      <p:sp>
        <p:nvSpPr>
          <p:cNvPr id="556" name="Google Shape;556;p89"/>
          <p:cNvSpPr txBox="1"/>
          <p:nvPr>
            <p:ph idx="1" type="body"/>
          </p:nvPr>
        </p:nvSpPr>
        <p:spPr>
          <a:xfrm>
            <a:off x="49650" y="601250"/>
            <a:ext cx="8490000" cy="4064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GB" sz="1600"/>
              <a:t>get into (different?!) breakout groups for 7.33 minutes and:</a:t>
            </a:r>
            <a:endParaRPr sz="1600"/>
          </a:p>
          <a:p>
            <a:pPr indent="-330200" lvl="1" marL="914400" rtl="0" algn="l">
              <a:spcBef>
                <a:spcPts val="0"/>
              </a:spcBef>
              <a:spcAft>
                <a:spcPts val="0"/>
              </a:spcAft>
              <a:buSzPts val="1600"/>
              <a:buChar char="○"/>
            </a:pPr>
            <a:r>
              <a:rPr lang="en-GB" sz="1600"/>
              <a:t>introduce each other briefly</a:t>
            </a:r>
            <a:endParaRPr sz="1600"/>
          </a:p>
          <a:p>
            <a:pPr indent="-330200" lvl="1" marL="914400" rtl="0" algn="l">
              <a:spcBef>
                <a:spcPts val="0"/>
              </a:spcBef>
              <a:spcAft>
                <a:spcPts val="0"/>
              </a:spcAft>
              <a:buSzPts val="1600"/>
              <a:buChar char="○"/>
            </a:pPr>
            <a:r>
              <a:rPr lang="en-GB" sz="1600"/>
              <a:t>choose a rapporteur (someone to report back)</a:t>
            </a:r>
            <a:endParaRPr sz="1600"/>
          </a:p>
          <a:p>
            <a:pPr indent="-330200" lvl="1" marL="914400" rtl="0" algn="l">
              <a:spcBef>
                <a:spcPts val="0"/>
              </a:spcBef>
              <a:spcAft>
                <a:spcPts val="0"/>
              </a:spcAft>
              <a:buSzPts val="1600"/>
              <a:buChar char="○"/>
            </a:pPr>
            <a:r>
              <a:rPr lang="en-GB" sz="1600"/>
              <a:t>discuss some code you’ve been working on (Ex02 perhaps?)</a:t>
            </a:r>
            <a:endParaRPr sz="1600"/>
          </a:p>
          <a:p>
            <a:pPr indent="-330200" lvl="1" marL="914400" rtl="0" algn="l">
              <a:spcBef>
                <a:spcPts val="0"/>
              </a:spcBef>
              <a:spcAft>
                <a:spcPts val="0"/>
              </a:spcAft>
              <a:buSzPts val="1600"/>
              <a:buChar char="○"/>
            </a:pPr>
            <a:r>
              <a:rPr lang="en-GB" sz="1600"/>
              <a:t>have the rapporteur paste some of it on the discussion board thread</a:t>
            </a:r>
            <a:endParaRPr sz="1600"/>
          </a:p>
          <a:p>
            <a:pPr indent="-330200" lvl="0" marL="457200" rtl="0" algn="l">
              <a:spcBef>
                <a:spcPts val="0"/>
              </a:spcBef>
              <a:spcAft>
                <a:spcPts val="0"/>
              </a:spcAft>
              <a:buSzPts val="1600"/>
              <a:buChar char="●"/>
            </a:pPr>
            <a:r>
              <a:rPr lang="en-GB" sz="1600"/>
              <a:t>back together in </a:t>
            </a:r>
            <a:r>
              <a:rPr b="1" lang="en-GB" sz="1600"/>
              <a:t>7⅓ </a:t>
            </a:r>
            <a:r>
              <a:rPr b="1" lang="en-GB" sz="1600"/>
              <a:t> minutes</a:t>
            </a:r>
            <a:endParaRPr b="1" sz="1600"/>
          </a:p>
        </p:txBody>
      </p:sp>
      <p:sp>
        <p:nvSpPr>
          <p:cNvPr id="557" name="Google Shape;557;p89"/>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1" name="Shape 561"/>
        <p:cNvGrpSpPr/>
        <p:nvPr/>
      </p:nvGrpSpPr>
      <p:grpSpPr>
        <a:xfrm>
          <a:off x="0" y="0"/>
          <a:ext cx="0" cy="0"/>
          <a:chOff x="0" y="0"/>
          <a:chExt cx="0" cy="0"/>
        </a:xfrm>
      </p:grpSpPr>
      <p:sp>
        <p:nvSpPr>
          <p:cNvPr id="562" name="Google Shape;562;p90"/>
          <p:cNvSpPr txBox="1"/>
          <p:nvPr>
            <p:ph idx="1" type="body"/>
          </p:nvPr>
        </p:nvSpPr>
        <p:spPr>
          <a:xfrm>
            <a:off x="4795450" y="935675"/>
            <a:ext cx="4189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Theoretically, IoT will make business more efficient, a claim that is backed up by some early anecdotal evidence. Farmers are more closely monitoring crops with the help of sensor networks to ensure a better yield, and factory owners are monitoring operations to spot maintenance issues without requiring costly shutdowns. Electric utilities have been early IoT users, using sensors to monitor equipment and help customers reduce energy bills. If and when we start taking energy consumption and climate change seriously, IoT will be one of the key tools for documenting the problem and helping to solve it.</a:t>
            </a:r>
            <a:r>
              <a:rPr lang="en-GB"/>
              <a:t> </a:t>
            </a:r>
            <a:endParaRPr/>
          </a:p>
          <a:p>
            <a:pPr indent="0" lvl="0" marL="0" rtl="0" algn="l">
              <a:spcBef>
                <a:spcPts val="0"/>
              </a:spcBef>
              <a:spcAft>
                <a:spcPts val="0"/>
              </a:spcAft>
              <a:buNone/>
            </a:pPr>
            <a:r>
              <a:rPr lang="en-GB" sz="1000" u="sng">
                <a:solidFill>
                  <a:schemeClr val="hlink"/>
                </a:solidFill>
                <a:hlinkClick r:id="rId3"/>
              </a:rPr>
              <a:t>https://www.linux.com/news/who-needs-internet-things</a:t>
            </a:r>
            <a:endParaRPr sz="1000"/>
          </a:p>
        </p:txBody>
      </p:sp>
      <p:sp>
        <p:nvSpPr>
          <p:cNvPr id="563" name="Google Shape;563;p90"/>
          <p:cNvSpPr txBox="1"/>
          <p:nvPr>
            <p:ph type="title"/>
          </p:nvPr>
        </p:nvSpPr>
        <p:spPr>
          <a:xfrm>
            <a:off x="860575" y="-18025"/>
            <a:ext cx="777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(Apropos the IPCC’s watered down 2018 report or 2019 XR) </a:t>
            </a:r>
            <a:r>
              <a:rPr lang="en-GB"/>
              <a:t>Appropriate tech: less waste!</a:t>
            </a:r>
            <a:endParaRPr/>
          </a:p>
        </p:txBody>
      </p:sp>
      <p:sp>
        <p:nvSpPr>
          <p:cNvPr id="564" name="Google Shape;564;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65" name="Google Shape;565;p90"/>
          <p:cNvSpPr txBox="1"/>
          <p:nvPr>
            <p:ph idx="2" type="body"/>
          </p:nvPr>
        </p:nvSpPr>
        <p:spPr>
          <a:xfrm>
            <a:off x="377325" y="935675"/>
            <a:ext cx="4494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IoT: small cheap local... Low power! </a:t>
            </a:r>
            <a:endParaRPr sz="1800"/>
          </a:p>
          <a:p>
            <a:pPr indent="0" lvl="0" marL="0" rtl="0" algn="l">
              <a:spcBef>
                <a:spcPts val="1000"/>
              </a:spcBef>
              <a:spcAft>
                <a:spcPts val="0"/>
              </a:spcAft>
              <a:buClr>
                <a:schemeClr val="dk1"/>
              </a:buClr>
              <a:buSzPts val="1100"/>
              <a:buFont typeface="Arial"/>
              <a:buNone/>
            </a:pPr>
            <a:r>
              <a:rPr lang="en-GB" sz="1800"/>
              <a:t>Less cloud, more microcontrollers!</a:t>
            </a:r>
            <a:endParaRPr sz="1800"/>
          </a:p>
          <a:p>
            <a:pPr indent="0" lvl="0" marL="0" rtl="0" algn="l">
              <a:spcBef>
                <a:spcPts val="1000"/>
              </a:spcBef>
              <a:spcAft>
                <a:spcPts val="0"/>
              </a:spcAft>
              <a:buNone/>
            </a:pPr>
            <a:r>
              <a:rPr lang="en-GB" sz="1800"/>
              <a:t>This is also, in theory, a potential benefit of </a:t>
            </a:r>
            <a:r>
              <a:rPr i="1" lang="en-GB" sz="1800"/>
              <a:t>fog computing</a:t>
            </a:r>
            <a:r>
              <a:rPr lang="en-GB" sz="1800"/>
              <a:t> (aka </a:t>
            </a:r>
            <a:r>
              <a:rPr i="1" lang="en-GB" sz="1800"/>
              <a:t>edge computing</a:t>
            </a:r>
            <a:r>
              <a:rPr lang="en-GB" sz="1800"/>
              <a:t>), which implies:</a:t>
            </a:r>
            <a:endParaRPr sz="1800"/>
          </a:p>
          <a:p>
            <a:pPr indent="-342900" lvl="0" marL="457200" rtl="0" algn="l">
              <a:spcBef>
                <a:spcPts val="0"/>
              </a:spcBef>
              <a:spcAft>
                <a:spcPts val="0"/>
              </a:spcAft>
              <a:buSzPts val="1800"/>
              <a:buChar char="●"/>
            </a:pPr>
            <a:r>
              <a:rPr lang="en-GB" sz="1800"/>
              <a:t>reduced data migration to the cloud</a:t>
            </a:r>
            <a:endParaRPr sz="1800"/>
          </a:p>
          <a:p>
            <a:pPr indent="-342900" lvl="0" marL="457200" rtl="0" algn="l">
              <a:spcBef>
                <a:spcPts val="0"/>
              </a:spcBef>
              <a:spcAft>
                <a:spcPts val="0"/>
              </a:spcAft>
              <a:buSzPts val="1800"/>
              <a:buChar char="●"/>
            </a:pPr>
            <a:r>
              <a:rPr lang="en-GB" sz="1800"/>
              <a:t>increased reliance on edge device computation</a:t>
            </a:r>
            <a:endParaRPr sz="1800"/>
          </a:p>
          <a:p>
            <a:pPr indent="-342900" lvl="0" marL="457200" rtl="0" algn="l">
              <a:spcBef>
                <a:spcPts val="0"/>
              </a:spcBef>
              <a:spcAft>
                <a:spcPts val="0"/>
              </a:spcAft>
              <a:buSzPts val="1800"/>
              <a:buChar char="●"/>
            </a:pPr>
            <a:r>
              <a:rPr lang="en-GB" sz="1800"/>
              <a:t>resilience and (partial) autonomy in face of network or cloud outages</a:t>
            </a:r>
            <a:endParaRPr sz="1800"/>
          </a:p>
        </p:txBody>
      </p:sp>
      <p:sp>
        <p:nvSpPr>
          <p:cNvPr id="566" name="Google Shape;566;p90"/>
          <p:cNvSpPr txBox="1"/>
          <p:nvPr>
            <p:ph idx="2" type="body"/>
          </p:nvPr>
        </p:nvSpPr>
        <p:spPr>
          <a:xfrm>
            <a:off x="676275" y="4565655"/>
            <a:ext cx="8162400" cy="7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Peer-to-peer vs. cloud: liberation from the advertising surveillance industry! :-) </a:t>
            </a:r>
            <a:endParaRPr sz="18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0" name="Shape 570"/>
        <p:cNvGrpSpPr/>
        <p:nvPr/>
      </p:nvGrpSpPr>
      <p:grpSpPr>
        <a:xfrm>
          <a:off x="0" y="0"/>
          <a:ext cx="0" cy="0"/>
          <a:chOff x="0" y="0"/>
          <a:chExt cx="0" cy="0"/>
        </a:xfrm>
      </p:grpSpPr>
      <p:sp>
        <p:nvSpPr>
          <p:cNvPr id="571" name="Google Shape;571;p91"/>
          <p:cNvSpPr txBox="1"/>
          <p:nvPr>
            <p:ph type="title"/>
          </p:nvPr>
        </p:nvSpPr>
        <p:spPr>
          <a:xfrm>
            <a:off x="997500" y="-7620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 9 LEDs via ESP IDF (1)</a:t>
            </a:r>
            <a:endParaRPr/>
          </a:p>
        </p:txBody>
      </p:sp>
      <p:sp>
        <p:nvSpPr>
          <p:cNvPr id="572" name="Google Shape;572;p91"/>
          <p:cNvSpPr txBox="1"/>
          <p:nvPr>
            <p:ph idx="1" type="body"/>
          </p:nvPr>
        </p:nvSpPr>
        <p:spPr>
          <a:xfrm>
            <a:off x="237950" y="204875"/>
            <a:ext cx="8905800" cy="528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800"/>
              <a:t>Prototyping IoT devices has become much easier and cheaper in recent years. This makes development cycles much faster: from idea to prototype to product is now a cycle measured in weeks and months instead of years. We'll finish our quick tour of prototyping skills (that began in Lab 1 with soldering, breadboarding and using the multimeter and signal generator etc.) by building a more (physically) complicated circuit. This week we'll build it on a breadboard, then next week solder it onto matrixboard (which is a typical cycle in early prototyping; the next step would be to design a PCB and start manufacturing test boards).</a:t>
            </a:r>
            <a:endParaRPr sz="1800"/>
          </a:p>
          <a:p>
            <a:pPr indent="0" lvl="0" marL="0" rtl="0" algn="l">
              <a:spcBef>
                <a:spcPts val="1200"/>
              </a:spcBef>
              <a:spcAft>
                <a:spcPts val="0"/>
              </a:spcAft>
              <a:buNone/>
            </a:pPr>
            <a:r>
              <a:rPr lang="en-GB" sz="1800"/>
              <a:t>In the second half of term you'll have the opportunity to build projects that use the unphone's expander board, e.g. to add GPS, or mp3 playing, or motor drivers, or pollution sensors, or ultrasonics, or etc. These also require soldering, and when they don't work first time the multimeter and oscilloscope are our first ports of call to         </a:t>
            </a:r>
            <a:br>
              <a:rPr lang="en-GB" sz="1800"/>
            </a:br>
            <a:r>
              <a:rPr lang="en-GB" sz="1800"/>
              <a:t>       discover why.</a:t>
            </a:r>
            <a:endParaRPr sz="1800"/>
          </a:p>
          <a:p>
            <a:pPr indent="0" lvl="0" marL="0" rtl="0" algn="l">
              <a:spcBef>
                <a:spcPts val="1200"/>
              </a:spcBef>
              <a:spcAft>
                <a:spcPts val="1200"/>
              </a:spcAft>
              <a:buNone/>
            </a:pPr>
            <a:r>
              <a:rPr lang="en-GB" sz="1800"/>
              <a:t>       (Hate soldering? Don't worry, there are also projects that only use the unphone.)</a:t>
            </a:r>
            <a:endParaRPr sz="1800"/>
          </a:p>
        </p:txBody>
      </p:sp>
      <p:sp>
        <p:nvSpPr>
          <p:cNvPr id="573" name="Google Shape;573;p91"/>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7" name="Shape 577"/>
        <p:cNvGrpSpPr/>
        <p:nvPr/>
      </p:nvGrpSpPr>
      <p:grpSpPr>
        <a:xfrm>
          <a:off x="0" y="0"/>
          <a:ext cx="0" cy="0"/>
          <a:chOff x="0" y="0"/>
          <a:chExt cx="0" cy="0"/>
        </a:xfrm>
      </p:grpSpPr>
      <p:sp>
        <p:nvSpPr>
          <p:cNvPr id="578" name="Google Shape;578;p92"/>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 9 LEDs via ESP IDF (2)</a:t>
            </a:r>
            <a:endParaRPr/>
          </a:p>
        </p:txBody>
      </p:sp>
      <p:sp>
        <p:nvSpPr>
          <p:cNvPr id="579" name="Google Shape;579;p92"/>
          <p:cNvSpPr txBox="1"/>
          <p:nvPr>
            <p:ph idx="1" type="body"/>
          </p:nvPr>
        </p:nvSpPr>
        <p:spPr>
          <a:xfrm>
            <a:off x="-34925" y="509675"/>
            <a:ext cx="9056100" cy="52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in your repos: </a:t>
            </a:r>
            <a:r>
              <a:rPr lang="en-GB" sz="1800" u="sng"/>
              <a:t>NineLEDsIDF/</a:t>
            </a:r>
            <a:r>
              <a:rPr lang="en-GB" sz="1800"/>
              <a:t>, which uses </a:t>
            </a:r>
            <a:r>
              <a:rPr lang="en-GB" sz="1800" u="sng"/>
              <a:t>unphone/sdks/esp-idf</a:t>
            </a:r>
            <a:endParaRPr sz="1800" u="sng"/>
          </a:p>
          <a:p>
            <a:pPr indent="-342900" lvl="0" marL="457200" rtl="0" algn="l">
              <a:spcBef>
                <a:spcPts val="0"/>
              </a:spcBef>
              <a:spcAft>
                <a:spcPts val="0"/>
              </a:spcAft>
              <a:buSzPts val="1800"/>
              <a:buChar char="●"/>
            </a:pPr>
            <a:r>
              <a:rPr lang="en-GB" sz="1800"/>
              <a:t>IDF:</a:t>
            </a:r>
            <a:endParaRPr sz="1800"/>
          </a:p>
          <a:p>
            <a:pPr indent="-342900" lvl="1" marL="914400" rtl="0" algn="l">
              <a:spcBef>
                <a:spcPts val="0"/>
              </a:spcBef>
              <a:spcAft>
                <a:spcPts val="0"/>
              </a:spcAft>
              <a:buSzPts val="1800"/>
              <a:buChar char="○"/>
            </a:pPr>
            <a:r>
              <a:rPr lang="en-GB" sz="1800"/>
              <a:t>Espressif IoT Development Framework</a:t>
            </a:r>
            <a:endParaRPr sz="1800"/>
          </a:p>
          <a:p>
            <a:pPr indent="-342900" lvl="1" marL="914400" rtl="0" algn="l">
              <a:spcBef>
                <a:spcPts val="0"/>
              </a:spcBef>
              <a:spcAft>
                <a:spcPts val="0"/>
              </a:spcAft>
              <a:buSzPts val="1800"/>
              <a:buChar char="○"/>
            </a:pPr>
            <a:r>
              <a:rPr lang="en-GB" sz="1800"/>
              <a:t>native, 80% C (20% C++), highly configurable (see </a:t>
            </a:r>
            <a:r>
              <a:rPr lang="en-GB" sz="1800" u="sng"/>
              <a:t>sdkconfig</a:t>
            </a:r>
            <a:r>
              <a:rPr lang="en-GB" sz="1800"/>
              <a:t>)</a:t>
            </a:r>
            <a:endParaRPr sz="1800"/>
          </a:p>
          <a:p>
            <a:pPr indent="-342900" lvl="0" marL="457200" rtl="0" algn="l">
              <a:spcBef>
                <a:spcPts val="0"/>
              </a:spcBef>
              <a:spcAft>
                <a:spcPts val="0"/>
              </a:spcAft>
              <a:buSzPts val="1800"/>
              <a:buChar char="●"/>
            </a:pPr>
            <a:r>
              <a:rPr lang="en-GB" sz="1800"/>
              <a:t>advantages (see also </a:t>
            </a:r>
            <a:r>
              <a:rPr lang="en-GB" sz="1800" u="sng">
                <a:solidFill>
                  <a:schemeClr val="hlink"/>
                </a:solidFill>
                <a:hlinkClick r:id="rId3"/>
              </a:rPr>
              <a:t>https://www.esp32.com/viewtopic.php?t=5669</a:t>
            </a:r>
            <a:r>
              <a:rPr lang="en-GB" sz="1800"/>
              <a:t>):</a:t>
            </a:r>
            <a:endParaRPr sz="1800"/>
          </a:p>
          <a:p>
            <a:pPr indent="-342900" lvl="1" marL="914400" rtl="0" algn="l">
              <a:spcBef>
                <a:spcPts val="0"/>
              </a:spcBef>
              <a:spcAft>
                <a:spcPts val="0"/>
              </a:spcAft>
              <a:buSzPts val="1800"/>
              <a:buChar char="○"/>
            </a:pPr>
            <a:r>
              <a:rPr lang="en-GB" sz="1800"/>
              <a:t>everything the chip can do, IDF can do (= </a:t>
            </a:r>
            <a:r>
              <a:rPr b="1" lang="en-GB" sz="1800"/>
              <a:t>more</a:t>
            </a:r>
            <a:r>
              <a:rPr lang="en-GB" sz="1800"/>
              <a:t> than Arduino)</a:t>
            </a:r>
            <a:endParaRPr sz="1800"/>
          </a:p>
          <a:p>
            <a:pPr indent="-342900" lvl="1" marL="914400" rtl="0" algn="l">
              <a:spcBef>
                <a:spcPts val="0"/>
              </a:spcBef>
              <a:spcAft>
                <a:spcPts val="0"/>
              </a:spcAft>
              <a:buSzPts val="1800"/>
              <a:buChar char="○"/>
            </a:pPr>
            <a:r>
              <a:rPr lang="en-GB" sz="1800"/>
              <a:t>command-line build (with TextMate or VSCode or vi or Eclipse on top) is easy</a:t>
            </a:r>
            <a:endParaRPr sz="1800"/>
          </a:p>
          <a:p>
            <a:pPr indent="-342900" lvl="1" marL="914400" rtl="0" algn="l">
              <a:spcBef>
                <a:spcPts val="0"/>
              </a:spcBef>
              <a:spcAft>
                <a:spcPts val="0"/>
              </a:spcAft>
              <a:buSzPts val="1800"/>
              <a:buChar char="○"/>
            </a:pPr>
            <a:r>
              <a:rPr lang="en-GB" sz="1800"/>
              <a:t>solid implementations of e.g. OTA included</a:t>
            </a:r>
            <a:endParaRPr sz="1800"/>
          </a:p>
          <a:p>
            <a:pPr indent="-342900" lvl="0" marL="457200" rtl="0" algn="l">
              <a:spcBef>
                <a:spcPts val="0"/>
              </a:spcBef>
              <a:spcAft>
                <a:spcPts val="0"/>
              </a:spcAft>
              <a:buSzPts val="1800"/>
              <a:buChar char="●"/>
            </a:pPr>
            <a:r>
              <a:rPr lang="en-GB" sz="1800"/>
              <a:t>disadvantages:</a:t>
            </a:r>
            <a:endParaRPr sz="1800"/>
          </a:p>
          <a:p>
            <a:pPr indent="-342900" lvl="1" marL="914400" rtl="0" algn="l">
              <a:spcBef>
                <a:spcPts val="0"/>
              </a:spcBef>
              <a:spcAft>
                <a:spcPts val="0"/>
              </a:spcAft>
              <a:buSzPts val="1800"/>
              <a:buChar char="○"/>
            </a:pPr>
            <a:r>
              <a:rPr lang="en-GB" sz="1800"/>
              <a:t>C less easy to read than C++</a:t>
            </a:r>
            <a:endParaRPr sz="1800"/>
          </a:p>
          <a:p>
            <a:pPr indent="-342900" lvl="1" marL="914400" rtl="0" algn="l">
              <a:spcBef>
                <a:spcPts val="0"/>
              </a:spcBef>
              <a:spcAft>
                <a:spcPts val="0"/>
              </a:spcAft>
              <a:buSzPts val="1800"/>
              <a:buChar char="○"/>
            </a:pPr>
            <a:r>
              <a:rPr lang="en-GB" sz="1800"/>
              <a:t>not portable to other MCUs</a:t>
            </a:r>
            <a:endParaRPr sz="1800"/>
          </a:p>
          <a:p>
            <a:pPr indent="-342900" lvl="1" marL="914400" rtl="0" algn="l">
              <a:spcBef>
                <a:spcPts val="0"/>
              </a:spcBef>
              <a:spcAft>
                <a:spcPts val="0"/>
              </a:spcAft>
              <a:buSzPts val="1800"/>
              <a:buChar char="○"/>
            </a:pPr>
            <a:r>
              <a:rPr lang="en-GB" sz="1800"/>
              <a:t>much less knowledge out there to google relative to Arduino C++</a:t>
            </a:r>
            <a:endParaRPr sz="1800"/>
          </a:p>
          <a:p>
            <a:pPr indent="-342900" lvl="1" marL="914400" rtl="0" algn="l">
              <a:spcBef>
                <a:spcPts val="0"/>
              </a:spcBef>
              <a:spcAft>
                <a:spcPts val="0"/>
              </a:spcAft>
              <a:buSzPts val="1800"/>
              <a:buChar char="○"/>
            </a:pPr>
            <a:r>
              <a:rPr lang="en-GB" sz="1800"/>
              <a:t>you’ll still end up needing Arduino libraries for sensors and actuators (works fine in IDF though)</a:t>
            </a:r>
            <a:endParaRPr sz="1800"/>
          </a:p>
          <a:p>
            <a:pPr indent="0" lvl="0" marL="0" rtl="0" algn="l">
              <a:spcBef>
                <a:spcPts val="0"/>
              </a:spcBef>
              <a:spcAft>
                <a:spcPts val="0"/>
              </a:spcAft>
              <a:buNone/>
            </a:pPr>
            <a:r>
              <a:t/>
            </a:r>
            <a:endParaRPr sz="1800"/>
          </a:p>
        </p:txBody>
      </p:sp>
      <p:sp>
        <p:nvSpPr>
          <p:cNvPr id="580" name="Google Shape;580;p92"/>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4" name="Shape 584"/>
        <p:cNvGrpSpPr/>
        <p:nvPr/>
      </p:nvGrpSpPr>
      <p:grpSpPr>
        <a:xfrm>
          <a:off x="0" y="0"/>
          <a:ext cx="0" cy="0"/>
          <a:chOff x="0" y="0"/>
          <a:chExt cx="0" cy="0"/>
        </a:xfrm>
      </p:grpSpPr>
      <p:sp>
        <p:nvSpPr>
          <p:cNvPr id="585" name="Google Shape;585;p93"/>
          <p:cNvSpPr txBox="1"/>
          <p:nvPr>
            <p:ph type="title"/>
          </p:nvPr>
        </p:nvSpPr>
        <p:spPr>
          <a:xfrm>
            <a:off x="997500" y="-3636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Recap (1): the story so far...</a:t>
            </a:r>
            <a:endParaRPr/>
          </a:p>
        </p:txBody>
      </p:sp>
      <p:sp>
        <p:nvSpPr>
          <p:cNvPr id="586" name="Google Shape;586;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87" name="Google Shape;587;p93"/>
          <p:cNvSpPr txBox="1"/>
          <p:nvPr>
            <p:ph idx="1" type="body"/>
          </p:nvPr>
        </p:nvSpPr>
        <p:spPr>
          <a:xfrm>
            <a:off x="5034900" y="553450"/>
            <a:ext cx="41898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LTSP </a:t>
            </a:r>
            <a:r>
              <a:rPr b="1" lang="en-GB" sz="1800"/>
              <a:t>Linux issues</a:t>
            </a:r>
            <a:r>
              <a:rPr lang="en-GB" sz="1800"/>
              <a:t>:</a:t>
            </a:r>
            <a:endParaRPr sz="1800"/>
          </a:p>
          <a:p>
            <a:pPr indent="-342900" lvl="0" marL="457200" rtl="0" algn="l">
              <a:spcBef>
                <a:spcPts val="1000"/>
              </a:spcBef>
              <a:spcAft>
                <a:spcPts val="0"/>
              </a:spcAft>
              <a:buSzPts val="1800"/>
              <a:buChar char="●"/>
            </a:pPr>
            <a:r>
              <a:rPr lang="en-GB" sz="1800"/>
              <a:t>/dev/ttyUSB… not writeable</a:t>
            </a:r>
            <a:endParaRPr sz="1800"/>
          </a:p>
          <a:p>
            <a:pPr indent="-342900" lvl="0" marL="457200" rtl="0" algn="l">
              <a:spcBef>
                <a:spcPts val="0"/>
              </a:spcBef>
              <a:spcAft>
                <a:spcPts val="0"/>
              </a:spcAft>
              <a:buSzPts val="1800"/>
              <a:buChar char="●"/>
            </a:pPr>
            <a:r>
              <a:rPr lang="en-GB" sz="1800"/>
              <a:t>login fails; X window manager doesn’t appear</a:t>
            </a:r>
            <a:endParaRPr sz="1800"/>
          </a:p>
          <a:p>
            <a:pPr indent="0" lvl="0" marL="0" rtl="0" algn="l">
              <a:spcBef>
                <a:spcPts val="1000"/>
              </a:spcBef>
              <a:spcAft>
                <a:spcPts val="0"/>
              </a:spcAft>
              <a:buNone/>
            </a:pPr>
            <a:r>
              <a:rPr lang="en-GB" sz="1800"/>
              <a:t>Apparently one or both are symptoms of a full local home… (Ruby gems? Arduino unpacked to the wrong location?)</a:t>
            </a:r>
            <a:endParaRPr sz="1800"/>
          </a:p>
          <a:p>
            <a:pPr indent="0" lvl="0" marL="0" rtl="0" algn="l">
              <a:spcBef>
                <a:spcPts val="1000"/>
              </a:spcBef>
              <a:spcAft>
                <a:spcPts val="1000"/>
              </a:spcAft>
              <a:buNone/>
            </a:pPr>
            <a:r>
              <a:rPr lang="en-GB" sz="1800"/>
              <a:t>Solution: move stuff to u-drive</a:t>
            </a:r>
            <a:endParaRPr sz="1800"/>
          </a:p>
        </p:txBody>
      </p:sp>
      <p:sp>
        <p:nvSpPr>
          <p:cNvPr id="588" name="Google Shape;588;p93"/>
          <p:cNvSpPr txBox="1"/>
          <p:nvPr>
            <p:ph idx="1" type="body"/>
          </p:nvPr>
        </p:nvSpPr>
        <p:spPr>
          <a:xfrm>
            <a:off x="235500" y="569925"/>
            <a:ext cx="4759500" cy="3846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created </a:t>
            </a:r>
            <a:r>
              <a:rPr b="1" lang="en-GB" sz="1800"/>
              <a:t>github repo</a:t>
            </a:r>
            <a:r>
              <a:rPr lang="en-GB" sz="1800"/>
              <a:t>: pull weekly updates; push code assignments</a:t>
            </a:r>
            <a:endParaRPr sz="1800"/>
          </a:p>
          <a:p>
            <a:pPr indent="-342900" lvl="0" marL="457200" rtl="0" algn="l">
              <a:spcBef>
                <a:spcPts val="0"/>
              </a:spcBef>
              <a:spcAft>
                <a:spcPts val="0"/>
              </a:spcAft>
              <a:buSzPts val="1800"/>
              <a:buChar char="●"/>
            </a:pPr>
            <a:r>
              <a:rPr lang="en-GB" sz="1800"/>
              <a:t>sent data to the </a:t>
            </a:r>
            <a:r>
              <a:rPr b="1" lang="en-GB" sz="1800"/>
              <a:t>cloud server</a:t>
            </a:r>
            <a:r>
              <a:rPr lang="en-GB" sz="1800"/>
              <a:t> (com3505.gate.ac.uk)</a:t>
            </a:r>
            <a:endParaRPr sz="1800"/>
          </a:p>
          <a:p>
            <a:pPr indent="-342900" lvl="0" marL="457200" rtl="0" algn="l">
              <a:spcBef>
                <a:spcPts val="0"/>
              </a:spcBef>
              <a:spcAft>
                <a:spcPts val="0"/>
              </a:spcAft>
              <a:buSzPts val="1800"/>
              <a:buChar char="●"/>
            </a:pPr>
            <a:r>
              <a:rPr lang="en-GB" sz="1800"/>
              <a:t>set up the </a:t>
            </a:r>
            <a:r>
              <a:rPr b="1" lang="en-GB" sz="1800"/>
              <a:t>Arduino IDE</a:t>
            </a:r>
            <a:r>
              <a:rPr lang="en-GB" sz="1800"/>
              <a:t> and started writing C++ Sketches</a:t>
            </a:r>
            <a:endParaRPr sz="1800"/>
          </a:p>
          <a:p>
            <a:pPr indent="-342900" lvl="0" marL="457200" rtl="0" algn="l">
              <a:spcBef>
                <a:spcPts val="0"/>
              </a:spcBef>
              <a:spcAft>
                <a:spcPts val="0"/>
              </a:spcAft>
              <a:buSzPts val="1800"/>
              <a:buChar char="●"/>
            </a:pPr>
            <a:r>
              <a:rPr lang="en-GB" sz="1800"/>
              <a:t>coded: inbuilt-</a:t>
            </a:r>
            <a:r>
              <a:rPr b="1" lang="en-GB" sz="1800"/>
              <a:t>LED blink</a:t>
            </a:r>
            <a:r>
              <a:rPr lang="en-GB" sz="1800"/>
              <a:t>; print </a:t>
            </a:r>
            <a:r>
              <a:rPr b="1" lang="en-GB" sz="1800"/>
              <a:t>MAC on serial</a:t>
            </a:r>
            <a:r>
              <a:rPr lang="en-GB" sz="1800"/>
              <a:t>, monitor in IDE;</a:t>
            </a:r>
            <a:endParaRPr sz="1800"/>
          </a:p>
          <a:p>
            <a:pPr indent="-342900" lvl="0" marL="457200" rtl="0" algn="l">
              <a:spcBef>
                <a:spcPts val="0"/>
              </a:spcBef>
              <a:spcAft>
                <a:spcPts val="0"/>
              </a:spcAft>
              <a:buSzPts val="1800"/>
              <a:buChar char="●"/>
            </a:pPr>
            <a:r>
              <a:rPr lang="en-GB" sz="1800"/>
              <a:t>investigated </a:t>
            </a:r>
            <a:r>
              <a:rPr b="1" lang="en-GB" sz="1800"/>
              <a:t>memory fragmentation</a:t>
            </a:r>
            <a:r>
              <a:rPr lang="en-GB" sz="1800"/>
              <a:t> and the String class</a:t>
            </a:r>
            <a:endParaRPr sz="1800"/>
          </a:p>
          <a:p>
            <a:pPr indent="0" lvl="0" marL="457200" rtl="0" algn="l">
              <a:spcBef>
                <a:spcPts val="1000"/>
              </a:spcBef>
              <a:spcAft>
                <a:spcPts val="1000"/>
              </a:spcAft>
              <a:buClr>
                <a:schemeClr val="dk1"/>
              </a:buClr>
              <a:buSzPts val="1100"/>
              <a:buFont typeface="Arial"/>
              <a:buNone/>
            </a:pPr>
            <a:r>
              <a:t/>
            </a:r>
            <a:endParaRPr sz="1800"/>
          </a:p>
        </p:txBody>
      </p:sp>
      <p:sp>
        <p:nvSpPr>
          <p:cNvPr id="589" name="Google Shape;589;p93"/>
          <p:cNvSpPr txBox="1"/>
          <p:nvPr/>
        </p:nvSpPr>
        <p:spPr>
          <a:xfrm>
            <a:off x="990725" y="4247650"/>
            <a:ext cx="7728300" cy="58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rPr>
              <a:t>Next up in the labs: </a:t>
            </a:r>
            <a:r>
              <a:rPr b="1" lang="en-GB" sz="1800">
                <a:solidFill>
                  <a:schemeClr val="dk1"/>
                </a:solidFill>
              </a:rPr>
              <a:t>week 3</a:t>
            </a:r>
            <a:r>
              <a:rPr lang="en-GB" sz="1800">
                <a:solidFill>
                  <a:schemeClr val="dk1"/>
                </a:solidFill>
              </a:rPr>
              <a:t> notes </a:t>
            </a:r>
            <a:r>
              <a:rPr b="1" lang="en-GB" sz="1800">
                <a:solidFill>
                  <a:schemeClr val="dk1"/>
                </a:solidFill>
              </a:rPr>
              <a:t>now published</a:t>
            </a:r>
            <a:br>
              <a:rPr lang="en-GB" sz="1800">
                <a:solidFill>
                  <a:schemeClr val="dk1"/>
                </a:solidFill>
              </a:rPr>
            </a:br>
            <a:r>
              <a:rPr lang="en-GB" sz="1800">
                <a:solidFill>
                  <a:schemeClr val="dk1"/>
                </a:solidFill>
              </a:rPr>
              <a:t>connecting and programming external devices; debugging; time slicing</a:t>
            </a:r>
            <a:endParaRPr sz="1800">
              <a:solidFill>
                <a:schemeClr val="dk1"/>
              </a:solidFill>
            </a:endParaRPr>
          </a:p>
          <a:p>
            <a:pPr indent="0" lvl="0" marL="0" rtl="0" algn="l">
              <a:spcBef>
                <a:spcPts val="100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
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khnlhkjhlkjhkjh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2ea390f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2ea390f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d6d7b7f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d6d7b7f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dcd6a2f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dcd6a2f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dcd6a2f2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dcd6a2f2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e5dba58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e5dba58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e5dba5cb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ce5dba5c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072d569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d072d569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072d5691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072d569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d072d5691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d072d5691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d072d5691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d072d5691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072d5691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072d5691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d072d5691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d072d5691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d072d5691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d072d5691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072d5691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072d5691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d072d5691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d072d5691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ce5dba5cb1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2ce5dba5cb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Can you assume all these devices and their user generated data are the same. Data heterogeneity, distribution differences.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072d5691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072d5691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d072d5691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d072d5691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d072d5691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d072d5691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serious is the client drop out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ce5dba5cb1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ce5dba5cb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Data heterogeneity, distribution differences.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c36e91b7e8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c36e91b7e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c36e91b7e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c36e91b7e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ce5dba5cb1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2ce5dba5cb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Reduce the training data size. The idea is we can reduce the training time by using a small subset of user data rather than using all user 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ce5dba5cb1_0_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2ce5dba5cb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More context.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ce5dba5cb1_0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2ce5dba5cb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More descriptions in slide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c36e91b7e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c36e91b7e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072d5691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d072d5691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d072d5691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d072d5691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87900" y="445025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87900" y="1152475"/>
            <a:ext cx="418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42500" y="1152475"/>
            <a:ext cx="418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56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43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87900" y="445025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87900" y="1152475"/>
            <a:ext cx="418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642500" y="1152475"/>
            <a:ext cx="418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5" name="Google Shape;10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" name="Google Shape;10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0" name="Google Shape;11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7.jpg"/><Relationship Id="rId3" Type="http://schemas.openxmlformats.org/officeDocument/2006/relationships/image" Target="../media/image3.jp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usfd-logo-fred-350x138.png"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197" y="73575"/>
            <a:ext cx="1111675" cy="4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25px-Internet_of_Things.jpg" id="11" name="Google Shape;11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2825" y="73579"/>
            <a:ext cx="691500" cy="663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p32-feather.jpg" id="12" name="Google Shape;1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85" y="4540237"/>
            <a:ext cx="521324" cy="5200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16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esp32-feather.jpg" id="72" name="Google Shape;7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85" y="4540237"/>
            <a:ext cx="521324" cy="520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fd-logo-fred-350x138.png"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97" y="73575"/>
            <a:ext cx="1111675" cy="4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25px-Internet_of_Things.jpg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825" y="73579"/>
            <a:ext cx="691500" cy="6638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inyurl.com/iot-disc-2024" TargetMode="External"/><Relationship Id="rId4" Type="http://schemas.openxmlformats.org/officeDocument/2006/relationships/hyperlink" Target="https://forum.unphone.net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13.png"/><Relationship Id="rId5" Type="http://schemas.openxmlformats.org/officeDocument/2006/relationships/image" Target="../media/image28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hyperlink" Target="https://flower.ai/blog/2024-03-14-introducing-flowerllm/" TargetMode="External"/><Relationship Id="rId9" Type="http://schemas.openxmlformats.org/officeDocument/2006/relationships/image" Target="../media/image29.png"/><Relationship Id="rId5" Type="http://schemas.openxmlformats.org/officeDocument/2006/relationships/hyperlink" Target="https://flower.ai/blog/2024-03-14-introducing-flowerllm/" TargetMode="External"/><Relationship Id="rId6" Type="http://schemas.openxmlformats.org/officeDocument/2006/relationships/hyperlink" Target="https://flower.ai/blog/2024-03-14-introducing-flowerllm/" TargetMode="External"/><Relationship Id="rId7" Type="http://schemas.openxmlformats.org/officeDocument/2006/relationships/hyperlink" Target="https://aws.amazon.com/blogs/machine-learning/part-1-federated-learning-on-aws-with-fedml-health-analytics-without-sharing-sensitive-data/" TargetMode="External"/><Relationship Id="rId8" Type="http://schemas.openxmlformats.org/officeDocument/2006/relationships/hyperlink" Target="https://aws.amazon.com/blogs/machine-learning/part-1-federated-learning-on-aws-with-fedml-health-analytics-without-sharing-sensitive-data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idx="1" type="subTitle"/>
          </p:nvPr>
        </p:nvSpPr>
        <p:spPr>
          <a:xfrm>
            <a:off x="1627650" y="2529325"/>
            <a:ext cx="5888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COM3505, Lecture 9</a:t>
            </a:r>
            <a:br>
              <a:rPr lang="en-GB"/>
            </a:br>
            <a:r>
              <a:rPr lang="en-GB"/>
              <a:t>Hongrui Shi</a:t>
            </a:r>
            <a:br>
              <a:rPr lang="en-GB"/>
            </a:br>
            <a:r>
              <a:rPr lang="en-GB"/>
              <a:t>Dr. Valentin Radu</a:t>
            </a:r>
            <a:endParaRPr/>
          </a:p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8"/>
          <p:cNvSpPr txBox="1"/>
          <p:nvPr>
            <p:ph type="ctrTitle"/>
          </p:nvPr>
        </p:nvSpPr>
        <p:spPr>
          <a:xfrm>
            <a:off x="311700" y="1230925"/>
            <a:ext cx="8520600" cy="13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ML Training at the Edge</a:t>
            </a:r>
            <a:br>
              <a:rPr lang="en-GB" sz="4800"/>
            </a:br>
            <a:r>
              <a:rPr lang="en-GB" sz="4800"/>
              <a:t>— Federated Learning for IoT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/>
              <a:t>— JB-OD-LN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1073700" y="-12175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assessment 1: feedback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feedback should be available in your repo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this is a trial run for the project, so use that to inform your work for the rest of term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questions…?</a:t>
            </a:r>
            <a:endParaRPr sz="1800"/>
          </a:p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1073700" y="-12175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Mock exam: Q&amp;A</a:t>
            </a:r>
            <a:endParaRPr/>
          </a:p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 will publish the mock exam later this week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can do it whenever you like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it is a good way to get a sense of what the real exam will be like!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need to pass the real exam! (pass grade: 40%)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...?</a:t>
            </a:r>
            <a:endParaRPr sz="1800"/>
          </a:p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768900" y="42050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4292E"/>
                </a:solidFill>
              </a:rPr>
              <a:t>LA2 (project) assessment: details on Blackboard</a:t>
            </a:r>
            <a:endParaRPr/>
          </a:p>
        </p:txBody>
      </p:sp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311725" y="5428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This is an advanced course and the project assessment in particular is</a:t>
            </a:r>
            <a:endParaRPr sz="1800">
              <a:solidFill>
                <a:srgbClr val="24292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4292E"/>
                </a:solidFill>
              </a:rPr>
              <a:t>intentionally </a:t>
            </a:r>
            <a:r>
              <a:rPr b="1" lang="en-GB" sz="1800">
                <a:solidFill>
                  <a:srgbClr val="24292E"/>
                </a:solidFill>
              </a:rPr>
              <a:t>open-ended</a:t>
            </a:r>
            <a:r>
              <a:rPr lang="en-GB" sz="1800">
                <a:solidFill>
                  <a:srgbClr val="24292E"/>
                </a:solidFill>
              </a:rPr>
              <a:t>. There is no single right answer! (And almost certainly no perfect answer!)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b="1" lang="en-GB" sz="1800">
                <a:solidFill>
                  <a:srgbClr val="24292E"/>
                </a:solidFill>
              </a:rPr>
              <a:t>Deadline</a:t>
            </a:r>
            <a:r>
              <a:rPr lang="en-GB" sz="1800">
                <a:solidFill>
                  <a:srgbClr val="24292E"/>
                </a:solidFill>
              </a:rPr>
              <a:t>. Friday 19th May at 12 midday UK time.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b="1" lang="en-GB" sz="1800">
                <a:solidFill>
                  <a:srgbClr val="24292E"/>
                </a:solidFill>
              </a:rPr>
              <a:t>Size</a:t>
            </a:r>
            <a:r>
              <a:rPr lang="en-GB" sz="1800">
                <a:solidFill>
                  <a:srgbClr val="24292E"/>
                </a:solidFill>
              </a:rPr>
              <a:t>. If you have spent e.g. 8 hours per week on the work so far, you should be able to achieve a good solution if you allocate a similar amount of time to the project </a:t>
            </a:r>
            <a:r>
              <a:rPr b="1" lang="en-GB" sz="1800">
                <a:solidFill>
                  <a:srgbClr val="24292E"/>
                </a:solidFill>
              </a:rPr>
              <a:t>each week</a:t>
            </a:r>
            <a:r>
              <a:rPr lang="en-GB" sz="1800">
                <a:solidFill>
                  <a:srgbClr val="24292E"/>
                </a:solidFill>
              </a:rPr>
              <a:t> until the end of the semester.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b="1" lang="en-GB" sz="1800">
                <a:solidFill>
                  <a:srgbClr val="24292E"/>
                </a:solidFill>
              </a:rPr>
              <a:t>Marks</a:t>
            </a:r>
            <a:r>
              <a:rPr lang="en-GB" sz="1800">
                <a:solidFill>
                  <a:srgbClr val="24292E"/>
                </a:solidFill>
              </a:rPr>
              <a:t>. The assessment is marked out of 100 and contributes a possible</a:t>
            </a:r>
            <a:endParaRPr sz="1800">
              <a:solidFill>
                <a:srgbClr val="24292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4292E"/>
                </a:solidFill>
              </a:rPr>
              <a:t>maximum of 60 to your score for the course. LA1 and the exam are pass/fail threshold elements of your assessment; LA2 dictates your grade after passing the other two. It is possible to pass the course without completing LA2, in which case your mark will be 40.</a:t>
            </a:r>
            <a:endParaRPr sz="1800">
              <a:solidFill>
                <a:srgbClr val="2429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292E"/>
              </a:solidFill>
            </a:endParaRPr>
          </a:p>
        </p:txBody>
      </p:sp>
      <p:sp>
        <p:nvSpPr>
          <p:cNvPr id="144" name="Google Shape;14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997500" y="42050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4292E"/>
                </a:solidFill>
              </a:rPr>
              <a:t>Projects: Q&amp;A</a:t>
            </a:r>
            <a:endParaRPr/>
          </a:p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25" y="6952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I’m getting a steady flow of questions about this and that… note that our two discussion forums are (most years) useful for sharing: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(course in general)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https://tinyurl.com/iot-disc-2024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(unPhone related)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https://forum.unphone.net/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3 weeks left! plan your remaining time!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if you need components let me know after the lecture or first thing in the lab tomorrow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….?</a:t>
            </a:r>
            <a:endParaRPr sz="1800">
              <a:solidFill>
                <a:srgbClr val="24292E"/>
              </a:solidFill>
            </a:endParaRPr>
          </a:p>
        </p:txBody>
      </p:sp>
      <p:sp>
        <p:nvSpPr>
          <p:cNvPr id="151" name="Google Shape;15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997500" y="-34150"/>
            <a:ext cx="8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4292E"/>
                </a:solidFill>
              </a:rPr>
              <a:t>Today: IoT AI #2</a:t>
            </a:r>
            <a:endParaRPr/>
          </a:p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11725" y="4666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the problem with old AI: didn’t work!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the new AI: more data! and a structured set of neural nets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the problem(s):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faulting and hallucination aka making things up (just like people!)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insecurity: prompt injection impossible to prevent or detect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morality: who owns the source material?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some possible answers: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sandboxing, via a gatekeeper with interposed formal model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keep it local and isolated</a:t>
            </a:r>
            <a:endParaRPr sz="1800">
              <a:solidFill>
                <a:srgbClr val="24292E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○"/>
            </a:pPr>
            <a:r>
              <a:rPr lang="en-GB" sz="1800">
                <a:solidFill>
                  <a:srgbClr val="24292E"/>
                </a:solidFill>
              </a:rPr>
              <a:t>give it back! (open source)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three summer projects: unPhone/mesh; DIY AI; talking robots</a:t>
            </a:r>
            <a:endParaRPr sz="1800">
              <a:solidFill>
                <a:srgbClr val="2429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Char char="●"/>
            </a:pPr>
            <a:r>
              <a:rPr lang="en-GB" sz="1800">
                <a:solidFill>
                  <a:srgbClr val="24292E"/>
                </a:solidFill>
              </a:rPr>
              <a:t>how does this work out in an IoT context?</a:t>
            </a:r>
            <a:br>
              <a:rPr lang="en-GB" sz="1800">
                <a:solidFill>
                  <a:srgbClr val="24292E"/>
                </a:solidFill>
              </a:rPr>
            </a:br>
            <a:r>
              <a:rPr lang="en-GB" sz="1800">
                <a:solidFill>
                  <a:srgbClr val="24292E"/>
                </a:solidFill>
              </a:rPr>
              <a:t>in L6 we heard from Valentin about learning at the edge, and today Valentin’s PhD student Hongrui is going to complete that story </a:t>
            </a:r>
            <a:endParaRPr sz="1800">
              <a:solidFill>
                <a:srgbClr val="24292E"/>
              </a:solidFill>
            </a:endParaRPr>
          </a:p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387900" y="445025"/>
            <a:ext cx="84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About me</a:t>
            </a:r>
            <a:endParaRPr/>
          </a:p>
        </p:txBody>
      </p:sp>
      <p:sp>
        <p:nvSpPr>
          <p:cNvPr id="164" name="Google Shape;1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387900" y="1262250"/>
            <a:ext cx="8084700" cy="2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PhD candidate, pervasive computing group, computer science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Research topic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Federated learning, very relevant to ML applications on IoTs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Focus on efficient machine learning on the edge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Custom-size client models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Fine-tuning partial models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Active data selection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 - ML for IoT devices</a:t>
            </a:r>
            <a:endParaRPr/>
          </a:p>
        </p:txBody>
      </p:sp>
      <p:sp>
        <p:nvSpPr>
          <p:cNvPr id="171" name="Google Shape;171;p35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Two steps: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ML model training (commonly performed in the cloud)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ML model deployment (on IoT devices)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range of ML algorithms (decision tree, </a:t>
            </a:r>
            <a:r>
              <a:rPr lang="en-GB" sz="1800"/>
              <a:t>bayesian</a:t>
            </a:r>
            <a:r>
              <a:rPr lang="en-GB" sz="1800"/>
              <a:t>, neural networks, etc. 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Data needs to be on the server for training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Compressing the model for deployment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Quantization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Pruning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Advantages for running inferences with ML models at the edge: 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low latency,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high availability,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high bandwidth,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power efficiency,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data privacy.</a:t>
            </a:r>
            <a:endParaRPr sz="1500"/>
          </a:p>
        </p:txBody>
      </p:sp>
      <p:sp>
        <p:nvSpPr>
          <p:cNvPr id="172" name="Google Shape;17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paradigms in the IoT space (I)</a:t>
            </a:r>
            <a:endParaRPr/>
          </a:p>
        </p:txBody>
      </p:sp>
      <p:sp>
        <p:nvSpPr>
          <p:cNvPr id="178" name="Google Shape;178;p36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ML model resides in the cloud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Training data is on the server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Runtime samples are uploaded to the cloud for inferences</a:t>
            </a:r>
            <a:endParaRPr sz="1800"/>
          </a:p>
        </p:txBody>
      </p:sp>
      <p:sp>
        <p:nvSpPr>
          <p:cNvPr id="179" name="Google Shape;17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0" name="Google Shape;1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8825" y="2300375"/>
            <a:ext cx="1331926" cy="133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650" y="2468550"/>
            <a:ext cx="1223619" cy="170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36"/>
          <p:cNvGrpSpPr/>
          <p:nvPr/>
        </p:nvGrpSpPr>
        <p:grpSpPr>
          <a:xfrm>
            <a:off x="2423275" y="3877475"/>
            <a:ext cx="1527000" cy="1155650"/>
            <a:chOff x="2804275" y="3953675"/>
            <a:chExt cx="1527000" cy="1155650"/>
          </a:xfrm>
        </p:grpSpPr>
        <p:pic>
          <p:nvPicPr>
            <p:cNvPr id="183" name="Google Shape;183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3254974" y="3953675"/>
              <a:ext cx="625607" cy="75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36"/>
            <p:cNvSpPr txBox="1"/>
            <p:nvPr/>
          </p:nvSpPr>
          <p:spPr>
            <a:xfrm>
              <a:off x="2804275" y="4709125"/>
              <a:ext cx="152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Training data</a:t>
              </a:r>
              <a:endParaRPr/>
            </a:p>
          </p:txBody>
        </p:sp>
      </p:grpSp>
      <p:grpSp>
        <p:nvGrpSpPr>
          <p:cNvPr id="185" name="Google Shape;185;p36"/>
          <p:cNvGrpSpPr/>
          <p:nvPr/>
        </p:nvGrpSpPr>
        <p:grpSpPr>
          <a:xfrm>
            <a:off x="2842558" y="2350663"/>
            <a:ext cx="1701592" cy="1670938"/>
            <a:chOff x="2842558" y="2350663"/>
            <a:chExt cx="1701592" cy="1670938"/>
          </a:xfrm>
        </p:grpSpPr>
        <p:pic>
          <p:nvPicPr>
            <p:cNvPr id="186" name="Google Shape;186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42558" y="2350663"/>
              <a:ext cx="733225" cy="755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7" name="Google Shape;187;p36"/>
            <p:cNvCxnSpPr>
              <a:stCxn id="183" idx="0"/>
            </p:cNvCxnSpPr>
            <p:nvPr/>
          </p:nvCxnSpPr>
          <p:spPr>
            <a:xfrm rot="10800000">
              <a:off x="3186777" y="3264875"/>
              <a:ext cx="0" cy="61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8" name="Google Shape;188;p36"/>
            <p:cNvSpPr txBox="1"/>
            <p:nvPr/>
          </p:nvSpPr>
          <p:spPr>
            <a:xfrm>
              <a:off x="3017150" y="3406000"/>
              <a:ext cx="1527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for </a:t>
              </a:r>
              <a:r>
                <a:rPr lang="en-GB"/>
                <a:t>offline training</a:t>
              </a:r>
              <a:endParaRPr/>
            </a:p>
          </p:txBody>
        </p:sp>
      </p:grpSp>
      <p:grpSp>
        <p:nvGrpSpPr>
          <p:cNvPr id="189" name="Google Shape;189;p36"/>
          <p:cNvGrpSpPr/>
          <p:nvPr/>
        </p:nvGrpSpPr>
        <p:grpSpPr>
          <a:xfrm>
            <a:off x="3834550" y="3042750"/>
            <a:ext cx="3214800" cy="400200"/>
            <a:chOff x="3834550" y="3042750"/>
            <a:chExt cx="3214800" cy="400200"/>
          </a:xfrm>
        </p:grpSpPr>
        <p:cxnSp>
          <p:nvCxnSpPr>
            <p:cNvPr id="190" name="Google Shape;190;p36"/>
            <p:cNvCxnSpPr/>
            <p:nvPr/>
          </p:nvCxnSpPr>
          <p:spPr>
            <a:xfrm rot="10800000">
              <a:off x="3834550" y="3144775"/>
              <a:ext cx="3214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" name="Google Shape;191;p36"/>
            <p:cNvSpPr txBox="1"/>
            <p:nvPr/>
          </p:nvSpPr>
          <p:spPr>
            <a:xfrm>
              <a:off x="4828650" y="3042750"/>
              <a:ext cx="133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u</a:t>
              </a:r>
              <a:r>
                <a:rPr lang="en-GB"/>
                <a:t>pload data</a:t>
              </a:r>
              <a:endParaRPr/>
            </a:p>
          </p:txBody>
        </p:sp>
      </p:grpSp>
      <p:grpSp>
        <p:nvGrpSpPr>
          <p:cNvPr id="192" name="Google Shape;192;p36"/>
          <p:cNvGrpSpPr/>
          <p:nvPr/>
        </p:nvGrpSpPr>
        <p:grpSpPr>
          <a:xfrm>
            <a:off x="3708375" y="2295450"/>
            <a:ext cx="3341100" cy="400200"/>
            <a:chOff x="3708375" y="2295450"/>
            <a:chExt cx="3341100" cy="400200"/>
          </a:xfrm>
        </p:grpSpPr>
        <p:cxnSp>
          <p:nvCxnSpPr>
            <p:cNvPr id="193" name="Google Shape;193;p36"/>
            <p:cNvCxnSpPr/>
            <p:nvPr/>
          </p:nvCxnSpPr>
          <p:spPr>
            <a:xfrm>
              <a:off x="3708375" y="2663600"/>
              <a:ext cx="3341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194" name="Google Shape;194;p36"/>
            <p:cNvSpPr txBox="1"/>
            <p:nvPr/>
          </p:nvSpPr>
          <p:spPr>
            <a:xfrm>
              <a:off x="4218000" y="2295450"/>
              <a:ext cx="1932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d</a:t>
              </a:r>
              <a:r>
                <a:rPr lang="en-GB"/>
                <a:t>ownload estimation</a:t>
              </a:r>
              <a:endParaRPr/>
            </a:p>
          </p:txBody>
        </p:sp>
      </p:grpSp>
      <p:sp>
        <p:nvSpPr>
          <p:cNvPr id="195" name="Google Shape;195;p36"/>
          <p:cNvSpPr txBox="1"/>
          <p:nvPr/>
        </p:nvSpPr>
        <p:spPr>
          <a:xfrm>
            <a:off x="6670875" y="3539400"/>
            <a:ext cx="13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Runtime 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paradigms in the IoT space (II)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	ML model at the edge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Training data is on the server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Runtime samples are processed locally on the IoT device.</a:t>
            </a:r>
            <a:endParaRPr sz="1800"/>
          </a:p>
        </p:txBody>
      </p:sp>
      <p:sp>
        <p:nvSpPr>
          <p:cNvPr id="202" name="Google Shape;2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650" y="2468550"/>
            <a:ext cx="1223619" cy="170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37"/>
          <p:cNvGrpSpPr/>
          <p:nvPr/>
        </p:nvGrpSpPr>
        <p:grpSpPr>
          <a:xfrm>
            <a:off x="2423275" y="3877475"/>
            <a:ext cx="1527000" cy="1155650"/>
            <a:chOff x="2804275" y="3953675"/>
            <a:chExt cx="1527000" cy="1155650"/>
          </a:xfrm>
        </p:grpSpPr>
        <p:pic>
          <p:nvPicPr>
            <p:cNvPr id="205" name="Google Shape;205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3254974" y="3953675"/>
              <a:ext cx="625607" cy="75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37"/>
            <p:cNvSpPr txBox="1"/>
            <p:nvPr/>
          </p:nvSpPr>
          <p:spPr>
            <a:xfrm>
              <a:off x="2804275" y="4709125"/>
              <a:ext cx="152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Training data</a:t>
              </a:r>
              <a:endParaRPr/>
            </a:p>
          </p:txBody>
        </p:sp>
      </p:grpSp>
      <p:grpSp>
        <p:nvGrpSpPr>
          <p:cNvPr id="207" name="Google Shape;207;p37"/>
          <p:cNvGrpSpPr/>
          <p:nvPr/>
        </p:nvGrpSpPr>
        <p:grpSpPr>
          <a:xfrm>
            <a:off x="2842558" y="2350663"/>
            <a:ext cx="1701592" cy="1670938"/>
            <a:chOff x="2842558" y="2350663"/>
            <a:chExt cx="1701592" cy="1670938"/>
          </a:xfrm>
        </p:grpSpPr>
        <p:pic>
          <p:nvPicPr>
            <p:cNvPr id="208" name="Google Shape;208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42558" y="2350663"/>
              <a:ext cx="733225" cy="755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9" name="Google Shape;209;p37"/>
            <p:cNvCxnSpPr>
              <a:stCxn id="205" idx="0"/>
            </p:cNvCxnSpPr>
            <p:nvPr/>
          </p:nvCxnSpPr>
          <p:spPr>
            <a:xfrm rot="10800000">
              <a:off x="3186777" y="3264875"/>
              <a:ext cx="0" cy="61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" name="Google Shape;210;p37"/>
            <p:cNvSpPr txBox="1"/>
            <p:nvPr/>
          </p:nvSpPr>
          <p:spPr>
            <a:xfrm>
              <a:off x="3017150" y="3406000"/>
              <a:ext cx="1527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Train model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(offline)</a:t>
              </a:r>
              <a:endParaRPr/>
            </a:p>
          </p:txBody>
        </p:sp>
      </p:grpSp>
      <p:sp>
        <p:nvSpPr>
          <p:cNvPr id="211" name="Google Shape;211;p37"/>
          <p:cNvSpPr txBox="1"/>
          <p:nvPr/>
        </p:nvSpPr>
        <p:spPr>
          <a:xfrm>
            <a:off x="6670875" y="3539400"/>
            <a:ext cx="13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Runtime data</a:t>
            </a:r>
            <a:endParaRPr/>
          </a:p>
        </p:txBody>
      </p:sp>
      <p:grpSp>
        <p:nvGrpSpPr>
          <p:cNvPr id="212" name="Google Shape;212;p37"/>
          <p:cNvGrpSpPr/>
          <p:nvPr/>
        </p:nvGrpSpPr>
        <p:grpSpPr>
          <a:xfrm>
            <a:off x="3708375" y="2300375"/>
            <a:ext cx="4722376" cy="1331926"/>
            <a:chOff x="3708375" y="2300375"/>
            <a:chExt cx="4722376" cy="1331926"/>
          </a:xfrm>
        </p:grpSpPr>
        <p:pic>
          <p:nvPicPr>
            <p:cNvPr id="213" name="Google Shape;213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98825" y="2300375"/>
              <a:ext cx="1331926" cy="1331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4" name="Google Shape;214;p37"/>
            <p:cNvGrpSpPr/>
            <p:nvPr/>
          </p:nvGrpSpPr>
          <p:grpSpPr>
            <a:xfrm>
              <a:off x="3708375" y="2759188"/>
              <a:ext cx="3487084" cy="755450"/>
              <a:chOff x="3708375" y="2759188"/>
              <a:chExt cx="3487084" cy="755450"/>
            </a:xfrm>
          </p:grpSpPr>
          <p:grpSp>
            <p:nvGrpSpPr>
              <p:cNvPr id="215" name="Google Shape;215;p37"/>
              <p:cNvGrpSpPr/>
              <p:nvPr/>
            </p:nvGrpSpPr>
            <p:grpSpPr>
              <a:xfrm>
                <a:off x="3708375" y="2981250"/>
                <a:ext cx="2732400" cy="400200"/>
                <a:chOff x="3708375" y="2600250"/>
                <a:chExt cx="2732400" cy="400200"/>
              </a:xfrm>
            </p:grpSpPr>
            <p:cxnSp>
              <p:nvCxnSpPr>
                <p:cNvPr id="216" name="Google Shape;216;p37"/>
                <p:cNvCxnSpPr/>
                <p:nvPr/>
              </p:nvCxnSpPr>
              <p:spPr>
                <a:xfrm>
                  <a:off x="3708375" y="2663600"/>
                  <a:ext cx="2732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17" name="Google Shape;217;p37"/>
                <p:cNvSpPr txBox="1"/>
                <p:nvPr/>
              </p:nvSpPr>
              <p:spPr>
                <a:xfrm>
                  <a:off x="4544150" y="2600250"/>
                  <a:ext cx="16149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/>
                    <a:t>d</a:t>
                  </a:r>
                  <a:r>
                    <a:rPr lang="en-GB"/>
                    <a:t>ownload model</a:t>
                  </a:r>
                  <a:endParaRPr/>
                </a:p>
              </p:txBody>
            </p:sp>
          </p:grpSp>
          <p:pic>
            <p:nvPicPr>
              <p:cNvPr id="218" name="Google Shape;218;p3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462233" y="2759188"/>
                <a:ext cx="733225" cy="7554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9" name="Google Shape;219;p37"/>
          <p:cNvGrpSpPr/>
          <p:nvPr/>
        </p:nvGrpSpPr>
        <p:grpSpPr>
          <a:xfrm>
            <a:off x="2571750" y="2143050"/>
            <a:ext cx="4558200" cy="400200"/>
            <a:chOff x="2571750" y="2295450"/>
            <a:chExt cx="4558200" cy="400200"/>
          </a:xfrm>
        </p:grpSpPr>
        <p:cxnSp>
          <p:nvCxnSpPr>
            <p:cNvPr id="220" name="Google Shape;220;p37"/>
            <p:cNvCxnSpPr/>
            <p:nvPr/>
          </p:nvCxnSpPr>
          <p:spPr>
            <a:xfrm>
              <a:off x="2571750" y="2663600"/>
              <a:ext cx="4558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triangle"/>
              <a:tailEnd len="med" w="med" type="none"/>
            </a:ln>
          </p:spPr>
        </p:cxnSp>
        <p:sp>
          <p:nvSpPr>
            <p:cNvPr id="221" name="Google Shape;221;p37"/>
            <p:cNvSpPr txBox="1"/>
            <p:nvPr/>
          </p:nvSpPr>
          <p:spPr>
            <a:xfrm>
              <a:off x="4383500" y="2295450"/>
              <a:ext cx="179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u</a:t>
              </a:r>
              <a:r>
                <a:rPr lang="en-GB"/>
                <a:t>pload estimation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for Training ML Models?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two ML paradigms make the assumption that training data is available on the server.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Preferential privacy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 few clients contribute training data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many benefit from the trained model</a:t>
            </a:r>
            <a:endParaRPr sz="1800"/>
          </a:p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29" name="Google Shape;229;p38"/>
          <p:cNvGrpSpPr/>
          <p:nvPr/>
        </p:nvGrpSpPr>
        <p:grpSpPr>
          <a:xfrm>
            <a:off x="1505650" y="3001950"/>
            <a:ext cx="1765331" cy="1701000"/>
            <a:chOff x="1505650" y="3001950"/>
            <a:chExt cx="1765331" cy="1701000"/>
          </a:xfrm>
        </p:grpSpPr>
        <p:pic>
          <p:nvPicPr>
            <p:cNvPr id="230" name="Google Shape;23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05650" y="3001950"/>
              <a:ext cx="1223619" cy="170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645374" y="3648875"/>
              <a:ext cx="625607" cy="755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38"/>
          <p:cNvGrpSpPr/>
          <p:nvPr/>
        </p:nvGrpSpPr>
        <p:grpSpPr>
          <a:xfrm>
            <a:off x="3337675" y="3594450"/>
            <a:ext cx="2806100" cy="1514875"/>
            <a:chOff x="3337675" y="3594450"/>
            <a:chExt cx="2806100" cy="1514875"/>
          </a:xfrm>
        </p:grpSpPr>
        <p:pic>
          <p:nvPicPr>
            <p:cNvPr id="233" name="Google Shape;233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76875" y="4214425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01375" y="35944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38"/>
            <p:cNvSpPr txBox="1"/>
            <p:nvPr/>
          </p:nvSpPr>
          <p:spPr>
            <a:xfrm>
              <a:off x="3337675" y="4709125"/>
              <a:ext cx="152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Training data</a:t>
              </a:r>
              <a:endParaRPr/>
            </a:p>
          </p:txBody>
        </p:sp>
        <p:sp>
          <p:nvSpPr>
            <p:cNvPr id="236" name="Google Shape;236;p38"/>
            <p:cNvSpPr txBox="1"/>
            <p:nvPr/>
          </p:nvSpPr>
          <p:spPr>
            <a:xfrm>
              <a:off x="4099675" y="3870925"/>
              <a:ext cx="152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Training data</a:t>
              </a:r>
              <a:endParaRPr/>
            </a:p>
          </p:txBody>
        </p:sp>
      </p:grpSp>
      <p:grpSp>
        <p:nvGrpSpPr>
          <p:cNvPr id="237" name="Google Shape;237;p38"/>
          <p:cNvGrpSpPr/>
          <p:nvPr/>
        </p:nvGrpSpPr>
        <p:grpSpPr>
          <a:xfrm>
            <a:off x="3409750" y="3926500"/>
            <a:ext cx="1768200" cy="769250"/>
            <a:chOff x="3409750" y="3926500"/>
            <a:chExt cx="1768200" cy="769250"/>
          </a:xfrm>
        </p:grpSpPr>
        <p:cxnSp>
          <p:nvCxnSpPr>
            <p:cNvPr id="238" name="Google Shape;238;p38"/>
            <p:cNvCxnSpPr/>
            <p:nvPr/>
          </p:nvCxnSpPr>
          <p:spPr>
            <a:xfrm rot="10800000">
              <a:off x="3416750" y="4136250"/>
              <a:ext cx="969000" cy="559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9" name="Google Shape;239;p38"/>
            <p:cNvCxnSpPr/>
            <p:nvPr/>
          </p:nvCxnSpPr>
          <p:spPr>
            <a:xfrm rot="10800000">
              <a:off x="3409750" y="3926500"/>
              <a:ext cx="1768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0" name="Google Shape;240;p38"/>
          <p:cNvGrpSpPr/>
          <p:nvPr/>
        </p:nvGrpSpPr>
        <p:grpSpPr>
          <a:xfrm>
            <a:off x="2591571" y="2690938"/>
            <a:ext cx="733225" cy="957937"/>
            <a:chOff x="2591571" y="2690938"/>
            <a:chExt cx="733225" cy="957937"/>
          </a:xfrm>
        </p:grpSpPr>
        <p:pic>
          <p:nvPicPr>
            <p:cNvPr id="241" name="Google Shape;241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1571" y="2690938"/>
              <a:ext cx="733225" cy="755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38"/>
            <p:cNvCxnSpPr/>
            <p:nvPr/>
          </p:nvCxnSpPr>
          <p:spPr>
            <a:xfrm rot="10800000">
              <a:off x="2958177" y="3444275"/>
              <a:ext cx="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3" name="Google Shape;243;p38"/>
          <p:cNvGrpSpPr/>
          <p:nvPr/>
        </p:nvGrpSpPr>
        <p:grpSpPr>
          <a:xfrm>
            <a:off x="3417175" y="2020325"/>
            <a:ext cx="4774350" cy="1947450"/>
            <a:chOff x="3417175" y="2020325"/>
            <a:chExt cx="4774350" cy="1947450"/>
          </a:xfrm>
        </p:grpSpPr>
        <p:pic>
          <p:nvPicPr>
            <p:cNvPr id="244" name="Google Shape;244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55450" y="2020325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49125" y="20662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97075" y="3125375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7" name="Google Shape;247;p38"/>
            <p:cNvCxnSpPr/>
            <p:nvPr/>
          </p:nvCxnSpPr>
          <p:spPr>
            <a:xfrm flipH="1" rot="10800000">
              <a:off x="3417175" y="2663700"/>
              <a:ext cx="2135400" cy="18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8" name="Google Shape;248;p38"/>
            <p:cNvCxnSpPr/>
            <p:nvPr/>
          </p:nvCxnSpPr>
          <p:spPr>
            <a:xfrm flipH="1" rot="10800000">
              <a:off x="3444373" y="2835894"/>
              <a:ext cx="3547500" cy="16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9" name="Google Shape;249;p38"/>
            <p:cNvCxnSpPr/>
            <p:nvPr/>
          </p:nvCxnSpPr>
          <p:spPr>
            <a:xfrm>
              <a:off x="3432825" y="3157275"/>
              <a:ext cx="3065400" cy="22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250" name="Google Shape;250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1423" y="21535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98373" y="2613593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50623" y="33727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" name="Google Shape;253;p38"/>
          <p:cNvGrpSpPr/>
          <p:nvPr/>
        </p:nvGrpSpPr>
        <p:grpSpPr>
          <a:xfrm>
            <a:off x="3421350" y="3283575"/>
            <a:ext cx="3001694" cy="1244794"/>
            <a:chOff x="3421350" y="3283575"/>
            <a:chExt cx="3001694" cy="1244794"/>
          </a:xfrm>
        </p:grpSpPr>
        <p:cxnSp>
          <p:nvCxnSpPr>
            <p:cNvPr id="254" name="Google Shape;254;p38"/>
            <p:cNvCxnSpPr/>
            <p:nvPr/>
          </p:nvCxnSpPr>
          <p:spPr>
            <a:xfrm>
              <a:off x="3421350" y="3283575"/>
              <a:ext cx="1917300" cy="516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255" name="Google Shape;255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41023" y="41347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Question?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284375" y="560525"/>
            <a:ext cx="8160600" cy="19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What are the main issues with these training paradigms?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	(data privacy, generalisation)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Some clients still need to upload their local data to create the training set.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Also known as </a:t>
            </a:r>
            <a:r>
              <a:rPr b="1" lang="en-GB" sz="2200"/>
              <a:t>centralised Machine Learning</a:t>
            </a:r>
            <a:r>
              <a:rPr lang="en-GB" sz="2200"/>
              <a:t> - data is brought to a central server for training.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Data may not be representative for many clients if the training data is collected from a very small fraction of clients.</a:t>
            </a:r>
            <a:endParaRPr sz="2200"/>
          </a:p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GB" sz="1800"/>
              <a:t>Can we train a centralised model on decentralised data?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/>
              <a:t>Definition:</a:t>
            </a:r>
            <a:r>
              <a:rPr lang="en-GB" sz="1800"/>
              <a:t> </a:t>
            </a:r>
            <a:r>
              <a:rPr b="1" lang="en-GB" sz="1800"/>
              <a:t>Federated learning (FL)</a:t>
            </a:r>
            <a:r>
              <a:rPr lang="en-GB" sz="1800"/>
              <a:t> is a machine learning setting where </a:t>
            </a:r>
            <a:r>
              <a:rPr b="1" lang="en-GB" sz="1800"/>
              <a:t>many clients (e.g. mobile devices) collaboratively train a model</a:t>
            </a:r>
            <a:r>
              <a:rPr lang="en-GB" sz="1800"/>
              <a:t> under the orchestration of a central server (service provider), while keeping the training data </a:t>
            </a:r>
            <a:r>
              <a:rPr lang="en-GB" sz="1800" u="sng"/>
              <a:t>de</a:t>
            </a:r>
            <a:r>
              <a:rPr lang="en-GB" sz="1800"/>
              <a:t>centralized.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Recent technology, proposed in 2016  by McMahan et al.: “We term our approach Federated Learning, since the learning task is solved by a loose federation of participating devices”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Google is using FL to train the word prediction feature in their android keyboard.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It is currently a hot research topic.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40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Federated Learning (FL)</a:t>
            </a:r>
            <a:endParaRPr/>
          </a:p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Server side distributed ML: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Splitting the training data across multiple machines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Splitting the model across multiple machines (multimodal systems)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Advantage: faster training due to parallelisation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Disadvantage: Data is still brought to some centralised nodes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Federated Learning: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Training is delegated to the clients where the data resides.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The server has access only to the model updates for aggregation.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Advantages: </a:t>
            </a:r>
            <a:endParaRPr sz="18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Privacy due to data never leaving the customer device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GB" sz="1600"/>
              <a:t>Lower bias due to data being representative of the deployment </a:t>
            </a:r>
            <a:r>
              <a:rPr lang="en-GB" sz="1600"/>
              <a:t>conditions</a:t>
            </a:r>
            <a:endParaRPr sz="16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Disadvantage: Takes a longer time to synchronise many clients.</a:t>
            </a:r>
            <a:endParaRPr sz="1800"/>
          </a:p>
        </p:txBody>
      </p:sp>
      <p:sp>
        <p:nvSpPr>
          <p:cNvPr id="275" name="Google Shape;275;p41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Decentralized Machine Learning</a:t>
            </a:r>
            <a:endParaRPr/>
          </a:p>
        </p:txBody>
      </p:sp>
      <p:sp>
        <p:nvSpPr>
          <p:cNvPr id="276" name="Google Shape;27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Federated Learning Paradigm</a:t>
            </a:r>
            <a:endParaRPr/>
          </a:p>
        </p:txBody>
      </p:sp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Some clients are registered to participate in a model update round.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server distributes a global model to </a:t>
            </a:r>
            <a:r>
              <a:rPr lang="en-GB" sz="1800"/>
              <a:t>participants</a:t>
            </a:r>
            <a:r>
              <a:rPr lang="en-GB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</a:t>
            </a:r>
            <a:r>
              <a:rPr lang="en-GB" sz="1800"/>
              <a:t>articipants </a:t>
            </a:r>
            <a:r>
              <a:rPr lang="en-GB" sz="1800"/>
              <a:t>update the parameters of the model based on their local data.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parameters are sent back to the server for global aggregation.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contributing clients may be changed in the following rounds.</a:t>
            </a:r>
            <a:endParaRPr sz="1800"/>
          </a:p>
        </p:txBody>
      </p:sp>
      <p:sp>
        <p:nvSpPr>
          <p:cNvPr id="283" name="Google Shape;28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4" name="Google Shape;2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650" y="3230550"/>
            <a:ext cx="1223619" cy="17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5371" y="3376738"/>
            <a:ext cx="733225" cy="7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2"/>
          <p:cNvSpPr txBox="1"/>
          <p:nvPr/>
        </p:nvSpPr>
        <p:spPr>
          <a:xfrm>
            <a:off x="2362900" y="3021000"/>
            <a:ext cx="10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</a:t>
            </a:r>
            <a:endParaRPr/>
          </a:p>
        </p:txBody>
      </p:sp>
      <p:grpSp>
        <p:nvGrpSpPr>
          <p:cNvPr id="287" name="Google Shape;287;p42"/>
          <p:cNvGrpSpPr/>
          <p:nvPr/>
        </p:nvGrpSpPr>
        <p:grpSpPr>
          <a:xfrm>
            <a:off x="3417175" y="2248925"/>
            <a:ext cx="4774350" cy="2416525"/>
            <a:chOff x="3417175" y="2248925"/>
            <a:chExt cx="4774350" cy="2416525"/>
          </a:xfrm>
        </p:grpSpPr>
        <p:pic>
          <p:nvPicPr>
            <p:cNvPr id="288" name="Google Shape;288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01375" y="38230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55450" y="2248925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49125" y="28282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14875" y="3677575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2" name="Google Shape;292;p42"/>
            <p:cNvCxnSpPr/>
            <p:nvPr/>
          </p:nvCxnSpPr>
          <p:spPr>
            <a:xfrm flipH="1" rot="10800000">
              <a:off x="3417175" y="2754600"/>
              <a:ext cx="1958400" cy="32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3" name="Google Shape;293;p42"/>
            <p:cNvCxnSpPr/>
            <p:nvPr/>
          </p:nvCxnSpPr>
          <p:spPr>
            <a:xfrm flipH="1" rot="10800000">
              <a:off x="3444373" y="3064494"/>
              <a:ext cx="3547500" cy="16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4" name="Google Shape;294;p42"/>
            <p:cNvCxnSpPr/>
            <p:nvPr/>
          </p:nvCxnSpPr>
          <p:spPr>
            <a:xfrm>
              <a:off x="3432825" y="3385875"/>
              <a:ext cx="3065400" cy="22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295" name="Google Shape;29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31423" y="23821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98373" y="2689793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98223" y="35251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43123" y="39949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9" name="Google Shape;299;p42"/>
            <p:cNvCxnSpPr/>
            <p:nvPr/>
          </p:nvCxnSpPr>
          <p:spPr>
            <a:xfrm>
              <a:off x="3434550" y="3515950"/>
              <a:ext cx="1455600" cy="5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00" name="Google Shape;300;p42"/>
          <p:cNvGrpSpPr/>
          <p:nvPr/>
        </p:nvGrpSpPr>
        <p:grpSpPr>
          <a:xfrm>
            <a:off x="4143625" y="3031950"/>
            <a:ext cx="3117300" cy="1619400"/>
            <a:chOff x="4143625" y="3031950"/>
            <a:chExt cx="3117300" cy="1619400"/>
          </a:xfrm>
        </p:grpSpPr>
        <p:sp>
          <p:nvSpPr>
            <p:cNvPr id="301" name="Google Shape;301;p42"/>
            <p:cNvSpPr txBox="1"/>
            <p:nvPr/>
          </p:nvSpPr>
          <p:spPr>
            <a:xfrm>
              <a:off x="6201025" y="3031950"/>
              <a:ext cx="105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</a:t>
              </a:r>
              <a:endParaRPr>
                <a:solidFill>
                  <a:srgbClr val="E69138"/>
                </a:solidFill>
              </a:endParaRPr>
            </a:p>
          </p:txBody>
        </p:sp>
        <p:sp>
          <p:nvSpPr>
            <p:cNvPr id="302" name="Google Shape;302;p42"/>
            <p:cNvSpPr txBox="1"/>
            <p:nvPr/>
          </p:nvSpPr>
          <p:spPr>
            <a:xfrm>
              <a:off x="4143625" y="4251150"/>
              <a:ext cx="105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</a:t>
              </a:r>
              <a:endParaRPr>
                <a:solidFill>
                  <a:srgbClr val="E69138"/>
                </a:solidFill>
              </a:endParaRPr>
            </a:p>
          </p:txBody>
        </p:sp>
      </p:grpSp>
      <p:grpSp>
        <p:nvGrpSpPr>
          <p:cNvPr id="303" name="Google Shape;303;p42"/>
          <p:cNvGrpSpPr/>
          <p:nvPr/>
        </p:nvGrpSpPr>
        <p:grpSpPr>
          <a:xfrm>
            <a:off x="2300075" y="3344500"/>
            <a:ext cx="4589375" cy="1314675"/>
            <a:chOff x="2300075" y="3344500"/>
            <a:chExt cx="4589375" cy="1314675"/>
          </a:xfrm>
        </p:grpSpPr>
        <p:cxnSp>
          <p:nvCxnSpPr>
            <p:cNvPr id="304" name="Google Shape;304;p42"/>
            <p:cNvCxnSpPr/>
            <p:nvPr/>
          </p:nvCxnSpPr>
          <p:spPr>
            <a:xfrm flipH="1">
              <a:off x="3344350" y="3344500"/>
              <a:ext cx="3545100" cy="85650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" name="Google Shape;305;p42"/>
            <p:cNvCxnSpPr/>
            <p:nvPr/>
          </p:nvCxnSpPr>
          <p:spPr>
            <a:xfrm rot="10800000">
              <a:off x="3325000" y="4307300"/>
              <a:ext cx="1286700" cy="7560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6" name="Google Shape;306;p42"/>
            <p:cNvSpPr txBox="1"/>
            <p:nvPr/>
          </p:nvSpPr>
          <p:spPr>
            <a:xfrm>
              <a:off x="2300075" y="4043575"/>
              <a:ext cx="1157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Updates aggregation</a:t>
              </a:r>
              <a:endParaRPr>
                <a:solidFill>
                  <a:srgbClr val="E69138"/>
                </a:solidFill>
              </a:endParaRPr>
            </a:p>
          </p:txBody>
        </p:sp>
      </p:grpSp>
      <p:grpSp>
        <p:nvGrpSpPr>
          <p:cNvPr id="307" name="Google Shape;307;p42"/>
          <p:cNvGrpSpPr/>
          <p:nvPr/>
        </p:nvGrpSpPr>
        <p:grpSpPr>
          <a:xfrm>
            <a:off x="4953275" y="3064500"/>
            <a:ext cx="2516975" cy="1943250"/>
            <a:chOff x="4953275" y="3064500"/>
            <a:chExt cx="2516975" cy="1943250"/>
          </a:xfrm>
        </p:grpSpPr>
        <p:grpSp>
          <p:nvGrpSpPr>
            <p:cNvPr id="308" name="Google Shape;308;p42"/>
            <p:cNvGrpSpPr/>
            <p:nvPr/>
          </p:nvGrpSpPr>
          <p:grpSpPr>
            <a:xfrm>
              <a:off x="4953275" y="4415225"/>
              <a:ext cx="361725" cy="592525"/>
              <a:chOff x="6048350" y="4528375"/>
              <a:chExt cx="361725" cy="592525"/>
            </a:xfrm>
          </p:grpSpPr>
          <p:pic>
            <p:nvPicPr>
              <p:cNvPr id="309" name="Google Shape;309;p4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6048350" y="4684100"/>
                <a:ext cx="361725" cy="4368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0" name="Google Shape;310;p42"/>
              <p:cNvCxnSpPr/>
              <p:nvPr/>
            </p:nvCxnSpPr>
            <p:spPr>
              <a:xfrm rot="10800000">
                <a:off x="6228677" y="4528375"/>
                <a:ext cx="0" cy="2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11" name="Google Shape;311;p42"/>
            <p:cNvGrpSpPr/>
            <p:nvPr/>
          </p:nvGrpSpPr>
          <p:grpSpPr>
            <a:xfrm>
              <a:off x="7108525" y="3064500"/>
              <a:ext cx="361725" cy="592525"/>
              <a:chOff x="6048350" y="4528375"/>
              <a:chExt cx="361725" cy="592525"/>
            </a:xfrm>
          </p:grpSpPr>
          <p:pic>
            <p:nvPicPr>
              <p:cNvPr id="312" name="Google Shape;312;p4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6048350" y="4684100"/>
                <a:ext cx="361725" cy="4368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3" name="Google Shape;313;p42"/>
              <p:cNvCxnSpPr/>
              <p:nvPr/>
            </p:nvCxnSpPr>
            <p:spPr>
              <a:xfrm rot="10800000">
                <a:off x="6228677" y="4528375"/>
                <a:ext cx="0" cy="2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Updates Aggregation in Federated Learning</a:t>
            </a:r>
            <a:endParaRPr/>
          </a:p>
        </p:txBody>
      </p:sp>
      <p:sp>
        <p:nvSpPr>
          <p:cNvPr id="319" name="Google Shape;319;p43"/>
          <p:cNvSpPr txBox="1"/>
          <p:nvPr>
            <p:ph idx="1" type="body"/>
          </p:nvPr>
        </p:nvSpPr>
        <p:spPr>
          <a:xfrm>
            <a:off x="284375" y="560525"/>
            <a:ext cx="8160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popular approach to aggregate local updates from clients is by averaging each weight of the model from the updates (FedAvg).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Other more advanced solutions look at the specifics of local data on the client to weigh in the aggregation:</a:t>
            </a:r>
            <a:endParaRPr sz="18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Weighted average based on number of local samples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Weighted average based on sample diversity.</a:t>
            </a:r>
            <a:endParaRPr sz="1700"/>
          </a:p>
        </p:txBody>
      </p:sp>
      <p:sp>
        <p:nvSpPr>
          <p:cNvPr id="320" name="Google Shape;32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1" name="Google Shape;3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650" y="2925750"/>
            <a:ext cx="1223619" cy="17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5371" y="3071938"/>
            <a:ext cx="733225" cy="7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3"/>
          <p:cNvSpPr txBox="1"/>
          <p:nvPr/>
        </p:nvSpPr>
        <p:spPr>
          <a:xfrm>
            <a:off x="2362900" y="2716200"/>
            <a:ext cx="10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</a:t>
            </a:r>
            <a:endParaRPr/>
          </a:p>
        </p:txBody>
      </p:sp>
      <p:grpSp>
        <p:nvGrpSpPr>
          <p:cNvPr id="324" name="Google Shape;324;p43"/>
          <p:cNvGrpSpPr/>
          <p:nvPr/>
        </p:nvGrpSpPr>
        <p:grpSpPr>
          <a:xfrm>
            <a:off x="4943123" y="2384993"/>
            <a:ext cx="3248402" cy="1975657"/>
            <a:chOff x="4943123" y="2689793"/>
            <a:chExt cx="3248402" cy="1975657"/>
          </a:xfrm>
        </p:grpSpPr>
        <p:pic>
          <p:nvPicPr>
            <p:cNvPr id="325" name="Google Shape;325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01375" y="38230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49125" y="2828250"/>
              <a:ext cx="842400" cy="84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98373" y="2689793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43123" y="3994968"/>
              <a:ext cx="382021" cy="393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9" name="Google Shape;329;p43"/>
          <p:cNvGrpSpPr/>
          <p:nvPr/>
        </p:nvGrpSpPr>
        <p:grpSpPr>
          <a:xfrm>
            <a:off x="4143625" y="2727150"/>
            <a:ext cx="3117300" cy="1619400"/>
            <a:chOff x="4143625" y="3031950"/>
            <a:chExt cx="3117300" cy="1619400"/>
          </a:xfrm>
        </p:grpSpPr>
        <p:sp>
          <p:nvSpPr>
            <p:cNvPr id="330" name="Google Shape;330;p43"/>
            <p:cNvSpPr txBox="1"/>
            <p:nvPr/>
          </p:nvSpPr>
          <p:spPr>
            <a:xfrm>
              <a:off x="6201025" y="3031950"/>
              <a:ext cx="105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</a:t>
              </a:r>
              <a:endParaRPr>
                <a:solidFill>
                  <a:srgbClr val="E69138"/>
                </a:solidFill>
              </a:endParaRPr>
            </a:p>
          </p:txBody>
        </p:sp>
        <p:sp>
          <p:nvSpPr>
            <p:cNvPr id="331" name="Google Shape;331;p43"/>
            <p:cNvSpPr txBox="1"/>
            <p:nvPr/>
          </p:nvSpPr>
          <p:spPr>
            <a:xfrm>
              <a:off x="4143625" y="4251150"/>
              <a:ext cx="105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</a:t>
              </a:r>
              <a:endParaRPr>
                <a:solidFill>
                  <a:srgbClr val="E69138"/>
                </a:solidFill>
              </a:endParaRPr>
            </a:p>
          </p:txBody>
        </p:sp>
      </p:grpSp>
      <p:grpSp>
        <p:nvGrpSpPr>
          <p:cNvPr id="332" name="Google Shape;332;p43"/>
          <p:cNvGrpSpPr/>
          <p:nvPr/>
        </p:nvGrpSpPr>
        <p:grpSpPr>
          <a:xfrm>
            <a:off x="4953275" y="2759700"/>
            <a:ext cx="2516975" cy="1943250"/>
            <a:chOff x="4953275" y="3064500"/>
            <a:chExt cx="2516975" cy="1943250"/>
          </a:xfrm>
        </p:grpSpPr>
        <p:grpSp>
          <p:nvGrpSpPr>
            <p:cNvPr id="333" name="Google Shape;333;p43"/>
            <p:cNvGrpSpPr/>
            <p:nvPr/>
          </p:nvGrpSpPr>
          <p:grpSpPr>
            <a:xfrm>
              <a:off x="4953275" y="4415225"/>
              <a:ext cx="361725" cy="592525"/>
              <a:chOff x="6048350" y="4528375"/>
              <a:chExt cx="361725" cy="592525"/>
            </a:xfrm>
          </p:grpSpPr>
          <p:pic>
            <p:nvPicPr>
              <p:cNvPr id="334" name="Google Shape;334;p4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6048350" y="4684100"/>
                <a:ext cx="361725" cy="4368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5" name="Google Shape;335;p43"/>
              <p:cNvCxnSpPr/>
              <p:nvPr/>
            </p:nvCxnSpPr>
            <p:spPr>
              <a:xfrm rot="10800000">
                <a:off x="6228677" y="4528375"/>
                <a:ext cx="0" cy="2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336" name="Google Shape;336;p43"/>
            <p:cNvGrpSpPr/>
            <p:nvPr/>
          </p:nvGrpSpPr>
          <p:grpSpPr>
            <a:xfrm>
              <a:off x="7108525" y="3064500"/>
              <a:ext cx="361725" cy="592525"/>
              <a:chOff x="6048350" y="4528375"/>
              <a:chExt cx="361725" cy="592525"/>
            </a:xfrm>
          </p:grpSpPr>
          <p:pic>
            <p:nvPicPr>
              <p:cNvPr id="337" name="Google Shape;337;p4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6048350" y="4684100"/>
                <a:ext cx="361725" cy="4368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8" name="Google Shape;338;p43"/>
              <p:cNvCxnSpPr/>
              <p:nvPr/>
            </p:nvCxnSpPr>
            <p:spPr>
              <a:xfrm rot="10800000">
                <a:off x="6228677" y="4528375"/>
                <a:ext cx="0" cy="2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339" name="Google Shape;339;p43"/>
          <p:cNvGrpSpPr/>
          <p:nvPr/>
        </p:nvGrpSpPr>
        <p:grpSpPr>
          <a:xfrm>
            <a:off x="3325000" y="2519301"/>
            <a:ext cx="3614975" cy="2147924"/>
            <a:chOff x="3325000" y="2824101"/>
            <a:chExt cx="3614975" cy="2147924"/>
          </a:xfrm>
        </p:grpSpPr>
        <p:cxnSp>
          <p:nvCxnSpPr>
            <p:cNvPr id="340" name="Google Shape;340;p43"/>
            <p:cNvCxnSpPr/>
            <p:nvPr/>
          </p:nvCxnSpPr>
          <p:spPr>
            <a:xfrm flipH="1">
              <a:off x="3344350" y="3344500"/>
              <a:ext cx="3545100" cy="85650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1" name="Google Shape;341;p43"/>
            <p:cNvCxnSpPr/>
            <p:nvPr/>
          </p:nvCxnSpPr>
          <p:spPr>
            <a:xfrm rot="10800000">
              <a:off x="3325000" y="4307300"/>
              <a:ext cx="1286700" cy="75600"/>
            </a:xfrm>
            <a:prstGeom prst="straightConnector1">
              <a:avLst/>
            </a:prstGeom>
            <a:noFill/>
            <a:ln cap="flat" cmpd="sng" w="19050">
              <a:solidFill>
                <a:srgbClr val="E6913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342" name="Google Shape;342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59075" y="2824101"/>
              <a:ext cx="480900" cy="246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4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381625" y="4690975"/>
              <a:ext cx="480898" cy="281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4" name="Google Shape;344;p43"/>
          <p:cNvGrpSpPr/>
          <p:nvPr/>
        </p:nvGrpSpPr>
        <p:grpSpPr>
          <a:xfrm>
            <a:off x="2300075" y="3738775"/>
            <a:ext cx="1157700" cy="1102800"/>
            <a:chOff x="2300075" y="4043575"/>
            <a:chExt cx="1157700" cy="1102800"/>
          </a:xfrm>
        </p:grpSpPr>
        <p:sp>
          <p:nvSpPr>
            <p:cNvPr id="345" name="Google Shape;345;p43"/>
            <p:cNvSpPr txBox="1"/>
            <p:nvPr/>
          </p:nvSpPr>
          <p:spPr>
            <a:xfrm>
              <a:off x="2300075" y="4043575"/>
              <a:ext cx="1157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69138"/>
                  </a:solidFill>
                </a:rPr>
                <a:t>Updates aggregation</a:t>
              </a:r>
              <a:endParaRPr>
                <a:solidFill>
                  <a:srgbClr val="E69138"/>
                </a:solidFill>
              </a:endParaRPr>
            </a:p>
          </p:txBody>
        </p:sp>
        <p:pic>
          <p:nvPicPr>
            <p:cNvPr id="346" name="Google Shape;346;p43"/>
            <p:cNvPicPr preferRelativeResize="0"/>
            <p:nvPr/>
          </p:nvPicPr>
          <p:blipFill rotWithShape="1">
            <a:blip r:embed="rId9">
              <a:alphaModFix/>
            </a:blip>
            <a:srcRect b="0" l="0" r="56157" t="40134"/>
            <a:stretch/>
          </p:blipFill>
          <p:spPr>
            <a:xfrm>
              <a:off x="2460138" y="4573675"/>
              <a:ext cx="865431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284374" y="560525"/>
            <a:ext cx="8325000" cy="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Unbalanced and non-IID (identically and independently distributed) data:</a:t>
            </a:r>
            <a:endParaRPr sz="18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We need to include in the training many different clients. </a:t>
            </a:r>
            <a:endParaRPr sz="1600"/>
          </a:p>
        </p:txBody>
      </p:sp>
      <p:sp>
        <p:nvSpPr>
          <p:cNvPr id="352" name="Google Shape;352;p44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Challenges in FL</a:t>
            </a:r>
            <a:endParaRPr/>
          </a:p>
        </p:txBody>
      </p:sp>
      <p:sp>
        <p:nvSpPr>
          <p:cNvPr id="353" name="Google Shape;35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4" name="Google Shape;3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52" y="1503161"/>
            <a:ext cx="8185494" cy="3119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</a:t>
            </a:r>
            <a:r>
              <a:rPr lang="en-GB" sz="1800"/>
              <a:t>nbalanced and non-IID (identically and independently distributed) data: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We need to include in the training many different clients. 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Many unreliable devices: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Some clients may be included in a local update round but never finish the round (not sending their updates to the server): not finishing their local round before a preset deadline.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Limited communication bandwidth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Clients with </a:t>
            </a:r>
            <a:r>
              <a:rPr lang="en-GB" sz="1600"/>
              <a:t>3G/GPRS connection may be slower than those on broadband.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Limited resources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Battery lifetime constraints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Network connectivity cost</a:t>
            </a:r>
            <a:endParaRPr sz="1600"/>
          </a:p>
        </p:txBody>
      </p:sp>
      <p:sp>
        <p:nvSpPr>
          <p:cNvPr id="360" name="Google Shape;360;p45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in FL</a:t>
            </a:r>
            <a:endParaRPr/>
          </a:p>
        </p:txBody>
      </p:sp>
      <p:sp>
        <p:nvSpPr>
          <p:cNvPr id="361" name="Google Shape;36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FL works well for devices with similar computing capabilities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Slower clients will stall the training process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Faster clients wait after the slower ones (increased round deadline)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Or waste computations from those clients that don’t finish before a decent deadline.</a:t>
            </a:r>
            <a:endParaRPr sz="1800"/>
          </a:p>
        </p:txBody>
      </p:sp>
      <p:sp>
        <p:nvSpPr>
          <p:cNvPr id="367" name="Google Shape;367;p46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Heterogeneity Challenge</a:t>
            </a:r>
            <a:endParaRPr/>
          </a:p>
        </p:txBody>
      </p:sp>
      <p:sp>
        <p:nvSpPr>
          <p:cNvPr id="368" name="Google Shape;36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9" name="Google Shape;3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848" y="2343000"/>
            <a:ext cx="3434951" cy="257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000" y="3101651"/>
            <a:ext cx="3287848" cy="100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8200" y="2328801"/>
            <a:ext cx="2304557" cy="10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9800" y="3903975"/>
            <a:ext cx="2978871" cy="100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46"/>
          <p:cNvGrpSpPr/>
          <p:nvPr/>
        </p:nvGrpSpPr>
        <p:grpSpPr>
          <a:xfrm>
            <a:off x="4972050" y="3013175"/>
            <a:ext cx="566850" cy="1800750"/>
            <a:chOff x="4972050" y="3013175"/>
            <a:chExt cx="566850" cy="1800750"/>
          </a:xfrm>
        </p:grpSpPr>
        <p:pic>
          <p:nvPicPr>
            <p:cNvPr id="374" name="Google Shape;374;p4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72050" y="3013175"/>
              <a:ext cx="566839" cy="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4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114600" y="4325200"/>
              <a:ext cx="424300" cy="4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Word prediction in Google Keyboard</a:t>
            </a:r>
            <a:endParaRPr sz="1800"/>
          </a:p>
        </p:txBody>
      </p:sp>
      <p:sp>
        <p:nvSpPr>
          <p:cNvPr id="381" name="Google Shape;381;p47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 of FL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3" name="Google Shape;38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24" y="1278100"/>
            <a:ext cx="3254476" cy="257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4250" y="2782300"/>
            <a:ext cx="5130724" cy="1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7300" y="1094100"/>
            <a:ext cx="1318100" cy="15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/>
          <p:nvPr>
            <p:ph idx="1" type="body"/>
          </p:nvPr>
        </p:nvSpPr>
        <p:spPr>
          <a:xfrm>
            <a:off x="284375" y="560524"/>
            <a:ext cx="83613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Learning Curves on CIFAR-10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Stronger data heterogeneity leads to worse FL performance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More serious device dropout leads to worse FL performance</a:t>
            </a:r>
            <a:endParaRPr sz="1800"/>
          </a:p>
        </p:txBody>
      </p:sp>
      <p:sp>
        <p:nvSpPr>
          <p:cNvPr id="391" name="Google Shape;391;p48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Challenges in FL</a:t>
            </a:r>
            <a:endParaRPr/>
          </a:p>
        </p:txBody>
      </p:sp>
      <p:sp>
        <p:nvSpPr>
          <p:cNvPr id="392" name="Google Shape;39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24" y="2278817"/>
            <a:ext cx="4086566" cy="255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8200" y="2335875"/>
            <a:ext cx="3852929" cy="2441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8"/>
          <p:cNvSpPr txBox="1"/>
          <p:nvPr/>
        </p:nvSpPr>
        <p:spPr>
          <a:xfrm>
            <a:off x="1023150" y="2079973"/>
            <a:ext cx="285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heterogeneity—non IID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5787881" y="2038884"/>
            <a:ext cx="138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Custom-size client models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Fewer local training samples (strategically selected)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Training just a smaller part of the model (fine-tuning/domain adaptation)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Fewer global rounds by faster model convergence (reducing model shifts)</a:t>
            </a:r>
            <a:endParaRPr sz="1800"/>
          </a:p>
        </p:txBody>
      </p:sp>
      <p:sp>
        <p:nvSpPr>
          <p:cNvPr id="402" name="Google Shape;402;p49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Directions in workload reduction for IoT</a:t>
            </a:r>
            <a:endParaRPr/>
          </a:p>
        </p:txBody>
      </p:sp>
      <p:sp>
        <p:nvSpPr>
          <p:cNvPr id="403" name="Google Shape;40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0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Research is now developing new solutions for mitigating the issue of struggles (clients that cannot finish the round in time).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Compressing the model sent to the client such that the new model fits the computing capability of the device, allows the client to finish the round in time.</a:t>
            </a:r>
            <a:endParaRPr sz="1800"/>
          </a:p>
        </p:txBody>
      </p:sp>
      <p:sp>
        <p:nvSpPr>
          <p:cNvPr id="409" name="Google Shape;409;p50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GB"/>
              <a:t>Custom size client models</a:t>
            </a:r>
            <a:endParaRPr/>
          </a:p>
        </p:txBody>
      </p:sp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11" name="Google Shape;411;p50"/>
          <p:cNvGrpSpPr/>
          <p:nvPr/>
        </p:nvGrpSpPr>
        <p:grpSpPr>
          <a:xfrm>
            <a:off x="1310209" y="2293750"/>
            <a:ext cx="7026891" cy="2849750"/>
            <a:chOff x="1310209" y="2293750"/>
            <a:chExt cx="7026891" cy="2849750"/>
          </a:xfrm>
        </p:grpSpPr>
        <p:pic>
          <p:nvPicPr>
            <p:cNvPr id="412" name="Google Shape;412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10209" y="2293750"/>
              <a:ext cx="7026891" cy="2369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50"/>
            <p:cNvSpPr txBox="1"/>
            <p:nvPr/>
          </p:nvSpPr>
          <p:spPr>
            <a:xfrm>
              <a:off x="4949725" y="4743300"/>
              <a:ext cx="322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[H. Shi, V. Radu, EdgeSys 2021]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31875" y="1300825"/>
            <a:ext cx="4073400" cy="2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Reduce training time by formulating a small training set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Improve</a:t>
            </a:r>
            <a:r>
              <a:rPr lang="en-GB" sz="1800"/>
              <a:t> FL performance by selecting the most useful samples locally for learning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19" name="Google Shape;419;p51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2. Fewer local training samples</a:t>
            </a:r>
            <a:endParaRPr/>
          </a:p>
        </p:txBody>
      </p:sp>
      <p:sp>
        <p:nvSpPr>
          <p:cNvPr id="420" name="Google Shape;42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1" name="Google Shape;4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257" y="850872"/>
            <a:ext cx="4174517" cy="3812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/>
          <p:nvPr>
            <p:ph idx="1" type="body"/>
          </p:nvPr>
        </p:nvSpPr>
        <p:spPr>
          <a:xfrm>
            <a:off x="554100" y="1075275"/>
            <a:ext cx="41733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Train a partial model with fewer parameters leads to less workload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How to train the fixed part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Pretraining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Train it inside FL loops on powerful clients.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Parameter aggregation is ok</a:t>
            </a:r>
            <a:endParaRPr/>
          </a:p>
        </p:txBody>
      </p:sp>
      <p:sp>
        <p:nvSpPr>
          <p:cNvPr id="427" name="Google Shape;427;p52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3. Training just a smaller part of the model</a:t>
            </a:r>
            <a:endParaRPr/>
          </a:p>
        </p:txBody>
      </p:sp>
      <p:sp>
        <p:nvSpPr>
          <p:cNvPr id="428" name="Google Shape;42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9" name="Google Shape;42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702" y="1316319"/>
            <a:ext cx="1382224" cy="16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2"/>
          <p:cNvSpPr txBox="1"/>
          <p:nvPr/>
        </p:nvSpPr>
        <p:spPr>
          <a:xfrm>
            <a:off x="6939607" y="2413549"/>
            <a:ext cx="62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6785719" y="1316319"/>
            <a:ext cx="9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0614" y="3180128"/>
            <a:ext cx="842400" cy="84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1308" y="3180128"/>
            <a:ext cx="20955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2"/>
          <p:cNvSpPr/>
          <p:nvPr/>
        </p:nvSpPr>
        <p:spPr>
          <a:xfrm>
            <a:off x="6692926" y="4201149"/>
            <a:ext cx="219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time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>
            <p:ph idx="1" type="body"/>
          </p:nvPr>
        </p:nvSpPr>
        <p:spPr>
          <a:xfrm>
            <a:off x="284375" y="560525"/>
            <a:ext cx="8016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Transfer learning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Leverage the knowledge learned from source domains on target domains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Accelerate the convergence on target domains</a:t>
            </a:r>
            <a:endParaRPr sz="1800"/>
          </a:p>
        </p:txBody>
      </p:sp>
      <p:sp>
        <p:nvSpPr>
          <p:cNvPr id="440" name="Google Shape;440;p53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4. Fewer global rounds (faster convergence)</a:t>
            </a:r>
            <a:endParaRPr/>
          </a:p>
        </p:txBody>
      </p:sp>
      <p:sp>
        <p:nvSpPr>
          <p:cNvPr id="441" name="Google Shape;44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2" name="Google Shape;44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648" y="2097001"/>
            <a:ext cx="3687077" cy="142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376" y="2097011"/>
            <a:ext cx="1034124" cy="100464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3"/>
          <p:cNvSpPr txBox="1"/>
          <p:nvPr/>
        </p:nvSpPr>
        <p:spPr>
          <a:xfrm>
            <a:off x="6268121" y="3101647"/>
            <a:ext cx="9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CIFAR-10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/>
          <p:nvPr/>
        </p:nvSpPr>
        <p:spPr>
          <a:xfrm>
            <a:off x="1760093" y="3474325"/>
            <a:ext cx="242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ImageNet, over 1m samples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53"/>
          <p:cNvCxnSpPr/>
          <p:nvPr/>
        </p:nvCxnSpPr>
        <p:spPr>
          <a:xfrm>
            <a:off x="5104180" y="2438790"/>
            <a:ext cx="911700" cy="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47" name="Google Shape;447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9912" y="3403600"/>
            <a:ext cx="2717800" cy="1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Recent breakthroughs in FL</a:t>
            </a:r>
            <a:endParaRPr/>
          </a:p>
        </p:txBody>
      </p:sp>
      <p:sp>
        <p:nvSpPr>
          <p:cNvPr id="453" name="Google Shape;45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4" name="Google Shape;4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00" y="1587125"/>
            <a:ext cx="4368650" cy="22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4"/>
          <p:cNvSpPr txBox="1"/>
          <p:nvPr/>
        </p:nvSpPr>
        <p:spPr>
          <a:xfrm>
            <a:off x="124425" y="1071575"/>
            <a:ext cx="49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4"/>
              </a:rPr>
              <a:t>The </a:t>
            </a:r>
            <a:r>
              <a:rPr b="1" lang="en-GB" sz="1800" u="sng">
                <a:solidFill>
                  <a:schemeClr val="hlink"/>
                </a:solidFill>
                <a:hlinkClick r:id="rId5"/>
              </a:rPr>
              <a:t>Flower</a:t>
            </a:r>
            <a:r>
              <a:rPr lang="en-GB" sz="1800" u="sng">
                <a:solidFill>
                  <a:schemeClr val="hlink"/>
                </a:solidFill>
                <a:hlinkClick r:id="rId6"/>
              </a:rPr>
              <a:t> community introduces FlowerLLM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56" name="Google Shape;456;p54"/>
          <p:cNvGrpSpPr/>
          <p:nvPr/>
        </p:nvGrpSpPr>
        <p:grpSpPr>
          <a:xfrm>
            <a:off x="5330350" y="877400"/>
            <a:ext cx="3616560" cy="3818875"/>
            <a:chOff x="5330350" y="877400"/>
            <a:chExt cx="3616560" cy="3818875"/>
          </a:xfrm>
        </p:grpSpPr>
        <p:sp>
          <p:nvSpPr>
            <p:cNvPr id="457" name="Google Shape;457;p54"/>
            <p:cNvSpPr txBox="1"/>
            <p:nvPr/>
          </p:nvSpPr>
          <p:spPr>
            <a:xfrm>
              <a:off x="5562600" y="877400"/>
              <a:ext cx="323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 u="sng">
                  <a:solidFill>
                    <a:schemeClr val="hlink"/>
                  </a:solidFill>
                  <a:hlinkClick r:id="rId7"/>
                </a:rPr>
                <a:t>FedML </a:t>
              </a:r>
              <a:r>
                <a:rPr lang="en-GB" sz="1800" u="sng">
                  <a:solidFill>
                    <a:schemeClr val="hlink"/>
                  </a:solidFill>
                  <a:hlinkClick r:id="rId8"/>
                </a:rPr>
                <a:t>has support on AWS</a:t>
              </a:r>
              <a:endParaRPr sz="1800">
                <a:solidFill>
                  <a:schemeClr val="dk2"/>
                </a:solidFill>
              </a:endParaRPr>
            </a:p>
          </p:txBody>
        </p:sp>
        <p:pic>
          <p:nvPicPr>
            <p:cNvPr id="458" name="Google Shape;458;p5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330350" y="1289475"/>
              <a:ext cx="3616560" cy="3406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/>
          <p:nvPr>
            <p:ph idx="1" type="body"/>
          </p:nvPr>
        </p:nvSpPr>
        <p:spPr>
          <a:xfrm>
            <a:off x="284375" y="56052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Focusing more on semi-supervised, unsupervised learning due to lack of labels, but taking advantage of the unfair advantage: data and compute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Foundation Models training is massively </a:t>
            </a:r>
            <a:r>
              <a:rPr lang="en-GB" sz="1800"/>
              <a:t>parallel</a:t>
            </a:r>
            <a:r>
              <a:rPr lang="en-GB" sz="1800"/>
              <a:t> due to the large size of models. Fine-tuning for specific narrower applications could be done in groups of FL clients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Better optimisers for faster convergence</a:t>
            </a:r>
            <a:endParaRPr sz="1800"/>
          </a:p>
        </p:txBody>
      </p:sp>
      <p:sp>
        <p:nvSpPr>
          <p:cNvPr id="464" name="Google Shape;464;p55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Directions of FL</a:t>
            </a:r>
            <a:endParaRPr/>
          </a:p>
        </p:txBody>
      </p:sp>
      <p:sp>
        <p:nvSpPr>
          <p:cNvPr id="465" name="Google Shape;46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/>
          <p:nvPr>
            <p:ph idx="1" type="body"/>
          </p:nvPr>
        </p:nvSpPr>
        <p:spPr>
          <a:xfrm>
            <a:off x="284375" y="560525"/>
            <a:ext cx="8160600" cy="4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Traditional Machine Learning requires training data to be available on a central system (also called centralised ML).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Federated Learning has emerged as the best viable solution to train a Machine Learning model across many devices without needing to move data from its source.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Federated Average is the most common method for local updates aggregation to update the global model.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Challenges in Federated Learning still remain: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Heterogeneity of data and system capabilities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Unreliable client systems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Resource limitations (battery lifetime, network cost, bandwidth)</a:t>
            </a:r>
            <a:endParaRPr sz="1800"/>
          </a:p>
        </p:txBody>
      </p:sp>
      <p:sp>
        <p:nvSpPr>
          <p:cNvPr id="471" name="Google Shape;471;p56"/>
          <p:cNvSpPr txBox="1"/>
          <p:nvPr>
            <p:ph type="title"/>
          </p:nvPr>
        </p:nvSpPr>
        <p:spPr>
          <a:xfrm>
            <a:off x="1073700" y="-12175"/>
            <a:ext cx="72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472" name="Google Shape;47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
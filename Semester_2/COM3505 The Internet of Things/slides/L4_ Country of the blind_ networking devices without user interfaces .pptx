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k2.picdn.net/shutterstock/videos/10704062/thumb/8.jpg"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8d2032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8d2032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4b51e5ab6_2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44b51e5ab6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8d203273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8d203273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bd175367a7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bd175367a7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bd175367a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bd175367a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bd175367a7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bd175367a7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4b51e5ab6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44b51e5ab6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6211f8005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6211f8005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6211f8005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6211f8005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6211f8005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6211f8005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211f8005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211f8005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38d20327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38d20327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6211f800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6211f800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44b51e5ab6_2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44b51e5ab6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https://ak2.picdn.net/shutterstock/videos/10704062/thumb/8.jpg</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receiving a shiney new thing</a:t>
            </a:r>
            <a:endParaRPr sz="12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GB" sz="1200">
                <a:solidFill>
                  <a:schemeClr val="dk1"/>
                </a:solidFill>
              </a:rPr>
              <a:t>how to connect?</a:t>
            </a:r>
            <a:endParaRPr sz="12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GB" sz="1200">
                <a:solidFill>
                  <a:schemeClr val="dk1"/>
                </a:solidFill>
              </a:rPr>
              <a:t>- wifi: you've just done that, and we'll review it in some detail next</a:t>
            </a:r>
            <a:endParaRPr sz="1200">
              <a:solidFill>
                <a:schemeClr val="dk1"/>
              </a:solidFill>
            </a:endParaRPr>
          </a:p>
          <a:p>
            <a:pPr indent="0" lvl="0" marL="0" rtl="0" algn="l">
              <a:lnSpc>
                <a:spcPct val="115000"/>
              </a:lnSpc>
              <a:spcBef>
                <a:spcPts val="1000"/>
              </a:spcBef>
              <a:spcAft>
                <a:spcPts val="1000"/>
              </a:spcAft>
              <a:buClr>
                <a:schemeClr val="dk1"/>
              </a:buClr>
              <a:buSzPts val="1100"/>
              <a:buFont typeface="Arial"/>
              <a:buNone/>
            </a:pPr>
            <a:r>
              <a:rPr lang="en-GB" sz="1200">
                <a:solidFill>
                  <a:schemeClr val="dk1"/>
                </a:solidFill>
              </a:rPr>
              <a:t>- first, other methods: sifgox, lorawan,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44b51e5ab6_2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44b51e5ab6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https://www.digikey.com/en/articles/techzone/2017/may/a-simpler-solution-hardening-security-wi-fi-connected-iot-designs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0fdff08c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0fdff08c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63db5563d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63db5563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44b51e5ab6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44b51e5ab6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44b51e5ab6_2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44b51e5ab6_2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44b51e5ab6_2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44b51e5ab6_2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44b51e5ab6_2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44b51e5ab6_2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44b51e5ab6_2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44b51e5ab6_2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44b51e5ab6_2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44b51e5ab6_2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44b51e5ab6_2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44b51e5ab6_2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44b51e5ab6_2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44b51e5ab6_2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44b51e5ab6_2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44b51e5ab6_2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c0d5562cc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c0d5562cc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c0d5562cc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c0d5562cc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110bf4f38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110bf4f38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bd175367a7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bd175367a7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44021d37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44021d37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c0d5562c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c0d5562c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c0d5562cc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c0d5562cc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c0d5562cc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c0d5562cc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38d20327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38d20327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44b51e5ab6_2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44b51e5ab6_2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44b51e5ab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44b51e5ab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38d20327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38d20327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44b51e5ab6_2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44b51e5ab6_2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Char char="●"/>
              <a:defRPr sz="14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4" name="Google Shape;24;p4"/>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5" name="Google Shape;65;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sp>
        <p:nvSpPr>
          <p:cNvPr id="68" name="Google Shape;68;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6"/>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16"/>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8" name="Google Shape;7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7" name="Shape 87"/>
        <p:cNvGrpSpPr/>
        <p:nvPr/>
      </p:nvGrpSpPr>
      <p:grpSpPr>
        <a:xfrm>
          <a:off x="0" y="0"/>
          <a:ext cx="0" cy="0"/>
          <a:chOff x="0" y="0"/>
          <a:chExt cx="0" cy="0"/>
        </a:xfrm>
      </p:grpSpPr>
      <p:sp>
        <p:nvSpPr>
          <p:cNvPr id="88" name="Google Shape;8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3" name="Google Shape;9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4" name="Google Shape;9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5" name="Google Shape;9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6" name="Shape 96"/>
        <p:cNvGrpSpPr/>
        <p:nvPr/>
      </p:nvGrpSpPr>
      <p:grpSpPr>
        <a:xfrm>
          <a:off x="0" y="0"/>
          <a:ext cx="0" cy="0"/>
          <a:chOff x="0" y="0"/>
          <a:chExt cx="0" cy="0"/>
        </a:xfrm>
      </p:grpSpPr>
      <p:sp>
        <p:nvSpPr>
          <p:cNvPr id="97" name="Google Shape;9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9" name="Shape 99"/>
        <p:cNvGrpSpPr/>
        <p:nvPr/>
      </p:nvGrpSpPr>
      <p:grpSpPr>
        <a:xfrm>
          <a:off x="0" y="0"/>
          <a:ext cx="0" cy="0"/>
          <a:chOff x="0" y="0"/>
          <a:chExt cx="0" cy="0"/>
        </a:xfrm>
      </p:grpSpPr>
      <p:sp>
        <p:nvSpPr>
          <p:cNvPr id="100" name="Google Shape;10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1" name="Google Shape;10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2" name="Google Shape;10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
        <p:nvSpPr>
          <p:cNvPr id="104" name="Google Shape;10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4.jpg"/><Relationship Id="rId2" Type="http://schemas.openxmlformats.org/officeDocument/2006/relationships/image" Target="../media/image13.png"/><Relationship Id="rId3" Type="http://schemas.openxmlformats.org/officeDocument/2006/relationships/image" Target="../media/image3.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3.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13.png"/><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slideLayout" Target="../slideLayouts/slideLayout12.xml"/><Relationship Id="rId9" Type="http://schemas.openxmlformats.org/officeDocument/2006/relationships/slideLayout" Target="../slideLayouts/slideLayout17.xml"/><Relationship Id="rId15" Type="http://schemas.openxmlformats.org/officeDocument/2006/relationships/theme" Target="../theme/theme2.xml"/><Relationship Id="rId14" Type="http://schemas.openxmlformats.org/officeDocument/2006/relationships/slideLayout" Target="../slideLayouts/slideLayout2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esp32-feather.jpg" id="10" name="Google Shape;10;p1"/>
          <p:cNvPicPr preferRelativeResize="0"/>
          <p:nvPr/>
        </p:nvPicPr>
        <p:blipFill>
          <a:blip r:embed="rId1">
            <a:alphaModFix/>
          </a:blip>
          <a:stretch>
            <a:fillRect/>
          </a:stretch>
        </p:blipFill>
        <p:spPr>
          <a:xfrm>
            <a:off x="76985" y="4540237"/>
            <a:ext cx="521324" cy="520026"/>
          </a:xfrm>
          <a:prstGeom prst="rect">
            <a:avLst/>
          </a:prstGeom>
          <a:noFill/>
          <a:ln>
            <a:noFill/>
          </a:ln>
        </p:spPr>
      </p:pic>
      <p:pic>
        <p:nvPicPr>
          <p:cNvPr descr="usfd-logo-fred-350x138.png" id="11" name="Google Shape;11;p1"/>
          <p:cNvPicPr preferRelativeResize="0"/>
          <p:nvPr/>
        </p:nvPicPr>
        <p:blipFill>
          <a:blip r:embed="rId2">
            <a:alphaModFix/>
          </a:blip>
          <a:stretch>
            <a:fillRect/>
          </a:stretch>
        </p:blipFill>
        <p:spPr>
          <a:xfrm>
            <a:off x="76197" y="73575"/>
            <a:ext cx="1111675" cy="439575"/>
          </a:xfrm>
          <a:prstGeom prst="rect">
            <a:avLst/>
          </a:prstGeom>
          <a:noFill/>
          <a:ln>
            <a:noFill/>
          </a:ln>
        </p:spPr>
      </p:pic>
      <p:pic>
        <p:nvPicPr>
          <p:cNvPr descr="625px-Internet_of_Things.jpg" id="12" name="Google Shape;12;p1"/>
          <p:cNvPicPr preferRelativeResize="0"/>
          <p:nvPr/>
        </p:nvPicPr>
        <p:blipFill>
          <a:blip r:embed="rId3">
            <a:alphaModFix/>
          </a:blip>
          <a:stretch>
            <a:fillRect/>
          </a:stretch>
        </p:blipFill>
        <p:spPr>
          <a:xfrm>
            <a:off x="8362825" y="73579"/>
            <a:ext cx="691500" cy="66384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59" name="Google Shape;59;p13"/>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usfd-logo-fred-350x138.png" id="60" name="Google Shape;60;p13"/>
          <p:cNvPicPr preferRelativeResize="0"/>
          <p:nvPr/>
        </p:nvPicPr>
        <p:blipFill>
          <a:blip r:embed="rId1">
            <a:alphaModFix/>
          </a:blip>
          <a:stretch>
            <a:fillRect/>
          </a:stretch>
        </p:blipFill>
        <p:spPr>
          <a:xfrm>
            <a:off x="76197" y="73575"/>
            <a:ext cx="1111675" cy="439575"/>
          </a:xfrm>
          <a:prstGeom prst="rect">
            <a:avLst/>
          </a:prstGeom>
          <a:noFill/>
          <a:ln>
            <a:noFill/>
          </a:ln>
        </p:spPr>
      </p:pic>
      <p:pic>
        <p:nvPicPr>
          <p:cNvPr descr="625px-Internet_of_Things.jpg" id="61" name="Google Shape;61;p13"/>
          <p:cNvPicPr preferRelativeResize="0"/>
          <p:nvPr/>
        </p:nvPicPr>
        <p:blipFill>
          <a:blip r:embed="rId2">
            <a:alphaModFix/>
          </a:blip>
          <a:stretch>
            <a:fillRect/>
          </a:stretch>
        </p:blipFill>
        <p:spPr>
          <a:xfrm>
            <a:off x="8362825" y="73579"/>
            <a:ext cx="691500" cy="663842"/>
          </a:xfrm>
          <a:prstGeom prst="rect">
            <a:avLst/>
          </a:prstGeom>
          <a:noFill/>
          <a:ln>
            <a:noFill/>
          </a:ln>
        </p:spPr>
      </p:pic>
      <p:pic>
        <p:nvPicPr>
          <p:cNvPr descr="esp32-feather.jpg" id="62" name="Google Shape;62;p13"/>
          <p:cNvPicPr preferRelativeResize="0"/>
          <p:nvPr/>
        </p:nvPicPr>
        <p:blipFill>
          <a:blip r:embed="rId3">
            <a:alphaModFix/>
          </a:blip>
          <a:stretch>
            <a:fillRect/>
          </a:stretch>
        </p:blipFill>
        <p:spPr>
          <a:xfrm>
            <a:off x="76985" y="4540237"/>
            <a:ext cx="521324" cy="520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youtube.com/watch?v=gI6jtxii2AA" TargetMode="Externa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hyperlink" Target="https://www.economist.com/leaders/2019/09/12/how-the-world-will-change-as-computers-spread-into-everyday-objects" TargetMode="External"/><Relationship Id="rId4" Type="http://schemas.openxmlformats.org/officeDocument/2006/relationships/hyperlink" Target="https://www.economist.com/leaders/2019/09/12/how-the-world-will-change-as-computers-spread-into-everyday-objec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iot.unphone.net/" TargetMode="External"/><Relationship Id="rId4" Type="http://schemas.openxmlformats.org/officeDocument/2006/relationships/hyperlink" Target="https://iot.unphone.n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iot.unphone.net/plain-index.html#details-of-our-cloud-server-for-ex0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hyperlink" Target="http://www.youtube.com/watch?v=Hkr60GE5yfY" TargetMode="External"/><Relationship Id="rId4"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hyperlink" Target="http://www.lucadentella.it/en/2016/12/22/esp32-4-flash-bootloader-e-freerto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www.youtube.com/watch?v=lQavz_U8nd4" TargetMode="External"/><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hyperlink" Target="https://iotappstory.com/" TargetMode="Externa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hyperlink" Target="http://www.youtube.com/watch?v=_4NRqIa-cvo" TargetMode="External"/><Relationship Id="rId4" Type="http://schemas.openxmlformats.org/officeDocument/2006/relationships/image" Target="../media/image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2.jpg"/><Relationship Id="rId4" Type="http://schemas.openxmlformats.org/officeDocument/2006/relationships/image" Target="../media/image18.jpg"/><Relationship Id="rId5"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5"/>
          <p:cNvSpPr txBox="1"/>
          <p:nvPr>
            <p:ph type="ctrTitle"/>
          </p:nvPr>
        </p:nvSpPr>
        <p:spPr>
          <a:xfrm>
            <a:off x="76325" y="1535725"/>
            <a:ext cx="88914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4800"/>
              <a:t>Country of the blind (and lame): networking (and updating) devices without user interfaces</a:t>
            </a:r>
            <a:endParaRPr sz="4800"/>
          </a:p>
          <a:p>
            <a:pPr indent="0" lvl="0" marL="0" rtl="0" algn="ctr">
              <a:spcBef>
                <a:spcPts val="0"/>
              </a:spcBef>
              <a:spcAft>
                <a:spcPts val="0"/>
              </a:spcAft>
              <a:buClr>
                <a:schemeClr val="dk1"/>
              </a:buClr>
              <a:buSzPts val="1100"/>
              <a:buFont typeface="Arial"/>
              <a:buNone/>
            </a:pPr>
            <a:r>
              <a:rPr lang="en-GB" sz="4800"/>
              <a:t>— SZ-VS-MS</a:t>
            </a:r>
            <a:endParaRPr sz="4800"/>
          </a:p>
        </p:txBody>
      </p:sp>
      <p:sp>
        <p:nvSpPr>
          <p:cNvPr id="110" name="Google Shape;110;p25"/>
          <p:cNvSpPr txBox="1"/>
          <p:nvPr>
            <p:ph idx="1" type="subTitle"/>
          </p:nvPr>
        </p:nvSpPr>
        <p:spPr>
          <a:xfrm>
            <a:off x="1627650" y="3062725"/>
            <a:ext cx="58887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GB"/>
              <a:t>COM3505, Lecture 4</a:t>
            </a:r>
            <a:endParaRPr/>
          </a:p>
          <a:p>
            <a:pPr indent="0" lvl="0" marL="0" rtl="0" algn="ctr">
              <a:spcBef>
                <a:spcPts val="0"/>
              </a:spcBef>
              <a:spcAft>
                <a:spcPts val="0"/>
              </a:spcAft>
              <a:buNone/>
            </a:pPr>
            <a:r>
              <a:rPr lang="en-GB"/>
              <a:t>Prof Hamish Cunningham</a:t>
            </a:r>
            <a:endParaRPr/>
          </a:p>
        </p:txBody>
      </p:sp>
      <p:sp>
        <p:nvSpPr>
          <p:cNvPr id="111" name="Google Shape;111;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ஜ۩ESPAÑOL۩ஜ▬▬▬▬▬▬▬▬▬●&#10;Angola Avante! (¡Adelante Angola! en portugués) es el himno nacional de Angola. Fue escrito por Manuel Rui Alves Monteiro y musicalizado por Rui Alberto Vieira Dias Mingas.&#10;Fue adoptado en 1975, tras la independencia de Angola de Portugal.&#10;&#10;●▬▬▬▬▬▬▬▬▬ஜ۩ENGLISH۩ஜ▬▬▬▬▬▬▬▬▬●&#10;Angola Avante! (Forward Angola!) is the national anthem of Angola. It was written by Manuel Rui Alves Monteiro (1941) and composed by Rui Alberto Vieira Dias Mingas (1939).&#10;&#10;It was adopted in 1975 upon independence from Portugal.&#10;&#10;●▬▬▬▬▬▬▬▬▬ஜ۩DEUTSCH۩ஜ▬▬▬▬▬▬▬▬▬●&#10;Angola Avante! (portugiesisch „Vorwärts Angola!&quot;) ist die Nationalhymne der Republik Angola.&#10;Die Nationalhymne wurde 1975 nach der Unabhängigkeit von Portugal angenommen. Vor der Unabhängigkeit wurde das Lied Angola é nossa (portugiesisch „Angola gehört uns!&quot;) von den europäischen Siedlern als inoffizielle Nationalhymne verwendet, nach Beginn der Unabhängigkeitsverhandlungen war es aber nicht mehr in Gebrauch." id="112" name="Google Shape;112;p25" title="National Anthem of Angola - &quot;Angola Avante!&quot;">
            <a:hlinkClick r:id="rId3"/>
          </p:cNvPr>
          <p:cNvPicPr preferRelativeResize="0"/>
          <p:nvPr/>
        </p:nvPicPr>
        <p:blipFill>
          <a:blip r:embed="rId4">
            <a:alphaModFix/>
          </a:blip>
          <a:stretch>
            <a:fillRect/>
          </a:stretch>
        </p:blipFill>
        <p:spPr>
          <a:xfrm>
            <a:off x="7224625" y="3330658"/>
            <a:ext cx="1056800"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8" name="Google Shape;118;p26"/>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~⅓ in: seasonally affected? low energy?</a:t>
            </a:r>
            <a:endParaRPr/>
          </a:p>
        </p:txBody>
      </p:sp>
      <p:sp>
        <p:nvSpPr>
          <p:cNvPr id="119" name="Google Shape;119;p26"/>
          <p:cNvSpPr txBox="1"/>
          <p:nvPr>
            <p:ph idx="1" type="body"/>
          </p:nvPr>
        </p:nvSpPr>
        <p:spPr>
          <a:xfrm>
            <a:off x="375500" y="629650"/>
            <a:ext cx="8564100" cy="39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1800" u="sng">
                <a:solidFill>
                  <a:schemeClr val="hlink"/>
                </a:solidFill>
                <a:hlinkClick r:id="rId3"/>
              </a:rPr>
              <a:t>The Economist</a:t>
            </a:r>
            <a:r>
              <a:rPr lang="en-GB" sz="1800" u="sng">
                <a:solidFill>
                  <a:schemeClr val="hlink"/>
                </a:solidFill>
                <a:hlinkClick r:id="rId4"/>
              </a:rPr>
              <a:t> on the IoT</a:t>
            </a:r>
            <a:r>
              <a:rPr lang="en-GB" sz="1800"/>
              <a:t>:</a:t>
            </a:r>
            <a:br>
              <a:rPr lang="en-GB" sz="1800"/>
            </a:br>
            <a:r>
              <a:rPr b="1" lang="en-GB" sz="1800"/>
              <a:t>Chips with Everything</a:t>
            </a:r>
            <a:r>
              <a:rPr lang="en-GB" sz="1800"/>
              <a:t>, Sept. 14th 2019 (behind £wall, see notes for quotes):</a:t>
            </a:r>
            <a:endParaRPr sz="1800"/>
          </a:p>
          <a:p>
            <a:pPr indent="0" lvl="0" marL="0" rtl="0" algn="l">
              <a:spcBef>
                <a:spcPts val="1000"/>
              </a:spcBef>
              <a:spcAft>
                <a:spcPts val="0"/>
              </a:spcAft>
              <a:buNone/>
            </a:pPr>
            <a:r>
              <a:rPr lang="en-GB" sz="1800"/>
              <a:t>‘</a:t>
            </a:r>
            <a:r>
              <a:rPr lang="en-GB" sz="1000"/>
              <a:t>One way to think of it is as the second phase of the internet... Attracted by the lure of new business, and fearful of missing out, firms are piling in... Microsoft, Dell, Intel and Huawei ... competing and co-operating with older industrial firms: Siemens, a German industrial giant, has been on an iot acquisition spree ... Consumer brands are scrambling, too: Whirlpool, the world’s biggest maker of home appliances ... </a:t>
            </a:r>
            <a:endParaRPr sz="1000"/>
          </a:p>
          <a:p>
            <a:pPr indent="0" lvl="0" marL="0" rtl="0" algn="l">
              <a:spcBef>
                <a:spcPts val="1000"/>
              </a:spcBef>
              <a:spcAft>
                <a:spcPts val="0"/>
              </a:spcAft>
              <a:buNone/>
            </a:pPr>
            <a:r>
              <a:rPr lang="en-GB" sz="1000"/>
              <a:t>... telecoms firms are keen to find new, higher-margin businesses rather than simply acting as “bit pipes”, so they have built smart-home offerings as well. Vodafone ... SK Telecom, AT&amp;T ... even British Gas ... </a:t>
            </a:r>
            <a:endParaRPr sz="1000"/>
          </a:p>
          <a:p>
            <a:pPr indent="0" lvl="0" marL="0" rtl="0" algn="l">
              <a:spcBef>
                <a:spcPts val="1000"/>
              </a:spcBef>
              <a:spcAft>
                <a:spcPts val="0"/>
              </a:spcAft>
              <a:buNone/>
            </a:pPr>
            <a:r>
              <a:rPr lang="en-GB" sz="1000"/>
              <a:t>... the assumption was that smart homes would be controlled from phones. But ... “Pulling out your phone, unlocking it, tapping an app, then using it to turn the lights on, is much more complicated and annoying than simply walking across the room and pushing a button”. Voice, he says, is by far the most convenient user-interface. Amazon’s Alexa and Google Home, the two firms’ smart-speaker products, already have greater market penetration than rival smart-home hubs.’</a:t>
            </a:r>
            <a:endParaRPr sz="1000"/>
          </a:p>
          <a:p>
            <a:pPr indent="0" lvl="0" marL="0" rtl="0" algn="ctr">
              <a:spcBef>
                <a:spcPts val="1000"/>
              </a:spcBef>
              <a:spcAft>
                <a:spcPts val="0"/>
              </a:spcAft>
              <a:buNone/>
            </a:pPr>
            <a:r>
              <a:rPr b="1" lang="en-GB" sz="1800"/>
              <a:t>massive expansion  +  novel UI requirements  /  questionable security  =  </a:t>
            </a:r>
            <a:r>
              <a:rPr b="1" i="1" lang="en-GB" sz="1800" u="sng"/>
              <a:t>opportunity</a:t>
            </a:r>
            <a:endParaRPr i="1" sz="1800"/>
          </a:p>
          <a:p>
            <a:pPr indent="0" lvl="0" marL="0" rtl="0" algn="l">
              <a:spcBef>
                <a:spcPts val="1000"/>
              </a:spcBef>
              <a:spcAft>
                <a:spcPts val="1000"/>
              </a:spcAft>
              <a:buNone/>
            </a:pPr>
            <a:br>
              <a:rPr lang="en-GB" sz="1800"/>
            </a:br>
            <a:r>
              <a:rPr lang="en-GB" sz="1800"/>
              <a:t>         How to…? (The story of </a:t>
            </a:r>
            <a:r>
              <a:rPr lang="en-GB" sz="1800"/>
              <a:t>Chico, the IRF and the </a:t>
            </a:r>
            <a:r>
              <a:rPr b="1" lang="en-GB" sz="1800"/>
              <a:t>Large Data Collider</a:t>
            </a:r>
            <a:r>
              <a:rPr lang="en-GB" sz="1800"/>
              <a:t>…)</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ph idx="1" type="body"/>
          </p:nvPr>
        </p:nvSpPr>
        <p:spPr>
          <a:xfrm>
            <a:off x="301925" y="643775"/>
            <a:ext cx="8800500" cy="42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800"/>
          </a:p>
          <a:p>
            <a:pPr indent="-342900" lvl="0" marL="457200" rtl="0" algn="l">
              <a:spcBef>
                <a:spcPts val="1000"/>
              </a:spcBef>
              <a:spcAft>
                <a:spcPts val="0"/>
              </a:spcAft>
              <a:buSzPts val="1800"/>
              <a:buChar char="●"/>
            </a:pPr>
            <a:r>
              <a:rPr lang="en-GB" sz="1800"/>
              <a:t>…</a:t>
            </a:r>
            <a:endParaRPr sz="1800"/>
          </a:p>
          <a:p>
            <a:pPr indent="-342900" lvl="0" marL="457200" rtl="0" algn="l">
              <a:spcBef>
                <a:spcPts val="0"/>
              </a:spcBef>
              <a:spcAft>
                <a:spcPts val="0"/>
              </a:spcAft>
              <a:buSzPts val="1800"/>
              <a:buChar char="●"/>
            </a:pPr>
            <a:r>
              <a:t/>
            </a:r>
            <a:endParaRPr sz="1800"/>
          </a:p>
          <a:p>
            <a:pPr indent="0" lvl="0" marL="0" rtl="0" algn="l">
              <a:spcBef>
                <a:spcPts val="1000"/>
              </a:spcBef>
              <a:spcAft>
                <a:spcPts val="1000"/>
              </a:spcAft>
              <a:buClr>
                <a:schemeClr val="dk1"/>
              </a:buClr>
              <a:buSzPts val="1100"/>
              <a:buFont typeface="Arial"/>
              <a:buNone/>
            </a:pPr>
            <a:r>
              <a:t/>
            </a:r>
            <a:endParaRPr sz="1800"/>
          </a:p>
        </p:txBody>
      </p:sp>
      <p:sp>
        <p:nvSpPr>
          <p:cNvPr id="125" name="Google Shape;125;p27"/>
          <p:cNvSpPr txBox="1"/>
          <p:nvPr>
            <p:ph type="title"/>
          </p:nvPr>
        </p:nvSpPr>
        <p:spPr>
          <a:xfrm>
            <a:off x="997500" y="-6890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Demo: privacy-preserving open source AI for IoT speech2speech (safe, ish) control tasks</a:t>
            </a:r>
            <a:endParaRPr/>
          </a:p>
        </p:txBody>
      </p:sp>
      <p:sp>
        <p:nvSpPr>
          <p:cNvPr id="126" name="Google Shape;126;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8"/>
          <p:cNvSpPr txBox="1"/>
          <p:nvPr>
            <p:ph idx="1" type="body"/>
          </p:nvPr>
        </p:nvSpPr>
        <p:spPr>
          <a:xfrm>
            <a:off x="160800" y="247050"/>
            <a:ext cx="8784300" cy="38466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SzPts val="1500"/>
              <a:buChar char="●"/>
            </a:pPr>
            <a:r>
              <a:rPr lang="en-GB" sz="1500"/>
              <a:t>The Transformer models that have been trained on the biggest datasets are proving to be a step-change in conversational AI.</a:t>
            </a:r>
            <a:br>
              <a:rPr lang="en-GB" sz="1500"/>
            </a:br>
            <a:r>
              <a:rPr lang="en-GB" sz="1500"/>
              <a:t>ChatGPT is the best known at present, and is extremely effective at appearing to be a lucid dialogue partner or (via GitHub co-pilot) a knowledgeable pair programming companion. This is an application of some of the largest computations over the largest data sets that have ever been achieved. Many things are set to change as a result.</a:t>
            </a:r>
            <a:endParaRPr sz="1500"/>
          </a:p>
          <a:p>
            <a:pPr indent="-323850" lvl="0" marL="457200" rtl="0" algn="l">
              <a:spcBef>
                <a:spcPts val="0"/>
              </a:spcBef>
              <a:spcAft>
                <a:spcPts val="0"/>
              </a:spcAft>
              <a:buSzPts val="1500"/>
              <a:buChar char="●"/>
            </a:pPr>
            <a:r>
              <a:rPr lang="en-GB" sz="1500"/>
              <a:t>The</a:t>
            </a:r>
            <a:r>
              <a:rPr lang="en-GB" sz="1500">
                <a:uFill>
                  <a:noFill/>
                </a:uFill>
                <a:hlinkClick r:id="rId3"/>
              </a:rPr>
              <a:t> </a:t>
            </a:r>
            <a:r>
              <a:rPr lang="en-GB" sz="1500" u="sng">
                <a:solidFill>
                  <a:schemeClr val="hlink"/>
                </a:solidFill>
                <a:hlinkClick r:id="rId4"/>
              </a:rPr>
              <a:t>Internet of Things (IoT)</a:t>
            </a:r>
            <a:r>
              <a:rPr lang="en-GB" sz="1500"/>
              <a:t>, on the other hand, is about the application of our smallest units of computation in networked microcontrollers. Special purpose devices combine sensors and actuators, expose control surfaces of various types, and communicate with local hubs and/or cloud analytics and control. A common application area of IoT tech is in domestic automation or </a:t>
            </a:r>
            <a:r>
              <a:rPr i="1" lang="en-GB" sz="1500"/>
              <a:t>smart homes</a:t>
            </a:r>
            <a:r>
              <a:rPr lang="en-GB" sz="1500"/>
              <a:t>, but the privacy implications and the brittle failure profiles of the devices inhibit takeup.</a:t>
            </a:r>
            <a:endParaRPr sz="1500"/>
          </a:p>
          <a:p>
            <a:pPr indent="-323850" lvl="0" marL="457200" rtl="0" algn="l">
              <a:spcBef>
                <a:spcPts val="0"/>
              </a:spcBef>
              <a:spcAft>
                <a:spcPts val="0"/>
              </a:spcAft>
              <a:buSzPts val="1500"/>
              <a:buChar char="●"/>
            </a:pPr>
            <a:r>
              <a:rPr lang="en-GB" sz="1500"/>
              <a:t>This project is about privacy-preserving conversational LLMs in a smart home context. Privacy is facilitated using versions of the technology that don't require cloud processing and can run without an external network connection. Conversational inference can make control tasks less brittle and more human. Open source applications of (semi-open) LLMs can go some way to giving back what has been taken to build the models?</a:t>
            </a:r>
            <a:endParaRPr b="1" sz="2200"/>
          </a:p>
        </p:txBody>
      </p:sp>
      <p:sp>
        <p:nvSpPr>
          <p:cNvPr id="132" name="Google Shape;132;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3" name="Google Shape;133;p28"/>
          <p:cNvSpPr txBox="1"/>
          <p:nvPr>
            <p:ph type="title"/>
          </p:nvPr>
        </p:nvSpPr>
        <p:spPr>
          <a:xfrm>
            <a:off x="1607100" y="22375"/>
            <a:ext cx="7126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100"/>
              <a:t>AI + IoT for smart homes….</a:t>
            </a:r>
            <a:endParaRPr sz="2100"/>
          </a:p>
          <a:p>
            <a:pPr indent="0" lvl="0" marL="0" rtl="0" algn="l">
              <a:spcBef>
                <a:spcPts val="0"/>
              </a:spcBef>
              <a:spcAft>
                <a:spcPts val="0"/>
              </a:spcAft>
              <a:buClr>
                <a:schemeClr val="dk1"/>
              </a:buClr>
              <a:buSzPts val="1100"/>
              <a:buFont typeface="Arial"/>
              <a:buNone/>
            </a:pPr>
            <a:r>
              <a:t/>
            </a:r>
            <a:endParaRPr sz="2100"/>
          </a:p>
          <a:p>
            <a:pPr indent="0" lvl="0" marL="0" rtl="0" algn="l">
              <a:spcBef>
                <a:spcPts val="0"/>
              </a:spcBef>
              <a:spcAft>
                <a:spcPts val="0"/>
              </a:spcAft>
              <a:buClr>
                <a:schemeClr val="dk1"/>
              </a:buClr>
              <a:buSzPts val="1100"/>
              <a:buFont typeface="Arial"/>
              <a:buNone/>
            </a:pPr>
            <a:r>
              <a:t/>
            </a:r>
            <a:endParaRPr sz="2100"/>
          </a:p>
          <a:p>
            <a:pPr indent="0" lvl="0" marL="0" rtl="0" algn="l">
              <a:spcBef>
                <a:spcPts val="0"/>
              </a:spcBef>
              <a:spcAft>
                <a:spcPts val="0"/>
              </a:spcAft>
              <a:buClr>
                <a:schemeClr val="dk1"/>
              </a:buClr>
              <a:buSzPts val="1100"/>
              <a:buFont typeface="Arial"/>
              <a:buNone/>
            </a:pPr>
            <a:r>
              <a:t/>
            </a:r>
            <a:endParaRPr sz="2100"/>
          </a:p>
          <a:p>
            <a:pPr indent="0" lvl="0" marL="0" rtl="0" algn="l">
              <a:spcBef>
                <a:spcPts val="0"/>
              </a:spcBef>
              <a:spcAft>
                <a:spcPts val="0"/>
              </a:spcAft>
              <a:buNone/>
            </a:pPr>
            <a:r>
              <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9"/>
          <p:cNvPicPr preferRelativeResize="0"/>
          <p:nvPr/>
        </p:nvPicPr>
        <p:blipFill>
          <a:blip r:embed="rId3">
            <a:alphaModFix/>
          </a:blip>
          <a:stretch>
            <a:fillRect/>
          </a:stretch>
        </p:blipFill>
        <p:spPr>
          <a:xfrm>
            <a:off x="0" y="0"/>
            <a:ext cx="3411550" cy="5064962"/>
          </a:xfrm>
          <a:prstGeom prst="rect">
            <a:avLst/>
          </a:prstGeom>
          <a:noFill/>
          <a:ln>
            <a:noFill/>
          </a:ln>
        </p:spPr>
      </p:pic>
      <p:pic>
        <p:nvPicPr>
          <p:cNvPr id="139" name="Google Shape;139;p29"/>
          <p:cNvPicPr preferRelativeResize="0"/>
          <p:nvPr/>
        </p:nvPicPr>
        <p:blipFill>
          <a:blip r:embed="rId4">
            <a:alphaModFix/>
          </a:blip>
          <a:stretch>
            <a:fillRect/>
          </a:stretch>
        </p:blipFill>
        <p:spPr>
          <a:xfrm>
            <a:off x="3716350" y="0"/>
            <a:ext cx="5334707"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0"/>
          <p:cNvSpPr txBox="1"/>
          <p:nvPr>
            <p:ph idx="1" type="body"/>
          </p:nvPr>
        </p:nvSpPr>
        <p:spPr>
          <a:xfrm>
            <a:off x="-53175" y="-25025"/>
            <a:ext cx="5805000" cy="38466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Char char="●"/>
            </a:pPr>
            <a:r>
              <a:rPr lang="en-GB"/>
              <a:t>JSON model of a smart home:</a:t>
            </a:r>
            <a:endParaRPr/>
          </a:p>
          <a:p>
            <a:pPr indent="0" lvl="0" marL="0" rtl="0" algn="l">
              <a:spcBef>
                <a:spcPts val="1200"/>
              </a:spcBef>
              <a:spcAft>
                <a:spcPts val="1000"/>
              </a:spcAft>
              <a:buNone/>
            </a:pPr>
            <a:r>
              <a:t/>
            </a:r>
            <a:endParaRPr b="1" sz="2100"/>
          </a:p>
        </p:txBody>
      </p:sp>
      <p:sp>
        <p:nvSpPr>
          <p:cNvPr id="145" name="Google Shape;145;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6" name="Google Shape;146;p30"/>
          <p:cNvSpPr txBox="1"/>
          <p:nvPr/>
        </p:nvSpPr>
        <p:spPr>
          <a:xfrm>
            <a:off x="828950" y="108825"/>
            <a:ext cx="75354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2200">
                <a:solidFill>
                  <a:schemeClr val="dk1"/>
                </a:solidFill>
              </a:rPr>
              <a:t>Dealing with LLM hallucination</a:t>
            </a:r>
            <a:br>
              <a:rPr lang="en-GB" sz="2200">
                <a:solidFill>
                  <a:schemeClr val="dk1"/>
                </a:solidFill>
              </a:rPr>
            </a:br>
            <a:r>
              <a:rPr lang="en-GB" sz="2200">
                <a:solidFill>
                  <a:schemeClr val="dk1"/>
                </a:solidFill>
              </a:rPr>
              <a:t>and reasoning faults</a:t>
            </a:r>
            <a:endParaRPr sz="1200">
              <a:solidFill>
                <a:schemeClr val="dk2"/>
              </a:solidFill>
            </a:endParaRPr>
          </a:p>
        </p:txBody>
      </p:sp>
      <p:sp>
        <p:nvSpPr>
          <p:cNvPr id="147" name="Google Shape;147;p30"/>
          <p:cNvSpPr txBox="1"/>
          <p:nvPr/>
        </p:nvSpPr>
        <p:spPr>
          <a:xfrm>
            <a:off x="5217625" y="66250"/>
            <a:ext cx="5373000" cy="51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t>
            </a:r>
            <a:endParaRPr/>
          </a:p>
          <a:p>
            <a:pPr indent="0" lvl="0" marL="0" rtl="0" algn="l">
              <a:spcBef>
                <a:spcPts val="0"/>
              </a:spcBef>
              <a:spcAft>
                <a:spcPts val="0"/>
              </a:spcAft>
              <a:buNone/>
            </a:pPr>
            <a:r>
              <a:rPr lang="en-GB"/>
              <a:t>    "bathroom_light":           "off",</a:t>
            </a:r>
            <a:endParaRPr/>
          </a:p>
          <a:p>
            <a:pPr indent="0" lvl="0" marL="0" rtl="0" algn="l">
              <a:spcBef>
                <a:spcPts val="0"/>
              </a:spcBef>
              <a:spcAft>
                <a:spcPts val="0"/>
              </a:spcAft>
              <a:buNone/>
            </a:pPr>
            <a:r>
              <a:rPr lang="en-GB"/>
              <a:t>    "bedroom_humidifier":       "off",</a:t>
            </a:r>
            <a:endParaRPr/>
          </a:p>
          <a:p>
            <a:pPr indent="0" lvl="0" marL="0" rtl="0" algn="l">
              <a:spcBef>
                <a:spcPts val="0"/>
              </a:spcBef>
              <a:spcAft>
                <a:spcPts val="0"/>
              </a:spcAft>
              <a:buNone/>
            </a:pPr>
            <a:r>
              <a:rPr lang="en-GB"/>
              <a:t>    "bedroom_overhead_light":   "off",</a:t>
            </a:r>
            <a:endParaRPr/>
          </a:p>
          <a:p>
            <a:pPr indent="0" lvl="0" marL="0" rtl="0" algn="l">
              <a:spcBef>
                <a:spcPts val="0"/>
              </a:spcBef>
              <a:spcAft>
                <a:spcPts val="0"/>
              </a:spcAft>
              <a:buNone/>
            </a:pPr>
            <a:r>
              <a:rPr lang="en-GB"/>
              <a:t>    "dining_room_light":        "off",</a:t>
            </a:r>
            <a:endParaRPr/>
          </a:p>
          <a:p>
            <a:pPr indent="0" lvl="0" marL="0" rtl="0" algn="l">
              <a:spcBef>
                <a:spcPts val="0"/>
              </a:spcBef>
              <a:spcAft>
                <a:spcPts val="0"/>
              </a:spcAft>
              <a:buNone/>
            </a:pPr>
            <a:r>
              <a:rPr lang="en-GB"/>
              <a:t>    "doorbell_camera":          "off",</a:t>
            </a:r>
            <a:endParaRPr/>
          </a:p>
          <a:p>
            <a:pPr indent="0" lvl="0" marL="0" rtl="0" algn="l">
              <a:spcBef>
                <a:spcPts val="0"/>
              </a:spcBef>
              <a:spcAft>
                <a:spcPts val="0"/>
              </a:spcAft>
              <a:buNone/>
            </a:pPr>
            <a:r>
              <a:rPr lang="en-GB"/>
              <a:t>    "entrance_light":           "off",</a:t>
            </a:r>
            <a:endParaRPr/>
          </a:p>
          <a:p>
            <a:pPr indent="0" lvl="0" marL="0" rtl="0" algn="l">
              <a:spcBef>
                <a:spcPts val="0"/>
              </a:spcBef>
              <a:spcAft>
                <a:spcPts val="0"/>
              </a:spcAft>
              <a:buNone/>
            </a:pPr>
            <a:r>
              <a:rPr lang="en-GB"/>
              <a:t>    "front_door":               "locked",</a:t>
            </a:r>
            <a:endParaRPr/>
          </a:p>
          <a:p>
            <a:pPr indent="0" lvl="0" marL="0" rtl="0" algn="l">
              <a:spcBef>
                <a:spcPts val="0"/>
              </a:spcBef>
              <a:spcAft>
                <a:spcPts val="0"/>
              </a:spcAft>
              <a:buNone/>
            </a:pPr>
            <a:r>
              <a:rPr lang="en-GB"/>
              <a:t>    "hall_light":               "off",</a:t>
            </a:r>
            <a:endParaRPr/>
          </a:p>
          <a:p>
            <a:pPr indent="0" lvl="0" marL="0" rtl="0" algn="l">
              <a:spcBef>
                <a:spcPts val="0"/>
              </a:spcBef>
              <a:spcAft>
                <a:spcPts val="0"/>
              </a:spcAft>
              <a:buNone/>
            </a:pPr>
            <a:r>
              <a:rPr lang="en-GB"/>
              <a:t>    "heating_target_temperature": "15",</a:t>
            </a:r>
            <a:endParaRPr/>
          </a:p>
          <a:p>
            <a:pPr indent="0" lvl="0" marL="0" rtl="0" algn="l">
              <a:spcBef>
                <a:spcPts val="0"/>
              </a:spcBef>
              <a:spcAft>
                <a:spcPts val="0"/>
              </a:spcAft>
              <a:buNone/>
            </a:pPr>
            <a:r>
              <a:rPr lang="en-GB"/>
              <a:t>    "kitchen_coffee_maker":     "off",</a:t>
            </a:r>
            <a:endParaRPr/>
          </a:p>
          <a:p>
            <a:pPr indent="0" lvl="0" marL="0" rtl="0" algn="l">
              <a:spcBef>
                <a:spcPts val="0"/>
              </a:spcBef>
              <a:spcAft>
                <a:spcPts val="0"/>
              </a:spcAft>
              <a:buNone/>
            </a:pPr>
            <a:r>
              <a:rPr lang="en-GB"/>
              <a:t>    "kitchen_overhead_light":   "off",</a:t>
            </a:r>
            <a:endParaRPr/>
          </a:p>
          <a:p>
            <a:pPr indent="0" lvl="0" marL="0" rtl="0" algn="l">
              <a:spcBef>
                <a:spcPts val="0"/>
              </a:spcBef>
              <a:spcAft>
                <a:spcPts val="0"/>
              </a:spcAft>
              <a:buNone/>
            </a:pPr>
            <a:r>
              <a:rPr lang="en-GB"/>
              <a:t>    "living_room_lamp":         "off",</a:t>
            </a:r>
            <a:endParaRPr/>
          </a:p>
          <a:p>
            <a:pPr indent="0" lvl="0" marL="0" rtl="0" algn="l">
              <a:spcBef>
                <a:spcPts val="0"/>
              </a:spcBef>
              <a:spcAft>
                <a:spcPts val="0"/>
              </a:spcAft>
              <a:buNone/>
            </a:pPr>
            <a:r>
              <a:rPr lang="en-GB"/>
              <a:t>    "living_room_overhead_light": "off",</a:t>
            </a:r>
            <a:endParaRPr/>
          </a:p>
          <a:p>
            <a:pPr indent="0" lvl="0" marL="0" rtl="0" algn="l">
              <a:spcBef>
                <a:spcPts val="0"/>
              </a:spcBef>
              <a:spcAft>
                <a:spcPts val="0"/>
              </a:spcAft>
              <a:buNone/>
            </a:pPr>
            <a:r>
              <a:rPr lang="en-GB"/>
              <a:t>    "living_room_speaker": {</a:t>
            </a:r>
            <a:endParaRPr/>
          </a:p>
          <a:p>
            <a:pPr indent="0" lvl="0" marL="0" rtl="0" algn="l">
              <a:spcBef>
                <a:spcPts val="0"/>
              </a:spcBef>
              <a:spcAft>
                <a:spcPts val="0"/>
              </a:spcAft>
              <a:buNone/>
            </a:pPr>
            <a:r>
              <a:rPr lang="en-GB"/>
              <a:t>        "state": "off", "volume": "5"</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"living_room_tv": {</a:t>
            </a:r>
            <a:endParaRPr/>
          </a:p>
          <a:p>
            <a:pPr indent="0" lvl="0" marL="0" rtl="0" algn="l">
              <a:spcBef>
                <a:spcPts val="0"/>
              </a:spcBef>
              <a:spcAft>
                <a:spcPts val="0"/>
              </a:spcAft>
              <a:buNone/>
            </a:pPr>
            <a:r>
              <a:rPr lang="en-GB"/>
              <a:t>        "state": "off", "volume": "5"</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"living_room_window_blinds": "up",</a:t>
            </a:r>
            <a:endParaRPr/>
          </a:p>
          <a:p>
            <a:pPr indent="0" lvl="0" marL="0" rtl="0" algn="l">
              <a:spcBef>
                <a:spcPts val="0"/>
              </a:spcBef>
              <a:spcAft>
                <a:spcPts val="0"/>
              </a:spcAft>
              <a:buNone/>
            </a:pPr>
            <a:r>
              <a:rPr lang="en-GB"/>
              <a:t>    "robot_vacuum_cleaner":     "off"</a:t>
            </a:r>
            <a:endParaRPr/>
          </a:p>
          <a:p>
            <a:pPr indent="0" lvl="0" marL="0" rtl="0" algn="l">
              <a:spcBef>
                <a:spcPts val="0"/>
              </a:spcBef>
              <a:spcAft>
                <a:spcPts val="0"/>
              </a:spcAft>
              <a:buNone/>
            </a:pPr>
            <a:r>
              <a:rPr lang="en-GB"/>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1"/>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4</a:t>
            </a:r>
            <a:endParaRPr/>
          </a:p>
        </p:txBody>
      </p:sp>
      <p:sp>
        <p:nvSpPr>
          <p:cNvPr id="153" name="Google Shape;153;p31"/>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b="1" lang="en-GB" sz="1800"/>
              <a:t>week 3 code review</a:t>
            </a:r>
            <a:endParaRPr b="1" sz="1800"/>
          </a:p>
          <a:p>
            <a:pPr indent="-342900" lvl="0" marL="457200" rtl="0" algn="l">
              <a:spcBef>
                <a:spcPts val="1000"/>
              </a:spcBef>
              <a:spcAft>
                <a:spcPts val="0"/>
              </a:spcAft>
              <a:buSzPts val="1800"/>
              <a:buAutoNum type="arabicPeriod"/>
            </a:pPr>
            <a:r>
              <a:rPr lang="en-GB" sz="1800"/>
              <a:t>provisioning (“in the country of the blind…”) devices without UIs</a:t>
            </a:r>
            <a:endParaRPr sz="1800"/>
          </a:p>
          <a:p>
            <a:pPr indent="-342900" lvl="0" marL="457200" rtl="0" algn="l">
              <a:spcBef>
                <a:spcPts val="1000"/>
              </a:spcBef>
              <a:spcAft>
                <a:spcPts val="0"/>
              </a:spcAft>
              <a:buSzPts val="1800"/>
              <a:buAutoNum type="arabicPeriod"/>
            </a:pPr>
            <a:r>
              <a:rPr lang="en-GB" sz="1800"/>
              <a:t>updating IoT devices over-the-air</a:t>
            </a:r>
            <a:endParaRPr sz="1800"/>
          </a:p>
          <a:p>
            <a:pPr indent="0" lvl="0" marL="0" rtl="0" algn="l">
              <a:spcBef>
                <a:spcPts val="1000"/>
              </a:spcBef>
              <a:spcAft>
                <a:spcPts val="0"/>
              </a:spcAft>
              <a:buNone/>
            </a:pPr>
            <a:r>
              <a:t/>
            </a:r>
            <a:endParaRPr sz="1800"/>
          </a:p>
        </p:txBody>
      </p:sp>
      <p:sp>
        <p:nvSpPr>
          <p:cNvPr id="154" name="Google Shape;154;p31"/>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2"/>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[Week 3 review: </a:t>
            </a:r>
            <a:r>
              <a:rPr lang="en-GB"/>
              <a:t>Exercises 3—6 ]</a:t>
            </a:r>
            <a:endParaRPr/>
          </a:p>
        </p:txBody>
      </p:sp>
      <p:sp>
        <p:nvSpPr>
          <p:cNvPr id="160" name="Google Shape;160;p32"/>
          <p:cNvSpPr txBox="1"/>
          <p:nvPr>
            <p:ph idx="1" type="body"/>
          </p:nvPr>
        </p:nvSpPr>
        <p:spPr>
          <a:xfrm>
            <a:off x="581200" y="563875"/>
            <a:ext cx="85923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AutoNum type="arabicPeriod"/>
            </a:pPr>
            <a:r>
              <a:rPr lang="en-GB" sz="1800"/>
              <a:t>Using the switch/LED breadboard, code and test the following:</a:t>
            </a:r>
            <a:br>
              <a:rPr lang="en-GB" sz="1800"/>
            </a:br>
            <a:r>
              <a:rPr b="1" lang="en-GB" sz="1800"/>
              <a:t>Ex03</a:t>
            </a:r>
            <a:r>
              <a:rPr lang="en-GB" sz="1800"/>
              <a:t>:</a:t>
            </a:r>
            <a:endParaRPr sz="1800"/>
          </a:p>
          <a:p>
            <a:pPr indent="-342900" lvl="1" marL="914400" marR="0" rtl="0" algn="l">
              <a:lnSpc>
                <a:spcPct val="115000"/>
              </a:lnSpc>
              <a:spcBef>
                <a:spcPts val="0"/>
              </a:spcBef>
              <a:spcAft>
                <a:spcPts val="0"/>
              </a:spcAft>
              <a:buSzPts val="1800"/>
              <a:buAutoNum type="alphaLcPeriod"/>
            </a:pPr>
            <a:r>
              <a:rPr lang="en-GB" sz="1800"/>
              <a:t>add more two more LEDs to your board</a:t>
            </a:r>
            <a:endParaRPr sz="1800"/>
          </a:p>
          <a:p>
            <a:pPr indent="-342900" lvl="1" marL="914400" marR="0" rtl="0" algn="l">
              <a:lnSpc>
                <a:spcPct val="115000"/>
              </a:lnSpc>
              <a:spcBef>
                <a:spcPts val="0"/>
              </a:spcBef>
              <a:spcAft>
                <a:spcPts val="0"/>
              </a:spcAft>
              <a:buSzPts val="1800"/>
              <a:buAutoNum type="alphaLcPeriod"/>
            </a:pPr>
            <a:r>
              <a:rPr lang="en-GB" sz="1800"/>
              <a:t>run as traffic lights, triggered by the switch</a:t>
            </a:r>
            <a:endParaRPr sz="1800"/>
          </a:p>
          <a:p>
            <a:pPr indent="-342900" lvl="0" marL="457200" marR="0" rtl="0" algn="l">
              <a:lnSpc>
                <a:spcPct val="115000"/>
              </a:lnSpc>
              <a:spcBef>
                <a:spcPts val="0"/>
              </a:spcBef>
              <a:spcAft>
                <a:spcPts val="0"/>
              </a:spcAft>
              <a:buSzPts val="1800"/>
              <a:buAutoNum type="arabicPeriod"/>
            </a:pPr>
            <a:r>
              <a:rPr lang="en-GB" sz="1800"/>
              <a:t>Coding infrastructure idioms:</a:t>
            </a:r>
            <a:endParaRPr sz="1800"/>
          </a:p>
          <a:p>
            <a:pPr indent="-342900" lvl="1" marL="914400" marR="0" rtl="0" algn="l">
              <a:lnSpc>
                <a:spcPct val="115000"/>
              </a:lnSpc>
              <a:spcBef>
                <a:spcPts val="0"/>
              </a:spcBef>
              <a:spcAft>
                <a:spcPts val="0"/>
              </a:spcAft>
              <a:buSzPts val="1800"/>
              <a:buAutoNum type="alphaLcPeriod"/>
            </a:pPr>
            <a:r>
              <a:rPr b="1" lang="en-GB" sz="1800"/>
              <a:t>Ex04</a:t>
            </a:r>
            <a:r>
              <a:rPr lang="en-GB" sz="1800"/>
              <a:t>: debugging infrastructure: experiment with macros to allow adding flexible debug code</a:t>
            </a:r>
            <a:endParaRPr sz="1800"/>
          </a:p>
          <a:p>
            <a:pPr indent="-342900" lvl="1" marL="914400" rtl="0" algn="l">
              <a:spcBef>
                <a:spcPts val="0"/>
              </a:spcBef>
              <a:spcAft>
                <a:spcPts val="0"/>
              </a:spcAft>
              <a:buSzPts val="1800"/>
              <a:buAutoNum type="alphaLcPeriod"/>
            </a:pPr>
            <a:r>
              <a:rPr lang="en-GB" sz="1800"/>
              <a:t>Exercise 5 (</a:t>
            </a:r>
            <a:r>
              <a:rPr b="1" lang="en-GB" sz="1800"/>
              <a:t>Ex05</a:t>
            </a:r>
            <a:r>
              <a:rPr lang="en-GB" sz="1800"/>
              <a:t>) is about, ahem, multiprocessing… (loop slicing)</a:t>
            </a:r>
            <a:endParaRPr sz="1800"/>
          </a:p>
          <a:p>
            <a:pPr indent="-342900" lvl="0" marL="457200" rtl="0" algn="l">
              <a:spcBef>
                <a:spcPts val="0"/>
              </a:spcBef>
              <a:spcAft>
                <a:spcPts val="0"/>
              </a:spcAft>
              <a:buSzPts val="1800"/>
              <a:buAutoNum type="arabicPeriod"/>
            </a:pPr>
            <a:r>
              <a:rPr lang="en-GB" sz="1800"/>
              <a:t>The WiFi stack: </a:t>
            </a:r>
            <a:r>
              <a:rPr b="1" lang="en-GB" sz="1800"/>
              <a:t>Ex06</a:t>
            </a:r>
            <a:r>
              <a:rPr lang="en-GB" sz="1800"/>
              <a:t>: becoming a wifi access point and web server using WiFi.h and ESPWebServer.h</a:t>
            </a:r>
            <a:endParaRPr sz="1800"/>
          </a:p>
          <a:p>
            <a:pPr indent="-342900" lvl="0" marL="457200" rtl="0" algn="l">
              <a:spcBef>
                <a:spcPts val="0"/>
              </a:spcBef>
              <a:spcAft>
                <a:spcPts val="0"/>
              </a:spcAft>
              <a:buSzPts val="1800"/>
              <a:buAutoNum type="arabicPeriod"/>
            </a:pPr>
            <a:r>
              <a:rPr lang="en-GB" sz="1800"/>
              <a:t>9 LEDs breadboard</a:t>
            </a:r>
            <a:endParaRPr sz="1800"/>
          </a:p>
        </p:txBody>
      </p:sp>
      <p:sp>
        <p:nvSpPr>
          <p:cNvPr id="161" name="Google Shape;161;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a:t>
            </a:r>
            <a:r>
              <a:rPr lang="en-GB" sz="2400"/>
              <a:t>ESP32 Firmware, the Story so Far (1: basic IO)]</a:t>
            </a:r>
            <a:endParaRPr sz="2400"/>
          </a:p>
        </p:txBody>
      </p:sp>
      <p:sp>
        <p:nvSpPr>
          <p:cNvPr id="167" name="Google Shape;167;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8" name="Google Shape;168;p33"/>
          <p:cNvSpPr txBox="1"/>
          <p:nvPr>
            <p:ph idx="1" type="body"/>
          </p:nvPr>
        </p:nvSpPr>
        <p:spPr>
          <a:xfrm>
            <a:off x="4874350" y="477250"/>
            <a:ext cx="44622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100">
                <a:solidFill>
                  <a:srgbClr val="800000"/>
                </a:solidFill>
                <a:highlight>
                  <a:srgbClr val="FFFFFF"/>
                </a:highlight>
              </a:rPr>
              <a:t>void</a:t>
            </a:r>
            <a:r>
              <a:rPr lang="en-GB" sz="1100">
                <a:highlight>
                  <a:srgbClr val="FFFFFF"/>
                </a:highlight>
              </a:rPr>
              <a:t> changeLights</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ON_RED</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696969"/>
                </a:solidFill>
                <a:highlight>
                  <a:srgbClr val="FFFFFF"/>
                </a:highlight>
              </a:rPr>
              <a:t>// red and yellow on for 2 seconds (red is already on though)</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yellow</a:t>
            </a:r>
            <a:r>
              <a:rPr lang="en-GB" sz="1100">
                <a:solidFill>
                  <a:srgbClr val="808030"/>
                </a:solidFill>
                <a:highlight>
                  <a:srgbClr val="FFFFFF"/>
                </a:highlight>
              </a:rPr>
              <a:t>,</a:t>
            </a:r>
            <a:r>
              <a:rPr lang="en-GB" sz="1100">
                <a:highlight>
                  <a:srgbClr val="FFFFFF"/>
                </a:highlight>
              </a:rPr>
              <a:t> HIGH</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delay</a:t>
            </a:r>
            <a:r>
              <a:rPr lang="en-GB" sz="1100">
                <a:solidFill>
                  <a:srgbClr val="808030"/>
                </a:solidFill>
                <a:highlight>
                  <a:srgbClr val="FFFFFF"/>
                </a:highlight>
              </a:rPr>
              <a:t>(</a:t>
            </a:r>
            <a:r>
              <a:rPr lang="en-GB" sz="1100">
                <a:solidFill>
                  <a:srgbClr val="008C00"/>
                </a:solidFill>
                <a:highlight>
                  <a:srgbClr val="FFFFFF"/>
                </a:highlight>
              </a:rPr>
              <a:t>2000</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br>
              <a:rPr lang="en-GB" sz="1100">
                <a:highlight>
                  <a:srgbClr val="FFFFFF"/>
                </a:highlight>
              </a:rPr>
            </a:br>
            <a:r>
              <a:rPr lang="en-GB" sz="1100">
                <a:highlight>
                  <a:srgbClr val="FFFFFF"/>
                </a:highlight>
              </a:rPr>
              <a:t>    </a:t>
            </a:r>
            <a:r>
              <a:rPr lang="en-GB" sz="1100">
                <a:solidFill>
                  <a:srgbClr val="696969"/>
                </a:solidFill>
                <a:highlight>
                  <a:srgbClr val="FFFFFF"/>
                </a:highlight>
              </a:rPr>
              <a:t>// turn off red and yellow, then turn on green</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yellow</a:t>
            </a:r>
            <a:r>
              <a:rPr lang="en-GB" sz="1100">
                <a:solidFill>
                  <a:srgbClr val="808030"/>
                </a:solidFill>
                <a:highlight>
                  <a:srgbClr val="FFFFFF"/>
                </a:highlight>
              </a:rPr>
              <a:t>,</a:t>
            </a:r>
            <a:r>
              <a:rPr lang="en-GB" sz="1100">
                <a:highlight>
                  <a:srgbClr val="FFFFFF"/>
                </a:highlight>
              </a:rPr>
              <a:t> LOW</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red</a:t>
            </a:r>
            <a:r>
              <a:rPr lang="en-GB" sz="1100">
                <a:solidFill>
                  <a:srgbClr val="808030"/>
                </a:solidFill>
                <a:highlight>
                  <a:srgbClr val="FFFFFF"/>
                </a:highlight>
              </a:rPr>
              <a:t>,</a:t>
            </a:r>
            <a:r>
              <a:rPr lang="en-GB" sz="1100">
                <a:highlight>
                  <a:srgbClr val="FFFFFF"/>
                </a:highlight>
              </a:rPr>
              <a:t> LOW</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green</a:t>
            </a:r>
            <a:r>
              <a:rPr lang="en-GB" sz="1100">
                <a:solidFill>
                  <a:srgbClr val="808030"/>
                </a:solidFill>
                <a:highlight>
                  <a:srgbClr val="FFFFFF"/>
                </a:highlight>
              </a:rPr>
              <a:t>,</a:t>
            </a:r>
            <a:r>
              <a:rPr lang="en-GB" sz="1100">
                <a:highlight>
                  <a:srgbClr val="FFFFFF"/>
                </a:highlight>
              </a:rPr>
              <a:t> HIGH</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b="1" lang="en-GB" sz="1100">
                <a:solidFill>
                  <a:srgbClr val="800000"/>
                </a:solidFill>
                <a:highlight>
                  <a:srgbClr val="FFFFFF"/>
                </a:highlight>
              </a:rPr>
              <a:t>else</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696969"/>
                </a:solidFill>
                <a:highlight>
                  <a:srgbClr val="FFFFFF"/>
                </a:highlight>
              </a:rPr>
              <a:t>// green off, yellow on for 3 seconds</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green</a:t>
            </a:r>
            <a:r>
              <a:rPr lang="en-GB" sz="1100">
                <a:solidFill>
                  <a:srgbClr val="808030"/>
                </a:solidFill>
                <a:highlight>
                  <a:srgbClr val="FFFFFF"/>
                </a:highlight>
              </a:rPr>
              <a:t>,</a:t>
            </a:r>
            <a:r>
              <a:rPr lang="en-GB" sz="1100">
                <a:highlight>
                  <a:srgbClr val="FFFFFF"/>
                </a:highlight>
              </a:rPr>
              <a:t> LOW</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yellow</a:t>
            </a:r>
            <a:r>
              <a:rPr lang="en-GB" sz="1100">
                <a:solidFill>
                  <a:srgbClr val="808030"/>
                </a:solidFill>
                <a:highlight>
                  <a:srgbClr val="FFFFFF"/>
                </a:highlight>
              </a:rPr>
              <a:t>,</a:t>
            </a:r>
            <a:r>
              <a:rPr lang="en-GB" sz="1100">
                <a:highlight>
                  <a:srgbClr val="FFFFFF"/>
                </a:highlight>
              </a:rPr>
              <a:t> HIGH</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delay</a:t>
            </a:r>
            <a:r>
              <a:rPr lang="en-GB" sz="1100">
                <a:solidFill>
                  <a:srgbClr val="808030"/>
                </a:solidFill>
                <a:highlight>
                  <a:srgbClr val="FFFFFF"/>
                </a:highlight>
              </a:rPr>
              <a:t>(</a:t>
            </a:r>
            <a:r>
              <a:rPr lang="en-GB" sz="1100">
                <a:solidFill>
                  <a:srgbClr val="008C00"/>
                </a:solidFill>
                <a:highlight>
                  <a:srgbClr val="FFFFFF"/>
                </a:highlight>
              </a:rPr>
              <a:t>3000</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br>
              <a:rPr lang="en-GB" sz="1100">
                <a:highlight>
                  <a:srgbClr val="FFFFFF"/>
                </a:highlight>
              </a:rPr>
            </a:br>
            <a:r>
              <a:rPr lang="en-GB" sz="1100">
                <a:highlight>
                  <a:srgbClr val="FFFFFF"/>
                </a:highlight>
              </a:rPr>
              <a:t>    </a:t>
            </a:r>
            <a:r>
              <a:rPr lang="en-GB" sz="1100">
                <a:solidFill>
                  <a:srgbClr val="696969"/>
                </a:solidFill>
                <a:highlight>
                  <a:srgbClr val="FFFFFF"/>
                </a:highlight>
              </a:rPr>
              <a:t>// turn off yellow, then turn red on for 5 seconds</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yellow</a:t>
            </a:r>
            <a:r>
              <a:rPr lang="en-GB" sz="1100">
                <a:solidFill>
                  <a:srgbClr val="808030"/>
                </a:solidFill>
                <a:highlight>
                  <a:srgbClr val="FFFFFF"/>
                </a:highlight>
              </a:rPr>
              <a:t>,</a:t>
            </a:r>
            <a:r>
              <a:rPr lang="en-GB" sz="1100">
                <a:highlight>
                  <a:srgbClr val="FFFFFF"/>
                </a:highlight>
              </a:rPr>
              <a:t> LOW</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red</a:t>
            </a:r>
            <a:r>
              <a:rPr lang="en-GB" sz="1100">
                <a:solidFill>
                  <a:srgbClr val="808030"/>
                </a:solidFill>
                <a:highlight>
                  <a:srgbClr val="FFFFFF"/>
                </a:highlight>
              </a:rPr>
              <a:t>,</a:t>
            </a:r>
            <a:r>
              <a:rPr lang="en-GB" sz="1100">
                <a:highlight>
                  <a:srgbClr val="FFFFFF"/>
                </a:highlight>
              </a:rPr>
              <a:t> HIGH</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br>
              <a:rPr lang="en-GB" sz="1100">
                <a:highlight>
                  <a:srgbClr val="FFFFFF"/>
                </a:highlight>
              </a:rPr>
            </a:br>
            <a:br>
              <a:rPr lang="en-GB" sz="1100">
                <a:highlight>
                  <a:srgbClr val="FFFFFF"/>
                </a:highlight>
              </a:rPr>
            </a:br>
            <a:r>
              <a:rPr lang="en-GB" sz="1100">
                <a:highlight>
                  <a:srgbClr val="FFFFFF"/>
                </a:highlight>
              </a:rPr>
              <a:t>  ON_RED </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ON_RED</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a:t>
            </a:r>
            <a:endParaRPr sz="1100">
              <a:solidFill>
                <a:srgbClr val="800080"/>
              </a:solidFill>
              <a:highlight>
                <a:srgbClr val="FFFFFF"/>
              </a:highlight>
            </a:endParaRPr>
          </a:p>
          <a:p>
            <a:pPr indent="0" lvl="0" marL="0" rtl="0" algn="l">
              <a:spcBef>
                <a:spcPts val="1000"/>
              </a:spcBef>
              <a:spcAft>
                <a:spcPts val="0"/>
              </a:spcAft>
              <a:buClr>
                <a:schemeClr val="dk1"/>
              </a:buClr>
              <a:buSzPts val="1100"/>
              <a:buFont typeface="Arial"/>
              <a:buNone/>
            </a:pPr>
            <a:r>
              <a:t/>
            </a:r>
            <a:endParaRPr sz="1000">
              <a:solidFill>
                <a:srgbClr val="696969"/>
              </a:solidFill>
              <a:highlight>
                <a:srgbClr val="FFFFFF"/>
              </a:highlight>
            </a:endParaRPr>
          </a:p>
          <a:p>
            <a:pPr indent="0" lvl="0" marL="0" rtl="0" algn="l">
              <a:spcBef>
                <a:spcPts val="1000"/>
              </a:spcBef>
              <a:spcAft>
                <a:spcPts val="1000"/>
              </a:spcAft>
              <a:buClr>
                <a:schemeClr val="dk1"/>
              </a:buClr>
              <a:buSzPts val="1100"/>
              <a:buFont typeface="Arial"/>
              <a:buNone/>
            </a:pPr>
            <a:r>
              <a:t/>
            </a:r>
            <a:endParaRPr sz="1000">
              <a:solidFill>
                <a:srgbClr val="696969"/>
              </a:solidFill>
              <a:highlight>
                <a:srgbClr val="FFFFFF"/>
              </a:highlight>
            </a:endParaRPr>
          </a:p>
        </p:txBody>
      </p:sp>
      <p:sp>
        <p:nvSpPr>
          <p:cNvPr id="169" name="Google Shape;169;p33"/>
          <p:cNvSpPr/>
          <p:nvPr/>
        </p:nvSpPr>
        <p:spPr>
          <a:xfrm>
            <a:off x="34925" y="4529835"/>
            <a:ext cx="593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3"/>
          <p:cNvSpPr txBox="1"/>
          <p:nvPr>
            <p:ph idx="1" type="body"/>
          </p:nvPr>
        </p:nvSpPr>
        <p:spPr>
          <a:xfrm>
            <a:off x="159300" y="493725"/>
            <a:ext cx="4792200" cy="456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00">
                <a:solidFill>
                  <a:srgbClr val="696969"/>
                </a:solidFill>
                <a:highlight>
                  <a:srgbClr val="FFFFFF"/>
                </a:highlight>
              </a:rPr>
              <a:t>// Ex03.h</a:t>
            </a:r>
            <a:br>
              <a:rPr lang="en-GB" sz="1100">
                <a:highlight>
                  <a:srgbClr val="FFFFFF"/>
                </a:highlight>
              </a:rPr>
            </a:br>
            <a:r>
              <a:rPr lang="en-GB" sz="1100">
                <a:solidFill>
                  <a:srgbClr val="696969"/>
                </a:solidFill>
                <a:highlight>
                  <a:srgbClr val="FFFFFF"/>
                </a:highlight>
              </a:rPr>
              <a:t>// add more LEDs and switches; run as traffic lights or individually</a:t>
            </a:r>
            <a:br>
              <a:rPr lang="en-GB" sz="1100">
                <a:highlight>
                  <a:srgbClr val="FFFFFF"/>
                </a:highlight>
              </a:rPr>
            </a:br>
            <a:r>
              <a:rPr lang="en-GB" sz="1100">
                <a:solidFill>
                  <a:srgbClr val="004A43"/>
                </a:solidFill>
                <a:highlight>
                  <a:srgbClr val="FFFFFF"/>
                </a:highlight>
              </a:rPr>
              <a:t>#ifndef LAB_03_H </a:t>
            </a:r>
            <a:br>
              <a:rPr lang="en-GB" sz="1100">
                <a:highlight>
                  <a:srgbClr val="FFFFFF"/>
                </a:highlight>
              </a:rPr>
            </a:br>
            <a:r>
              <a:rPr lang="en-GB" sz="1100">
                <a:solidFill>
                  <a:srgbClr val="004A43"/>
                </a:solidFill>
                <a:highlight>
                  <a:srgbClr val="FFFFFF"/>
                </a:highlight>
              </a:rPr>
              <a:t>#define LAB_03_H   </a:t>
            </a:r>
            <a:r>
              <a:rPr lang="en-GB" sz="1100">
                <a:solidFill>
                  <a:srgbClr val="696969"/>
                </a:solidFill>
                <a:highlight>
                  <a:srgbClr val="FFFFFF"/>
                </a:highlight>
              </a:rPr>
              <a:t>// LEDs are assigned to pins 32,15 and 12</a:t>
            </a:r>
            <a:br>
              <a:rPr lang="en-GB" sz="1100">
                <a:highlight>
                  <a:srgbClr val="FFFFFF"/>
                </a:highlight>
              </a:rPr>
            </a:br>
            <a:r>
              <a:rPr b="1" lang="en-GB" sz="1100">
                <a:solidFill>
                  <a:srgbClr val="800000"/>
                </a:solidFill>
                <a:highlight>
                  <a:srgbClr val="FFFFFF"/>
                </a:highlight>
              </a:rPr>
              <a:t>const</a:t>
            </a:r>
            <a:r>
              <a:rPr lang="en-GB" sz="1100">
                <a:highlight>
                  <a:srgbClr val="FFFFFF"/>
                </a:highlight>
              </a:rPr>
              <a:t> </a:t>
            </a:r>
            <a:r>
              <a:rPr b="1" lang="en-GB" sz="1100">
                <a:solidFill>
                  <a:srgbClr val="800000"/>
                </a:solidFill>
                <a:highlight>
                  <a:srgbClr val="FFFFFF"/>
                </a:highlight>
              </a:rPr>
              <a:t>int</a:t>
            </a:r>
            <a:r>
              <a:rPr lang="en-GB" sz="1100">
                <a:highlight>
                  <a:srgbClr val="FFFFFF"/>
                </a:highlight>
              </a:rPr>
              <a:t> red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32</a:t>
            </a:r>
            <a:r>
              <a:rPr lang="en-GB" sz="1100">
                <a:solidFill>
                  <a:srgbClr val="800080"/>
                </a:solidFill>
                <a:highlight>
                  <a:srgbClr val="FFFFFF"/>
                </a:highlight>
              </a:rPr>
              <a:t>;</a:t>
            </a:r>
            <a:r>
              <a:rPr lang="en-GB" sz="1100">
                <a:highlight>
                  <a:srgbClr val="FFFFFF"/>
                </a:highlight>
              </a:rPr>
              <a:t> </a:t>
            </a:r>
            <a:r>
              <a:rPr b="1" lang="en-GB" sz="1100">
                <a:solidFill>
                  <a:srgbClr val="800000"/>
                </a:solidFill>
                <a:highlight>
                  <a:srgbClr val="FFFFFF"/>
                </a:highlight>
              </a:rPr>
              <a:t>const</a:t>
            </a:r>
            <a:r>
              <a:rPr lang="en-GB" sz="1100">
                <a:highlight>
                  <a:srgbClr val="FFFFFF"/>
                </a:highlight>
              </a:rPr>
              <a:t> </a:t>
            </a:r>
            <a:r>
              <a:rPr b="1" lang="en-GB" sz="1100">
                <a:solidFill>
                  <a:srgbClr val="800000"/>
                </a:solidFill>
                <a:highlight>
                  <a:srgbClr val="FFFFFF"/>
                </a:highlight>
              </a:rPr>
              <a:t>int</a:t>
            </a:r>
            <a:r>
              <a:rPr lang="en-GB" sz="1100">
                <a:highlight>
                  <a:srgbClr val="FFFFFF"/>
                </a:highlight>
              </a:rPr>
              <a:t> yellow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15</a:t>
            </a:r>
            <a:r>
              <a:rPr lang="en-GB" sz="1100">
                <a:solidFill>
                  <a:srgbClr val="800080"/>
                </a:solidFill>
                <a:highlight>
                  <a:srgbClr val="FFFFFF"/>
                </a:highlight>
              </a:rPr>
              <a:t>;</a:t>
            </a:r>
            <a:r>
              <a:rPr lang="en-GB" sz="1100">
                <a:highlight>
                  <a:srgbClr val="FFFFFF"/>
                </a:highlight>
              </a:rPr>
              <a:t> </a:t>
            </a:r>
            <a:r>
              <a:rPr b="1" lang="en-GB" sz="1100">
                <a:solidFill>
                  <a:srgbClr val="800000"/>
                </a:solidFill>
                <a:highlight>
                  <a:srgbClr val="FFFFFF"/>
                </a:highlight>
              </a:rPr>
              <a:t>const</a:t>
            </a:r>
            <a:r>
              <a:rPr lang="en-GB" sz="1100">
                <a:highlight>
                  <a:srgbClr val="FFFFFF"/>
                </a:highlight>
              </a:rPr>
              <a:t> </a:t>
            </a:r>
            <a:r>
              <a:rPr b="1" lang="en-GB" sz="1100">
                <a:solidFill>
                  <a:srgbClr val="800000"/>
                </a:solidFill>
                <a:highlight>
                  <a:srgbClr val="FFFFFF"/>
                </a:highlight>
              </a:rPr>
              <a:t>int</a:t>
            </a:r>
            <a:r>
              <a:rPr lang="en-GB" sz="1100">
                <a:highlight>
                  <a:srgbClr val="FFFFFF"/>
                </a:highlight>
              </a:rPr>
              <a:t> green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12</a:t>
            </a:r>
            <a:r>
              <a:rPr lang="en-GB" sz="1100">
                <a:solidFill>
                  <a:srgbClr val="800080"/>
                </a:solidFill>
                <a:highlight>
                  <a:srgbClr val="FFFFFF"/>
                </a:highlight>
              </a:rPr>
              <a:t>;</a:t>
            </a:r>
            <a:br>
              <a:rPr lang="en-GB" sz="1100">
                <a:highlight>
                  <a:srgbClr val="FFFFFF"/>
                </a:highlight>
              </a:rPr>
            </a:br>
            <a:r>
              <a:rPr lang="en-GB" sz="1100">
                <a:highlight>
                  <a:srgbClr val="FFFFFF"/>
                </a:highlight>
              </a:rPr>
              <a:t>boolean ON_RED </a:t>
            </a:r>
            <a:r>
              <a:rPr lang="en-GB" sz="1100">
                <a:solidFill>
                  <a:srgbClr val="808030"/>
                </a:solidFill>
                <a:highlight>
                  <a:srgbClr val="FFFFFF"/>
                </a:highlight>
              </a:rPr>
              <a:t>=</a:t>
            </a:r>
            <a:r>
              <a:rPr lang="en-GB" sz="1100">
                <a:highlight>
                  <a:srgbClr val="FFFFFF"/>
                </a:highlight>
              </a:rPr>
              <a:t> </a:t>
            </a:r>
            <a:r>
              <a:rPr b="1" lang="en-GB" sz="1100">
                <a:solidFill>
                  <a:srgbClr val="800000"/>
                </a:solidFill>
                <a:highlight>
                  <a:srgbClr val="FFFFFF"/>
                </a:highlight>
              </a:rPr>
              <a:t>false</a:t>
            </a:r>
            <a:r>
              <a:rPr lang="en-GB" sz="1100">
                <a:solidFill>
                  <a:srgbClr val="800080"/>
                </a:solidFill>
                <a:highlight>
                  <a:srgbClr val="FFFFFF"/>
                </a:highlight>
              </a:rPr>
              <a:t>;</a:t>
            </a:r>
            <a:br>
              <a:rPr lang="en-GB" sz="1100">
                <a:highlight>
                  <a:srgbClr val="FFFFFF"/>
                </a:highlight>
              </a:rPr>
            </a:br>
            <a:r>
              <a:rPr lang="en-GB" sz="1100">
                <a:solidFill>
                  <a:srgbClr val="004A43"/>
                </a:solidFill>
                <a:highlight>
                  <a:srgbClr val="FFFFFF"/>
                </a:highlight>
              </a:rPr>
              <a:t>#endif</a:t>
            </a:r>
            <a:endParaRPr sz="1100">
              <a:solidFill>
                <a:srgbClr val="004A43"/>
              </a:solidFill>
              <a:highlight>
                <a:srgbClr val="FFFFFF"/>
              </a:highlight>
            </a:endParaRPr>
          </a:p>
          <a:p>
            <a:pPr indent="0" lvl="0" marL="0" rtl="0" algn="l">
              <a:spcBef>
                <a:spcPts val="1000"/>
              </a:spcBef>
              <a:spcAft>
                <a:spcPts val="1000"/>
              </a:spcAft>
              <a:buClr>
                <a:schemeClr val="dk1"/>
              </a:buClr>
              <a:buSzPts val="1100"/>
              <a:buFont typeface="Arial"/>
              <a:buNone/>
            </a:pPr>
            <a:r>
              <a:rPr lang="en-GB" sz="1100">
                <a:solidFill>
                  <a:srgbClr val="696969"/>
                </a:solidFill>
                <a:highlight>
                  <a:srgbClr val="FFFFFF"/>
                </a:highlight>
              </a:rPr>
              <a:t>// Ex03.ino</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setup03</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setup02</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previous setups...</a:t>
            </a:r>
            <a:br>
              <a:rPr lang="en-GB" sz="1100">
                <a:highlight>
                  <a:srgbClr val="FFFFFF"/>
                </a:highlight>
              </a:rPr>
            </a:br>
            <a:r>
              <a:rPr lang="en-GB" sz="1100">
                <a:highlight>
                  <a:srgbClr val="FFFFFF"/>
                </a:highlight>
              </a:rPr>
              <a:t>  Serial</a:t>
            </a:r>
            <a:r>
              <a:rPr lang="en-GB" sz="1100">
                <a:solidFill>
                  <a:srgbClr val="808030"/>
                </a:solidFill>
                <a:highlight>
                  <a:srgbClr val="FFFFFF"/>
                </a:highlight>
              </a:rPr>
              <a:t>.</a:t>
            </a:r>
            <a:r>
              <a:rPr lang="en-GB" sz="1100">
                <a:highlight>
                  <a:srgbClr val="FFFFFF"/>
                </a:highlight>
              </a:rPr>
              <a:t>println</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F69FF"/>
                </a:solidFill>
                <a:highlight>
                  <a:srgbClr val="FFFFFF"/>
                </a:highlight>
              </a:rPr>
              <a:t>\n</a:t>
            </a:r>
            <a:r>
              <a:rPr lang="en-GB" sz="1100">
                <a:solidFill>
                  <a:srgbClr val="0000E6"/>
                </a:solidFill>
                <a:highlight>
                  <a:srgbClr val="FFFFFF"/>
                </a:highlight>
              </a:rPr>
              <a:t>setup03...</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debug printout</a:t>
            </a:r>
            <a:br>
              <a:rPr lang="en-GB" sz="1100">
                <a:highlight>
                  <a:srgbClr val="FFFFFF"/>
                </a:highlight>
              </a:rPr>
            </a:br>
            <a:r>
              <a:rPr lang="en-GB" sz="1100">
                <a:highlight>
                  <a:srgbClr val="FFFFFF"/>
                </a:highlight>
              </a:rPr>
              <a:t>  </a:t>
            </a:r>
            <a:r>
              <a:rPr lang="en-GB" sz="1100">
                <a:solidFill>
                  <a:srgbClr val="696969"/>
                </a:solidFill>
                <a:highlight>
                  <a:srgbClr val="FFFFFF"/>
                </a:highlight>
              </a:rPr>
              <a:t>// set up further GPIO pins with nice names for additional external LEDs</a:t>
            </a:r>
            <a:br>
              <a:rPr lang="en-GB" sz="1100">
                <a:highlight>
                  <a:srgbClr val="FFFFFF"/>
                </a:highlight>
              </a:rPr>
            </a:br>
            <a:r>
              <a:rPr lang="en-GB" sz="1100">
                <a:highlight>
                  <a:srgbClr val="FFFFFF"/>
                </a:highlight>
              </a:rPr>
              <a:t>  pinMode</a:t>
            </a:r>
            <a:r>
              <a:rPr lang="en-GB" sz="1100">
                <a:solidFill>
                  <a:srgbClr val="808030"/>
                </a:solidFill>
                <a:highlight>
                  <a:srgbClr val="FFFFFF"/>
                </a:highlight>
              </a:rPr>
              <a:t>(</a:t>
            </a:r>
            <a:r>
              <a:rPr lang="en-GB" sz="1100">
                <a:highlight>
                  <a:srgbClr val="FFFFFF"/>
                </a:highlight>
              </a:rPr>
              <a:t>yellow</a:t>
            </a:r>
            <a:r>
              <a:rPr lang="en-GB" sz="1100">
                <a:solidFill>
                  <a:srgbClr val="808030"/>
                </a:solidFill>
                <a:highlight>
                  <a:srgbClr val="FFFFFF"/>
                </a:highlight>
              </a:rPr>
              <a:t>,</a:t>
            </a:r>
            <a:r>
              <a:rPr lang="en-GB" sz="1100">
                <a:highlight>
                  <a:srgbClr val="FFFFFF"/>
                </a:highlight>
              </a:rPr>
              <a:t> OUTPUT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pinMode</a:t>
            </a:r>
            <a:r>
              <a:rPr lang="en-GB" sz="1100">
                <a:solidFill>
                  <a:srgbClr val="808030"/>
                </a:solidFill>
                <a:highlight>
                  <a:srgbClr val="FFFFFF"/>
                </a:highlight>
              </a:rPr>
              <a:t>(</a:t>
            </a:r>
            <a:r>
              <a:rPr lang="en-GB" sz="1100">
                <a:highlight>
                  <a:srgbClr val="FFFFFF"/>
                </a:highlight>
              </a:rPr>
              <a:t>green</a:t>
            </a:r>
            <a:r>
              <a:rPr lang="en-GB" sz="1100">
                <a:solidFill>
                  <a:srgbClr val="808030"/>
                </a:solidFill>
                <a:highlight>
                  <a:srgbClr val="FFFFFF"/>
                </a:highlight>
              </a:rPr>
              <a:t>,</a:t>
            </a:r>
            <a:r>
              <a:rPr lang="en-GB" sz="1100">
                <a:highlight>
                  <a:srgbClr val="FFFFFF"/>
                </a:highlight>
              </a:rPr>
              <a:t> OUTPUT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digitalWrite</a:t>
            </a:r>
            <a:r>
              <a:rPr lang="en-GB" sz="1100">
                <a:solidFill>
                  <a:srgbClr val="808030"/>
                </a:solidFill>
                <a:highlight>
                  <a:srgbClr val="FFFFFF"/>
                </a:highlight>
              </a:rPr>
              <a:t>(</a:t>
            </a:r>
            <a:r>
              <a:rPr lang="en-GB" sz="1100">
                <a:highlight>
                  <a:srgbClr val="FFFFFF"/>
                </a:highlight>
              </a:rPr>
              <a:t>green</a:t>
            </a:r>
            <a:r>
              <a:rPr lang="en-GB" sz="1100">
                <a:solidFill>
                  <a:srgbClr val="808030"/>
                </a:solidFill>
                <a:highlight>
                  <a:srgbClr val="FFFFFF"/>
                </a:highlight>
              </a:rPr>
              <a:t>,</a:t>
            </a:r>
            <a:r>
              <a:rPr lang="en-GB" sz="1100">
                <a:highlight>
                  <a:srgbClr val="FFFFFF"/>
                </a:highlight>
              </a:rPr>
              <a:t> HIGH</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we start the traffic light sequence on green</a:t>
            </a:r>
            <a:br>
              <a:rPr lang="en-GB" sz="1100">
                <a:highlight>
                  <a:srgbClr val="FFFFFF"/>
                </a:highlight>
              </a:rPr>
            </a:br>
            <a:r>
              <a:rPr lang="en-GB" sz="1100">
                <a:solidFill>
                  <a:srgbClr val="800080"/>
                </a:solidFill>
                <a:highlight>
                  <a:srgbClr val="FFFFFF"/>
                </a:highlight>
              </a:rPr>
              <a:t>}</a:t>
            </a:r>
            <a:br>
              <a:rPr lang="en-GB" sz="1100">
                <a:solidFill>
                  <a:srgbClr val="800080"/>
                </a:solidFill>
                <a:highlight>
                  <a:srgbClr val="FFFFFF"/>
                </a:highlight>
              </a:rPr>
            </a:br>
            <a:br>
              <a:rPr lang="en-GB" sz="1100">
                <a:highlight>
                  <a:srgbClr val="FFFFFF"/>
                </a:highlight>
              </a:rPr>
            </a:br>
            <a:r>
              <a:rPr b="1" lang="en-GB" sz="1100">
                <a:solidFill>
                  <a:srgbClr val="800000"/>
                </a:solidFill>
                <a:highlight>
                  <a:srgbClr val="FFFFFF"/>
                </a:highlight>
              </a:rPr>
              <a:t>void</a:t>
            </a:r>
            <a:r>
              <a:rPr lang="en-GB" sz="1100">
                <a:highlight>
                  <a:srgbClr val="FFFFFF"/>
                </a:highlight>
              </a:rPr>
              <a:t> loop03</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highlight>
                  <a:srgbClr val="FFFFFF"/>
                </a:highlight>
              </a:rPr>
              <a:t> </a:t>
            </a:r>
            <a:r>
              <a:rPr lang="en-GB" sz="1100">
                <a:solidFill>
                  <a:srgbClr val="808030"/>
                </a:solidFill>
                <a:highlight>
                  <a:srgbClr val="FFFFFF"/>
                </a:highlight>
              </a:rPr>
              <a:t>(</a:t>
            </a:r>
            <a:r>
              <a:rPr lang="en-GB" sz="1100">
                <a:highlight>
                  <a:srgbClr val="FFFFFF"/>
                </a:highlight>
              </a:rPr>
              <a:t>digitalRead</a:t>
            </a:r>
            <a:r>
              <a:rPr lang="en-GB" sz="1100">
                <a:solidFill>
                  <a:srgbClr val="808030"/>
                </a:solidFill>
                <a:highlight>
                  <a:srgbClr val="FFFFFF"/>
                </a:highlight>
              </a:rPr>
              <a:t>(</a:t>
            </a:r>
            <a:r>
              <a:rPr lang="en-GB" sz="1100">
                <a:solidFill>
                  <a:srgbClr val="008C00"/>
                </a:solidFill>
                <a:highlight>
                  <a:srgbClr val="FFFFFF"/>
                </a:highlight>
              </a:rPr>
              <a:t>14</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LOW</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if the switch is LOW, ie. pushed down</a:t>
            </a:r>
            <a:br>
              <a:rPr lang="en-GB" sz="1100">
                <a:highlight>
                  <a:srgbClr val="FFFFFF"/>
                </a:highlight>
              </a:rPr>
            </a:br>
            <a:r>
              <a:rPr lang="en-GB" sz="1100">
                <a:highlight>
                  <a:srgbClr val="FFFFFF"/>
                </a:highlight>
              </a:rPr>
              <a:t>    Serial</a:t>
            </a:r>
            <a:r>
              <a:rPr lang="en-GB" sz="1100">
                <a:solidFill>
                  <a:srgbClr val="808030"/>
                </a:solidFill>
                <a:highlight>
                  <a:srgbClr val="FFFFFF"/>
                </a:highlight>
              </a:rPr>
              <a:t>.</a:t>
            </a:r>
            <a:r>
              <a:rPr lang="en-GB" sz="1100">
                <a:highlight>
                  <a:srgbClr val="FFFFFF"/>
                </a:highlight>
              </a:rPr>
              <a:t>printf</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 ON_RED is </a:t>
            </a:r>
            <a:r>
              <a:rPr lang="en-GB" sz="1100">
                <a:solidFill>
                  <a:srgbClr val="007997"/>
                </a:solidFill>
                <a:highlight>
                  <a:srgbClr val="FFFFFF"/>
                </a:highlight>
              </a:rPr>
              <a:t>%d</a:t>
            </a:r>
            <a:r>
              <a:rPr lang="en-GB" sz="1100">
                <a:solidFill>
                  <a:srgbClr val="0000E6"/>
                </a:solidFill>
                <a:highlight>
                  <a:srgbClr val="FFFFFF"/>
                </a:highlight>
              </a:rPr>
              <a:t>; switch pressed...</a:t>
            </a:r>
            <a:r>
              <a:rPr lang="en-GB" sz="1100">
                <a:solidFill>
                  <a:srgbClr val="0F69FF"/>
                </a:solidFill>
                <a:highlight>
                  <a:srgbClr val="FFFFFF"/>
                </a:highlight>
              </a:rPr>
              <a:t>\n</a:t>
            </a:r>
            <a:r>
              <a:rPr lang="en-GB" sz="1100">
                <a:solidFill>
                  <a:srgbClr val="800000"/>
                </a:solidFill>
                <a:highlight>
                  <a:srgbClr val="FFFFFF"/>
                </a:highlight>
              </a:rPr>
              <a:t>"</a:t>
            </a:r>
            <a:r>
              <a:rPr lang="en-GB" sz="1100">
                <a:solidFill>
                  <a:srgbClr val="808030"/>
                </a:solidFill>
                <a:highlight>
                  <a:srgbClr val="FFFFFF"/>
                </a:highlight>
              </a:rPr>
              <a:t>,</a:t>
            </a:r>
            <a:r>
              <a:rPr lang="en-GB" sz="1100">
                <a:highlight>
                  <a:srgbClr val="FFFFFF"/>
                </a:highlight>
              </a:rPr>
              <a:t> ON_RED</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changeLights</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call this function to change the lights!</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a:t>
            </a:r>
            <a:br>
              <a:rPr lang="en-GB" sz="1100">
                <a:highlight>
                  <a:srgbClr val="FFFFFF"/>
                </a:highlight>
              </a:rPr>
            </a:br>
            <a:endParaRPr sz="1000">
              <a:solidFill>
                <a:srgbClr val="696969"/>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idx="1" type="body"/>
          </p:nvPr>
        </p:nvSpPr>
        <p:spPr>
          <a:xfrm>
            <a:off x="159300" y="493725"/>
            <a:ext cx="4792200" cy="456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00">
                <a:solidFill>
                  <a:srgbClr val="696969"/>
                </a:solidFill>
                <a:highlight>
                  <a:srgbClr val="FFFFFF"/>
                </a:highlight>
              </a:rPr>
              <a:t>// Ex04.h: debugging infrastructure</a:t>
            </a:r>
            <a:br>
              <a:rPr lang="en-GB" sz="1100">
                <a:highlight>
                  <a:srgbClr val="FFFFFF"/>
                </a:highlight>
              </a:rPr>
            </a:br>
            <a:r>
              <a:rPr lang="en-GB" sz="1100">
                <a:solidFill>
                  <a:srgbClr val="004A43"/>
                </a:solidFill>
                <a:highlight>
                  <a:srgbClr val="FFFFFF"/>
                </a:highlight>
              </a:rPr>
              <a:t>#ifndef LAB_04_H </a:t>
            </a:r>
            <a:br>
              <a:rPr lang="en-GB" sz="1100">
                <a:highlight>
                  <a:srgbClr val="FFFFFF"/>
                </a:highlight>
              </a:rPr>
            </a:br>
            <a:r>
              <a:rPr lang="en-GB" sz="1100">
                <a:solidFill>
                  <a:srgbClr val="004A43"/>
                </a:solidFill>
                <a:highlight>
                  <a:srgbClr val="FFFFFF"/>
                </a:highlight>
              </a:rPr>
              <a:t>#define LAB_04_H</a:t>
            </a:r>
            <a:br>
              <a:rPr lang="en-GB" sz="1100">
                <a:highlight>
                  <a:srgbClr val="FFFFFF"/>
                </a:highlight>
              </a:rPr>
            </a:br>
            <a:br>
              <a:rPr lang="en-GB" sz="1100">
                <a:highlight>
                  <a:srgbClr val="FFFFFF"/>
                </a:highlight>
              </a:rPr>
            </a:br>
            <a:r>
              <a:rPr lang="en-GB" sz="1100">
                <a:solidFill>
                  <a:srgbClr val="696969"/>
                </a:solidFill>
                <a:highlight>
                  <a:srgbClr val="FFFFFF"/>
                </a:highlight>
              </a:rPr>
              <a:t>// setting different DBGs true triggers prints</a:t>
            </a:r>
            <a:br>
              <a:rPr lang="en-GB" sz="1100">
                <a:highlight>
                  <a:srgbClr val="FFFFFF"/>
                </a:highlight>
              </a:rPr>
            </a:br>
            <a:r>
              <a:rPr lang="en-GB" sz="1100">
                <a:solidFill>
                  <a:srgbClr val="004A43"/>
                </a:solidFill>
                <a:highlight>
                  <a:srgbClr val="FFFFFF"/>
                </a:highlight>
              </a:rPr>
              <a:t>#define dbg</a:t>
            </a:r>
            <a:r>
              <a:rPr lang="en-GB" sz="1100">
                <a:solidFill>
                  <a:srgbClr val="808030"/>
                </a:solidFill>
                <a:highlight>
                  <a:srgbClr val="FFFFFF"/>
                </a:highlight>
              </a:rPr>
              <a:t>(</a:t>
            </a:r>
            <a:r>
              <a:rPr lang="en-GB" sz="1100">
                <a:solidFill>
                  <a:srgbClr val="004A43"/>
                </a:solidFill>
                <a:highlight>
                  <a:srgbClr val="FFFFFF"/>
                </a:highlight>
              </a:rPr>
              <a:t>b</a:t>
            </a:r>
            <a:r>
              <a:rPr lang="en-GB" sz="1100">
                <a:solidFill>
                  <a:srgbClr val="808030"/>
                </a:solidFill>
                <a:highlight>
                  <a:srgbClr val="FFFFFF"/>
                </a:highlight>
              </a:rPr>
              <a:t>,</a:t>
            </a:r>
            <a:r>
              <a:rPr lang="en-GB" sz="1100">
                <a:solidFill>
                  <a:srgbClr val="004A43"/>
                </a:solidFill>
                <a:highlight>
                  <a:srgbClr val="FFFFFF"/>
                </a:highlight>
              </a:rPr>
              <a:t> s</a:t>
            </a:r>
            <a:r>
              <a:rPr lang="en-GB" sz="1100">
                <a:solidFill>
                  <a:srgbClr val="808030"/>
                </a:solidFill>
                <a:highlight>
                  <a:srgbClr val="FFFFFF"/>
                </a:highlight>
              </a:rPr>
              <a:t>)</a:t>
            </a:r>
            <a:r>
              <a:rPr lang="en-GB" sz="1100">
                <a:solidFill>
                  <a:srgbClr val="004A43"/>
                </a:solidFill>
                <a:highlight>
                  <a:srgbClr val="FFFFFF"/>
                </a:highlight>
              </a:rPr>
              <a:t> if</a:t>
            </a:r>
            <a:r>
              <a:rPr lang="en-GB" sz="1100">
                <a:solidFill>
                  <a:srgbClr val="808030"/>
                </a:solidFill>
                <a:highlight>
                  <a:srgbClr val="FFFFFF"/>
                </a:highlight>
              </a:rPr>
              <a:t>(</a:t>
            </a:r>
            <a:r>
              <a:rPr lang="en-GB" sz="1100">
                <a:solidFill>
                  <a:srgbClr val="004A43"/>
                </a:solidFill>
                <a:highlight>
                  <a:srgbClr val="FFFFFF"/>
                </a:highlight>
              </a:rPr>
              <a:t>b</a:t>
            </a:r>
            <a:r>
              <a:rPr lang="en-GB" sz="1100">
                <a:solidFill>
                  <a:srgbClr val="808030"/>
                </a:solidFill>
                <a:highlight>
                  <a:srgbClr val="FFFFFF"/>
                </a:highlight>
              </a:rPr>
              <a:t>)</a:t>
            </a:r>
            <a:r>
              <a:rPr lang="en-GB" sz="1100">
                <a:solidFill>
                  <a:srgbClr val="004A43"/>
                </a:solidFill>
                <a:highlight>
                  <a:srgbClr val="FFFFFF"/>
                </a:highlight>
              </a:rPr>
              <a:t> Serial</a:t>
            </a:r>
            <a:r>
              <a:rPr lang="en-GB" sz="1100">
                <a:solidFill>
                  <a:srgbClr val="808030"/>
                </a:solidFill>
                <a:highlight>
                  <a:srgbClr val="FFFFFF"/>
                </a:highlight>
              </a:rPr>
              <a:t>.</a:t>
            </a:r>
            <a:r>
              <a:rPr lang="en-GB" sz="1100">
                <a:solidFill>
                  <a:srgbClr val="004A43"/>
                </a:solidFill>
                <a:highlight>
                  <a:srgbClr val="FFFFFF"/>
                </a:highlight>
              </a:rPr>
              <a:t>print</a:t>
            </a:r>
            <a:r>
              <a:rPr lang="en-GB" sz="1100">
                <a:solidFill>
                  <a:srgbClr val="808030"/>
                </a:solidFill>
                <a:highlight>
                  <a:srgbClr val="FFFFFF"/>
                </a:highlight>
              </a:rPr>
              <a:t>(</a:t>
            </a:r>
            <a:r>
              <a:rPr lang="en-GB" sz="1100">
                <a:solidFill>
                  <a:srgbClr val="004A43"/>
                </a:solidFill>
                <a:highlight>
                  <a:srgbClr val="FFFFFF"/>
                </a:highlight>
              </a:rPr>
              <a:t>s</a:t>
            </a:r>
            <a:r>
              <a:rPr lang="en-GB" sz="1100">
                <a:solidFill>
                  <a:srgbClr val="808030"/>
                </a:solidFill>
                <a:highlight>
                  <a:srgbClr val="FFFFFF"/>
                </a:highlight>
              </a:rPr>
              <a:t>)</a:t>
            </a:r>
            <a:br>
              <a:rPr lang="en-GB" sz="1100">
                <a:highlight>
                  <a:srgbClr val="FFFFFF"/>
                </a:highlight>
              </a:rPr>
            </a:br>
            <a:r>
              <a:rPr lang="en-GB" sz="1100">
                <a:solidFill>
                  <a:srgbClr val="004A43"/>
                </a:solidFill>
                <a:highlight>
                  <a:srgbClr val="FFFFFF"/>
                </a:highlight>
              </a:rPr>
              <a:t>#define dln</a:t>
            </a:r>
            <a:r>
              <a:rPr lang="en-GB" sz="1100">
                <a:solidFill>
                  <a:srgbClr val="808030"/>
                </a:solidFill>
                <a:highlight>
                  <a:srgbClr val="FFFFFF"/>
                </a:highlight>
              </a:rPr>
              <a:t>(</a:t>
            </a:r>
            <a:r>
              <a:rPr lang="en-GB" sz="1100">
                <a:solidFill>
                  <a:srgbClr val="004A43"/>
                </a:solidFill>
                <a:highlight>
                  <a:srgbClr val="FFFFFF"/>
                </a:highlight>
              </a:rPr>
              <a:t>b</a:t>
            </a:r>
            <a:r>
              <a:rPr lang="en-GB" sz="1100">
                <a:solidFill>
                  <a:srgbClr val="808030"/>
                </a:solidFill>
                <a:highlight>
                  <a:srgbClr val="FFFFFF"/>
                </a:highlight>
              </a:rPr>
              <a:t>,</a:t>
            </a:r>
            <a:r>
              <a:rPr lang="en-GB" sz="1100">
                <a:solidFill>
                  <a:srgbClr val="004A43"/>
                </a:solidFill>
                <a:highlight>
                  <a:srgbClr val="FFFFFF"/>
                </a:highlight>
              </a:rPr>
              <a:t> s</a:t>
            </a:r>
            <a:r>
              <a:rPr lang="en-GB" sz="1100">
                <a:solidFill>
                  <a:srgbClr val="808030"/>
                </a:solidFill>
                <a:highlight>
                  <a:srgbClr val="FFFFFF"/>
                </a:highlight>
              </a:rPr>
              <a:t>)</a:t>
            </a:r>
            <a:r>
              <a:rPr lang="en-GB" sz="1100">
                <a:solidFill>
                  <a:srgbClr val="004A43"/>
                </a:solidFill>
                <a:highlight>
                  <a:srgbClr val="FFFFFF"/>
                </a:highlight>
              </a:rPr>
              <a:t>  if</a:t>
            </a:r>
            <a:r>
              <a:rPr lang="en-GB" sz="1100">
                <a:solidFill>
                  <a:srgbClr val="808030"/>
                </a:solidFill>
                <a:highlight>
                  <a:srgbClr val="FFFFFF"/>
                </a:highlight>
              </a:rPr>
              <a:t>(</a:t>
            </a:r>
            <a:r>
              <a:rPr lang="en-GB" sz="1100">
                <a:solidFill>
                  <a:srgbClr val="004A43"/>
                </a:solidFill>
                <a:highlight>
                  <a:srgbClr val="FFFFFF"/>
                </a:highlight>
              </a:rPr>
              <a:t>b</a:t>
            </a:r>
            <a:r>
              <a:rPr lang="en-GB" sz="1100">
                <a:solidFill>
                  <a:srgbClr val="808030"/>
                </a:solidFill>
                <a:highlight>
                  <a:srgbClr val="FFFFFF"/>
                </a:highlight>
              </a:rPr>
              <a:t>)</a:t>
            </a:r>
            <a:r>
              <a:rPr lang="en-GB" sz="1100">
                <a:solidFill>
                  <a:srgbClr val="004A43"/>
                </a:solidFill>
                <a:highlight>
                  <a:srgbClr val="FFFFFF"/>
                </a:highlight>
              </a:rPr>
              <a:t> Serial</a:t>
            </a:r>
            <a:r>
              <a:rPr lang="en-GB" sz="1100">
                <a:solidFill>
                  <a:srgbClr val="808030"/>
                </a:solidFill>
                <a:highlight>
                  <a:srgbClr val="FFFFFF"/>
                </a:highlight>
              </a:rPr>
              <a:t>.</a:t>
            </a:r>
            <a:r>
              <a:rPr lang="en-GB" sz="1100">
                <a:solidFill>
                  <a:srgbClr val="004A43"/>
                </a:solidFill>
                <a:highlight>
                  <a:srgbClr val="FFFFFF"/>
                </a:highlight>
              </a:rPr>
              <a:t>println</a:t>
            </a:r>
            <a:r>
              <a:rPr lang="en-GB" sz="1100">
                <a:solidFill>
                  <a:srgbClr val="808030"/>
                </a:solidFill>
                <a:highlight>
                  <a:srgbClr val="FFFFFF"/>
                </a:highlight>
              </a:rPr>
              <a:t>(</a:t>
            </a:r>
            <a:r>
              <a:rPr lang="en-GB" sz="1100">
                <a:solidFill>
                  <a:srgbClr val="004A43"/>
                </a:solidFill>
                <a:highlight>
                  <a:srgbClr val="FFFFFF"/>
                </a:highlight>
              </a:rPr>
              <a:t>s</a:t>
            </a:r>
            <a:r>
              <a:rPr lang="en-GB" sz="1100">
                <a:solidFill>
                  <a:srgbClr val="808030"/>
                </a:solidFill>
                <a:highlight>
                  <a:srgbClr val="FFFFFF"/>
                </a:highlight>
              </a:rPr>
              <a:t>)</a:t>
            </a:r>
            <a:br>
              <a:rPr lang="en-GB" sz="1100">
                <a:highlight>
                  <a:srgbClr val="FFFFFF"/>
                </a:highlight>
              </a:rPr>
            </a:br>
            <a:r>
              <a:rPr lang="en-GB" sz="1100">
                <a:solidFill>
                  <a:srgbClr val="004A43"/>
                </a:solidFill>
                <a:highlight>
                  <a:srgbClr val="FFFFFF"/>
                </a:highlight>
              </a:rPr>
              <a:t>#define startupDBG      true</a:t>
            </a:r>
            <a:br>
              <a:rPr lang="en-GB" sz="1100">
                <a:highlight>
                  <a:srgbClr val="FFFFFF"/>
                </a:highlight>
              </a:rPr>
            </a:br>
            <a:r>
              <a:rPr lang="en-GB" sz="1100">
                <a:solidFill>
                  <a:srgbClr val="004A43"/>
                </a:solidFill>
                <a:highlight>
                  <a:srgbClr val="FFFFFF"/>
                </a:highlight>
              </a:rPr>
              <a:t>#define loopDBG          true</a:t>
            </a:r>
            <a:br>
              <a:rPr lang="en-GB" sz="1100">
                <a:highlight>
                  <a:srgbClr val="FFFFFF"/>
                </a:highlight>
              </a:rPr>
            </a:br>
            <a:r>
              <a:rPr lang="en-GB" sz="1100">
                <a:solidFill>
                  <a:srgbClr val="004A43"/>
                </a:solidFill>
                <a:highlight>
                  <a:srgbClr val="FFFFFF"/>
                </a:highlight>
              </a:rPr>
              <a:t>#define monitorDBG     false</a:t>
            </a:r>
            <a:br>
              <a:rPr lang="en-GB" sz="1100">
                <a:highlight>
                  <a:srgbClr val="FFFFFF"/>
                </a:highlight>
              </a:rPr>
            </a:br>
            <a:r>
              <a:rPr lang="en-GB" sz="1100">
                <a:solidFill>
                  <a:srgbClr val="004A43"/>
                </a:solidFill>
                <a:highlight>
                  <a:srgbClr val="FFFFFF"/>
                </a:highlight>
              </a:rPr>
              <a:t>#define netDBG            true</a:t>
            </a:r>
            <a:br>
              <a:rPr lang="en-GB" sz="1100">
                <a:highlight>
                  <a:srgbClr val="FFFFFF"/>
                </a:highlight>
              </a:rPr>
            </a:br>
            <a:r>
              <a:rPr lang="en-GB" sz="1100">
                <a:solidFill>
                  <a:srgbClr val="004A43"/>
                </a:solidFill>
                <a:highlight>
                  <a:srgbClr val="FFFFFF"/>
                </a:highlight>
              </a:rPr>
              <a:t>#define miscDBG         true</a:t>
            </a:r>
            <a:br>
              <a:rPr lang="en-GB" sz="1100">
                <a:highlight>
                  <a:srgbClr val="FFFFFF"/>
                </a:highlight>
              </a:rPr>
            </a:br>
            <a:r>
              <a:rPr lang="en-GB" sz="1100">
                <a:solidFill>
                  <a:srgbClr val="004A43"/>
                </a:solidFill>
                <a:highlight>
                  <a:srgbClr val="FFFFFF"/>
                </a:highlight>
              </a:rPr>
              <a:t>#define analogDBG      false</a:t>
            </a:r>
            <a:br>
              <a:rPr lang="en-GB" sz="1100">
                <a:highlight>
                  <a:srgbClr val="FFFFFF"/>
                </a:highlight>
              </a:rPr>
            </a:br>
            <a:br>
              <a:rPr lang="en-GB" sz="1100">
                <a:highlight>
                  <a:srgbClr val="FFFFFF"/>
                </a:highlight>
              </a:rPr>
            </a:br>
            <a:r>
              <a:rPr lang="en-GB" sz="1100">
                <a:solidFill>
                  <a:srgbClr val="004A43"/>
                </a:solidFill>
                <a:highlight>
                  <a:srgbClr val="FFFFFF"/>
                </a:highlight>
              </a:rPr>
              <a:t>#endif</a:t>
            </a:r>
            <a:endParaRPr sz="1100">
              <a:solidFill>
                <a:srgbClr val="004A43"/>
              </a:solidFill>
              <a:highlight>
                <a:srgbClr val="FFFFFF"/>
              </a:highlight>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Clr>
                <a:schemeClr val="dk1"/>
              </a:buClr>
              <a:buSzPts val="1100"/>
              <a:buFont typeface="Arial"/>
              <a:buNone/>
            </a:pPr>
            <a:r>
              <a:rPr lang="en-GB"/>
              <a:t>(See also the inbuilt ESP IDF and Arduino core macros, e.g. </a:t>
            </a:r>
            <a:r>
              <a:rPr lang="en-GB" u="sng"/>
              <a:t>log_w</a:t>
            </a:r>
            <a:r>
              <a:rPr lang="en-GB"/>
              <a:t>, </a:t>
            </a:r>
            <a:r>
              <a:rPr lang="en-GB" u="sng"/>
              <a:t>log_e</a:t>
            </a:r>
            <a:r>
              <a:rPr lang="en-GB"/>
              <a:t>, …)</a:t>
            </a:r>
            <a:br>
              <a:rPr lang="en-GB" sz="1100">
                <a:highlight>
                  <a:srgbClr val="FFFFFF"/>
                </a:highlight>
              </a:rPr>
            </a:br>
            <a:endParaRPr sz="1000">
              <a:solidFill>
                <a:srgbClr val="696969"/>
              </a:solidFill>
              <a:highlight>
                <a:srgbClr val="FFFFFF"/>
              </a:highlight>
            </a:endParaRPr>
          </a:p>
        </p:txBody>
      </p:sp>
      <p:sp>
        <p:nvSpPr>
          <p:cNvPr id="176" name="Google Shape;176;p34"/>
          <p:cNvSpPr txBox="1"/>
          <p:nvPr>
            <p:ph type="title"/>
          </p:nvPr>
        </p:nvSpPr>
        <p:spPr>
          <a:xfrm>
            <a:off x="903050" y="22375"/>
            <a:ext cx="7374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a:t>
            </a:r>
            <a:r>
              <a:rPr lang="en-GB" sz="2400"/>
              <a:t>ESP32 Firmware, the Story so Far (2: debug idiom)]</a:t>
            </a:r>
            <a:endParaRPr sz="2400"/>
          </a:p>
        </p:txBody>
      </p:sp>
      <p:sp>
        <p:nvSpPr>
          <p:cNvPr id="177" name="Google Shape;177;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8" name="Google Shape;178;p34"/>
          <p:cNvSpPr/>
          <p:nvPr/>
        </p:nvSpPr>
        <p:spPr>
          <a:xfrm>
            <a:off x="34925" y="4529835"/>
            <a:ext cx="593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4"/>
          <p:cNvSpPr txBox="1"/>
          <p:nvPr>
            <p:ph idx="1" type="body"/>
          </p:nvPr>
        </p:nvSpPr>
        <p:spPr>
          <a:xfrm>
            <a:off x="4366300" y="477250"/>
            <a:ext cx="49701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00">
                <a:solidFill>
                  <a:srgbClr val="696969"/>
                </a:solidFill>
                <a:highlight>
                  <a:srgbClr val="FFFFFF"/>
                </a:highlight>
              </a:rPr>
              <a:t>// Ex04.ino</a:t>
            </a:r>
            <a:br>
              <a:rPr lang="en-GB" sz="1100">
                <a:highlight>
                  <a:srgbClr val="FFFFFF"/>
                </a:highlight>
              </a:rPr>
            </a:br>
            <a:br>
              <a:rPr lang="en-GB" sz="1100">
                <a:highlight>
                  <a:srgbClr val="FFFFFF"/>
                </a:highlight>
              </a:rPr>
            </a:br>
            <a:r>
              <a:rPr lang="en-GB" sz="1100">
                <a:solidFill>
                  <a:srgbClr val="696969"/>
                </a:solidFill>
                <a:highlight>
                  <a:srgbClr val="FFFFFF"/>
                </a:highlight>
              </a:rPr>
              <a:t>// setup and loop ///////////////////////////////////////////////////////////</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setup04</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setup03</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previous setups: get the MAC, set up GPIO pins, ...</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startupDBG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F69FF"/>
                </a:solidFill>
                <a:highlight>
                  <a:srgbClr val="FFFFFF"/>
                </a:highlight>
              </a:rPr>
              <a:t>\n</a:t>
            </a:r>
            <a:r>
              <a:rPr lang="en-GB" sz="1100">
                <a:solidFill>
                  <a:srgbClr val="0000E6"/>
                </a:solidFill>
                <a:highlight>
                  <a:srgbClr val="FFFFFF"/>
                </a:highlight>
              </a:rPr>
              <a:t>setup04...</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debug printout on serial, with newline</a:t>
            </a:r>
            <a:br>
              <a:rPr lang="en-GB" sz="1100">
                <a:highlight>
                  <a:srgbClr val="FFFFFF"/>
                </a:highlight>
              </a:rPr>
            </a:br>
            <a:r>
              <a:rPr lang="en-GB" sz="1100">
                <a:solidFill>
                  <a:srgbClr val="800080"/>
                </a:solidFill>
                <a:highlight>
                  <a:srgbClr val="FFFFFF"/>
                </a:highlight>
              </a:rPr>
              <a:t>}</a:t>
            </a:r>
            <a:br>
              <a:rPr lang="en-GB" sz="1100">
                <a:highlight>
                  <a:srgbClr val="FFFFFF"/>
                </a:highlight>
              </a:rPr>
            </a:br>
            <a:br>
              <a:rPr lang="en-GB" sz="1100">
                <a:highlight>
                  <a:srgbClr val="FFFFFF"/>
                </a:highlight>
              </a:rPr>
            </a:br>
            <a:r>
              <a:rPr b="1" lang="en-GB" sz="1100">
                <a:solidFill>
                  <a:srgbClr val="800000"/>
                </a:solidFill>
                <a:highlight>
                  <a:srgbClr val="FFFFFF"/>
                </a:highlight>
              </a:rPr>
              <a:t>void</a:t>
            </a:r>
            <a:r>
              <a:rPr lang="en-GB" sz="1100">
                <a:highlight>
                  <a:srgbClr val="FFFFFF"/>
                </a:highlight>
              </a:rPr>
              <a:t> loop04</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ESP32 MAC =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print the...</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MAC_ADDRESS</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...ESP's "ID"</a:t>
            </a:r>
            <a:br>
              <a:rPr lang="en-GB" sz="1100">
                <a:highlight>
                  <a:srgbClr val="FFFFFF"/>
                </a:highlight>
              </a:rPr>
            </a:br>
            <a:r>
              <a:rPr lang="en-GB" sz="1100">
                <a:highlight>
                  <a:srgbClr val="FFFFFF"/>
                </a:highlight>
              </a:rPr>
              <a:t>  blink</a:t>
            </a:r>
            <a:r>
              <a:rPr lang="en-GB" sz="1100">
                <a:solidFill>
                  <a:srgbClr val="808030"/>
                </a:solidFill>
                <a:highlight>
                  <a:srgbClr val="FFFFFF"/>
                </a:highlight>
              </a:rPr>
              <a:t>(</a:t>
            </a:r>
            <a:r>
              <a:rPr lang="en-GB" sz="1100">
                <a:solidFill>
                  <a:srgbClr val="008C00"/>
                </a:solidFill>
                <a:highlight>
                  <a:srgbClr val="FFFFFF"/>
                </a:highlight>
              </a:rPr>
              <a:t>3</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blink the on-board LED...</a:t>
            </a:r>
            <a:br>
              <a:rPr lang="en-GB" sz="1100">
                <a:highlight>
                  <a:srgbClr val="FFFFFF"/>
                </a:highlight>
              </a:rPr>
            </a:br>
            <a:r>
              <a:rPr lang="en-GB" sz="1100">
                <a:highlight>
                  <a:srgbClr val="FFFFFF"/>
                </a:highlight>
              </a:rPr>
              <a:t>  delay</a:t>
            </a:r>
            <a:r>
              <a:rPr lang="en-GB" sz="1100">
                <a:solidFill>
                  <a:srgbClr val="808030"/>
                </a:solidFill>
                <a:highlight>
                  <a:srgbClr val="FFFFFF"/>
                </a:highlight>
              </a:rPr>
              <a:t>(</a:t>
            </a:r>
            <a:r>
              <a:rPr lang="en-GB" sz="1100">
                <a:solidFill>
                  <a:srgbClr val="008C00"/>
                </a:solidFill>
                <a:highlight>
                  <a:srgbClr val="FFFFFF"/>
                </a:highlight>
              </a:rPr>
              <a:t>1000</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...and pause</a:t>
            </a:r>
            <a:br>
              <a:rPr lang="en-GB" sz="1100">
                <a:highlight>
                  <a:srgbClr val="FFFFFF"/>
                </a:highlight>
              </a:rPr>
            </a:br>
            <a:r>
              <a:rPr lang="en-GB" sz="1100">
                <a:solidFill>
                  <a:srgbClr val="800080"/>
                </a:solidFill>
                <a:highlight>
                  <a:srgbClr val="FFFFFF"/>
                </a:highlight>
              </a:rPr>
              <a:t>}</a:t>
            </a:r>
            <a:endParaRPr sz="1100">
              <a:solidFill>
                <a:srgbClr val="800080"/>
              </a:solidFill>
              <a:highlight>
                <a:srgbClr val="FFFFFF"/>
              </a:highlight>
            </a:endParaRPr>
          </a:p>
          <a:p>
            <a:pPr indent="0" lvl="0" marL="0" rtl="0" algn="l">
              <a:spcBef>
                <a:spcPts val="1000"/>
              </a:spcBef>
              <a:spcAft>
                <a:spcPts val="1000"/>
              </a:spcAft>
              <a:buClr>
                <a:schemeClr val="dk1"/>
              </a:buClr>
              <a:buSzPts val="1100"/>
              <a:buFont typeface="Arial"/>
              <a:buNone/>
            </a:pPr>
            <a:r>
              <a:t/>
            </a:r>
            <a:endParaRPr b="1" sz="1100">
              <a:solidFill>
                <a:srgbClr val="800000"/>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912875" y="22375"/>
            <a:ext cx="736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a:t>
            </a:r>
            <a:r>
              <a:rPr lang="en-GB" sz="2400"/>
              <a:t>ESP32 Firmware, the Story so Far (3: control idiom)]</a:t>
            </a:r>
            <a:endParaRPr sz="2400"/>
          </a:p>
        </p:txBody>
      </p:sp>
      <p:sp>
        <p:nvSpPr>
          <p:cNvPr id="185" name="Google Shape;185;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6" name="Google Shape;186;p35"/>
          <p:cNvSpPr/>
          <p:nvPr/>
        </p:nvSpPr>
        <p:spPr>
          <a:xfrm>
            <a:off x="34925" y="4529835"/>
            <a:ext cx="593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5"/>
          <p:cNvSpPr txBox="1"/>
          <p:nvPr>
            <p:ph idx="1" type="body"/>
          </p:nvPr>
        </p:nvSpPr>
        <p:spPr>
          <a:xfrm>
            <a:off x="-34370" y="493725"/>
            <a:ext cx="4792200" cy="4563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en-GB" sz="1100">
                <a:solidFill>
                  <a:srgbClr val="696969"/>
                </a:solidFill>
                <a:highlight>
                  <a:srgbClr val="FFFFFF"/>
                </a:highlight>
              </a:rPr>
              <a:t>// Ex05.h: loop slicing</a:t>
            </a:r>
            <a:br>
              <a:rPr lang="en-GB" sz="1100">
                <a:highlight>
                  <a:srgbClr val="FFFFFF"/>
                </a:highlight>
              </a:rPr>
            </a:br>
            <a:r>
              <a:rPr lang="en-GB" sz="1100">
                <a:solidFill>
                  <a:srgbClr val="004A43"/>
                </a:solidFill>
                <a:highlight>
                  <a:srgbClr val="FFFFFF"/>
                </a:highlight>
              </a:rPr>
              <a:t>#ifndef LAB_05_H </a:t>
            </a:r>
            <a:br>
              <a:rPr lang="en-GB" sz="1100">
                <a:highlight>
                  <a:srgbClr val="FFFFFF"/>
                </a:highlight>
              </a:rPr>
            </a:br>
            <a:r>
              <a:rPr lang="en-GB" sz="1100">
                <a:solidFill>
                  <a:srgbClr val="004A43"/>
                </a:solidFill>
                <a:highlight>
                  <a:srgbClr val="FFFFFF"/>
                </a:highlight>
              </a:rPr>
              <a:t>#define LAB_05_H</a:t>
            </a:r>
            <a:br>
              <a:rPr lang="en-GB" sz="1100">
                <a:highlight>
                  <a:srgbClr val="FFFFFF"/>
                </a:highlight>
              </a:rPr>
            </a:br>
            <a:r>
              <a:rPr b="1" lang="en-GB" sz="1100">
                <a:solidFill>
                  <a:srgbClr val="800000"/>
                </a:solidFill>
                <a:highlight>
                  <a:srgbClr val="FFFFFF"/>
                </a:highlight>
              </a:rPr>
              <a:t>unsigned</a:t>
            </a:r>
            <a:r>
              <a:rPr lang="en-GB" sz="1100">
                <a:highlight>
                  <a:srgbClr val="FFFFFF"/>
                </a:highlight>
              </a:rPr>
              <a:t> </a:t>
            </a:r>
            <a:r>
              <a:rPr b="1" lang="en-GB" sz="1100">
                <a:solidFill>
                  <a:srgbClr val="800000"/>
                </a:solidFill>
                <a:highlight>
                  <a:srgbClr val="FFFFFF"/>
                </a:highlight>
              </a:rPr>
              <a:t>long</a:t>
            </a:r>
            <a:r>
              <a:rPr lang="en-GB" sz="1100">
                <a:highlight>
                  <a:srgbClr val="FFFFFF"/>
                </a:highlight>
              </a:rPr>
              <a:t> firstSliceMillis</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what time did we start?</a:t>
            </a:r>
            <a:br>
              <a:rPr lang="en-GB" sz="1100">
                <a:highlight>
                  <a:srgbClr val="FFFFFF"/>
                </a:highlight>
              </a:rPr>
            </a:br>
            <a:r>
              <a:rPr b="1" lang="en-GB" sz="1100">
                <a:solidFill>
                  <a:srgbClr val="800000"/>
                </a:solidFill>
                <a:highlight>
                  <a:srgbClr val="FFFFFF"/>
                </a:highlight>
              </a:rPr>
              <a:t>unsigned</a:t>
            </a:r>
            <a:r>
              <a:rPr lang="en-GB" sz="1100">
                <a:highlight>
                  <a:srgbClr val="FFFFFF"/>
                </a:highlight>
              </a:rPr>
              <a:t> </a:t>
            </a:r>
            <a:r>
              <a:rPr b="1" lang="en-GB" sz="1100">
                <a:solidFill>
                  <a:srgbClr val="800000"/>
                </a:solidFill>
                <a:highlight>
                  <a:srgbClr val="FFFFFF"/>
                </a:highlight>
              </a:rPr>
              <a:t>long</a:t>
            </a:r>
            <a:r>
              <a:rPr lang="en-GB" sz="1100">
                <a:highlight>
                  <a:srgbClr val="FFFFFF"/>
                </a:highlight>
              </a:rPr>
              <a:t> lastSliceMillis</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what time did we last run this action?</a:t>
            </a:r>
            <a:br>
              <a:rPr lang="en-GB" sz="1100">
                <a:highlight>
                  <a:srgbClr val="FFFFFF"/>
                </a:highlight>
              </a:rPr>
            </a:br>
            <a:r>
              <a:rPr b="1" lang="en-GB" sz="1100">
                <a:solidFill>
                  <a:srgbClr val="800000"/>
                </a:solidFill>
                <a:highlight>
                  <a:srgbClr val="FFFFFF"/>
                </a:highlight>
              </a:rPr>
              <a:t>int</a:t>
            </a:r>
            <a:r>
              <a:rPr lang="en-GB" sz="1100">
                <a:highlight>
                  <a:srgbClr val="FFFFFF"/>
                </a:highlight>
              </a:rPr>
              <a:t> loopIteration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0</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 control iterator for slicing up the main loop</a:t>
            </a:r>
            <a:br>
              <a:rPr lang="en-GB" sz="1100">
                <a:highlight>
                  <a:srgbClr val="FFFFFF"/>
                </a:highlight>
              </a:rPr>
            </a:br>
            <a:r>
              <a:rPr b="1" lang="en-GB" sz="1100">
                <a:solidFill>
                  <a:srgbClr val="800000"/>
                </a:solidFill>
                <a:highlight>
                  <a:srgbClr val="FFFFFF"/>
                </a:highlight>
              </a:rPr>
              <a:t>const</a:t>
            </a:r>
            <a:r>
              <a:rPr lang="en-GB" sz="1100">
                <a:highlight>
                  <a:srgbClr val="FFFFFF"/>
                </a:highlight>
              </a:rPr>
              <a:t> </a:t>
            </a:r>
            <a:r>
              <a:rPr b="1" lang="en-GB" sz="1100">
                <a:solidFill>
                  <a:srgbClr val="800000"/>
                </a:solidFill>
                <a:highlight>
                  <a:srgbClr val="FFFFFF"/>
                </a:highlight>
              </a:rPr>
              <a:t>int</a:t>
            </a:r>
            <a:r>
              <a:rPr lang="en-GB" sz="1100">
                <a:highlight>
                  <a:srgbClr val="FFFFFF"/>
                </a:highlight>
              </a:rPr>
              <a:t> LOOP_ROLLOVER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25000000</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 loops per action seq</a:t>
            </a:r>
            <a:br>
              <a:rPr lang="en-GB" sz="1100">
                <a:highlight>
                  <a:srgbClr val="FFFFFF"/>
                </a:highlight>
              </a:rPr>
            </a:br>
            <a:r>
              <a:rPr lang="en-GB" sz="1100">
                <a:solidFill>
                  <a:srgbClr val="004A43"/>
                </a:solidFill>
                <a:highlight>
                  <a:srgbClr val="FFFFFF"/>
                </a:highlight>
              </a:rPr>
              <a:t>#endif</a:t>
            </a:r>
            <a:br>
              <a:rPr lang="en-GB" sz="1100">
                <a:highlight>
                  <a:srgbClr val="FFFFFF"/>
                </a:highlight>
              </a:rPr>
            </a:br>
            <a:br>
              <a:rPr lang="en-GB" sz="1100">
                <a:highlight>
                  <a:srgbClr val="FFFFFF"/>
                </a:highlight>
              </a:rPr>
            </a:br>
            <a:r>
              <a:rPr lang="en-GB" sz="1100">
                <a:solidFill>
                  <a:srgbClr val="696969"/>
                </a:solidFill>
                <a:highlight>
                  <a:srgbClr val="FFFFFF"/>
                </a:highlight>
              </a:rPr>
              <a:t>// Ex05.ino</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setup05</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setup04</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previous setups: get MAC, set up GPIO pins, ...</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startupDBG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F69FF"/>
                </a:solidFill>
                <a:highlight>
                  <a:srgbClr val="FFFFFF"/>
                </a:highlight>
              </a:rPr>
              <a:t>\n</a:t>
            </a:r>
            <a:r>
              <a:rPr lang="en-GB" sz="1100">
                <a:solidFill>
                  <a:srgbClr val="0000E6"/>
                </a:solidFill>
                <a:highlight>
                  <a:srgbClr val="FFFFFF"/>
                </a:highlight>
              </a:rPr>
              <a:t>setup05...</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debug printout on serial, with newline</a:t>
            </a:r>
            <a:br>
              <a:rPr lang="en-GB" sz="1100">
                <a:highlight>
                  <a:srgbClr val="FFFFFF"/>
                </a:highlight>
              </a:rPr>
            </a:br>
            <a:r>
              <a:rPr lang="en-GB" sz="1100">
                <a:highlight>
                  <a:srgbClr val="FFFFFF"/>
                </a:highlight>
              </a:rPr>
              <a:t>  firstSliceMillis </a:t>
            </a:r>
            <a:r>
              <a:rPr lang="en-GB" sz="1100">
                <a:solidFill>
                  <a:srgbClr val="808030"/>
                </a:solidFill>
                <a:highlight>
                  <a:srgbClr val="FFFFFF"/>
                </a:highlight>
              </a:rPr>
              <a:t>=</a:t>
            </a:r>
            <a:r>
              <a:rPr lang="en-GB" sz="1100">
                <a:highlight>
                  <a:srgbClr val="FFFFFF"/>
                </a:highlight>
              </a:rPr>
              <a:t> millis</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remember when we began</a:t>
            </a:r>
            <a:br>
              <a:rPr lang="en-GB" sz="1100">
                <a:highlight>
                  <a:srgbClr val="FFFFFF"/>
                </a:highlight>
              </a:rPr>
            </a:br>
            <a:r>
              <a:rPr lang="en-GB" sz="1100">
                <a:highlight>
                  <a:srgbClr val="FFFFFF"/>
                </a:highlight>
              </a:rPr>
              <a:t>  lastSliceMillis </a:t>
            </a:r>
            <a:r>
              <a:rPr lang="en-GB" sz="1100">
                <a:solidFill>
                  <a:srgbClr val="808030"/>
                </a:solidFill>
                <a:highlight>
                  <a:srgbClr val="FFFFFF"/>
                </a:highlight>
              </a:rPr>
              <a:t>=</a:t>
            </a:r>
            <a:r>
              <a:rPr lang="en-GB" sz="1100">
                <a:highlight>
                  <a:srgbClr val="FFFFFF"/>
                </a:highlight>
              </a:rPr>
              <a:t> firstSliceMillis</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an approximation to use in first loop</a:t>
            </a:r>
            <a:br>
              <a:rPr lang="en-GB" sz="1100">
                <a:highlight>
                  <a:srgbClr val="FFFFFF"/>
                </a:highlight>
              </a:rPr>
            </a:br>
            <a:r>
              <a:rPr lang="en-GB" sz="1100">
                <a:solidFill>
                  <a:srgbClr val="800080"/>
                </a:solidFill>
                <a:highlight>
                  <a:srgbClr val="FFFFFF"/>
                </a:highlight>
              </a:rPr>
              <a:t>}</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loop05</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Q what types of timings do different slices equate to?</a:t>
            </a:r>
            <a:br>
              <a:rPr lang="en-GB" sz="1100">
                <a:highlight>
                  <a:srgbClr val="FFFFFF"/>
                </a:highlight>
              </a:rPr>
            </a:br>
            <a:r>
              <a:rPr lang="en-GB" sz="1100">
                <a:highlight>
                  <a:srgbClr val="FFFFFF"/>
                </a:highlight>
              </a:rPr>
              <a:t>  </a:t>
            </a:r>
            <a:r>
              <a:rPr b="1" lang="en-GB" sz="1100">
                <a:solidFill>
                  <a:srgbClr val="800000"/>
                </a:solidFill>
                <a:highlight>
                  <a:srgbClr val="FFFFFF"/>
                </a:highlight>
              </a:rPr>
              <a:t>int</a:t>
            </a:r>
            <a:r>
              <a:rPr lang="en-GB" sz="1100">
                <a:highlight>
                  <a:srgbClr val="FFFFFF"/>
                </a:highlight>
              </a:rPr>
              <a:t> sliceSize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1000000</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int</a:t>
            </a:r>
            <a:r>
              <a:rPr lang="en-GB" sz="1100">
                <a:highlight>
                  <a:srgbClr val="FFFFFF"/>
                </a:highlight>
              </a:rPr>
              <a:t> TICK_DO_SOMETHING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1</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int</a:t>
            </a:r>
            <a:r>
              <a:rPr lang="en-GB" sz="1100">
                <a:highlight>
                  <a:srgbClr val="FFFFFF"/>
                </a:highlight>
              </a:rPr>
              <a:t> TICK_DO_SOMETHING_ELSE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9999999</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696969"/>
                </a:solidFill>
                <a:highlight>
                  <a:srgbClr val="FFFFFF"/>
                </a:highlight>
              </a:rPr>
              <a:t>// actions on individual iterations</a:t>
            </a:r>
            <a:br>
              <a:rPr lang="en-GB" sz="1100">
                <a:highlight>
                  <a:srgbClr val="FFFFFF"/>
                </a:highlight>
              </a:rPr>
            </a:br>
            <a:r>
              <a:rPr lang="en-GB" sz="1100">
                <a:highlight>
                  <a:srgbClr val="FFFFFF"/>
                </a:highlight>
              </a:rPr>
              <a:t>  </a:t>
            </a:r>
            <a:r>
              <a:rPr b="1" lang="en-GB" sz="1100">
                <a:solidFill>
                  <a:srgbClr val="800000"/>
                </a:solidFill>
                <a:highlight>
                  <a:srgbClr val="FFFFFF"/>
                </a:highlight>
              </a:rPr>
              <a:t>...</a:t>
            </a:r>
            <a:endParaRPr sz="1100">
              <a:solidFill>
                <a:srgbClr val="696969"/>
              </a:solidFill>
              <a:highlight>
                <a:srgbClr val="FFFFFF"/>
              </a:highlight>
            </a:endParaRPr>
          </a:p>
        </p:txBody>
      </p:sp>
      <p:sp>
        <p:nvSpPr>
          <p:cNvPr id="188" name="Google Shape;188;p35"/>
          <p:cNvSpPr txBox="1"/>
          <p:nvPr>
            <p:ph idx="1" type="body"/>
          </p:nvPr>
        </p:nvSpPr>
        <p:spPr>
          <a:xfrm>
            <a:off x="4474200" y="477250"/>
            <a:ext cx="53196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loopIteration </a:t>
            </a:r>
            <a:r>
              <a:rPr lang="en-GB" sz="1100">
                <a:solidFill>
                  <a:srgbClr val="808030"/>
                </a:solidFill>
                <a:highlight>
                  <a:srgbClr val="FFFFFF"/>
                </a:highlight>
              </a:rPr>
              <a:t>==</a:t>
            </a:r>
            <a:r>
              <a:rPr lang="en-GB" sz="1100">
                <a:highlight>
                  <a:srgbClr val="FFFFFF"/>
                </a:highlight>
              </a:rPr>
              <a:t> TICK_DO_SOMETHING</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do task for this iteration</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doing something, loopIteration number =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loopIteration</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b="1" lang="en-GB" sz="1100">
                <a:solidFill>
                  <a:srgbClr val="800000"/>
                </a:solidFill>
                <a:highlight>
                  <a:srgbClr val="FFFFFF"/>
                </a:highlight>
              </a:rPr>
              <a:t>else</a:t>
            </a: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loopIteration </a:t>
            </a:r>
            <a:r>
              <a:rPr lang="en-GB" sz="1100">
                <a:solidFill>
                  <a:srgbClr val="808030"/>
                </a:solidFill>
                <a:highlight>
                  <a:srgbClr val="FFFFFF"/>
                </a:highlight>
              </a:rPr>
              <a:t>==</a:t>
            </a:r>
            <a:r>
              <a:rPr lang="en-GB" sz="1100">
                <a:highlight>
                  <a:srgbClr val="FFFFFF"/>
                </a:highlight>
              </a:rPr>
              <a:t> TICK_DO_SOMETHING_ELSE</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other task...</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doing something else, loopIteration number =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loopIteration</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696969"/>
                </a:solidFill>
                <a:highlight>
                  <a:srgbClr val="FFFFFF"/>
                </a:highlight>
              </a:rPr>
              <a:t>// actions on each X slices</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loopIteration </a:t>
            </a:r>
            <a:r>
              <a:rPr lang="en-GB" sz="1100">
                <a:solidFill>
                  <a:srgbClr val="808030"/>
                </a:solidFill>
                <a:highlight>
                  <a:srgbClr val="FFFFFF"/>
                </a:highlight>
              </a:rPr>
              <a:t>%</a:t>
            </a:r>
            <a:r>
              <a:rPr lang="en-GB" sz="1100">
                <a:highlight>
                  <a:srgbClr val="FFFFFF"/>
                </a:highlight>
              </a:rPr>
              <a:t> sliceSize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0</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 slice every sliceSize iterations</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loopIteration number =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loopIteration</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 slice lasted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millis</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lastSliceMillis</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 milliseconds</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 slice size is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sliceSize</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lastSliceMillis </a:t>
            </a:r>
            <a:r>
              <a:rPr lang="en-GB" sz="1100">
                <a:solidFill>
                  <a:srgbClr val="808030"/>
                </a:solidFill>
                <a:highlight>
                  <a:srgbClr val="FFFFFF"/>
                </a:highlight>
              </a:rPr>
              <a:t>=</a:t>
            </a:r>
            <a:r>
              <a:rPr lang="en-GB" sz="1100">
                <a:highlight>
                  <a:srgbClr val="FFFFFF"/>
                </a:highlight>
              </a:rPr>
              <a:t> millis</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696969"/>
                </a:solidFill>
                <a:highlight>
                  <a:srgbClr val="FFFFFF"/>
                </a:highlight>
              </a:rPr>
              <a:t>// roll over (alternative: just let the counter overflow...)</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loopIteration</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LOOP_ROLLOVER</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loopIteration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0</a:t>
            </a:r>
            <a:r>
              <a:rPr lang="en-GB" sz="1100">
                <a:solidFill>
                  <a:srgbClr val="800080"/>
                </a:solidFill>
                <a:highlight>
                  <a:srgbClr val="FFFFFF"/>
                </a:highlight>
              </a:rPr>
              <a:t>;</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loopIteration rolling over;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LOOP_ROLLOVER</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 loops lasted </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dbg</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millis</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firstSliceMillis</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loopDBG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 milliseconds...; rolling over</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 </a:t>
            </a:r>
            <a:r>
              <a:rPr lang="en-GB" sz="1100">
                <a:solidFill>
                  <a:srgbClr val="696969"/>
                </a:solidFill>
                <a:highlight>
                  <a:srgbClr val="FFFFFF"/>
                </a:highlight>
              </a:rPr>
              <a:t>// loop05()</a:t>
            </a:r>
            <a:endParaRPr sz="1100">
              <a:solidFill>
                <a:srgbClr val="800080"/>
              </a:solidFill>
              <a:highlight>
                <a:srgbClr val="FFFFFF"/>
              </a:highlight>
            </a:endParaRPr>
          </a:p>
          <a:p>
            <a:pPr indent="0" lvl="0" marL="0" rtl="0" algn="l">
              <a:spcBef>
                <a:spcPts val="1000"/>
              </a:spcBef>
              <a:spcAft>
                <a:spcPts val="1000"/>
              </a:spcAft>
              <a:buClr>
                <a:schemeClr val="dk1"/>
              </a:buClr>
              <a:buSzPts val="1100"/>
              <a:buFont typeface="Arial"/>
              <a:buNone/>
            </a:pPr>
            <a:r>
              <a:t/>
            </a:r>
            <a:endParaRPr b="1" sz="1100">
              <a:solidFill>
                <a:srgbClr val="800000"/>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6"/>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ESP32 Firmware, </a:t>
            </a:r>
            <a:r>
              <a:rPr lang="en-GB" sz="2400"/>
              <a:t>the Story so Far</a:t>
            </a:r>
            <a:r>
              <a:rPr lang="en-GB" sz="2400"/>
              <a:t> (4: APs &amp; HTTP)</a:t>
            </a:r>
            <a:endParaRPr sz="2400"/>
          </a:p>
        </p:txBody>
      </p:sp>
      <p:sp>
        <p:nvSpPr>
          <p:cNvPr id="194" name="Google Shape;194;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5" name="Google Shape;195;p36"/>
          <p:cNvSpPr/>
          <p:nvPr/>
        </p:nvSpPr>
        <p:spPr>
          <a:xfrm>
            <a:off x="34925" y="4529835"/>
            <a:ext cx="593700" cy="572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txBox="1"/>
          <p:nvPr>
            <p:ph idx="1" type="body"/>
          </p:nvPr>
        </p:nvSpPr>
        <p:spPr>
          <a:xfrm>
            <a:off x="-34370" y="493725"/>
            <a:ext cx="4792200" cy="4563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lang="en-GB" sz="1100">
                <a:solidFill>
                  <a:srgbClr val="696969"/>
                </a:solidFill>
                <a:highlight>
                  <a:srgbClr val="FFFFFF"/>
                </a:highlight>
              </a:rPr>
              <a:t>// Ex06.h: starting up a wifi access point and web server</a:t>
            </a:r>
            <a:br>
              <a:rPr lang="en-GB" sz="1100">
                <a:highlight>
                  <a:srgbClr val="FFFFFF"/>
                </a:highlight>
              </a:rPr>
            </a:br>
            <a:r>
              <a:rPr lang="en-GB" sz="1100">
                <a:solidFill>
                  <a:srgbClr val="004A43"/>
                </a:solidFill>
                <a:highlight>
                  <a:srgbClr val="FFFFFF"/>
                </a:highlight>
              </a:rPr>
              <a:t>#ifndef LAB_06_H </a:t>
            </a:r>
            <a:br>
              <a:rPr lang="en-GB" sz="1100">
                <a:highlight>
                  <a:srgbClr val="FFFFFF"/>
                </a:highlight>
              </a:rPr>
            </a:br>
            <a:r>
              <a:rPr lang="en-GB" sz="1100">
                <a:solidFill>
                  <a:srgbClr val="004A43"/>
                </a:solidFill>
                <a:highlight>
                  <a:srgbClr val="FFFFFF"/>
                </a:highlight>
              </a:rPr>
              <a:t>#define LAB_06_H</a:t>
            </a:r>
            <a:br>
              <a:rPr lang="en-GB" sz="1100">
                <a:highlight>
                  <a:srgbClr val="FFFFFF"/>
                </a:highlight>
              </a:rPr>
            </a:br>
            <a:r>
              <a:rPr lang="en-GB" sz="1100">
                <a:solidFill>
                  <a:srgbClr val="004A43"/>
                </a:solidFill>
                <a:highlight>
                  <a:srgbClr val="FFFFFF"/>
                </a:highlight>
              </a:rPr>
              <a:t>#include </a:t>
            </a:r>
            <a:r>
              <a:rPr lang="en-GB" sz="1100">
                <a:solidFill>
                  <a:srgbClr val="800000"/>
                </a:solidFill>
                <a:highlight>
                  <a:srgbClr val="FFFFFF"/>
                </a:highlight>
              </a:rPr>
              <a:t>&lt;</a:t>
            </a:r>
            <a:r>
              <a:rPr lang="en-GB" sz="1100">
                <a:solidFill>
                  <a:srgbClr val="40015A"/>
                </a:solidFill>
                <a:highlight>
                  <a:srgbClr val="FFFFFF"/>
                </a:highlight>
              </a:rPr>
              <a:t>WiFi.h</a:t>
            </a:r>
            <a:r>
              <a:rPr lang="en-GB" sz="1100">
                <a:solidFill>
                  <a:srgbClr val="800000"/>
                </a:solidFill>
                <a:highlight>
                  <a:srgbClr val="FFFFFF"/>
                </a:highlight>
              </a:rPr>
              <a:t>&gt;</a:t>
            </a:r>
            <a:br>
              <a:rPr lang="en-GB" sz="1100">
                <a:highlight>
                  <a:srgbClr val="FFFFFF"/>
                </a:highlight>
              </a:rPr>
            </a:br>
            <a:r>
              <a:rPr lang="en-GB" sz="1100">
                <a:solidFill>
                  <a:srgbClr val="004A43"/>
                </a:solidFill>
                <a:highlight>
                  <a:srgbClr val="FFFFFF"/>
                </a:highlight>
              </a:rPr>
              <a:t>#include </a:t>
            </a:r>
            <a:r>
              <a:rPr lang="en-GB" sz="1100">
                <a:solidFill>
                  <a:srgbClr val="800000"/>
                </a:solidFill>
                <a:highlight>
                  <a:srgbClr val="FFFFFF"/>
                </a:highlight>
              </a:rPr>
              <a:t>&lt;</a:t>
            </a:r>
            <a:r>
              <a:rPr lang="en-GB" sz="1100">
                <a:solidFill>
                  <a:srgbClr val="40015A"/>
                </a:solidFill>
                <a:highlight>
                  <a:srgbClr val="FFFFFF"/>
                </a:highlight>
              </a:rPr>
              <a:t>ESPWebServer.h</a:t>
            </a:r>
            <a:r>
              <a:rPr lang="en-GB" sz="1100">
                <a:solidFill>
                  <a:srgbClr val="800000"/>
                </a:solidFill>
                <a:highlight>
                  <a:srgbClr val="FFFFFF"/>
                </a:highlight>
              </a:rPr>
              <a:t>&gt;</a:t>
            </a:r>
            <a:br>
              <a:rPr lang="en-GB" sz="1100">
                <a:highlight>
                  <a:srgbClr val="FFFFFF"/>
                </a:highlight>
              </a:rPr>
            </a:br>
            <a:r>
              <a:rPr lang="en-GB" sz="1100">
                <a:solidFill>
                  <a:srgbClr val="603000"/>
                </a:solidFill>
                <a:highlight>
                  <a:srgbClr val="FFFFFF"/>
                </a:highlight>
              </a:rPr>
              <a:t>String</a:t>
            </a:r>
            <a:r>
              <a:rPr lang="en-GB" sz="1100">
                <a:highlight>
                  <a:srgbClr val="FFFFFF"/>
                </a:highlight>
              </a:rPr>
              <a:t> apSSID</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SSID of the AP</a:t>
            </a:r>
            <a:br>
              <a:rPr lang="en-GB" sz="1100">
                <a:highlight>
                  <a:srgbClr val="FFFFFF"/>
                </a:highlight>
              </a:rPr>
            </a:br>
            <a:r>
              <a:rPr lang="en-GB" sz="1100">
                <a:highlight>
                  <a:srgbClr val="FFFFFF"/>
                </a:highlight>
              </a:rPr>
              <a:t>ESPWebServer webServer</a:t>
            </a:r>
            <a:r>
              <a:rPr lang="en-GB" sz="1100">
                <a:solidFill>
                  <a:srgbClr val="808030"/>
                </a:solidFill>
                <a:highlight>
                  <a:srgbClr val="FFFFFF"/>
                </a:highlight>
              </a:rPr>
              <a:t>(</a:t>
            </a:r>
            <a:r>
              <a:rPr lang="en-GB" sz="1100">
                <a:solidFill>
                  <a:srgbClr val="008C00"/>
                </a:solidFill>
                <a:highlight>
                  <a:srgbClr val="FFFFFF"/>
                </a:highlight>
              </a:rPr>
              <a:t>80</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 simple web server</a:t>
            </a:r>
            <a:br>
              <a:rPr lang="en-GB" sz="1100">
                <a:highlight>
                  <a:srgbClr val="FFFFFF"/>
                </a:highlight>
              </a:rPr>
            </a:br>
            <a:r>
              <a:rPr lang="en-GB" sz="1100">
                <a:solidFill>
                  <a:srgbClr val="004A43"/>
                </a:solidFill>
                <a:highlight>
                  <a:srgbClr val="FFFFFF"/>
                </a:highlight>
              </a:rPr>
              <a:t>#endif</a:t>
            </a:r>
            <a:br>
              <a:rPr lang="en-GB" sz="1100">
                <a:highlight>
                  <a:srgbClr val="FFFFFF"/>
                </a:highlight>
              </a:rPr>
            </a:br>
            <a:br>
              <a:rPr lang="en-GB" sz="1100">
                <a:highlight>
                  <a:srgbClr val="FFFFFF"/>
                </a:highlight>
              </a:rPr>
            </a:br>
            <a:r>
              <a:rPr lang="en-GB" sz="1100">
                <a:solidFill>
                  <a:srgbClr val="696969"/>
                </a:solidFill>
                <a:highlight>
                  <a:srgbClr val="FFFFFF"/>
                </a:highlight>
              </a:rPr>
              <a:t>// Ex06.ino</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setup06</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setup05</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previous setups...</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startupDBG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F69FF"/>
                </a:solidFill>
                <a:highlight>
                  <a:srgbClr val="FFFFFF"/>
                </a:highlight>
              </a:rPr>
              <a:t>\n</a:t>
            </a:r>
            <a:r>
              <a:rPr lang="en-GB" sz="1100">
                <a:solidFill>
                  <a:srgbClr val="0000E6"/>
                </a:solidFill>
                <a:highlight>
                  <a:srgbClr val="FFFFFF"/>
                </a:highlight>
              </a:rPr>
              <a:t>setup06...</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debug printout on serial</a:t>
            </a:r>
            <a:br>
              <a:rPr lang="en-GB" sz="1100">
                <a:highlight>
                  <a:srgbClr val="FFFFFF"/>
                </a:highlight>
              </a:rPr>
            </a:br>
            <a:r>
              <a:rPr lang="en-GB" sz="1100">
                <a:highlight>
                  <a:srgbClr val="FFFFFF"/>
                </a:highlight>
              </a:rPr>
              <a:t>  startAP</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fire up the AP...</a:t>
            </a:r>
            <a:br>
              <a:rPr lang="en-GB" sz="1100">
                <a:highlight>
                  <a:srgbClr val="FFFFFF"/>
                </a:highlight>
              </a:rPr>
            </a:br>
            <a:r>
              <a:rPr lang="en-GB" sz="1100">
                <a:highlight>
                  <a:srgbClr val="FFFFFF"/>
                </a:highlight>
              </a:rPr>
              <a:t>  startWebServer</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...and the web server</a:t>
            </a:r>
            <a:br>
              <a:rPr lang="en-GB" sz="1100">
                <a:highlight>
                  <a:srgbClr val="FFFFFF"/>
                </a:highlight>
              </a:rPr>
            </a:br>
            <a:r>
              <a:rPr lang="en-GB" sz="1100">
                <a:solidFill>
                  <a:srgbClr val="800080"/>
                </a:solidFill>
                <a:highlight>
                  <a:srgbClr val="FFFFFF"/>
                </a:highlight>
              </a:rPr>
              <a:t>}</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loop06</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696969"/>
                </a:solidFill>
                <a:highlight>
                  <a:srgbClr val="FFFFFF"/>
                </a:highlight>
              </a:rPr>
              <a:t>// things to try: how responsive is it with different time slicing options?</a:t>
            </a:r>
            <a:br>
              <a:rPr lang="en-GB" sz="1100">
                <a:highlight>
                  <a:srgbClr val="FFFFFF"/>
                </a:highlight>
              </a:rPr>
            </a:br>
            <a:r>
              <a:rPr lang="en-GB" sz="1100">
                <a:highlight>
                  <a:srgbClr val="FFFFFF"/>
                </a:highlight>
              </a:rPr>
              <a:t>  </a:t>
            </a:r>
            <a:r>
              <a:rPr lang="en-GB" sz="1100">
                <a:solidFill>
                  <a:srgbClr val="696969"/>
                </a:solidFill>
                <a:highlight>
                  <a:srgbClr val="FFFFFF"/>
                </a:highlight>
              </a:rPr>
              <a:t>// or what if we add in "loop02();"...? what if there are mulitple requests?</a:t>
            </a:r>
            <a:br>
              <a:rPr lang="en-GB" sz="1100">
                <a:highlight>
                  <a:srgbClr val="FFFFFF"/>
                </a:highlight>
              </a:rPr>
            </a:br>
            <a:r>
              <a:rPr lang="en-GB" sz="1100">
                <a:highlight>
                  <a:srgbClr val="FFFFFF"/>
                </a:highlight>
              </a:rPr>
              <a:t>  </a:t>
            </a:r>
            <a:r>
              <a:rPr lang="en-GB" sz="1100">
                <a:solidFill>
                  <a:srgbClr val="696969"/>
                </a:solidFill>
                <a:highlight>
                  <a:srgbClr val="FFFFFF"/>
                </a:highlight>
              </a:rPr>
              <a:t>// how might this compare with responsiveness on the ESP8266?</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loopIteration</a:t>
            </a:r>
            <a:r>
              <a:rPr lang="en-GB" sz="1100">
                <a:solidFill>
                  <a:srgbClr val="80803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1000</a:t>
            </a:r>
            <a:r>
              <a:rPr lang="en-GB" sz="1100">
                <a:highlight>
                  <a:srgbClr val="FFFFFF"/>
                </a:highlight>
              </a:rPr>
              <a:t> </a:t>
            </a:r>
            <a:r>
              <a:rPr lang="en-GB" sz="1100">
                <a:solidFill>
                  <a:srgbClr val="808030"/>
                </a:solidFill>
                <a:highlight>
                  <a:srgbClr val="FFFFFF"/>
                </a:highlight>
              </a:rPr>
              <a:t>==</a:t>
            </a:r>
            <a:r>
              <a:rPr lang="en-GB" sz="1100">
                <a:highlight>
                  <a:srgbClr val="FFFFFF"/>
                </a:highlight>
              </a:rPr>
              <a:t> </a:t>
            </a:r>
            <a:r>
              <a:rPr lang="en-GB" sz="1100">
                <a:solidFill>
                  <a:srgbClr val="008C00"/>
                </a:solidFill>
                <a:highlight>
                  <a:srgbClr val="FFFFFF"/>
                </a:highlight>
              </a:rPr>
              <a:t>0</a:t>
            </a:r>
            <a:r>
              <a:rPr lang="en-GB" sz="1100">
                <a:solidFill>
                  <a:srgbClr val="808030"/>
                </a:solidFill>
                <a:highlight>
                  <a:srgbClr val="FFFFFF"/>
                </a:highlight>
              </a:rPr>
              <a:t>))</a:t>
            </a:r>
            <a:r>
              <a:rPr lang="en-GB" sz="1100">
                <a:highlight>
                  <a:srgbClr val="FFFFFF"/>
                </a:highlight>
              </a:rPr>
              <a:t> </a:t>
            </a:r>
            <a:r>
              <a:rPr b="1" lang="en-GB" sz="1100">
                <a:solidFill>
                  <a:srgbClr val="800000"/>
                </a:solidFill>
                <a:highlight>
                  <a:srgbClr val="FFFFFF"/>
                </a:highlight>
              </a:rPr>
              <a:t>return</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 slice every 1k iterations</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netDBG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calling webServer.handleClient()...</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webServer</a:t>
            </a:r>
            <a:r>
              <a:rPr lang="en-GB" sz="1100">
                <a:solidFill>
                  <a:srgbClr val="808030"/>
                </a:solidFill>
                <a:highlight>
                  <a:srgbClr val="FFFFFF"/>
                </a:highlight>
              </a:rPr>
              <a:t>.</a:t>
            </a:r>
            <a:r>
              <a:rPr lang="en-GB" sz="1100">
                <a:highlight>
                  <a:srgbClr val="FFFFFF"/>
                </a:highlight>
              </a:rPr>
              <a:t>handleClient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deal with any pending web requests</a:t>
            </a:r>
            <a:br>
              <a:rPr lang="en-GB" sz="1100">
                <a:highlight>
                  <a:srgbClr val="FFFFFF"/>
                </a:highlight>
              </a:rPr>
            </a:br>
            <a:r>
              <a:rPr lang="en-GB" sz="1100">
                <a:solidFill>
                  <a:srgbClr val="800080"/>
                </a:solidFill>
                <a:highlight>
                  <a:srgbClr val="FFFFFF"/>
                </a:highlight>
              </a:rPr>
              <a:t>}</a:t>
            </a:r>
            <a:endParaRPr sz="1100">
              <a:solidFill>
                <a:srgbClr val="696969"/>
              </a:solidFill>
              <a:highlight>
                <a:srgbClr val="FFFFFF"/>
              </a:highlight>
            </a:endParaRPr>
          </a:p>
        </p:txBody>
      </p:sp>
      <p:sp>
        <p:nvSpPr>
          <p:cNvPr id="197" name="Google Shape;197;p36"/>
          <p:cNvSpPr txBox="1"/>
          <p:nvPr>
            <p:ph idx="1" type="body"/>
          </p:nvPr>
        </p:nvSpPr>
        <p:spPr>
          <a:xfrm>
            <a:off x="4485916" y="477250"/>
            <a:ext cx="53196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100">
                <a:solidFill>
                  <a:srgbClr val="800000"/>
                </a:solidFill>
                <a:highlight>
                  <a:srgbClr val="FFFFFF"/>
                </a:highlight>
              </a:rPr>
              <a:t>void</a:t>
            </a:r>
            <a:r>
              <a:rPr lang="en-GB" sz="1100">
                <a:highlight>
                  <a:srgbClr val="FFFFFF"/>
                </a:highlight>
              </a:rPr>
              <a:t> startAP</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apSSID </a:t>
            </a:r>
            <a:r>
              <a:rPr lang="en-GB" sz="1100">
                <a:solidFill>
                  <a:srgbClr val="808030"/>
                </a:solidFill>
                <a:highlight>
                  <a:srgbClr val="FFFFFF"/>
                </a:highlight>
              </a:rPr>
              <a:t>=</a:t>
            </a:r>
            <a:r>
              <a:rPr lang="en-GB" sz="1100">
                <a:highlight>
                  <a:srgbClr val="FFFFFF"/>
                </a:highlight>
              </a:rPr>
              <a:t> </a:t>
            </a:r>
            <a:r>
              <a:rPr lang="en-GB" sz="1100">
                <a:solidFill>
                  <a:srgbClr val="603000"/>
                </a:solidFill>
                <a:highlight>
                  <a:srgbClr val="FFFFFF"/>
                </a:highlight>
              </a:rPr>
              <a:t>String</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Thing-</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apSSID</a:t>
            </a:r>
            <a:r>
              <a:rPr lang="en-GB" sz="1100">
                <a:solidFill>
                  <a:srgbClr val="808030"/>
                </a:solidFill>
                <a:highlight>
                  <a:srgbClr val="FFFFFF"/>
                </a:highlight>
              </a:rPr>
              <a:t>.</a:t>
            </a:r>
            <a:r>
              <a:rPr lang="en-GB" sz="1100">
                <a:highlight>
                  <a:srgbClr val="FFFFFF"/>
                </a:highlight>
              </a:rPr>
              <a:t>concat</a:t>
            </a:r>
            <a:r>
              <a:rPr lang="en-GB" sz="1100">
                <a:solidFill>
                  <a:srgbClr val="808030"/>
                </a:solidFill>
                <a:highlight>
                  <a:srgbClr val="FFFFFF"/>
                </a:highlight>
              </a:rPr>
              <a:t>(</a:t>
            </a:r>
            <a:r>
              <a:rPr lang="en-GB" sz="1100">
                <a:highlight>
                  <a:srgbClr val="FFFFFF"/>
                </a:highlight>
              </a:rPr>
              <a:t>MAC_ADDRESS</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 WiFi</a:t>
            </a:r>
            <a:r>
              <a:rPr lang="en-GB" sz="1100">
                <a:solidFill>
                  <a:srgbClr val="808030"/>
                </a:solidFill>
                <a:highlight>
                  <a:srgbClr val="FFFFFF"/>
                </a:highlight>
              </a:rPr>
              <a:t>.</a:t>
            </a:r>
            <a:r>
              <a:rPr lang="en-GB" sz="1100">
                <a:highlight>
                  <a:srgbClr val="FFFFFF"/>
                </a:highlight>
              </a:rPr>
              <a:t>mode</a:t>
            </a:r>
            <a:r>
              <a:rPr lang="en-GB" sz="1100">
                <a:solidFill>
                  <a:srgbClr val="808030"/>
                </a:solidFill>
                <a:highlight>
                  <a:srgbClr val="FFFFFF"/>
                </a:highlight>
              </a:rPr>
              <a:t>(</a:t>
            </a:r>
            <a:r>
              <a:rPr lang="en-GB" sz="1100">
                <a:highlight>
                  <a:srgbClr val="FFFFFF"/>
                </a:highlight>
              </a:rPr>
              <a:t>WIFI_AP_STA</a:t>
            </a:r>
            <a:r>
              <a:rPr lang="en-GB" sz="1100">
                <a:solidFill>
                  <a:srgbClr val="808030"/>
                </a:solidFill>
                <a:highlight>
                  <a:srgbClr val="FFFFFF"/>
                </a:highlight>
              </a:rPr>
              <a:t>))</a:t>
            </a:r>
            <a:r>
              <a:rPr lang="en-GB" sz="1100">
                <a:highlight>
                  <a:srgbClr val="FFFFFF"/>
                </a:highlight>
              </a:rPr>
              <a:t> dln</a:t>
            </a:r>
            <a:r>
              <a:rPr lang="en-GB" sz="1100">
                <a:solidFill>
                  <a:srgbClr val="808030"/>
                </a:solidFill>
                <a:highlight>
                  <a:srgbClr val="FFFFFF"/>
                </a:highlight>
              </a:rPr>
              <a:t>(</a:t>
            </a:r>
            <a:r>
              <a:rPr lang="en-GB" sz="1100">
                <a:highlight>
                  <a:srgbClr val="FFFFFF"/>
                </a:highlight>
              </a:rPr>
              <a:t>startupDBG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set Wifi mode failed</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 WiFi</a:t>
            </a:r>
            <a:r>
              <a:rPr lang="en-GB" sz="1100">
                <a:solidFill>
                  <a:srgbClr val="808030"/>
                </a:solidFill>
                <a:highlight>
                  <a:srgbClr val="FFFFFF"/>
                </a:highlight>
              </a:rPr>
              <a:t>.</a:t>
            </a:r>
            <a:r>
              <a:rPr lang="en-GB" sz="1100">
                <a:highlight>
                  <a:srgbClr val="FFFFFF"/>
                </a:highlight>
              </a:rPr>
              <a:t>softAP</a:t>
            </a:r>
            <a:r>
              <a:rPr lang="en-GB" sz="1100">
                <a:solidFill>
                  <a:srgbClr val="808030"/>
                </a:solidFill>
                <a:highlight>
                  <a:srgbClr val="FFFFFF"/>
                </a:highlight>
              </a:rPr>
              <a:t>(</a:t>
            </a:r>
            <a:r>
              <a:rPr lang="en-GB" sz="1100">
                <a:highlight>
                  <a:srgbClr val="FFFFFF"/>
                </a:highlight>
              </a:rPr>
              <a:t>apSSID</a:t>
            </a:r>
            <a:r>
              <a:rPr lang="en-GB" sz="1100">
                <a:solidFill>
                  <a:srgbClr val="808030"/>
                </a:solidFill>
                <a:highlight>
                  <a:srgbClr val="FFFFFF"/>
                </a:highlight>
              </a:rPr>
              <a:t>.</a:t>
            </a:r>
            <a:r>
              <a:rPr lang="en-GB" sz="1100">
                <a:highlight>
                  <a:srgbClr val="FFFFFF"/>
                </a:highlight>
              </a:rPr>
              <a:t>c_str</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dumbpassword</a:t>
            </a:r>
            <a:r>
              <a:rPr lang="en-GB" sz="1100">
                <a:solidFill>
                  <a:srgbClr val="800000"/>
                </a:solidFill>
                <a:highlight>
                  <a:srgbClr val="FFFFFF"/>
                </a:highlight>
              </a:rPr>
              <a:t>"</a:t>
            </a:r>
            <a:r>
              <a:rPr lang="en-GB" sz="1100">
                <a:solidFill>
                  <a:srgbClr val="808030"/>
                </a:solidFill>
                <a:highlight>
                  <a:srgbClr val="FFFFFF"/>
                </a:highlight>
              </a:rPr>
              <a:t>))</a:t>
            </a:r>
            <a:br>
              <a:rPr lang="en-GB" sz="1100">
                <a:highlight>
                  <a:srgbClr val="FFFFFF"/>
                </a:highlight>
              </a:rPr>
            </a:br>
            <a:r>
              <a:rPr lang="en-GB" sz="1100">
                <a:highlight>
                  <a:srgbClr val="FFFFFF"/>
                </a:highlight>
              </a:rPr>
              <a:t>    dln</a:t>
            </a:r>
            <a:r>
              <a:rPr lang="en-GB" sz="1100">
                <a:solidFill>
                  <a:srgbClr val="808030"/>
                </a:solidFill>
                <a:highlight>
                  <a:srgbClr val="FFFFFF"/>
                </a:highlight>
              </a:rPr>
              <a:t>(</a:t>
            </a:r>
            <a:r>
              <a:rPr lang="en-GB" sz="1100">
                <a:highlight>
                  <a:srgbClr val="FFFFFF"/>
                </a:highlight>
              </a:rPr>
              <a:t>startupDBG</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failed to start soft AP</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startWebServer</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register callbacks to handle different paths</a:t>
            </a:r>
            <a:br>
              <a:rPr lang="en-GB" sz="1100">
                <a:highlight>
                  <a:srgbClr val="FFFFFF"/>
                </a:highlight>
              </a:rPr>
            </a:br>
            <a:r>
              <a:rPr lang="en-GB" sz="1100">
                <a:highlight>
                  <a:srgbClr val="FFFFFF"/>
                </a:highlight>
              </a:rPr>
              <a:t>  webServer</a:t>
            </a:r>
            <a:r>
              <a:rPr lang="en-GB" sz="1100">
                <a:solidFill>
                  <a:srgbClr val="808030"/>
                </a:solidFill>
                <a:highlight>
                  <a:srgbClr val="FFFFFF"/>
                </a:highlight>
              </a:rPr>
              <a:t>.</a:t>
            </a:r>
            <a:r>
              <a:rPr lang="en-GB" sz="1100">
                <a:highlight>
                  <a:srgbClr val="FFFFFF"/>
                </a:highlight>
              </a:rPr>
              <a:t>on</a:t>
            </a:r>
            <a:r>
              <a:rPr lang="en-GB" sz="1100">
                <a:solidFill>
                  <a:srgbClr val="808030"/>
                </a:solidFill>
                <a:highlight>
                  <a:srgbClr val="FFFFFF"/>
                </a:highlight>
              </a:rPr>
              <a:t>(</a:t>
            </a:r>
            <a:r>
              <a:rPr lang="en-GB" sz="1100">
                <a:solidFill>
                  <a:srgbClr val="800000"/>
                </a:solidFill>
                <a:highlight>
                  <a:srgbClr val="FFFFFF"/>
                </a:highlight>
              </a:rPr>
              <a:t>"</a:t>
            </a:r>
            <a:r>
              <a:rPr lang="en-GB" sz="1100">
                <a:solidFill>
                  <a:srgbClr val="0000E6"/>
                </a:solidFill>
                <a:highlight>
                  <a:srgbClr val="FFFFFF"/>
                </a:highlight>
              </a:rPr>
              <a:t>/</a:t>
            </a:r>
            <a:r>
              <a:rPr lang="en-GB" sz="1100">
                <a:solidFill>
                  <a:srgbClr val="800000"/>
                </a:solidFill>
                <a:highlight>
                  <a:srgbClr val="FFFFFF"/>
                </a:highlight>
              </a:rPr>
              <a:t>"</a:t>
            </a:r>
            <a:r>
              <a:rPr lang="en-GB" sz="1100">
                <a:solidFill>
                  <a:srgbClr val="808030"/>
                </a:solidFill>
                <a:highlight>
                  <a:srgbClr val="FFFFFF"/>
                </a:highlight>
              </a:rPr>
              <a:t>,</a:t>
            </a:r>
            <a:r>
              <a:rPr lang="en-GB" sz="1100">
                <a:highlight>
                  <a:srgbClr val="FFFFFF"/>
                </a:highlight>
              </a:rPr>
              <a:t> handleRoot</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a:t>
            </a:r>
            <a:br>
              <a:rPr lang="en-GB" sz="1100">
                <a:highlight>
                  <a:srgbClr val="FFFFFF"/>
                </a:highlight>
              </a:rPr>
            </a:br>
            <a:r>
              <a:rPr lang="en-GB" sz="1100">
                <a:highlight>
                  <a:srgbClr val="FFFFFF"/>
                </a:highlight>
              </a:rPr>
              <a:t>  /* </a:t>
            </a:r>
            <a:r>
              <a:rPr b="1" lang="en-GB" sz="1100">
                <a:solidFill>
                  <a:srgbClr val="800000"/>
                </a:solidFill>
                <a:highlight>
                  <a:srgbClr val="FFFFFF"/>
                </a:highlight>
              </a:rPr>
              <a:t>… </a:t>
            </a:r>
            <a:r>
              <a:rPr lang="en-GB" sz="1100">
                <a:highlight>
                  <a:srgbClr val="FFFFFF"/>
                </a:highlight>
              </a:rPr>
              <a:t>*/  webServer</a:t>
            </a:r>
            <a:r>
              <a:rPr lang="en-GB" sz="1100">
                <a:solidFill>
                  <a:srgbClr val="808030"/>
                </a:solidFill>
                <a:highlight>
                  <a:srgbClr val="FFFFFF"/>
                </a:highlight>
              </a:rPr>
              <a:t>.</a:t>
            </a:r>
            <a:r>
              <a:rPr lang="en-GB" sz="1100">
                <a:highlight>
                  <a:srgbClr val="FFFFFF"/>
                </a:highlight>
              </a:rPr>
              <a:t>begin</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a:t>
            </a:r>
            <a:br>
              <a:rPr lang="en-GB" sz="1100">
                <a:highlight>
                  <a:srgbClr val="FFFFFF"/>
                </a:highlight>
              </a:rPr>
            </a:br>
            <a:r>
              <a:rPr lang="en-GB" sz="1100">
                <a:solidFill>
                  <a:srgbClr val="603000"/>
                </a:solidFill>
                <a:highlight>
                  <a:srgbClr val="FFFFFF"/>
                </a:highlight>
              </a:rPr>
              <a:t>String</a:t>
            </a:r>
            <a:r>
              <a:rPr lang="en-GB" sz="1100">
                <a:highlight>
                  <a:srgbClr val="FFFFFF"/>
                </a:highlight>
              </a:rPr>
              <a:t> getPageTop</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page creation utils (for better ones see Ex07!)</a:t>
            </a:r>
            <a:br>
              <a:rPr lang="en-GB" sz="1100">
                <a:highlight>
                  <a:srgbClr val="FFFFFF"/>
                </a:highlight>
              </a:rPr>
            </a:br>
            <a:r>
              <a:rPr lang="en-GB" sz="1100">
                <a:highlight>
                  <a:srgbClr val="FFFFFF"/>
                </a:highlight>
              </a:rPr>
              <a:t>  </a:t>
            </a:r>
            <a:r>
              <a:rPr b="1" lang="en-GB" sz="1100">
                <a:solidFill>
                  <a:srgbClr val="800000"/>
                </a:solidFill>
                <a:highlight>
                  <a:srgbClr val="FFFFFF"/>
                </a:highlight>
              </a:rPr>
              <a:t>return</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&lt;html&gt;&lt;head&gt;&lt;title&gt;COM3506 IoT [ID: </a:t>
            </a:r>
            <a:r>
              <a:rPr lang="en-GB" sz="1100">
                <a:solidFill>
                  <a:srgbClr val="800000"/>
                </a:solidFill>
                <a:highlight>
                  <a:srgbClr val="FFFFFF"/>
                </a:highlight>
              </a:rPr>
              <a:t>"</a:t>
            </a:r>
            <a:r>
              <a:rPr lang="en-GB" sz="1100">
                <a:highlight>
                  <a:srgbClr val="FFFFFF"/>
                </a:highlight>
              </a:rPr>
              <a:t> </a:t>
            </a:r>
            <a:r>
              <a:rPr lang="en-GB" sz="1100">
                <a:solidFill>
                  <a:srgbClr val="808030"/>
                </a:solidFill>
                <a:highlight>
                  <a:srgbClr val="FFFFFF"/>
                </a:highlight>
              </a:rPr>
              <a:t>+</a:t>
            </a:r>
            <a:r>
              <a:rPr lang="en-GB" sz="1100">
                <a:highlight>
                  <a:srgbClr val="FFFFFF"/>
                </a:highlight>
              </a:rPr>
              <a:t> apSSID </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]&lt;/title&gt;</a:t>
            </a:r>
            <a:r>
              <a:rPr lang="en-GB" sz="1100">
                <a:solidFill>
                  <a:srgbClr val="0F69FF"/>
                </a:solidFill>
                <a:highlight>
                  <a:srgbClr val="FFFFFF"/>
                </a:highlight>
              </a:rPr>
              <a:t>\n</a:t>
            </a:r>
            <a:r>
              <a:rPr lang="en-GB" sz="1100">
                <a:solidFill>
                  <a:srgbClr val="80000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 </a:t>
            </a:r>
            <a:r>
              <a:rPr lang="en-GB" sz="1100">
                <a:highlight>
                  <a:srgbClr val="FFFFFF"/>
                </a:highlight>
              </a:rPr>
              <a:t>*/</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handleNotFound</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webserver handler callbacks ...</a:t>
            </a:r>
            <a:br>
              <a:rPr lang="en-GB" sz="1100">
                <a:highlight>
                  <a:srgbClr val="FFFFFF"/>
                </a:highlight>
              </a:rPr>
            </a:br>
            <a:r>
              <a:rPr lang="en-GB" sz="1100">
                <a:highlight>
                  <a:srgbClr val="FFFFFF"/>
                </a:highlight>
              </a:rPr>
              <a:t>   webServer</a:t>
            </a:r>
            <a:r>
              <a:rPr lang="en-GB" sz="1100">
                <a:solidFill>
                  <a:srgbClr val="808030"/>
                </a:solidFill>
                <a:highlight>
                  <a:srgbClr val="FFFFFF"/>
                </a:highlight>
              </a:rPr>
              <a:t>.</a:t>
            </a:r>
            <a:r>
              <a:rPr lang="en-GB" sz="1100">
                <a:solidFill>
                  <a:srgbClr val="400000"/>
                </a:solidFill>
                <a:highlight>
                  <a:srgbClr val="FFFFFF"/>
                </a:highlight>
              </a:rPr>
              <a:t>send</a:t>
            </a:r>
            <a:r>
              <a:rPr lang="en-GB" sz="1100">
                <a:solidFill>
                  <a:srgbClr val="808030"/>
                </a:solidFill>
                <a:highlight>
                  <a:srgbClr val="FFFFFF"/>
                </a:highlight>
              </a:rPr>
              <a:t>(</a:t>
            </a:r>
            <a:r>
              <a:rPr lang="en-GB" sz="1100">
                <a:solidFill>
                  <a:srgbClr val="008C00"/>
                </a:solidFill>
                <a:highlight>
                  <a:srgbClr val="FFFFFF"/>
                </a:highlight>
              </a:rPr>
              <a:t>200</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text/plain</a:t>
            </a:r>
            <a:r>
              <a:rPr lang="en-GB" sz="1100">
                <a:solidFill>
                  <a:srgbClr val="800000"/>
                </a:solidFill>
                <a:highlight>
                  <a:srgbClr val="FFFFFF"/>
                </a:highlight>
              </a:rPr>
              <a:t>"</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URI Not Found</a:t>
            </a:r>
            <a:r>
              <a:rPr lang="en-GB" sz="1100">
                <a:solidFill>
                  <a:srgbClr val="800000"/>
                </a:solidFill>
                <a:highlight>
                  <a:srgbClr val="FFFFFF"/>
                </a:highlight>
              </a:rPr>
              <a:t>"</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handleRoot</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lang="en-GB" sz="1100">
                <a:solidFill>
                  <a:srgbClr val="603000"/>
                </a:solidFill>
                <a:highlight>
                  <a:srgbClr val="FFFFFF"/>
                </a:highlight>
              </a:rPr>
              <a:t>String</a:t>
            </a:r>
            <a:r>
              <a:rPr lang="en-GB" sz="1100">
                <a:highlight>
                  <a:srgbClr val="FFFFFF"/>
                </a:highlight>
              </a:rPr>
              <a:t> toSend </a:t>
            </a:r>
            <a:r>
              <a:rPr lang="en-GB" sz="1100">
                <a:solidFill>
                  <a:srgbClr val="808030"/>
                </a:solidFill>
                <a:highlight>
                  <a:srgbClr val="FFFFFF"/>
                </a:highlight>
              </a:rPr>
              <a:t>=</a:t>
            </a:r>
            <a:r>
              <a:rPr lang="en-GB" sz="1100">
                <a:highlight>
                  <a:srgbClr val="FFFFFF"/>
                </a:highlight>
              </a:rPr>
              <a:t> getPageTop</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toSend </a:t>
            </a:r>
            <a:r>
              <a:rPr lang="en-GB" sz="1100">
                <a:solidFill>
                  <a:srgbClr val="808030"/>
                </a:solidFill>
                <a:highlight>
                  <a:srgbClr val="FFFFFF"/>
                </a:highlight>
              </a:rPr>
              <a:t>+=</a:t>
            </a:r>
            <a:r>
              <a:rPr lang="en-GB" sz="1100">
                <a:highlight>
                  <a:srgbClr val="FFFFFF"/>
                </a:highlight>
              </a:rPr>
              <a:t> getPageBody</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toSend </a:t>
            </a:r>
            <a:r>
              <a:rPr lang="en-GB" sz="1100">
                <a:solidFill>
                  <a:srgbClr val="808030"/>
                </a:solidFill>
                <a:highlight>
                  <a:srgbClr val="FFFFFF"/>
                </a:highlight>
              </a:rPr>
              <a:t>+=</a:t>
            </a:r>
            <a:r>
              <a:rPr lang="en-GB" sz="1100">
                <a:highlight>
                  <a:srgbClr val="FFFFFF"/>
                </a:highlight>
              </a:rPr>
              <a:t> getPageFooter</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highlight>
                  <a:srgbClr val="FFFFFF"/>
                </a:highlight>
              </a:rPr>
              <a:t>  webServer</a:t>
            </a:r>
            <a:r>
              <a:rPr lang="en-GB" sz="1100">
                <a:solidFill>
                  <a:srgbClr val="808030"/>
                </a:solidFill>
                <a:highlight>
                  <a:srgbClr val="FFFFFF"/>
                </a:highlight>
              </a:rPr>
              <a:t>.</a:t>
            </a:r>
            <a:r>
              <a:rPr lang="en-GB" sz="1100">
                <a:solidFill>
                  <a:srgbClr val="400000"/>
                </a:solidFill>
                <a:highlight>
                  <a:srgbClr val="FFFFFF"/>
                </a:highlight>
              </a:rPr>
              <a:t>send</a:t>
            </a:r>
            <a:r>
              <a:rPr lang="en-GB" sz="1100">
                <a:solidFill>
                  <a:srgbClr val="808030"/>
                </a:solidFill>
                <a:highlight>
                  <a:srgbClr val="FFFFFF"/>
                </a:highlight>
              </a:rPr>
              <a:t>(</a:t>
            </a:r>
            <a:r>
              <a:rPr lang="en-GB" sz="1100">
                <a:solidFill>
                  <a:srgbClr val="008C00"/>
                </a:solidFill>
                <a:highlight>
                  <a:srgbClr val="FFFFFF"/>
                </a:highlight>
              </a:rPr>
              <a:t>200</a:t>
            </a:r>
            <a:r>
              <a:rPr lang="en-GB" sz="1100">
                <a:solidFill>
                  <a:srgbClr val="808030"/>
                </a:solidFill>
                <a:highlight>
                  <a:srgbClr val="FFFFFF"/>
                </a:highlight>
              </a:rPr>
              <a:t>,</a:t>
            </a:r>
            <a:r>
              <a:rPr lang="en-GB" sz="1100">
                <a:highlight>
                  <a:srgbClr val="FFFFFF"/>
                </a:highlight>
              </a:rPr>
              <a:t> </a:t>
            </a:r>
            <a:r>
              <a:rPr lang="en-GB" sz="1100">
                <a:solidFill>
                  <a:srgbClr val="800000"/>
                </a:solidFill>
                <a:highlight>
                  <a:srgbClr val="FFFFFF"/>
                </a:highlight>
              </a:rPr>
              <a:t>"</a:t>
            </a:r>
            <a:r>
              <a:rPr lang="en-GB" sz="1100">
                <a:solidFill>
                  <a:srgbClr val="0000E6"/>
                </a:solidFill>
                <a:highlight>
                  <a:srgbClr val="FFFFFF"/>
                </a:highlight>
              </a:rPr>
              <a:t>text/html</a:t>
            </a:r>
            <a:r>
              <a:rPr lang="en-GB" sz="1100">
                <a:solidFill>
                  <a:srgbClr val="800000"/>
                </a:solidFill>
                <a:highlight>
                  <a:srgbClr val="FFFFFF"/>
                </a:highlight>
              </a:rPr>
              <a:t>"</a:t>
            </a:r>
            <a:r>
              <a:rPr lang="en-GB" sz="1100">
                <a:solidFill>
                  <a:srgbClr val="808030"/>
                </a:solidFill>
                <a:highlight>
                  <a:srgbClr val="FFFFFF"/>
                </a:highlight>
              </a:rPr>
              <a:t>,</a:t>
            </a:r>
            <a:r>
              <a:rPr lang="en-GB" sz="1100">
                <a:highlight>
                  <a:srgbClr val="FFFFFF"/>
                </a:highlight>
              </a:rPr>
              <a:t> toSend</a:t>
            </a:r>
            <a:r>
              <a:rPr lang="en-GB" sz="1100">
                <a:solidFill>
                  <a:srgbClr val="808030"/>
                </a:solidFill>
                <a:highlight>
                  <a:srgbClr val="FFFFFF"/>
                </a:highlight>
              </a:rPr>
              <a:t>)</a:t>
            </a:r>
            <a:r>
              <a:rPr lang="en-GB" sz="1100">
                <a:solidFill>
                  <a:srgbClr val="800080"/>
                </a:solidFill>
                <a:highlight>
                  <a:srgbClr val="FFFFFF"/>
                </a:highlight>
              </a:rPr>
              <a:t>;</a:t>
            </a:r>
            <a:br>
              <a:rPr lang="en-GB" sz="1100">
                <a:highlight>
                  <a:srgbClr val="FFFFFF"/>
                </a:highlight>
              </a:rPr>
            </a:br>
            <a:r>
              <a:rPr lang="en-GB" sz="1100">
                <a:solidFill>
                  <a:srgbClr val="800080"/>
                </a:solidFill>
                <a:highlight>
                  <a:srgbClr val="FFFFFF"/>
                </a:highlight>
              </a:rPr>
              <a:t>}</a:t>
            </a:r>
            <a:br>
              <a:rPr lang="en-GB" sz="1100">
                <a:highlight>
                  <a:srgbClr val="FFFFFF"/>
                </a:highlight>
              </a:rPr>
            </a:br>
            <a:r>
              <a:rPr b="1" lang="en-GB" sz="1100">
                <a:solidFill>
                  <a:srgbClr val="800000"/>
                </a:solidFill>
                <a:highlight>
                  <a:srgbClr val="FFFFFF"/>
                </a:highlight>
              </a:rPr>
              <a:t>void</a:t>
            </a:r>
            <a:r>
              <a:rPr lang="en-GB" sz="1100">
                <a:highlight>
                  <a:srgbClr val="FFFFFF"/>
                </a:highlight>
              </a:rPr>
              <a:t> handleHello</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 */</a:t>
            </a:r>
            <a:r>
              <a:rPr lang="en-GB" sz="1100">
                <a:highlight>
                  <a:srgbClr val="FFFFFF"/>
                </a:highlight>
              </a:rPr>
              <a:t> </a:t>
            </a:r>
            <a:r>
              <a:rPr lang="en-GB" sz="1100">
                <a:solidFill>
                  <a:srgbClr val="800080"/>
                </a:solidFill>
                <a:highlight>
                  <a:srgbClr val="FFFFFF"/>
                </a:highlight>
              </a:rPr>
              <a:t>}</a:t>
            </a:r>
            <a:endParaRPr sz="1100">
              <a:solidFill>
                <a:srgbClr val="800080"/>
              </a:solidFill>
              <a:highlight>
                <a:srgbClr val="FFFFFF"/>
              </a:highlight>
            </a:endParaRPr>
          </a:p>
          <a:p>
            <a:pPr indent="0" lvl="0" marL="0" rtl="0" algn="l">
              <a:spcBef>
                <a:spcPts val="1000"/>
              </a:spcBef>
              <a:spcAft>
                <a:spcPts val="0"/>
              </a:spcAft>
              <a:buClr>
                <a:schemeClr val="dk1"/>
              </a:buClr>
              <a:buSzPts val="1100"/>
              <a:buFont typeface="Arial"/>
              <a:buNone/>
            </a:pPr>
            <a:r>
              <a:t/>
            </a:r>
            <a:endParaRPr sz="1100">
              <a:highlight>
                <a:srgbClr val="FFFFFF"/>
              </a:highlight>
            </a:endParaRPr>
          </a:p>
          <a:p>
            <a:pPr indent="0" lvl="0" marL="0" rtl="0" algn="l">
              <a:spcBef>
                <a:spcPts val="1000"/>
              </a:spcBef>
              <a:spcAft>
                <a:spcPts val="1000"/>
              </a:spcAft>
              <a:buClr>
                <a:schemeClr val="dk1"/>
              </a:buClr>
              <a:buSzPts val="1100"/>
              <a:buFont typeface="Arial"/>
              <a:buNone/>
            </a:pPr>
            <a:r>
              <a:t/>
            </a:r>
            <a:endParaRPr b="1" sz="1100">
              <a:solidFill>
                <a:srgbClr val="800000"/>
              </a:solidFill>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4</a:t>
            </a:r>
            <a:endParaRPr/>
          </a:p>
        </p:txBody>
      </p:sp>
      <p:sp>
        <p:nvSpPr>
          <p:cNvPr id="203" name="Google Shape;203;p37"/>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week 3 code review</a:t>
            </a:r>
            <a:endParaRPr sz="1800"/>
          </a:p>
          <a:p>
            <a:pPr indent="-342900" lvl="0" marL="457200" rtl="0" algn="l">
              <a:spcBef>
                <a:spcPts val="1000"/>
              </a:spcBef>
              <a:spcAft>
                <a:spcPts val="0"/>
              </a:spcAft>
              <a:buSzPts val="1800"/>
              <a:buAutoNum type="arabicPeriod"/>
            </a:pPr>
            <a:r>
              <a:rPr b="1" lang="en-GB" sz="1800"/>
              <a:t>provisioning (“in the country of the blind…”) devices without UIs</a:t>
            </a:r>
            <a:endParaRPr b="1" sz="1800"/>
          </a:p>
          <a:p>
            <a:pPr indent="-342900" lvl="0" marL="457200" rtl="0" algn="l">
              <a:spcBef>
                <a:spcPts val="1000"/>
              </a:spcBef>
              <a:spcAft>
                <a:spcPts val="0"/>
              </a:spcAft>
              <a:buSzPts val="1800"/>
              <a:buAutoNum type="arabicPeriod"/>
            </a:pPr>
            <a:r>
              <a:rPr lang="en-GB" sz="1800"/>
              <a:t>updating IoT devices over-the-air</a:t>
            </a:r>
            <a:endParaRPr sz="1800"/>
          </a:p>
          <a:p>
            <a:pPr indent="0" lvl="0" marL="0" rtl="0" algn="l">
              <a:spcBef>
                <a:spcPts val="1000"/>
              </a:spcBef>
              <a:spcAft>
                <a:spcPts val="0"/>
              </a:spcAft>
              <a:buNone/>
            </a:pPr>
            <a:r>
              <a:t/>
            </a:r>
            <a:endParaRPr sz="1800"/>
          </a:p>
        </p:txBody>
      </p:sp>
      <p:sp>
        <p:nvSpPr>
          <p:cNvPr id="204" name="Google Shape;204;p37"/>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descr="8.jpg" id="209" name="Google Shape;209;p38"/>
          <p:cNvPicPr preferRelativeResize="0"/>
          <p:nvPr/>
        </p:nvPicPr>
        <p:blipFill>
          <a:blip r:embed="rId3">
            <a:alphaModFix/>
          </a:blip>
          <a:stretch>
            <a:fillRect/>
          </a:stretch>
        </p:blipFill>
        <p:spPr>
          <a:xfrm>
            <a:off x="-304800" y="808595"/>
            <a:ext cx="7559202" cy="4258705"/>
          </a:xfrm>
          <a:prstGeom prst="rect">
            <a:avLst/>
          </a:prstGeom>
          <a:noFill/>
          <a:ln>
            <a:noFill/>
          </a:ln>
        </p:spPr>
      </p:pic>
      <p:sp>
        <p:nvSpPr>
          <p:cNvPr id="210" name="Google Shape;210;p38"/>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Headless Device Provisioning</a:t>
            </a:r>
            <a:endParaRPr/>
          </a:p>
        </p:txBody>
      </p:sp>
      <p:sp>
        <p:nvSpPr>
          <p:cNvPr id="211" name="Google Shape;211;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2" name="Google Shape;212;p38"/>
          <p:cNvSpPr txBox="1"/>
          <p:nvPr>
            <p:ph idx="1" type="body"/>
          </p:nvPr>
        </p:nvSpPr>
        <p:spPr>
          <a:xfrm>
            <a:off x="4975175" y="993025"/>
            <a:ext cx="37749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Unwrap your shiny new thing and connect it to…?</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Either:</a:t>
            </a:r>
            <a:endParaRPr sz="1800"/>
          </a:p>
          <a:p>
            <a:pPr indent="-342900" lvl="0" marL="457200" rtl="0" algn="l">
              <a:spcBef>
                <a:spcPts val="0"/>
              </a:spcBef>
              <a:spcAft>
                <a:spcPts val="0"/>
              </a:spcAft>
              <a:buSzPts val="1800"/>
              <a:buChar char="●"/>
            </a:pPr>
            <a:r>
              <a:rPr lang="en-GB" sz="1800"/>
              <a:t>the device has to ship with network credentials, or</a:t>
            </a:r>
            <a:endParaRPr sz="1800"/>
          </a:p>
          <a:p>
            <a:pPr indent="-342900" lvl="0" marL="457200" rtl="0" algn="l">
              <a:spcBef>
                <a:spcPts val="0"/>
              </a:spcBef>
              <a:spcAft>
                <a:spcPts val="0"/>
              </a:spcAft>
              <a:buSzPts val="1800"/>
              <a:buChar char="●"/>
            </a:pPr>
            <a:r>
              <a:rPr lang="en-GB" sz="1800"/>
              <a:t>support end-user configuration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Options...</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ph idx="1" type="body"/>
          </p:nvPr>
        </p:nvSpPr>
        <p:spPr>
          <a:xfrm>
            <a:off x="83100" y="417525"/>
            <a:ext cx="44715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Options:</a:t>
            </a:r>
            <a:endParaRPr sz="1800"/>
          </a:p>
          <a:p>
            <a:pPr indent="-342900" lvl="0" marL="457200" rtl="0" algn="l">
              <a:spcBef>
                <a:spcPts val="0"/>
              </a:spcBef>
              <a:spcAft>
                <a:spcPts val="0"/>
              </a:spcAft>
              <a:buSzPts val="1800"/>
              <a:buAutoNum type="arabicPeriod"/>
            </a:pPr>
            <a:r>
              <a:rPr lang="en-GB" sz="1800"/>
              <a:t>WiFi Protected Setup (</a:t>
            </a:r>
            <a:r>
              <a:rPr b="1" lang="en-GB" sz="1800"/>
              <a:t>WPS</a:t>
            </a:r>
            <a:r>
              <a:rPr lang="en-GB" sz="1800"/>
              <a:t>) — some forms shown to be crackable in 2011, now often disabled</a:t>
            </a:r>
            <a:endParaRPr sz="1800"/>
          </a:p>
          <a:p>
            <a:pPr indent="-342900" lvl="0" marL="457200" rtl="0" algn="l">
              <a:spcBef>
                <a:spcPts val="0"/>
              </a:spcBef>
              <a:spcAft>
                <a:spcPts val="0"/>
              </a:spcAft>
              <a:buSzPts val="1800"/>
              <a:buAutoNum type="arabicPeriod"/>
            </a:pPr>
            <a:r>
              <a:rPr b="1" lang="en-GB" sz="1800"/>
              <a:t>SmartConfig</a:t>
            </a:r>
            <a:r>
              <a:rPr lang="en-GB" sz="1800"/>
              <a:t> — mostly TI only, and the non-AES version relies on security by obscurity (ouch!), </a:t>
            </a:r>
            <a:br>
              <a:rPr lang="en-GB" sz="1800"/>
            </a:br>
            <a:r>
              <a:rPr lang="en-GB" sz="1800"/>
              <a:t>but AES version is secure (ish?!)</a:t>
            </a:r>
            <a:endParaRPr sz="1800"/>
          </a:p>
          <a:p>
            <a:pPr indent="-342900" lvl="0" marL="457200" rtl="0" algn="l">
              <a:spcBef>
                <a:spcPts val="0"/>
              </a:spcBef>
              <a:spcAft>
                <a:spcPts val="0"/>
              </a:spcAft>
              <a:buSzPts val="1800"/>
              <a:buAutoNum type="arabicPeriod"/>
            </a:pPr>
            <a:r>
              <a:rPr lang="en-GB" sz="1800" u="sng"/>
              <a:t>device as access point::</a:t>
            </a:r>
            <a:br>
              <a:rPr lang="en-GB" sz="1800" u="sng"/>
            </a:br>
            <a:r>
              <a:rPr lang="en-GB" sz="1800" u="sng"/>
              <a:t>AP running WPA + HTTP(S) / SSL = </a:t>
            </a:r>
            <a:r>
              <a:rPr b="1" lang="en-GB" sz="1800" u="sng"/>
              <a:t>as secure as normal</a:t>
            </a:r>
            <a:r>
              <a:rPr lang="en-GB" sz="1800" u="sng"/>
              <a:t> wifi &amp; web (!)</a:t>
            </a:r>
            <a:endParaRPr sz="1800" u="sng"/>
          </a:p>
          <a:p>
            <a:pPr indent="-342900" lvl="0" marL="457200" rtl="0" algn="l">
              <a:spcBef>
                <a:spcPts val="0"/>
              </a:spcBef>
              <a:spcAft>
                <a:spcPts val="0"/>
              </a:spcAft>
              <a:buSzPts val="1800"/>
              <a:buAutoNum type="arabicPeriod"/>
            </a:pPr>
            <a:r>
              <a:rPr lang="en-GB" sz="1800"/>
              <a:t>various phone apps using BlueTooth</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rPr lang="en-GB" sz="1800"/>
              <a:t> This week: option 3., AP + HTTPD</a:t>
            </a:r>
            <a:endParaRPr sz="1800"/>
          </a:p>
        </p:txBody>
      </p:sp>
      <p:sp>
        <p:nvSpPr>
          <p:cNvPr id="218" name="Google Shape;218;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19" name="Google Shape;219;p39"/>
          <p:cNvSpPr txBox="1"/>
          <p:nvPr>
            <p:ph type="title"/>
          </p:nvPr>
        </p:nvSpPr>
        <p:spPr>
          <a:xfrm>
            <a:off x="845100" y="-6890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Wifi-based provisioning</a:t>
            </a:r>
            <a:endParaRPr/>
          </a:p>
        </p:txBody>
      </p:sp>
      <p:pic>
        <p:nvPicPr>
          <p:cNvPr descr="article-2017may-a-simpler-solution-for-fig4.jpg" id="220" name="Google Shape;220;p39"/>
          <p:cNvPicPr preferRelativeResize="0"/>
          <p:nvPr/>
        </p:nvPicPr>
        <p:blipFill>
          <a:blip r:embed="rId3">
            <a:alphaModFix/>
          </a:blip>
          <a:stretch>
            <a:fillRect/>
          </a:stretch>
        </p:blipFill>
        <p:spPr>
          <a:xfrm>
            <a:off x="4554600" y="808600"/>
            <a:ext cx="4102324" cy="4068125"/>
          </a:xfrm>
          <a:prstGeom prst="rect">
            <a:avLst/>
          </a:prstGeom>
          <a:noFill/>
          <a:ln>
            <a:noFill/>
          </a:ln>
        </p:spPr>
      </p:pic>
      <p:sp>
        <p:nvSpPr>
          <p:cNvPr id="221" name="Google Shape;221;p39"/>
          <p:cNvSpPr txBox="1"/>
          <p:nvPr>
            <p:ph idx="1" type="body"/>
          </p:nvPr>
        </p:nvSpPr>
        <p:spPr>
          <a:xfrm>
            <a:off x="4461430" y="417525"/>
            <a:ext cx="44715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SmartConfig flow:</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idx="1" type="body"/>
          </p:nvPr>
        </p:nvSpPr>
        <p:spPr>
          <a:xfrm>
            <a:off x="83100" y="385000"/>
            <a:ext cx="3961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To turn a </a:t>
            </a:r>
            <a:r>
              <a:rPr i="1" lang="en-GB" sz="1800"/>
              <a:t>thing </a:t>
            </a:r>
            <a:r>
              <a:rPr lang="en-GB" sz="1800"/>
              <a:t>(embedded electronics based on microcontrollers, sensors and actuators) into an </a:t>
            </a:r>
            <a:r>
              <a:rPr i="1" lang="en-GB" sz="1800"/>
              <a:t>internet thing</a:t>
            </a:r>
            <a:r>
              <a:rPr lang="en-GB" sz="1800"/>
              <a:t> we need to connect to the network. </a:t>
            </a:r>
            <a:endParaRPr sz="1800"/>
          </a:p>
          <a:p>
            <a:pPr indent="0" lvl="0" marL="0" rtl="0" algn="l">
              <a:spcBef>
                <a:spcPts val="1000"/>
              </a:spcBef>
              <a:spcAft>
                <a:spcPts val="0"/>
              </a:spcAft>
              <a:buClr>
                <a:schemeClr val="dk1"/>
              </a:buClr>
              <a:buSzPts val="1100"/>
              <a:buFont typeface="Arial"/>
              <a:buNone/>
            </a:pPr>
            <a:r>
              <a:rPr lang="en-GB" sz="1800"/>
              <a:t>If the device has no user interface, how do we allow users to configure the network?</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1000"/>
              </a:spcAft>
              <a:buClr>
                <a:schemeClr val="dk1"/>
              </a:buClr>
              <a:buSzPts val="1100"/>
              <a:buFont typeface="Arial"/>
              <a:buNone/>
            </a:pPr>
            <a:r>
              <a:t/>
            </a:r>
            <a:endParaRPr sz="1800"/>
          </a:p>
        </p:txBody>
      </p:sp>
      <p:sp>
        <p:nvSpPr>
          <p:cNvPr id="227" name="Google Shape;227;p40"/>
          <p:cNvSpPr txBox="1"/>
          <p:nvPr>
            <p:ph type="title"/>
          </p:nvPr>
        </p:nvSpPr>
        <p:spPr>
          <a:xfrm>
            <a:off x="997500" y="-6890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Labs: how to network a device without a UI?</a:t>
            </a:r>
            <a:endParaRPr/>
          </a:p>
        </p:txBody>
      </p:sp>
      <p:sp>
        <p:nvSpPr>
          <p:cNvPr id="228" name="Google Shape;228;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9" name="Google Shape;229;p40"/>
          <p:cNvSpPr txBox="1"/>
          <p:nvPr>
            <p:ph idx="1" type="body"/>
          </p:nvPr>
        </p:nvSpPr>
        <p:spPr>
          <a:xfrm>
            <a:off x="3740200" y="377625"/>
            <a:ext cx="5355600" cy="3846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24292E"/>
              </a:buClr>
              <a:buSzPts val="1800"/>
              <a:buChar char="●"/>
            </a:pPr>
            <a:r>
              <a:rPr b="1" lang="en-GB" sz="1800">
                <a:solidFill>
                  <a:srgbClr val="24292E"/>
                </a:solidFill>
              </a:rPr>
              <a:t>Ex08</a:t>
            </a:r>
            <a:r>
              <a:rPr lang="en-GB" sz="1800">
                <a:solidFill>
                  <a:srgbClr val="24292E"/>
                </a:solidFill>
              </a:rPr>
              <a:t>: become a web client and send your email &amp; the MAC address of your ESP to our server (see </a:t>
            </a:r>
            <a:r>
              <a:rPr lang="en-GB" sz="1800" u="sng">
                <a:solidFill>
                  <a:schemeClr val="hlink"/>
                </a:solidFill>
                <a:hlinkClick r:id="rId3"/>
              </a:rPr>
              <a:t>4.2.2.3</a:t>
            </a:r>
            <a:r>
              <a:rPr lang="en-GB" sz="1800">
                <a:solidFill>
                  <a:srgbClr val="24292E"/>
                </a:solidFill>
              </a:rPr>
              <a:t> and Blackboard for URL)</a:t>
            </a:r>
            <a:endParaRPr sz="1800">
              <a:solidFill>
                <a:srgbClr val="24292E"/>
              </a:solidFill>
            </a:endParaRPr>
          </a:p>
          <a:p>
            <a:pPr indent="-342900" lvl="1" marL="914400" rtl="0" algn="l">
              <a:spcBef>
                <a:spcPts val="0"/>
              </a:spcBef>
              <a:spcAft>
                <a:spcPts val="0"/>
              </a:spcAft>
              <a:buClr>
                <a:srgbClr val="24292E"/>
              </a:buClr>
              <a:buSzPts val="1800"/>
              <a:buChar char="○"/>
            </a:pPr>
            <a:r>
              <a:rPr lang="en-GB" sz="1800">
                <a:solidFill>
                  <a:srgbClr val="24292E"/>
                </a:solidFill>
              </a:rPr>
              <a:t>use the WifiClient class from the WiFi library</a:t>
            </a:r>
            <a:br>
              <a:rPr lang="en-GB" sz="1800">
                <a:solidFill>
                  <a:srgbClr val="24292E"/>
                </a:solidFill>
              </a:rPr>
            </a:br>
            <a:endParaRPr sz="1800"/>
          </a:p>
          <a:p>
            <a:pPr indent="-342900" lvl="0" marL="457200" rtl="0" algn="l">
              <a:spcBef>
                <a:spcPts val="0"/>
              </a:spcBef>
              <a:spcAft>
                <a:spcPts val="0"/>
              </a:spcAft>
              <a:buClr>
                <a:srgbClr val="24292E"/>
              </a:buClr>
              <a:buSzPts val="1800"/>
              <a:buChar char="●"/>
            </a:pPr>
            <a:r>
              <a:rPr b="1" lang="en-GB" sz="1800">
                <a:solidFill>
                  <a:srgbClr val="24292E"/>
                </a:solidFill>
              </a:rPr>
              <a:t>Ex09</a:t>
            </a:r>
            <a:r>
              <a:rPr lang="en-GB" sz="1800">
                <a:solidFill>
                  <a:srgbClr val="24292E"/>
                </a:solidFill>
              </a:rPr>
              <a:t>: adapting Ex07/08 to allow connection of device to arbitrary networks (=</a:t>
            </a:r>
            <a:r>
              <a:rPr b="1" lang="en-GB" sz="1800">
                <a:solidFill>
                  <a:srgbClr val="24292E"/>
                </a:solidFill>
              </a:rPr>
              <a:t>provisioning</a:t>
            </a:r>
            <a:r>
              <a:rPr lang="en-GB" sz="1800">
                <a:solidFill>
                  <a:srgbClr val="24292E"/>
                </a:solidFill>
              </a:rPr>
              <a:t>)</a:t>
            </a:r>
            <a:endParaRPr sz="1800">
              <a:solidFill>
                <a:srgbClr val="24292E"/>
              </a:solidFill>
            </a:endParaRPr>
          </a:p>
          <a:p>
            <a:pPr indent="-342900" lvl="1" marL="914400" rtl="0" algn="l">
              <a:spcBef>
                <a:spcPts val="0"/>
              </a:spcBef>
              <a:spcAft>
                <a:spcPts val="0"/>
              </a:spcAft>
              <a:buClr>
                <a:srgbClr val="24292E"/>
              </a:buClr>
              <a:buSzPts val="1800"/>
              <a:buChar char="○"/>
            </a:pPr>
            <a:r>
              <a:rPr lang="en-GB" sz="1800">
                <a:solidFill>
                  <a:srgbClr val="24292E"/>
                </a:solidFill>
              </a:rPr>
              <a:t>in Ex07 you (or </a:t>
            </a:r>
            <a:r>
              <a:rPr b="1" lang="en-GB" sz="1800">
                <a:solidFill>
                  <a:srgbClr val="24292E"/>
                </a:solidFill>
              </a:rPr>
              <a:t>model code</a:t>
            </a:r>
            <a:r>
              <a:rPr lang="en-GB" sz="1800">
                <a:solidFill>
                  <a:srgbClr val="24292E"/>
                </a:solidFill>
              </a:rPr>
              <a:t>!) created a wifi access point and served HTML pages</a:t>
            </a:r>
            <a:endParaRPr sz="1800">
              <a:solidFill>
                <a:srgbClr val="24292E"/>
              </a:solidFill>
            </a:endParaRPr>
          </a:p>
          <a:p>
            <a:pPr indent="-342900" lvl="1" marL="914400" rtl="0" algn="l">
              <a:spcBef>
                <a:spcPts val="0"/>
              </a:spcBef>
              <a:spcAft>
                <a:spcPts val="0"/>
              </a:spcAft>
              <a:buClr>
                <a:srgbClr val="24292E"/>
              </a:buClr>
              <a:buSzPts val="1800"/>
              <a:buChar char="○"/>
            </a:pPr>
            <a:r>
              <a:rPr lang="en-GB" sz="1800">
                <a:solidFill>
                  <a:srgbClr val="24292E"/>
                </a:solidFill>
              </a:rPr>
              <a:t>using the WiFi.scanNetworks() method, serve HTML to list available APs, and allow user to choose one, enter key, and have the ESP connect to that network</a:t>
            </a:r>
            <a:endParaRPr sz="1800">
              <a:solidFill>
                <a:srgbClr val="24292E"/>
              </a:solidFill>
            </a:endParaRPr>
          </a:p>
          <a:p>
            <a:pPr indent="0" lvl="0" marL="0" rtl="0" algn="l">
              <a:spcBef>
                <a:spcPts val="1200"/>
              </a:spcBef>
              <a:spcAft>
                <a:spcPts val="1000"/>
              </a:spcAft>
              <a:buClr>
                <a:schemeClr val="dk1"/>
              </a:buClr>
              <a:buSzPts val="1100"/>
              <a:buFont typeface="Arial"/>
              <a:buNone/>
            </a:pPr>
            <a:r>
              <a:t/>
            </a:r>
            <a:endParaRPr sz="1800"/>
          </a:p>
        </p:txBody>
      </p:sp>
      <p:sp>
        <p:nvSpPr>
          <p:cNvPr id="230" name="Google Shape;230;p40"/>
          <p:cNvSpPr txBox="1"/>
          <p:nvPr>
            <p:ph idx="1" type="body"/>
          </p:nvPr>
        </p:nvSpPr>
        <p:spPr>
          <a:xfrm>
            <a:off x="105333" y="2833111"/>
            <a:ext cx="4189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p>
          <a:p>
            <a:pPr indent="-342900" lvl="0" marL="457200" rtl="0" algn="l">
              <a:spcBef>
                <a:spcPts val="1000"/>
              </a:spcBef>
              <a:spcAft>
                <a:spcPts val="0"/>
              </a:spcAft>
              <a:buClr>
                <a:schemeClr val="dk1"/>
              </a:buClr>
              <a:buSzPts val="1800"/>
              <a:buChar char="●"/>
            </a:pPr>
            <a:r>
              <a:rPr b="1" lang="en-GB" sz="1800"/>
              <a:t>Ex07</a:t>
            </a:r>
            <a:r>
              <a:rPr lang="en-GB" sz="1800"/>
              <a:t>: simple utilities for representing and manipulating HTML elements and serving pages</a:t>
            </a:r>
            <a:endParaRPr sz="1800"/>
          </a:p>
          <a:p>
            <a:pPr indent="0" lvl="0" marL="457200" marR="0" rtl="0" algn="l">
              <a:lnSpc>
                <a:spcPct val="115000"/>
              </a:lnSpc>
              <a:spcBef>
                <a:spcPts val="1000"/>
              </a:spcBef>
              <a:spcAft>
                <a:spcPts val="1200"/>
              </a:spcAft>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6" name="Google Shape;236;p41"/>
          <p:cNvSpPr txBox="1"/>
          <p:nvPr>
            <p:ph idx="1" type="body"/>
          </p:nvPr>
        </p:nvSpPr>
        <p:spPr>
          <a:xfrm>
            <a:off x="375500" y="629650"/>
            <a:ext cx="8564100" cy="39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Simple </a:t>
            </a:r>
            <a:r>
              <a:rPr lang="en-GB" sz="1800"/>
              <a:t>access point device provisioning (aka </a:t>
            </a:r>
            <a:r>
              <a:rPr b="1" lang="en-GB" sz="1800"/>
              <a:t>Ex09</a:t>
            </a:r>
            <a:r>
              <a:rPr lang="en-GB" sz="1800"/>
              <a:t>):</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GB" sz="1800"/>
              <a:t>the ESP provides an </a:t>
            </a:r>
            <a:r>
              <a:rPr b="1" lang="en-GB" sz="1800"/>
              <a:t>access point</a:t>
            </a:r>
            <a:r>
              <a:rPr lang="en-GB" sz="1800"/>
              <a:t>, called e.g. Thing-MY-MAC-ADDR</a:t>
            </a:r>
            <a:endParaRPr sz="1800"/>
          </a:p>
          <a:p>
            <a:pPr indent="-342900" lvl="0" marL="457200" rtl="0" algn="l">
              <a:spcBef>
                <a:spcPts val="0"/>
              </a:spcBef>
              <a:spcAft>
                <a:spcPts val="0"/>
              </a:spcAft>
              <a:buSzPts val="1800"/>
              <a:buChar char="●"/>
            </a:pPr>
            <a:r>
              <a:rPr b="1" lang="en-GB" sz="1800"/>
              <a:t>users connect </a:t>
            </a:r>
            <a:r>
              <a:rPr lang="en-GB" sz="1800"/>
              <a:t>to that access point using a phone or laptop or etc., and:</a:t>
            </a:r>
            <a:endParaRPr sz="1800"/>
          </a:p>
          <a:p>
            <a:pPr indent="-342900" lvl="1" marL="914400" rtl="0" algn="l">
              <a:spcBef>
                <a:spcPts val="0"/>
              </a:spcBef>
              <a:spcAft>
                <a:spcPts val="0"/>
              </a:spcAft>
              <a:buSzPts val="1800"/>
              <a:buChar char="○"/>
            </a:pPr>
            <a:r>
              <a:rPr lang="en-GB" sz="1800"/>
              <a:t>either they navigate to a known IP address (192.168.4.1 by default), or</a:t>
            </a:r>
            <a:endParaRPr sz="1800"/>
          </a:p>
          <a:p>
            <a:pPr indent="-342900" lvl="1" marL="914400" rtl="0" algn="l">
              <a:spcBef>
                <a:spcPts val="0"/>
              </a:spcBef>
              <a:spcAft>
                <a:spcPts val="0"/>
              </a:spcAft>
              <a:buSzPts val="1800"/>
              <a:buChar char="○"/>
            </a:pPr>
            <a:r>
              <a:rPr lang="en-GB" sz="1800"/>
              <a:t>the ESP may run a </a:t>
            </a:r>
            <a:r>
              <a:rPr b="1" lang="en-GB" sz="1800"/>
              <a:t>captive portal</a:t>
            </a:r>
            <a:r>
              <a:rPr lang="en-GB" sz="1800"/>
              <a:t> DNS (replies to all requests with the IP of a configuration server, or sign in server)</a:t>
            </a:r>
            <a:endParaRPr sz="1800"/>
          </a:p>
          <a:p>
            <a:pPr indent="-342900" lvl="0" marL="457200" rtl="0" algn="l">
              <a:spcBef>
                <a:spcPts val="0"/>
              </a:spcBef>
              <a:spcAft>
                <a:spcPts val="0"/>
              </a:spcAft>
              <a:buSzPts val="1800"/>
              <a:buChar char="●"/>
            </a:pPr>
            <a:r>
              <a:rPr lang="en-GB" sz="1800"/>
              <a:t>the ESP also runs a webserver, which lists </a:t>
            </a:r>
            <a:r>
              <a:rPr b="1" lang="en-GB" sz="1800"/>
              <a:t>other wifi APs</a:t>
            </a:r>
            <a:r>
              <a:rPr lang="en-GB" sz="1800"/>
              <a:t> and allows entry of access keys</a:t>
            </a:r>
            <a:endParaRPr sz="1800"/>
          </a:p>
          <a:p>
            <a:pPr indent="-342900" lvl="0" marL="457200" rtl="0" algn="l">
              <a:spcBef>
                <a:spcPts val="0"/>
              </a:spcBef>
              <a:spcAft>
                <a:spcPts val="0"/>
              </a:spcAft>
              <a:buSzPts val="1800"/>
              <a:buChar char="●"/>
            </a:pPr>
            <a:r>
              <a:rPr lang="en-GB" sz="1800"/>
              <a:t>when configured with the correct credentials, the ESP connects to an AP as a client (and can shut down its own AP as required)</a:t>
            </a:r>
            <a:endParaRPr sz="1800"/>
          </a:p>
          <a:p>
            <a:pPr indent="0" lvl="0" marL="0" rtl="0" algn="l">
              <a:spcBef>
                <a:spcPts val="0"/>
              </a:spcBef>
              <a:spcAft>
                <a:spcPts val="0"/>
              </a:spcAft>
              <a:buNone/>
            </a:pPr>
            <a:r>
              <a:t/>
            </a:r>
            <a:endParaRPr sz="1800"/>
          </a:p>
          <a:p>
            <a:pPr indent="0" lvl="0" marL="0" rtl="0" algn="l">
              <a:spcBef>
                <a:spcPts val="0"/>
              </a:spcBef>
              <a:spcAft>
                <a:spcPts val="1000"/>
              </a:spcAft>
              <a:buClr>
                <a:schemeClr val="dk1"/>
              </a:buClr>
              <a:buSzPts val="1100"/>
              <a:buFont typeface="Arial"/>
              <a:buNone/>
            </a:pPr>
            <a:r>
              <a:t/>
            </a:r>
            <a:endParaRPr sz="1800"/>
          </a:p>
        </p:txBody>
      </p:sp>
      <p:sp>
        <p:nvSpPr>
          <p:cNvPr id="237" name="Google Shape;237;p41"/>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 9: WiFi provisioning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43" name="Google Shape;243;p42"/>
          <p:cNvSpPr txBox="1"/>
          <p:nvPr>
            <p:ph idx="1" type="body"/>
          </p:nvPr>
        </p:nvSpPr>
        <p:spPr>
          <a:xfrm>
            <a:off x="1014475" y="796850"/>
            <a:ext cx="2895300" cy="42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1800"/>
          </a:p>
          <a:p>
            <a:pPr indent="-342900" lvl="0" marL="457200" rtl="0" algn="l">
              <a:spcBef>
                <a:spcPts val="1000"/>
              </a:spcBef>
              <a:spcAft>
                <a:spcPts val="0"/>
              </a:spcAft>
              <a:buSzPts val="1800"/>
              <a:buAutoNum type="arabicPeriod"/>
            </a:pPr>
            <a:br>
              <a:rPr b="1" lang="en-GB" sz="1800"/>
            </a:br>
            <a:r>
              <a:rPr b="1" lang="en-GB" sz="1800"/>
              <a:t> </a:t>
            </a:r>
            <a:endParaRPr b="1" sz="1800"/>
          </a:p>
          <a:p>
            <a:pPr indent="-342900" lvl="0" marL="457200" rtl="0" algn="l">
              <a:spcBef>
                <a:spcPts val="0"/>
              </a:spcBef>
              <a:spcAft>
                <a:spcPts val="0"/>
              </a:spcAft>
              <a:buSzPts val="1800"/>
              <a:buAutoNum type="arabicPeriod"/>
            </a:pPr>
            <a:br>
              <a:rPr b="1" lang="en-GB" sz="1800"/>
            </a:br>
            <a:r>
              <a:rPr b="1" lang="en-GB" sz="1800"/>
              <a:t> </a:t>
            </a:r>
            <a:endParaRPr b="1" sz="1800"/>
          </a:p>
          <a:p>
            <a:pPr indent="-342900" lvl="0" marL="457200" rtl="0" algn="l">
              <a:spcBef>
                <a:spcPts val="0"/>
              </a:spcBef>
              <a:spcAft>
                <a:spcPts val="0"/>
              </a:spcAft>
              <a:buSzPts val="1800"/>
              <a:buAutoNum type="arabicPeriod"/>
            </a:pPr>
            <a:br>
              <a:rPr b="1" lang="en-GB" sz="1800"/>
            </a:br>
            <a:r>
              <a:rPr b="1" lang="en-GB" sz="1800"/>
              <a:t> </a:t>
            </a:r>
            <a:endParaRPr b="1" sz="1800"/>
          </a:p>
          <a:p>
            <a:pPr indent="-342900" lvl="0" marL="457200" rtl="0" algn="l">
              <a:spcBef>
                <a:spcPts val="0"/>
              </a:spcBef>
              <a:spcAft>
                <a:spcPts val="0"/>
              </a:spcAft>
              <a:buSzPts val="1800"/>
              <a:buAutoNum type="arabicPeriod"/>
            </a:pPr>
            <a:br>
              <a:rPr b="1" lang="en-GB" sz="1800"/>
            </a:br>
            <a:r>
              <a:rPr b="1" lang="en-GB" sz="1800"/>
              <a:t> </a:t>
            </a:r>
            <a:endParaRPr b="1" sz="1800"/>
          </a:p>
          <a:p>
            <a:pPr indent="-342900" lvl="0" marL="457200" rtl="0" algn="l">
              <a:spcBef>
                <a:spcPts val="0"/>
              </a:spcBef>
              <a:spcAft>
                <a:spcPts val="0"/>
              </a:spcAft>
              <a:buSzPts val="1800"/>
              <a:buAutoNum type="arabicPeriod"/>
            </a:pPr>
            <a:r>
              <a:t/>
            </a:r>
            <a:endParaRPr b="1" sz="1800"/>
          </a:p>
        </p:txBody>
      </p:sp>
      <p:sp>
        <p:nvSpPr>
          <p:cNvPr id="244" name="Google Shape;244;p42"/>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Summary: WiFi provisioning</a:t>
            </a:r>
            <a:endParaRPr/>
          </a:p>
        </p:txBody>
      </p:sp>
      <p:sp>
        <p:nvSpPr>
          <p:cNvPr id="245" name="Google Shape;245;p42"/>
          <p:cNvSpPr txBox="1"/>
          <p:nvPr>
            <p:ph idx="1" type="body"/>
          </p:nvPr>
        </p:nvSpPr>
        <p:spPr>
          <a:xfrm>
            <a:off x="3768450" y="630425"/>
            <a:ext cx="3352800" cy="429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800"/>
              <a:t>             USER</a:t>
            </a:r>
            <a:br>
              <a:rPr b="1" lang="en-GB" sz="1800"/>
            </a:br>
            <a:br>
              <a:rPr b="1" lang="en-GB" sz="1800"/>
            </a:br>
            <a:r>
              <a:rPr lang="en-GB" sz="1800"/>
              <a:t>join wifi</a:t>
            </a:r>
            <a:br>
              <a:rPr lang="en-GB" sz="1800"/>
            </a:br>
            <a:br>
              <a:rPr lang="en-GB" sz="1800"/>
            </a:br>
            <a:r>
              <a:rPr lang="en-GB" sz="1800"/>
              <a:t>request any website</a:t>
            </a:r>
            <a:br>
              <a:rPr lang="en-GB" sz="1800"/>
            </a:br>
            <a:br>
              <a:rPr lang="en-GB" sz="1800"/>
            </a:br>
            <a:r>
              <a:rPr lang="en-GB" sz="1800"/>
              <a:t>list of available wifi APs</a:t>
            </a:r>
            <a:br>
              <a:rPr lang="en-GB" sz="1800"/>
            </a:br>
            <a:br>
              <a:rPr lang="en-GB" sz="1800"/>
            </a:br>
            <a:r>
              <a:rPr lang="en-GB" sz="1800"/>
              <a:t>choose AP, enter key, POST</a:t>
            </a:r>
            <a:br>
              <a:rPr lang="en-GB" sz="1800"/>
            </a:br>
            <a:br>
              <a:rPr lang="en-GB" sz="1800"/>
            </a:br>
            <a:r>
              <a:rPr lang="en-GB" sz="1800"/>
              <a:t>switch to cloud or other UI</a:t>
            </a:r>
            <a:endParaRPr sz="1800"/>
          </a:p>
          <a:p>
            <a:pPr indent="0" lvl="0" marL="0" rtl="0" algn="l">
              <a:spcBef>
                <a:spcPts val="1000"/>
              </a:spcBef>
              <a:spcAft>
                <a:spcPts val="1000"/>
              </a:spcAft>
              <a:buClr>
                <a:schemeClr val="dk1"/>
              </a:buClr>
              <a:buSzPts val="1100"/>
              <a:buFont typeface="Arial"/>
              <a:buNone/>
            </a:pPr>
            <a:br>
              <a:rPr lang="en-GB" sz="1800"/>
            </a:br>
            <a:endParaRPr sz="1800"/>
          </a:p>
        </p:txBody>
      </p:sp>
      <p:sp>
        <p:nvSpPr>
          <p:cNvPr id="246" name="Google Shape;246;p42"/>
          <p:cNvSpPr txBox="1"/>
          <p:nvPr>
            <p:ph idx="1" type="body"/>
          </p:nvPr>
        </p:nvSpPr>
        <p:spPr>
          <a:xfrm>
            <a:off x="1747100" y="629650"/>
            <a:ext cx="1539000" cy="4299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Clr>
                <a:schemeClr val="dk1"/>
              </a:buClr>
              <a:buSzPts val="1100"/>
              <a:buFont typeface="Arial"/>
              <a:buNone/>
            </a:pPr>
            <a:r>
              <a:rPr b="1" lang="en-GB" sz="1800"/>
              <a:t>ESP32</a:t>
            </a:r>
            <a:endParaRPr sz="1800"/>
          </a:p>
        </p:txBody>
      </p:sp>
      <p:sp>
        <p:nvSpPr>
          <p:cNvPr id="247" name="Google Shape;247;p42"/>
          <p:cNvSpPr/>
          <p:nvPr/>
        </p:nvSpPr>
        <p:spPr>
          <a:xfrm>
            <a:off x="1566075" y="1196075"/>
            <a:ext cx="17199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advertise wifi AP</a:t>
            </a:r>
            <a:endParaRPr sz="1800"/>
          </a:p>
        </p:txBody>
      </p:sp>
      <p:sp>
        <p:nvSpPr>
          <p:cNvPr id="248" name="Google Shape;248;p42"/>
          <p:cNvSpPr/>
          <p:nvPr/>
        </p:nvSpPr>
        <p:spPr>
          <a:xfrm>
            <a:off x="1566075" y="1835050"/>
            <a:ext cx="17199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DNS * to</a:t>
            </a:r>
            <a:br>
              <a:rPr lang="en-GB" sz="1800"/>
            </a:br>
            <a:r>
              <a:rPr lang="en-GB" sz="1800"/>
              <a:t>AP IP</a:t>
            </a:r>
            <a:endParaRPr sz="1800"/>
          </a:p>
        </p:txBody>
      </p:sp>
      <p:sp>
        <p:nvSpPr>
          <p:cNvPr id="249" name="Google Shape;249;p42"/>
          <p:cNvSpPr/>
          <p:nvPr/>
        </p:nvSpPr>
        <p:spPr>
          <a:xfrm>
            <a:off x="1566075" y="2478100"/>
            <a:ext cx="17199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HTTP 200</a:t>
            </a:r>
            <a:endParaRPr sz="1800"/>
          </a:p>
        </p:txBody>
      </p:sp>
      <p:sp>
        <p:nvSpPr>
          <p:cNvPr id="250" name="Google Shape;250;p42"/>
          <p:cNvSpPr/>
          <p:nvPr/>
        </p:nvSpPr>
        <p:spPr>
          <a:xfrm>
            <a:off x="1566075" y="3114450"/>
            <a:ext cx="17199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restart wifi as client of AP</a:t>
            </a:r>
            <a:endParaRPr sz="1800"/>
          </a:p>
        </p:txBody>
      </p:sp>
      <p:sp>
        <p:nvSpPr>
          <p:cNvPr id="251" name="Google Shape;251;p42"/>
          <p:cNvSpPr/>
          <p:nvPr/>
        </p:nvSpPr>
        <p:spPr>
          <a:xfrm>
            <a:off x="1566075" y="3786875"/>
            <a:ext cx="17199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(optionally) shut down AP</a:t>
            </a:r>
            <a:endParaRPr sz="1800"/>
          </a:p>
        </p:txBody>
      </p:sp>
      <p:cxnSp>
        <p:nvCxnSpPr>
          <p:cNvPr id="252" name="Google Shape;252;p42"/>
          <p:cNvCxnSpPr>
            <a:stCxn id="247" idx="3"/>
          </p:cNvCxnSpPr>
          <p:nvPr/>
        </p:nvCxnSpPr>
        <p:spPr>
          <a:xfrm>
            <a:off x="3285975" y="1482425"/>
            <a:ext cx="455100" cy="5100"/>
          </a:xfrm>
          <a:prstGeom prst="straightConnector1">
            <a:avLst/>
          </a:prstGeom>
          <a:noFill/>
          <a:ln cap="flat" cmpd="sng" w="38100">
            <a:solidFill>
              <a:schemeClr val="dk2"/>
            </a:solidFill>
            <a:prstDash val="solid"/>
            <a:round/>
            <a:headEnd len="med" w="med" type="none"/>
            <a:tailEnd len="med" w="med" type="triangle"/>
          </a:ln>
        </p:spPr>
      </p:cxnSp>
      <p:cxnSp>
        <p:nvCxnSpPr>
          <p:cNvPr id="253" name="Google Shape;253;p42"/>
          <p:cNvCxnSpPr/>
          <p:nvPr/>
        </p:nvCxnSpPr>
        <p:spPr>
          <a:xfrm>
            <a:off x="3285975" y="2777825"/>
            <a:ext cx="455100" cy="5100"/>
          </a:xfrm>
          <a:prstGeom prst="straightConnector1">
            <a:avLst/>
          </a:prstGeom>
          <a:noFill/>
          <a:ln cap="flat" cmpd="sng" w="38100">
            <a:solidFill>
              <a:schemeClr val="dk2"/>
            </a:solidFill>
            <a:prstDash val="solid"/>
            <a:round/>
            <a:headEnd len="med" w="med" type="none"/>
            <a:tailEnd len="med" w="med" type="triangle"/>
          </a:ln>
        </p:spPr>
      </p:cxnSp>
      <p:cxnSp>
        <p:nvCxnSpPr>
          <p:cNvPr id="254" name="Google Shape;254;p42"/>
          <p:cNvCxnSpPr/>
          <p:nvPr/>
        </p:nvCxnSpPr>
        <p:spPr>
          <a:xfrm flipH="1">
            <a:off x="3285975" y="2092025"/>
            <a:ext cx="455100" cy="5100"/>
          </a:xfrm>
          <a:prstGeom prst="straightConnector1">
            <a:avLst/>
          </a:prstGeom>
          <a:noFill/>
          <a:ln cap="flat" cmpd="sng" w="38100">
            <a:solidFill>
              <a:schemeClr val="dk2"/>
            </a:solidFill>
            <a:prstDash val="solid"/>
            <a:round/>
            <a:headEnd len="med" w="med" type="none"/>
            <a:tailEnd len="med" w="med" type="triangle"/>
          </a:ln>
        </p:spPr>
      </p:cxnSp>
      <p:cxnSp>
        <p:nvCxnSpPr>
          <p:cNvPr id="255" name="Google Shape;255;p42"/>
          <p:cNvCxnSpPr/>
          <p:nvPr/>
        </p:nvCxnSpPr>
        <p:spPr>
          <a:xfrm flipH="1">
            <a:off x="3285975" y="3387425"/>
            <a:ext cx="455100" cy="5100"/>
          </a:xfrm>
          <a:prstGeom prst="straightConnector1">
            <a:avLst/>
          </a:prstGeom>
          <a:noFill/>
          <a:ln cap="flat" cmpd="sng" w="38100">
            <a:solidFill>
              <a:schemeClr val="dk2"/>
            </a:solidFill>
            <a:prstDash val="solid"/>
            <a:round/>
            <a:headEnd len="med" w="med" type="none"/>
            <a:tailEnd len="med" w="med" type="triangle"/>
          </a:ln>
        </p:spPr>
      </p:cxnSp>
      <p:sp>
        <p:nvSpPr>
          <p:cNvPr id="256" name="Google Shape;256;p42"/>
          <p:cNvSpPr txBox="1"/>
          <p:nvPr/>
        </p:nvSpPr>
        <p:spPr>
          <a:xfrm rot="5400000">
            <a:off x="4804075" y="1606450"/>
            <a:ext cx="361200" cy="4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a:t>
            </a:r>
            <a:endParaRPr b="1"/>
          </a:p>
        </p:txBody>
      </p:sp>
      <p:sp>
        <p:nvSpPr>
          <p:cNvPr id="257" name="Google Shape;257;p42"/>
          <p:cNvSpPr txBox="1"/>
          <p:nvPr/>
        </p:nvSpPr>
        <p:spPr>
          <a:xfrm rot="5400000">
            <a:off x="4804075" y="2216050"/>
            <a:ext cx="361200" cy="4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a:t>
            </a:r>
            <a:endParaRPr b="1"/>
          </a:p>
        </p:txBody>
      </p:sp>
      <p:sp>
        <p:nvSpPr>
          <p:cNvPr id="258" name="Google Shape;258;p42"/>
          <p:cNvSpPr txBox="1"/>
          <p:nvPr/>
        </p:nvSpPr>
        <p:spPr>
          <a:xfrm rot="5400000">
            <a:off x="4804075" y="2825650"/>
            <a:ext cx="361200" cy="4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a:t>
            </a:r>
            <a:endParaRPr b="1"/>
          </a:p>
        </p:txBody>
      </p:sp>
      <p:sp>
        <p:nvSpPr>
          <p:cNvPr id="259" name="Google Shape;259;p42"/>
          <p:cNvSpPr txBox="1"/>
          <p:nvPr/>
        </p:nvSpPr>
        <p:spPr>
          <a:xfrm rot="5400000">
            <a:off x="4804075" y="3511450"/>
            <a:ext cx="361200" cy="4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3"/>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4</a:t>
            </a:r>
            <a:endParaRPr/>
          </a:p>
        </p:txBody>
      </p:sp>
      <p:sp>
        <p:nvSpPr>
          <p:cNvPr id="265" name="Google Shape;265;p43"/>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week 3 code review</a:t>
            </a:r>
            <a:endParaRPr sz="1800"/>
          </a:p>
          <a:p>
            <a:pPr indent="-342900" lvl="0" marL="457200" rtl="0" algn="l">
              <a:spcBef>
                <a:spcPts val="1000"/>
              </a:spcBef>
              <a:spcAft>
                <a:spcPts val="0"/>
              </a:spcAft>
              <a:buSzPts val="1800"/>
              <a:buAutoNum type="arabicPeriod"/>
            </a:pPr>
            <a:r>
              <a:rPr lang="en-GB" sz="1800"/>
              <a:t>provisioning (“in the country of the blind…”) devices without UIs</a:t>
            </a:r>
            <a:endParaRPr sz="1800"/>
          </a:p>
          <a:p>
            <a:pPr indent="-342900" lvl="0" marL="457200" rtl="0" algn="l">
              <a:spcBef>
                <a:spcPts val="1000"/>
              </a:spcBef>
              <a:spcAft>
                <a:spcPts val="0"/>
              </a:spcAft>
              <a:buSzPts val="1800"/>
              <a:buAutoNum type="arabicPeriod"/>
            </a:pPr>
            <a:r>
              <a:rPr b="1" lang="en-GB" sz="1800"/>
              <a:t>updating IoT devices over-the-air</a:t>
            </a:r>
            <a:endParaRPr b="1" sz="1800"/>
          </a:p>
          <a:p>
            <a:pPr indent="0" lvl="0" marL="0" rtl="0" algn="l">
              <a:spcBef>
                <a:spcPts val="1000"/>
              </a:spcBef>
              <a:spcAft>
                <a:spcPts val="0"/>
              </a:spcAft>
              <a:buNone/>
            </a:pPr>
            <a:r>
              <a:t/>
            </a:r>
            <a:endParaRPr sz="1800"/>
          </a:p>
        </p:txBody>
      </p:sp>
      <p:sp>
        <p:nvSpPr>
          <p:cNvPr id="266" name="Google Shape;266;p43"/>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[Click Here to Kill Everybody (again)]</a:t>
            </a:r>
            <a:endParaRPr/>
          </a:p>
        </p:txBody>
      </p:sp>
      <p:sp>
        <p:nvSpPr>
          <p:cNvPr id="272" name="Google Shape;272;p44"/>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“Everything is a computer. Ovens are computers that make things hot; refrigerators are computers that keep things cold. These computers—from home thermostats to chemical plants—are all online. The Internet, once a virtual abstraction, can now sense and touch the physical world. </a:t>
            </a:r>
            <a:endParaRPr sz="1800"/>
          </a:p>
          <a:p>
            <a:pPr indent="457200" lvl="0" marL="0" rtl="0" algn="l">
              <a:spcBef>
                <a:spcPts val="0"/>
              </a:spcBef>
              <a:spcAft>
                <a:spcPts val="0"/>
              </a:spcAft>
              <a:buClr>
                <a:schemeClr val="dk1"/>
              </a:buClr>
              <a:buSzPts val="1100"/>
              <a:buFont typeface="Arial"/>
              <a:buNone/>
            </a:pPr>
            <a:r>
              <a:rPr lang="en-GB" sz="1800"/>
              <a:t>As we open our lives to this future, often called the Internet of Things, we are beginning to see its enormous potential in ideas like driverless cars, smart cities, and personal agents equipped with their own behavioral algorithms. But every knife cuts two ways.</a:t>
            </a:r>
            <a:endParaRPr sz="1800"/>
          </a:p>
          <a:p>
            <a:pPr indent="457200" lvl="0" marL="0" rtl="0" algn="l">
              <a:spcBef>
                <a:spcPts val="0"/>
              </a:spcBef>
              <a:spcAft>
                <a:spcPts val="0"/>
              </a:spcAft>
              <a:buNone/>
            </a:pPr>
            <a:r>
              <a:rPr lang="en-GB" sz="1800"/>
              <a:t>All computers can be hacked. And Internet-connected computers are the most vulnerable. Forget data theft: cutting-edge digital attackers can now crash your car, your pacemaker, and the nation’s power grid.”</a:t>
            </a:r>
            <a:endParaRPr sz="1800"/>
          </a:p>
          <a:p>
            <a:pPr indent="457200" lvl="0" marL="457200" rtl="0" algn="l">
              <a:spcBef>
                <a:spcPts val="0"/>
              </a:spcBef>
              <a:spcAft>
                <a:spcPts val="0"/>
              </a:spcAft>
              <a:buNone/>
            </a:pPr>
            <a:br>
              <a:rPr i="1" lang="en-GB" sz="1800"/>
            </a:br>
            <a:r>
              <a:rPr i="1" lang="en-GB" sz="1800"/>
              <a:t>Click Here to Kill Everybody: Security and Survival in a Hyper-connected World</a:t>
            </a:r>
            <a:r>
              <a:rPr lang="en-GB" sz="1800"/>
              <a:t> — Bruce Schneier, Sept 2018</a:t>
            </a:r>
            <a:endParaRPr sz="1800"/>
          </a:p>
          <a:p>
            <a:pPr indent="457200" lvl="0" marL="45720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sz="1800"/>
          </a:p>
        </p:txBody>
      </p:sp>
      <p:sp>
        <p:nvSpPr>
          <p:cNvPr id="273" name="Google Shape;273;p44"/>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79" name="Google Shape;279;p45"/>
          <p:cNvSpPr txBox="1"/>
          <p:nvPr>
            <p:ph type="title"/>
          </p:nvPr>
        </p:nvSpPr>
        <p:spPr>
          <a:xfrm>
            <a:off x="724800" y="-68900"/>
            <a:ext cx="8193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r>
              <a:rPr lang="en-GB"/>
              <a:t>An aside: KRACK — patch your machines now!]</a:t>
            </a:r>
            <a:endParaRPr/>
          </a:p>
        </p:txBody>
      </p:sp>
      <p:pic>
        <p:nvPicPr>
          <p:cNvPr descr="A few weeks ago, researchers from the University of Leuven in Belgium discovered a significant problem: The KRACK Attack. This attack makes it possible to spy on or even take over most of the current Wi-Fi devices.&#10;In this video I will show you how to solve this issue for our ESP devices.&#10;&#10;The string to paste into the preferences field is below in the comment. Youtube shortened it here...&#10;&#10;&#10;Links:&#10;KRACK Page: https://www.krackattacks.com/&#10;KRACK Issue for ESP8266: https://github.com/esp8266/Arduino/issues/3725&#10;Newest ESP8266 Release: https://github.com/esp8266/Arduino/releases&#10;ESP32 Update video: https://youtu.be/SBG7ccW5gpA?t=158" id="280" name="Google Shape;280;p45" title="#167 KRACK Wi-Fi Attack: How to Protect our ESP8266 and ESP32?">
            <a:hlinkClick r:id="rId3"/>
          </p:cNvPr>
          <p:cNvPicPr preferRelativeResize="0"/>
          <p:nvPr/>
        </p:nvPicPr>
        <p:blipFill>
          <a:blip r:embed="rId4">
            <a:alphaModFix/>
          </a:blip>
          <a:stretch>
            <a:fillRect/>
          </a:stretch>
        </p:blipFill>
        <p:spPr>
          <a:xfrm>
            <a:off x="2819400" y="580000"/>
            <a:ext cx="5557350" cy="4168000"/>
          </a:xfrm>
          <a:prstGeom prst="rect">
            <a:avLst/>
          </a:prstGeom>
          <a:noFill/>
          <a:ln>
            <a:noFill/>
          </a:ln>
        </p:spPr>
      </p:pic>
      <p:sp>
        <p:nvSpPr>
          <p:cNvPr id="281" name="Google Shape;281;p45"/>
          <p:cNvSpPr txBox="1"/>
          <p:nvPr/>
        </p:nvSpPr>
        <p:spPr>
          <a:xfrm>
            <a:off x="314375" y="531125"/>
            <a:ext cx="2462700" cy="42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t>“KRACK (Key Reinstallation Attack) ... on the WPA ... By repeatedly resetting the nonce transmitted in the third step of the WPA2 handshake, an attacker can gradually match encrypted packets seen before and learn the full keychain used to encrypt the traffic.” (Wikipedia)</a:t>
            </a:r>
            <a:endParaRPr sz="1800"/>
          </a:p>
          <a:p>
            <a:pPr indent="0" lvl="0" marL="0" rtl="0" algn="l">
              <a:spcBef>
                <a:spcPts val="0"/>
              </a:spcBef>
              <a:spcAft>
                <a:spcPts val="0"/>
              </a:spcAft>
              <a:buNone/>
            </a:pPr>
            <a:r>
              <a:rPr lang="en-GB" sz="1800"/>
              <a:t>    (don’t panic, this</a:t>
            </a:r>
            <a:br>
              <a:rPr lang="en-GB" sz="1800"/>
            </a:br>
            <a:r>
              <a:rPr lang="en-GB" sz="1800"/>
              <a:t>     was 2017!)</a:t>
            </a:r>
            <a:endParaRPr sz="1800"/>
          </a:p>
          <a:p>
            <a:pPr indent="0" lvl="0" marL="457200" rtl="0" algn="l">
              <a:spcBef>
                <a:spcPts val="0"/>
              </a:spcBef>
              <a:spcAft>
                <a:spcPts val="0"/>
              </a:spcAft>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idx="1" type="body"/>
          </p:nvPr>
        </p:nvSpPr>
        <p:spPr>
          <a:xfrm>
            <a:off x="136700" y="2512475"/>
            <a:ext cx="8109300" cy="1536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if you corrupt your firmware,</a:t>
            </a:r>
            <a:br>
              <a:rPr lang="en-GB" sz="1800"/>
            </a:br>
            <a:r>
              <a:rPr lang="en-GB" sz="1800"/>
              <a:t>you’ve “bricked” your device</a:t>
            </a:r>
            <a:endParaRPr sz="1800"/>
          </a:p>
          <a:p>
            <a:pPr indent="-342900" lvl="0" marL="457200" rtl="0" algn="l">
              <a:spcBef>
                <a:spcPts val="0"/>
              </a:spcBef>
              <a:spcAft>
                <a:spcPts val="0"/>
              </a:spcAft>
              <a:buSzPts val="1800"/>
              <a:buChar char="●"/>
            </a:pPr>
            <a:r>
              <a:rPr lang="en-GB" sz="1800"/>
              <a:t>OTA updates, where the net</a:t>
            </a:r>
            <a:br>
              <a:rPr lang="en-GB" sz="1800"/>
            </a:br>
            <a:r>
              <a:rPr lang="en-GB" sz="1800"/>
              <a:t>might suddenly drop, must </a:t>
            </a:r>
            <a:br>
              <a:rPr lang="en-GB" sz="1800"/>
            </a:br>
            <a:r>
              <a:rPr lang="en-GB" sz="1800"/>
              <a:t>be staged in separate space</a:t>
            </a:r>
            <a:br>
              <a:rPr lang="en-GB" sz="1800"/>
            </a:br>
            <a:r>
              <a:rPr lang="en-GB" sz="1800"/>
              <a:t>on flash — so the available</a:t>
            </a:r>
            <a:br>
              <a:rPr lang="en-GB" sz="1800"/>
            </a:br>
            <a:r>
              <a:rPr lang="en-GB" sz="1800"/>
              <a:t>flash memory must be double</a:t>
            </a:r>
            <a:br>
              <a:rPr lang="en-GB" sz="1800"/>
            </a:br>
            <a:r>
              <a:rPr lang="en-GB" sz="1800"/>
              <a:t>(or triple) the size of a single flash image</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1000"/>
              </a:spcAft>
              <a:buClr>
                <a:schemeClr val="dk1"/>
              </a:buClr>
              <a:buSzPts val="1100"/>
              <a:buFont typeface="Arial"/>
              <a:buNone/>
            </a:pPr>
            <a:r>
              <a:t/>
            </a:r>
            <a:endParaRPr sz="1800"/>
          </a:p>
        </p:txBody>
      </p:sp>
      <p:sp>
        <p:nvSpPr>
          <p:cNvPr id="287" name="Google Shape;287;p46"/>
          <p:cNvSpPr txBox="1"/>
          <p:nvPr>
            <p:ph idx="1" type="body"/>
          </p:nvPr>
        </p:nvSpPr>
        <p:spPr>
          <a:xfrm>
            <a:off x="136700" y="1064675"/>
            <a:ext cx="8109300" cy="153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OTA: over-the-air updates</a:t>
            </a:r>
            <a:endParaRPr sz="1800"/>
          </a:p>
          <a:p>
            <a:pPr indent="-342900" lvl="0" marL="457200" rtl="0" algn="l">
              <a:spcBef>
                <a:spcPts val="1000"/>
              </a:spcBef>
              <a:spcAft>
                <a:spcPts val="0"/>
              </a:spcAft>
              <a:buSzPts val="1800"/>
              <a:buChar char="●"/>
            </a:pPr>
            <a:r>
              <a:rPr lang="en-GB" sz="1800"/>
              <a:t>when your microcontroller is connected via a fast network (e.g. over WiFi), it can download new firmware versions whenever they’re available</a:t>
            </a:r>
            <a:endParaRPr sz="1800"/>
          </a:p>
          <a:p>
            <a:pPr indent="-342900" lvl="0" marL="457200" rtl="0" algn="l">
              <a:spcBef>
                <a:spcPts val="0"/>
              </a:spcBef>
              <a:spcAft>
                <a:spcPts val="0"/>
              </a:spcAft>
              <a:buSzPts val="1800"/>
              <a:buChar char="●"/>
            </a:pPr>
            <a:r>
              <a:rPr lang="en-GB" sz="1800"/>
              <a:t>Q: what are the implications for flash memory resources on the device?</a:t>
            </a:r>
            <a:endParaRPr sz="1800"/>
          </a:p>
        </p:txBody>
      </p:sp>
      <p:sp>
        <p:nvSpPr>
          <p:cNvPr id="288" name="Google Shape;288;p46"/>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How to ensure IoT devices get patched when security holes appear?</a:t>
            </a:r>
            <a:endParaRPr/>
          </a:p>
        </p:txBody>
      </p:sp>
      <p:sp>
        <p:nvSpPr>
          <p:cNvPr id="289" name="Google Shape;289;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pSp>
        <p:nvGrpSpPr>
          <p:cNvPr id="290" name="Google Shape;290;p46"/>
          <p:cNvGrpSpPr/>
          <p:nvPr/>
        </p:nvGrpSpPr>
        <p:grpSpPr>
          <a:xfrm>
            <a:off x="3575888" y="2665850"/>
            <a:ext cx="7059426" cy="2208325"/>
            <a:chOff x="2633663" y="2943225"/>
            <a:chExt cx="7059426" cy="2208325"/>
          </a:xfrm>
        </p:grpSpPr>
        <p:pic>
          <p:nvPicPr>
            <p:cNvPr id="291" name="Google Shape;291;p46"/>
            <p:cNvPicPr preferRelativeResize="0"/>
            <p:nvPr/>
          </p:nvPicPr>
          <p:blipFill>
            <a:blip r:embed="rId3">
              <a:alphaModFix/>
            </a:blip>
            <a:stretch>
              <a:fillRect/>
            </a:stretch>
          </p:blipFill>
          <p:spPr>
            <a:xfrm>
              <a:off x="2633663" y="2943225"/>
              <a:ext cx="5400675" cy="1847850"/>
            </a:xfrm>
            <a:prstGeom prst="rect">
              <a:avLst/>
            </a:prstGeom>
            <a:noFill/>
            <a:ln>
              <a:noFill/>
            </a:ln>
          </p:spPr>
        </p:pic>
        <p:sp>
          <p:nvSpPr>
            <p:cNvPr id="292" name="Google Shape;292;p46"/>
            <p:cNvSpPr txBox="1"/>
            <p:nvPr/>
          </p:nvSpPr>
          <p:spPr>
            <a:xfrm>
              <a:off x="3177988" y="4699750"/>
              <a:ext cx="6515100" cy="4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u="sng">
                  <a:solidFill>
                    <a:schemeClr val="hlink"/>
                  </a:solidFill>
                  <a:hlinkClick r:id="rId4"/>
                </a:rPr>
                <a:t>http://www.lucadentella.it/en/2016/12/22/esp32-4-flash-bootloader-e-freertos/</a:t>
              </a:r>
              <a:r>
                <a:rPr lang="en-GB" sz="1100"/>
                <a:t> </a:t>
              </a:r>
              <a:endParaRPr sz="11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idx="1" type="body"/>
          </p:nvPr>
        </p:nvSpPr>
        <p:spPr>
          <a:xfrm>
            <a:off x="136700" y="607475"/>
            <a:ext cx="3406500" cy="388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Sequence:</a:t>
            </a:r>
            <a:endParaRPr sz="1800"/>
          </a:p>
          <a:p>
            <a:pPr indent="-342900" lvl="0" marL="457200" rtl="0" algn="l">
              <a:spcBef>
                <a:spcPts val="1000"/>
              </a:spcBef>
              <a:spcAft>
                <a:spcPts val="0"/>
              </a:spcAft>
              <a:buSzPts val="1800"/>
              <a:buChar char="●"/>
            </a:pPr>
            <a:r>
              <a:rPr lang="en-GB" sz="1800"/>
              <a:t>firmware (.bin) and version # published to web</a:t>
            </a:r>
            <a:endParaRPr sz="1800"/>
          </a:p>
          <a:p>
            <a:pPr indent="-342900" lvl="0" marL="457200" rtl="0" algn="l">
              <a:spcBef>
                <a:spcPts val="0"/>
              </a:spcBef>
              <a:spcAft>
                <a:spcPts val="0"/>
              </a:spcAft>
              <a:buSzPts val="1800"/>
              <a:buChar char="●"/>
            </a:pPr>
            <a:r>
              <a:rPr lang="en-GB" sz="1800"/>
              <a:t>ESP polls web; if version &gt; current firmware version:</a:t>
            </a:r>
            <a:endParaRPr sz="1800"/>
          </a:p>
          <a:p>
            <a:pPr indent="-342900" lvl="0" marL="457200" rtl="0" algn="l">
              <a:spcBef>
                <a:spcPts val="0"/>
              </a:spcBef>
              <a:spcAft>
                <a:spcPts val="0"/>
              </a:spcAft>
              <a:buSzPts val="1800"/>
              <a:buChar char="●"/>
            </a:pPr>
            <a:r>
              <a:rPr lang="en-GB" sz="1800"/>
              <a:t>download new firmware to free flash partition</a:t>
            </a:r>
            <a:endParaRPr sz="1800"/>
          </a:p>
          <a:p>
            <a:pPr indent="-342900" lvl="0" marL="457200" rtl="0" algn="l">
              <a:spcBef>
                <a:spcPts val="0"/>
              </a:spcBef>
              <a:spcAft>
                <a:spcPts val="0"/>
              </a:spcAft>
              <a:buSzPts val="1800"/>
              <a:buChar char="●"/>
            </a:pPr>
            <a:r>
              <a:rPr lang="en-GB" sz="1800"/>
              <a:t>verify download; set bootloader flag to the new partition</a:t>
            </a:r>
            <a:endParaRPr sz="1800"/>
          </a:p>
          <a:p>
            <a:pPr indent="-342900" lvl="0" marL="457200" rtl="0" algn="l">
              <a:spcBef>
                <a:spcPts val="0"/>
              </a:spcBef>
              <a:spcAft>
                <a:spcPts val="0"/>
              </a:spcAft>
              <a:buSzPts val="1800"/>
              <a:buChar char="●"/>
            </a:pPr>
            <a:r>
              <a:rPr lang="en-GB" sz="1800"/>
              <a:t>restart, new version runs</a:t>
            </a:r>
            <a:endParaRPr sz="1800"/>
          </a:p>
        </p:txBody>
      </p:sp>
      <p:sp>
        <p:nvSpPr>
          <p:cNvPr id="298" name="Google Shape;298;p47"/>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OTA updates (2)</a:t>
            </a:r>
            <a:endParaRPr/>
          </a:p>
        </p:txBody>
      </p:sp>
      <p:sp>
        <p:nvSpPr>
          <p:cNvPr id="299" name="Google Shape;299;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00" name="Google Shape;300;p47"/>
          <p:cNvPicPr preferRelativeResize="0"/>
          <p:nvPr/>
        </p:nvPicPr>
        <p:blipFill>
          <a:blip r:embed="rId3">
            <a:alphaModFix/>
          </a:blip>
          <a:stretch>
            <a:fillRect/>
          </a:stretch>
        </p:blipFill>
        <p:spPr>
          <a:xfrm>
            <a:off x="3984525" y="823675"/>
            <a:ext cx="4346849" cy="2278925"/>
          </a:xfrm>
          <a:prstGeom prst="rect">
            <a:avLst/>
          </a:prstGeom>
          <a:noFill/>
          <a:ln>
            <a:noFill/>
          </a:ln>
        </p:spPr>
      </p:pic>
      <p:sp>
        <p:nvSpPr>
          <p:cNvPr id="301" name="Google Shape;301;p47"/>
          <p:cNvSpPr txBox="1"/>
          <p:nvPr/>
        </p:nvSpPr>
        <p:spPr>
          <a:xfrm>
            <a:off x="3947500" y="2070800"/>
            <a:ext cx="5245800" cy="233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100"/>
              <a:t>https://blog.classycode.com/over-the-air-updating-an-esp32-29f83ebbcca2</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8"/>
          <p:cNvSpPr txBox="1"/>
          <p:nvPr>
            <p:ph idx="1" type="body"/>
          </p:nvPr>
        </p:nvSpPr>
        <p:spPr>
          <a:xfrm>
            <a:off x="136700" y="607475"/>
            <a:ext cx="4300200" cy="388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The Arduino IDE supports OTA, accessible via the Tools&gt;Port menu option when running an OTA capable sketch and connected to the same network as the ESP.</a:t>
            </a:r>
            <a:endParaRPr sz="1800"/>
          </a:p>
          <a:p>
            <a:pPr indent="0" lvl="0" marL="0" rtl="0" algn="l">
              <a:spcBef>
                <a:spcPts val="1000"/>
              </a:spcBef>
              <a:spcAft>
                <a:spcPts val="0"/>
              </a:spcAft>
              <a:buNone/>
            </a:pPr>
            <a:r>
              <a:rPr lang="en-GB" sz="1800"/>
              <a:t>See the File&gt;Examples&gt;ArduinoOTA&gt;BasicOTA example sketch.</a:t>
            </a:r>
            <a:endParaRPr sz="1800"/>
          </a:p>
          <a:p>
            <a:pPr indent="0" lvl="0" marL="0" rtl="0" algn="l">
              <a:spcBef>
                <a:spcPts val="1000"/>
              </a:spcBef>
              <a:spcAft>
                <a:spcPts val="0"/>
              </a:spcAft>
              <a:buNone/>
            </a:pPr>
            <a:r>
              <a:rPr lang="en-GB" sz="1800"/>
              <a:t>(This only works via the IDE, so not</a:t>
            </a:r>
            <a:endParaRPr sz="1800"/>
          </a:p>
          <a:p>
            <a:pPr indent="0" lvl="0" marL="0" rtl="0" algn="l">
              <a:spcBef>
                <a:spcPts val="1000"/>
              </a:spcBef>
              <a:spcAft>
                <a:spcPts val="1000"/>
              </a:spcAft>
              <a:buNone/>
            </a:pPr>
            <a:r>
              <a:rPr lang="en-GB" sz="1800"/>
              <a:t>too useful in practice!)</a:t>
            </a:r>
            <a:endParaRPr sz="1800"/>
          </a:p>
        </p:txBody>
      </p:sp>
      <p:sp>
        <p:nvSpPr>
          <p:cNvPr id="307" name="Google Shape;307;p48"/>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OTA updates (3)</a:t>
            </a:r>
            <a:endParaRPr/>
          </a:p>
        </p:txBody>
      </p:sp>
      <p:sp>
        <p:nvSpPr>
          <p:cNvPr id="308" name="Google Shape;308;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An overview of the ESP32 OTA architecture and method, then how to set-up your IDE to support OTA followed by a demonstration and summary.&#10;Code Example: https://github.com/G6EJD/ESP32-OTA-Example" id="309" name="Google Shape;309;p48" title="Tech Note 082 - ESP32 Over-the-Air (OTA) Updating">
            <a:hlinkClick r:id="rId3"/>
          </p:cNvPr>
          <p:cNvPicPr preferRelativeResize="0"/>
          <p:nvPr/>
        </p:nvPicPr>
        <p:blipFill>
          <a:blip r:embed="rId4">
            <a:alphaModFix/>
          </a:blip>
          <a:stretch>
            <a:fillRect/>
          </a:stretch>
        </p:blipFill>
        <p:spPr>
          <a:xfrm>
            <a:off x="4305200" y="747467"/>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15" name="Google Shape;315;p49"/>
          <p:cNvSpPr txBox="1"/>
          <p:nvPr>
            <p:ph idx="1" type="body"/>
          </p:nvPr>
        </p:nvSpPr>
        <p:spPr>
          <a:xfrm>
            <a:off x="375500" y="629650"/>
            <a:ext cx="8564100" cy="39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u="sng">
                <a:solidFill>
                  <a:schemeClr val="hlink"/>
                </a:solidFill>
                <a:hlinkClick r:id="rId3"/>
              </a:rPr>
              <a:t>IoTAppStory.com</a:t>
            </a:r>
            <a:r>
              <a:rPr lang="en-GB" sz="1800"/>
              <a:t> from our friend Andreas Spiess:</a:t>
            </a:r>
            <a:endParaRPr sz="1800"/>
          </a:p>
          <a:p>
            <a:pPr indent="-342900" lvl="0" marL="457200" rtl="0" algn="l">
              <a:spcBef>
                <a:spcPts val="1000"/>
              </a:spcBef>
              <a:spcAft>
                <a:spcPts val="0"/>
              </a:spcAft>
              <a:buSzPts val="1800"/>
              <a:buChar char="●"/>
            </a:pPr>
            <a:r>
              <a:rPr lang="en-GB" sz="1800"/>
              <a:t>device polls firmware repo</a:t>
            </a:r>
            <a:endParaRPr sz="1800"/>
          </a:p>
          <a:p>
            <a:pPr indent="-342900" lvl="0" marL="457200" rtl="0" algn="l">
              <a:spcBef>
                <a:spcPts val="0"/>
              </a:spcBef>
              <a:spcAft>
                <a:spcPts val="0"/>
              </a:spcAft>
              <a:buSzPts val="1800"/>
              <a:buChar char="●"/>
            </a:pPr>
            <a:r>
              <a:rPr lang="en-GB" sz="1800"/>
              <a:t>when updates</a:t>
            </a:r>
            <a:br>
              <a:rPr lang="en-GB" sz="1800"/>
            </a:br>
            <a:r>
              <a:rPr lang="en-GB" sz="1800"/>
              <a:t>available triggers</a:t>
            </a:r>
            <a:br>
              <a:rPr lang="en-GB" sz="1800"/>
            </a:br>
            <a:r>
              <a:rPr lang="en-GB" sz="1800"/>
              <a:t>OTA update</a:t>
            </a:r>
            <a:endParaRPr sz="1800"/>
          </a:p>
          <a:p>
            <a:pPr indent="-342900" lvl="0" marL="457200" rtl="0" algn="l">
              <a:spcBef>
                <a:spcPts val="0"/>
              </a:spcBef>
              <a:spcAft>
                <a:spcPts val="0"/>
              </a:spcAft>
              <a:buSzPts val="1800"/>
              <a:buChar char="●"/>
            </a:pPr>
            <a:r>
              <a:rPr lang="en-GB" sz="1800"/>
              <a:t>IoT app</a:t>
            </a:r>
            <a:br>
              <a:rPr lang="en-GB" sz="1800"/>
            </a:br>
            <a:r>
              <a:rPr lang="en-GB" sz="1800"/>
              <a:t>store model…</a:t>
            </a:r>
            <a:br>
              <a:rPr lang="en-GB" sz="1800"/>
            </a:br>
            <a:r>
              <a:rPr lang="en-GB" sz="1800"/>
              <a:t>(originally</a:t>
            </a:r>
            <a:br>
              <a:rPr lang="en-GB" sz="1800"/>
            </a:br>
            <a:r>
              <a:rPr lang="en-GB" sz="1800"/>
              <a:t>ESP8266, recently</a:t>
            </a:r>
            <a:br>
              <a:rPr lang="en-GB" sz="1800"/>
            </a:br>
            <a:r>
              <a:rPr lang="en-GB" sz="1800"/>
              <a:t>ported to ESP32)</a:t>
            </a:r>
            <a:endParaRPr sz="1800"/>
          </a:p>
        </p:txBody>
      </p:sp>
      <p:sp>
        <p:nvSpPr>
          <p:cNvPr id="316" name="Google Shape;316;p49"/>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
            </a:r>
            <a:r>
              <a:rPr lang="en-GB"/>
              <a:t>AP-based config + OTA = ….?]</a:t>
            </a:r>
            <a:endParaRPr/>
          </a:p>
        </p:txBody>
      </p:sp>
      <p:pic>
        <p:nvPicPr>
          <p:cNvPr descr="iotappstory.png" id="317" name="Google Shape;317;p49"/>
          <p:cNvPicPr preferRelativeResize="0"/>
          <p:nvPr/>
        </p:nvPicPr>
        <p:blipFill>
          <a:blip r:embed="rId4">
            <a:alphaModFix/>
          </a:blip>
          <a:stretch>
            <a:fillRect/>
          </a:stretch>
        </p:blipFill>
        <p:spPr>
          <a:xfrm>
            <a:off x="2856475" y="1630575"/>
            <a:ext cx="5880350" cy="3307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23" name="Google Shape;323;p50"/>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[IoTAppStory (2)]</a:t>
            </a:r>
            <a:endParaRPr/>
          </a:p>
        </p:txBody>
      </p:sp>
      <p:pic>
        <p:nvPicPr>
          <p:cNvPr descr="You want the functionality of WiFi manager, secure over the air update, and an overview over all your ESP devices wherever they are?&#10;Two years ago, we announced IOTappstory as a Christmas gift. It was the first Appstore for IOT devices, and it worked for the ESP8266. Today we can announce that it also works with the ESP32. And it got much cooler.&#10;The idea behind IOTappstory.com is to make it simple and secure to distribute and manage software for IOT devices over the air. Most of us implemented some connected devices in our homes. At places, we cannot easily upload new software or change parameters like passwords or access keys. And if we have more and more of those devices, we even might lose control of which software runs on which board.&#10;The new IOTappStory.com developed by Onno and me over the last two years&#10;- consists of a library and a Webservice&#10;- stores and distributes software, SPIFFS files, and parameters for ESP8266 and ESP32 boards&#10;- the distribution is done over the air (OTA)&#10;- it has all the functions of WiFiManager like entering Wi-Fi passwords or settings&#10;- it uses HTTPS for transport and makes sure only you can upload software to your devices&#10;- You can monitor your devices over the network&#10;- It works globally. You can also manage your devices in a remote location&#10;- The footprint on your ESP is optimized because most of the functionality runs in your browser&#10;Today I walk you through the installation and the startup of an ESP32 using IOTappStory.com.&#10;&#10;Links:&#10;Library: https://github.com/iotappstory/ESP-Library&#10;Discord Invite: https://discord.gg/GKNNTtr&#10;&#10;Supporting Material and Blog Page: http://www.sensorsiot.org&#10;Github: https://www.github.com/sensorsiot&#10;&#10;My Patreon Page: https://www.patreon.com/AndreasSpiess&#10;My Bitcoin address: 19FSmqbBzb5zsYB1d8Bq4KbxVmezToDNTV&#10;If you want to support the channel, please use the links below to start your shopping. No additional charges for you, but I get a commission (of your purchases the next 24 hours) to buy new stuff for the channel&#10;For Banggood https://bit.ly/2jAQEf4&#10;For AliExpress: http://bit.ly/2B0yTLL&#10;For Amazon.com: http://amzn.to/2EGiJcK&#10;For Amazon.de: http://amzn.to/2r0ZCYI&#10;For Amazon UK: http://amzn.to/2mxBaJf&#10;For ebay.com: http://ebay.to/2DuYXBp&#10;&#10;https://www.facebook.com/profile.php?id=100013947273409&#10;https://twitter.com/spiessa&#10;https://www.instructables.com/member/Andreas%20Spiess/&#10;Please do not try to Email me or invite me on LinkedIn. These communication channels are reserved for my primary job&#10;&#10;Equipment in my lab: http://www.sensorsiot.org/my-lab/" id="324" name="Google Shape;324;p50" title="#225 How-to Manage your ESP32 and ESP8266 over the Air (IOTappstory.com)">
            <a:hlinkClick r:id="rId3"/>
          </p:cNvPr>
          <p:cNvPicPr preferRelativeResize="0"/>
          <p:nvPr/>
        </p:nvPicPr>
        <p:blipFill>
          <a:blip r:embed="rId4">
            <a:alphaModFix/>
          </a:blip>
          <a:stretch>
            <a:fillRect/>
          </a:stretch>
        </p:blipFill>
        <p:spPr>
          <a:xfrm>
            <a:off x="1828800" y="732400"/>
            <a:ext cx="4944900" cy="3708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1"/>
          <p:cNvSpPr txBox="1"/>
          <p:nvPr>
            <p:ph idx="1" type="body"/>
          </p:nvPr>
        </p:nvSpPr>
        <p:spPr>
          <a:xfrm>
            <a:off x="60500" y="683675"/>
            <a:ext cx="4455300" cy="388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from IDF 4.0 and above Espressif provide an </a:t>
            </a:r>
            <a:r>
              <a:rPr lang="en-GB" sz="1800"/>
              <a:t>official</a:t>
            </a:r>
            <a:r>
              <a:rPr lang="en-GB" sz="1800"/>
              <a:t> solution</a:t>
            </a:r>
            <a:endParaRPr sz="1800"/>
          </a:p>
          <a:p>
            <a:pPr indent="-342900" lvl="0" marL="457200" rtl="0" algn="l">
              <a:spcBef>
                <a:spcPts val="0"/>
              </a:spcBef>
              <a:spcAft>
                <a:spcPts val="0"/>
              </a:spcAft>
              <a:buSzPts val="1800"/>
              <a:buChar char="●"/>
            </a:pPr>
            <a:r>
              <a:rPr lang="en-GB" sz="1800"/>
              <a:t>call the library from app_main, </a:t>
            </a:r>
            <a:r>
              <a:rPr lang="en-GB" sz="1800"/>
              <a:t>specify</a:t>
            </a:r>
            <a:r>
              <a:rPr lang="en-GB" sz="1800"/>
              <a:t> parameters to twiddle on the device</a:t>
            </a:r>
            <a:endParaRPr sz="1800"/>
          </a:p>
          <a:p>
            <a:pPr indent="-342900" lvl="0" marL="457200" rtl="0" algn="l">
              <a:spcBef>
                <a:spcPts val="0"/>
              </a:spcBef>
              <a:spcAft>
                <a:spcPts val="0"/>
              </a:spcAft>
              <a:buSzPts val="1800"/>
              <a:buChar char="●"/>
            </a:pPr>
            <a:r>
              <a:rPr lang="en-GB" sz="1800"/>
              <a:t>specify firmware repository for OTA</a:t>
            </a:r>
            <a:endParaRPr sz="1800"/>
          </a:p>
          <a:p>
            <a:pPr indent="-342900" lvl="0" marL="457200" rtl="0" algn="l">
              <a:spcBef>
                <a:spcPts val="0"/>
              </a:spcBef>
              <a:spcAft>
                <a:spcPts val="0"/>
              </a:spcAft>
              <a:buSzPts val="1800"/>
              <a:buChar char="●"/>
            </a:pPr>
            <a:r>
              <a:rPr lang="en-GB" sz="1800"/>
              <a:t>manage the device from your phone</a:t>
            </a:r>
            <a:endParaRPr sz="1800"/>
          </a:p>
          <a:p>
            <a:pPr indent="-342900" lvl="0" marL="457200" rtl="0" algn="l">
              <a:spcBef>
                <a:spcPts val="0"/>
              </a:spcBef>
              <a:spcAft>
                <a:spcPts val="0"/>
              </a:spcAft>
              <a:buSzPts val="1800"/>
              <a:buChar char="●"/>
            </a:pPr>
            <a:r>
              <a:rPr lang="en-GB" sz="1800"/>
              <a:t>+ves:</a:t>
            </a:r>
            <a:endParaRPr sz="1800"/>
          </a:p>
          <a:p>
            <a:pPr indent="-342900" lvl="1" marL="914400" rtl="0" algn="l">
              <a:spcBef>
                <a:spcPts val="0"/>
              </a:spcBef>
              <a:spcAft>
                <a:spcPts val="0"/>
              </a:spcAft>
              <a:buSzPts val="1800"/>
              <a:buChar char="○"/>
            </a:pPr>
            <a:r>
              <a:rPr lang="en-GB" sz="1800"/>
              <a:t>(fairly!) </a:t>
            </a:r>
            <a:r>
              <a:rPr lang="en-GB" sz="1800"/>
              <a:t>stable, efficient, Android and iOS support</a:t>
            </a:r>
            <a:endParaRPr sz="1800"/>
          </a:p>
          <a:p>
            <a:pPr indent="-342900" lvl="0" marL="457200" rtl="0" algn="l">
              <a:spcBef>
                <a:spcPts val="0"/>
              </a:spcBef>
              <a:spcAft>
                <a:spcPts val="0"/>
              </a:spcAft>
              <a:buSzPts val="1800"/>
              <a:buChar char="●"/>
            </a:pPr>
            <a:r>
              <a:rPr lang="en-GB" sz="1800"/>
              <a:t>-ves:</a:t>
            </a:r>
            <a:endParaRPr sz="1800"/>
          </a:p>
          <a:p>
            <a:pPr indent="-342900" lvl="1" marL="914400" rtl="0" algn="l">
              <a:spcBef>
                <a:spcPts val="0"/>
              </a:spcBef>
              <a:spcAft>
                <a:spcPts val="0"/>
              </a:spcAft>
              <a:buSzPts val="1800"/>
              <a:buChar char="○"/>
            </a:pPr>
            <a:r>
              <a:rPr lang="en-GB" sz="1800"/>
              <a:t>relies on Espressif cloud (hosted on AWS), or £expensive</a:t>
            </a:r>
            <a:endParaRPr sz="1800"/>
          </a:p>
        </p:txBody>
      </p:sp>
      <p:sp>
        <p:nvSpPr>
          <p:cNvPr id="330" name="Google Shape;330;p51"/>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RainMaker: Espressif Provisioning and </a:t>
            </a:r>
            <a:r>
              <a:rPr lang="en-GB"/>
              <a:t>OTA</a:t>
            </a:r>
            <a:endParaRPr/>
          </a:p>
        </p:txBody>
      </p:sp>
      <p:sp>
        <p:nvSpPr>
          <p:cNvPr id="331" name="Google Shape;331;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32" name="Google Shape;332;p51"/>
          <p:cNvPicPr preferRelativeResize="0"/>
          <p:nvPr/>
        </p:nvPicPr>
        <p:blipFill>
          <a:blip r:embed="rId3">
            <a:alphaModFix/>
          </a:blip>
          <a:stretch>
            <a:fillRect/>
          </a:stretch>
        </p:blipFill>
        <p:spPr>
          <a:xfrm>
            <a:off x="4467213" y="1400163"/>
            <a:ext cx="4676775" cy="3743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2"/>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RainMaker (2): autoconfigured control</a:t>
            </a:r>
            <a:endParaRPr/>
          </a:p>
        </p:txBody>
      </p:sp>
      <p:sp>
        <p:nvSpPr>
          <p:cNvPr id="338" name="Google Shape;338;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39" name="Google Shape;339;p52"/>
          <p:cNvPicPr preferRelativeResize="0"/>
          <p:nvPr/>
        </p:nvPicPr>
        <p:blipFill>
          <a:blip r:embed="rId3">
            <a:alphaModFix/>
          </a:blip>
          <a:stretch>
            <a:fillRect/>
          </a:stretch>
        </p:blipFill>
        <p:spPr>
          <a:xfrm>
            <a:off x="2553211" y="1238526"/>
            <a:ext cx="3666399" cy="3320775"/>
          </a:xfrm>
          <a:prstGeom prst="rect">
            <a:avLst/>
          </a:prstGeom>
          <a:noFill/>
          <a:ln>
            <a:noFill/>
          </a:ln>
        </p:spPr>
      </p:pic>
      <p:pic>
        <p:nvPicPr>
          <p:cNvPr id="340" name="Google Shape;340;p52"/>
          <p:cNvPicPr preferRelativeResize="0"/>
          <p:nvPr/>
        </p:nvPicPr>
        <p:blipFill>
          <a:blip r:embed="rId4">
            <a:alphaModFix/>
          </a:blip>
          <a:stretch>
            <a:fillRect/>
          </a:stretch>
        </p:blipFill>
        <p:spPr>
          <a:xfrm>
            <a:off x="6327050" y="853292"/>
            <a:ext cx="2387045" cy="4243635"/>
          </a:xfrm>
          <a:prstGeom prst="rect">
            <a:avLst/>
          </a:prstGeom>
          <a:noFill/>
          <a:ln>
            <a:noFill/>
          </a:ln>
        </p:spPr>
      </p:pic>
      <p:pic>
        <p:nvPicPr>
          <p:cNvPr id="341" name="Google Shape;341;p52"/>
          <p:cNvPicPr preferRelativeResize="0"/>
          <p:nvPr/>
        </p:nvPicPr>
        <p:blipFill>
          <a:blip r:embed="rId5">
            <a:alphaModFix/>
          </a:blip>
          <a:stretch>
            <a:fillRect/>
          </a:stretch>
        </p:blipFill>
        <p:spPr>
          <a:xfrm>
            <a:off x="58725" y="853292"/>
            <a:ext cx="2387045" cy="424363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3"/>
          <p:cNvSpPr txBox="1"/>
          <p:nvPr>
            <p:ph idx="1" type="body"/>
          </p:nvPr>
        </p:nvSpPr>
        <p:spPr>
          <a:xfrm>
            <a:off x="282300" y="382707"/>
            <a:ext cx="8512800" cy="42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1800"/>
              <a:t>Please give me a short introductory paragraph to the new Matter IoT standard, and then describe how it supports provisioning and OTA.</a:t>
            </a:r>
            <a:endParaRPr i="1" sz="1800"/>
          </a:p>
          <a:p>
            <a:pPr indent="0" lvl="0" marL="0" rtl="0" algn="l">
              <a:spcBef>
                <a:spcPts val="1000"/>
              </a:spcBef>
              <a:spcAft>
                <a:spcPts val="0"/>
              </a:spcAft>
              <a:buNone/>
            </a:pPr>
            <a:r>
              <a:rPr lang="en-GB" sz="1800"/>
              <a:t>Matter is a new standard for the Internet of Things (IoT) that aims to make smart home devices more interoperable and secure. It was developed by the Connectivity Standards Alliance (formerly known as the Zigbee Alliance) in collaboration with major tech companies such as Apple, Google, Amazon, and Samsung. Matter builds on existing IoT standards, such as Zigbee and Thread, and uses the IP protocol to provide a common language for smart devices. With Matter, users can easily connect and control a wide range of smart devices from different manufacturers, without the need for additional hubs or bridges.</a:t>
            </a:r>
            <a:endParaRPr sz="1800"/>
          </a:p>
          <a:p>
            <a:pPr indent="0" lvl="0" marL="0" rtl="0" algn="l">
              <a:spcBef>
                <a:spcPts val="1000"/>
              </a:spcBef>
              <a:spcAft>
                <a:spcPts val="0"/>
              </a:spcAft>
              <a:buNone/>
            </a:pPr>
            <a:r>
              <a:rPr lang="en-GB" sz="1800"/>
              <a:t>Matter also supports two key features for IoT devices: provisioning and over-the-air (OTA) updates….</a:t>
            </a:r>
            <a:endParaRPr sz="1800"/>
          </a:p>
          <a:p>
            <a:pPr indent="0" lvl="0" marL="0" rtl="0" algn="r">
              <a:spcBef>
                <a:spcPts val="0"/>
              </a:spcBef>
              <a:spcAft>
                <a:spcPts val="0"/>
              </a:spcAft>
              <a:buNone/>
            </a:pPr>
            <a:r>
              <a:rPr lang="en-GB" sz="1800"/>
              <a:t>            [your friendly neighbourhood AI, Feb 2023]</a:t>
            </a:r>
            <a:endParaRPr sz="1800"/>
          </a:p>
          <a:p>
            <a:pPr indent="0" lvl="0" marL="0" rtl="0" algn="l">
              <a:spcBef>
                <a:spcPts val="0"/>
              </a:spcBef>
              <a:spcAft>
                <a:spcPts val="0"/>
              </a:spcAft>
              <a:buNone/>
            </a:pPr>
            <a:r>
              <a:rPr lang="en-GB" sz="1800"/>
              <a:t>     (do we trust this? what’s different from Wikipedia or random search? ….?)</a:t>
            </a:r>
            <a:endParaRPr sz="1800"/>
          </a:p>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Clr>
                <a:schemeClr val="dk1"/>
              </a:buClr>
              <a:buSzPts val="1100"/>
              <a:buFont typeface="Arial"/>
              <a:buNone/>
            </a:pPr>
            <a:r>
              <a:t/>
            </a:r>
            <a:endParaRPr sz="1800"/>
          </a:p>
        </p:txBody>
      </p:sp>
      <p:sp>
        <p:nvSpPr>
          <p:cNvPr id="347" name="Google Shape;347;p53"/>
          <p:cNvSpPr txBox="1"/>
          <p:nvPr>
            <p:ph type="title"/>
          </p:nvPr>
        </p:nvSpPr>
        <p:spPr>
          <a:xfrm>
            <a:off x="782950" y="-68900"/>
            <a:ext cx="757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[It doesn’t /The heart of the/A bad pun] </a:t>
            </a:r>
            <a:r>
              <a:rPr b="1" lang="en-GB"/>
              <a:t>Matter</a:t>
            </a:r>
            <a:endParaRPr b="1"/>
          </a:p>
        </p:txBody>
      </p:sp>
      <p:sp>
        <p:nvSpPr>
          <p:cNvPr id="348" name="Google Shape;348;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body"/>
          </p:nvPr>
        </p:nvSpPr>
        <p:spPr>
          <a:xfrm>
            <a:off x="282300" y="382707"/>
            <a:ext cx="8512800" cy="427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sz="1800"/>
              <a:t>Please give me a short introductory paragraph to the new Matter IoT standard, and then describe how it supports provisioning and OTA.</a:t>
            </a:r>
            <a:endParaRPr i="1" sz="1800"/>
          </a:p>
          <a:p>
            <a:pPr indent="0" lvl="0" marL="0" rtl="0" algn="l">
              <a:spcBef>
                <a:spcPts val="1000"/>
              </a:spcBef>
              <a:spcAft>
                <a:spcPts val="0"/>
              </a:spcAft>
              <a:buClr>
                <a:schemeClr val="dk1"/>
              </a:buClr>
              <a:buSzPts val="1100"/>
              <a:buFont typeface="Arial"/>
              <a:buNone/>
            </a:pPr>
            <a:r>
              <a:rPr lang="en-GB" sz="1700"/>
              <a:t>Matter is a new IoT standard developed by the Connectivity Standards Alliance (CSA), a group of leading technology companies. Matter aims to simplify the development and deployment of IoT devices and applications by providing a single, interoperable protocol that works across different platforms and ecosystems. One of the key features of Matter is its support for provisioning and over-the-air (OTA) updates, which enable seamless device management and keep devices up-to-date with the latest software and security patches. Matter supports provisioning through its use of the Thread Commissioning service. This service allows devices to be provisioned and configured automatically, without the need for physical access or manual setup. Devices can be provisioned using a variety of methods, including QR codes, NFC tags, or even remote provisioning via a mobile app. Matter also supports OTA updates …</a:t>
            </a:r>
            <a:endParaRPr sz="1700"/>
          </a:p>
          <a:p>
            <a:pPr indent="0" lvl="0" marL="0" rtl="0" algn="l">
              <a:spcBef>
                <a:spcPts val="0"/>
              </a:spcBef>
              <a:spcAft>
                <a:spcPts val="0"/>
              </a:spcAft>
              <a:buNone/>
            </a:pPr>
            <a:r>
              <a:t/>
            </a:r>
            <a:endParaRPr sz="1700"/>
          </a:p>
          <a:p>
            <a:pPr indent="0" lvl="0" marL="0" rtl="0" algn="r">
              <a:spcBef>
                <a:spcPts val="0"/>
              </a:spcBef>
              <a:spcAft>
                <a:spcPts val="0"/>
              </a:spcAft>
              <a:buNone/>
            </a:pPr>
            <a:r>
              <a:rPr lang="en-GB" sz="1800"/>
              <a:t>            [Vicuna 13B, Feb 2024]</a:t>
            </a:r>
            <a:endParaRPr sz="1800"/>
          </a:p>
          <a:p>
            <a:pPr indent="0" lvl="0" marL="0" rtl="0" algn="l">
              <a:spcBef>
                <a:spcPts val="0"/>
              </a:spcBef>
              <a:spcAft>
                <a:spcPts val="0"/>
              </a:spcAft>
              <a:buNone/>
            </a:pPr>
            <a:r>
              <a:rPr lang="en-GB" sz="1800"/>
              <a:t>     (do we trust this? what’s different from Wikipedia or random search? ….?)</a:t>
            </a:r>
            <a:endParaRPr sz="1800"/>
          </a:p>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Clr>
                <a:schemeClr val="dk1"/>
              </a:buClr>
              <a:buSzPts val="1100"/>
              <a:buFont typeface="Arial"/>
              <a:buNone/>
            </a:pPr>
            <a:r>
              <a:t/>
            </a:r>
            <a:endParaRPr sz="1800"/>
          </a:p>
        </p:txBody>
      </p:sp>
      <p:sp>
        <p:nvSpPr>
          <p:cNvPr id="354" name="Google Shape;354;p54"/>
          <p:cNvSpPr txBox="1"/>
          <p:nvPr>
            <p:ph type="title"/>
          </p:nvPr>
        </p:nvSpPr>
        <p:spPr>
          <a:xfrm>
            <a:off x="782950" y="-68900"/>
            <a:ext cx="757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[It doesn’t /The heart of the/A bad pun] </a:t>
            </a:r>
            <a:r>
              <a:rPr b="1" lang="en-GB"/>
              <a:t>Matter</a:t>
            </a:r>
            <a:endParaRPr b="1"/>
          </a:p>
        </p:txBody>
      </p:sp>
      <p:sp>
        <p:nvSpPr>
          <p:cNvPr id="355" name="Google Shape;355;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5"/>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Your </a:t>
            </a:r>
            <a:r>
              <a:rPr b="1" lang="en-GB"/>
              <a:t>TODO</a:t>
            </a:r>
            <a:r>
              <a:rPr lang="en-GB"/>
              <a:t> list for week 4:</a:t>
            </a:r>
            <a:endParaRPr/>
          </a:p>
        </p:txBody>
      </p:sp>
      <p:sp>
        <p:nvSpPr>
          <p:cNvPr id="361" name="Google Shape;361;p55"/>
          <p:cNvSpPr txBox="1"/>
          <p:nvPr>
            <p:ph idx="1" type="body"/>
          </p:nvPr>
        </p:nvSpPr>
        <p:spPr>
          <a:xfrm>
            <a:off x="387900" y="542875"/>
            <a:ext cx="8444400" cy="365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GB" sz="1800"/>
              <a:t>understand provisioning!</a:t>
            </a:r>
            <a:br>
              <a:rPr lang="en-GB" sz="1800"/>
            </a:br>
            <a:r>
              <a:rPr lang="en-GB" sz="1800"/>
              <a:t>understand OTA! (complex workflow!)</a:t>
            </a:r>
            <a:endParaRPr sz="1800"/>
          </a:p>
          <a:p>
            <a:pPr indent="-342900" lvl="0" marL="457200" rtl="0" algn="l">
              <a:spcBef>
                <a:spcPts val="0"/>
              </a:spcBef>
              <a:spcAft>
                <a:spcPts val="0"/>
              </a:spcAft>
              <a:buSzPts val="1800"/>
              <a:buChar char="●"/>
            </a:pPr>
            <a:r>
              <a:rPr lang="en-GB" sz="1800"/>
              <a:t>read chapter 4</a:t>
            </a:r>
            <a:endParaRPr sz="1800"/>
          </a:p>
          <a:p>
            <a:pPr indent="-342900" lvl="0" marL="457200" rtl="0" algn="l">
              <a:spcBef>
                <a:spcPts val="0"/>
              </a:spcBef>
              <a:spcAft>
                <a:spcPts val="0"/>
              </a:spcAft>
              <a:buSzPts val="1800"/>
              <a:buChar char="●"/>
            </a:pPr>
            <a:r>
              <a:rPr lang="en-GB" sz="1800"/>
              <a:t>c</a:t>
            </a:r>
            <a:r>
              <a:rPr lang="en-GB" sz="1800"/>
              <a:t>oding: Ex07/08/09 (or some subset of!)</a:t>
            </a:r>
            <a:endParaRPr sz="1800"/>
          </a:p>
          <a:p>
            <a:pPr indent="-342900" lvl="1" marL="914400" rtl="0" algn="l">
              <a:spcBef>
                <a:spcPts val="0"/>
              </a:spcBef>
              <a:spcAft>
                <a:spcPts val="0"/>
              </a:spcAft>
              <a:buSzPts val="1800"/>
              <a:buChar char="○"/>
            </a:pPr>
            <a:r>
              <a:rPr lang="en-GB" sz="1800"/>
              <a:t>7: creating web pages</a:t>
            </a:r>
            <a:endParaRPr sz="1800"/>
          </a:p>
          <a:p>
            <a:pPr indent="-342900" lvl="1" marL="914400" rtl="0" algn="l">
              <a:spcBef>
                <a:spcPts val="0"/>
              </a:spcBef>
              <a:spcAft>
                <a:spcPts val="0"/>
              </a:spcAft>
              <a:buSzPts val="1800"/>
              <a:buChar char="○"/>
            </a:pPr>
            <a:r>
              <a:rPr lang="en-GB" sz="1800"/>
              <a:t>8: being a web client</a:t>
            </a:r>
            <a:endParaRPr sz="1800"/>
          </a:p>
          <a:p>
            <a:pPr indent="-342900" lvl="1" marL="914400" rtl="0" algn="l">
              <a:spcBef>
                <a:spcPts val="0"/>
              </a:spcBef>
              <a:spcAft>
                <a:spcPts val="0"/>
              </a:spcAft>
              <a:buSzPts val="1800"/>
              <a:buChar char="○"/>
            </a:pPr>
            <a:r>
              <a:rPr lang="en-GB" sz="1800"/>
              <a:t>9: provisioning</a:t>
            </a:r>
            <a:endParaRPr sz="1800"/>
          </a:p>
          <a:p>
            <a:pPr indent="-342900" lvl="0" marL="457200" rtl="0" algn="l">
              <a:spcBef>
                <a:spcPts val="0"/>
              </a:spcBef>
              <a:spcAft>
                <a:spcPts val="0"/>
              </a:spcAft>
              <a:buSzPts val="1800"/>
              <a:buChar char="●"/>
            </a:pPr>
            <a:r>
              <a:rPr lang="en-GB" sz="1800"/>
              <a:t>(OTA next week)</a:t>
            </a:r>
            <a:endParaRPr sz="1800"/>
          </a:p>
        </p:txBody>
      </p:sp>
      <p:sp>
        <p:nvSpPr>
          <p:cNvPr id="362" name="Google Shape;362;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6"/>
          <p:cNvSpPr txBox="1"/>
          <p:nvPr>
            <p:ph idx="1" type="body"/>
          </p:nvPr>
        </p:nvSpPr>
        <p:spPr>
          <a:xfrm>
            <a:off x="428900" y="730575"/>
            <a:ext cx="84444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b="1" sz="7200"/>
          </a:p>
          <a:p>
            <a:pPr indent="0" lvl="0" marL="0" rtl="0" algn="ctr">
              <a:spcBef>
                <a:spcPts val="0"/>
              </a:spcBef>
              <a:spcAft>
                <a:spcPts val="0"/>
              </a:spcAft>
              <a:buNone/>
            </a:pPr>
            <a:r>
              <a:rPr b="1" lang="en-GB" sz="7200"/>
              <a:t>THE END</a:t>
            </a:r>
            <a:endParaRPr sz="7200"/>
          </a:p>
        </p:txBody>
      </p:sp>
      <p:sp>
        <p:nvSpPr>
          <p:cNvPr id="368" name="Google Shape;368;p56"/>
          <p:cNvSpPr txBox="1"/>
          <p:nvPr>
            <p:ph type="title"/>
          </p:nvPr>
        </p:nvSpPr>
        <p:spPr>
          <a:xfrm>
            <a:off x="1184625" y="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69" name="Google Shape;369;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7"/>
          <p:cNvSpPr txBox="1"/>
          <p:nvPr>
            <p:ph idx="1" type="body"/>
          </p:nvPr>
        </p:nvSpPr>
        <p:spPr>
          <a:xfrm>
            <a:off x="428725" y="560525"/>
            <a:ext cx="8179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ctr">
              <a:spcBef>
                <a:spcPts val="0"/>
              </a:spcBef>
              <a:spcAft>
                <a:spcPts val="0"/>
              </a:spcAft>
              <a:buNone/>
            </a:pPr>
            <a:r>
              <a:rPr lang="en-GB" sz="1800"/>
              <a:t>(use them at your own risk!)</a:t>
            </a:r>
            <a:endParaRPr sz="1800"/>
          </a:p>
        </p:txBody>
      </p:sp>
      <p:sp>
        <p:nvSpPr>
          <p:cNvPr id="375" name="Google Shape;375;p57"/>
          <p:cNvSpPr txBox="1"/>
          <p:nvPr>
            <p:ph type="title"/>
          </p:nvPr>
        </p:nvSpPr>
        <p:spPr>
          <a:xfrm>
            <a:off x="9213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Old slides follow</a:t>
            </a:r>
            <a:endParaRPr/>
          </a:p>
        </p:txBody>
      </p:sp>
      <p:sp>
        <p:nvSpPr>
          <p:cNvPr id="376" name="Google Shape;376;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0" name="Shape 380"/>
        <p:cNvGrpSpPr/>
        <p:nvPr/>
      </p:nvGrpSpPr>
      <p:grpSpPr>
        <a:xfrm>
          <a:off x="0" y="0"/>
          <a:ext cx="0" cy="0"/>
          <a:chOff x="0" y="0"/>
          <a:chExt cx="0" cy="0"/>
        </a:xfrm>
      </p:grpSpPr>
      <p:sp>
        <p:nvSpPr>
          <p:cNvPr id="381" name="Google Shape;381;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2" name="Google Shape;382;p58"/>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Clarification: “IDF” vs. “Arduino” for ESP32</a:t>
            </a:r>
            <a:endParaRPr/>
          </a:p>
        </p:txBody>
      </p:sp>
      <p:sp>
        <p:nvSpPr>
          <p:cNvPr id="383" name="Google Shape;383;p58"/>
          <p:cNvSpPr txBox="1"/>
          <p:nvPr>
            <p:ph idx="1" type="body"/>
          </p:nvPr>
        </p:nvSpPr>
        <p:spPr>
          <a:xfrm>
            <a:off x="375500" y="553450"/>
            <a:ext cx="8564100" cy="3906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a:t>The terms are ambiguous: both “IDF” and “Arduino” (or “Arduino core for ESP32”) refer to:</a:t>
            </a:r>
            <a:endParaRPr/>
          </a:p>
          <a:p>
            <a:pPr indent="-317500" lvl="1" marL="914400" rtl="0" algn="l">
              <a:spcBef>
                <a:spcPts val="0"/>
              </a:spcBef>
              <a:spcAft>
                <a:spcPts val="0"/>
              </a:spcAft>
              <a:buSzPts val="1400"/>
              <a:buChar char="○"/>
            </a:pPr>
            <a:r>
              <a:rPr lang="en-GB"/>
              <a:t>a build system</a:t>
            </a:r>
            <a:endParaRPr/>
          </a:p>
          <a:p>
            <a:pPr indent="-317500" lvl="1" marL="914400" rtl="0" algn="l">
              <a:spcBef>
                <a:spcPts val="0"/>
              </a:spcBef>
              <a:spcAft>
                <a:spcPts val="0"/>
              </a:spcAft>
              <a:buSzPts val="1400"/>
              <a:buChar char="○"/>
            </a:pPr>
            <a:r>
              <a:rPr lang="en-GB"/>
              <a:t>a set of APIs, libraries and firmware examples</a:t>
            </a:r>
            <a:endParaRPr/>
          </a:p>
          <a:p>
            <a:pPr indent="-317500" lvl="0" marL="457200" rtl="0" algn="l">
              <a:spcBef>
                <a:spcPts val="0"/>
              </a:spcBef>
              <a:spcAft>
                <a:spcPts val="0"/>
              </a:spcAft>
              <a:buSzPts val="1400"/>
              <a:buChar char="●"/>
            </a:pPr>
            <a:r>
              <a:rPr lang="en-GB"/>
              <a:t>Build systems:</a:t>
            </a:r>
            <a:endParaRPr/>
          </a:p>
          <a:p>
            <a:pPr indent="-317500" lvl="1" marL="914400" rtl="0" algn="l">
              <a:spcBef>
                <a:spcPts val="0"/>
              </a:spcBef>
              <a:spcAft>
                <a:spcPts val="0"/>
              </a:spcAft>
              <a:buSzPts val="1400"/>
              <a:buChar char="○"/>
            </a:pPr>
            <a:r>
              <a:rPr lang="en-GB"/>
              <a:t>for Arduino this is hidden behind the IDE</a:t>
            </a:r>
            <a:endParaRPr/>
          </a:p>
          <a:p>
            <a:pPr indent="-317500" lvl="1" marL="914400" rtl="0" algn="l">
              <a:spcBef>
                <a:spcPts val="0"/>
              </a:spcBef>
              <a:spcAft>
                <a:spcPts val="0"/>
              </a:spcAft>
              <a:buSzPts val="1400"/>
              <a:buChar char="○"/>
            </a:pPr>
            <a:r>
              <a:rPr lang="en-GB"/>
              <a:t>for IDF it is a command-line build using GNU </a:t>
            </a:r>
            <a:r>
              <a:rPr lang="en-GB" u="sng"/>
              <a:t>make</a:t>
            </a:r>
            <a:r>
              <a:rPr lang="en-GB"/>
              <a:t> or CMake</a:t>
            </a:r>
            <a:endParaRPr/>
          </a:p>
          <a:p>
            <a:pPr indent="-317500" lvl="1" marL="914400" rtl="0" algn="l">
              <a:spcBef>
                <a:spcPts val="0"/>
              </a:spcBef>
              <a:spcAft>
                <a:spcPts val="0"/>
              </a:spcAft>
              <a:buSzPts val="1400"/>
              <a:buChar char="○"/>
            </a:pPr>
            <a:r>
              <a:rPr lang="en-GB"/>
              <a:t>both use the same xtensa compiler (based on the GNU suite, </a:t>
            </a:r>
            <a:r>
              <a:rPr lang="en-GB" u="sng"/>
              <a:t>gcc</a:t>
            </a:r>
            <a:r>
              <a:rPr lang="en-GB"/>
              <a:t>)</a:t>
            </a:r>
            <a:endParaRPr/>
          </a:p>
          <a:p>
            <a:pPr indent="-317500" lvl="1" marL="914400" rtl="0" algn="l">
              <a:spcBef>
                <a:spcPts val="0"/>
              </a:spcBef>
              <a:spcAft>
                <a:spcPts val="0"/>
              </a:spcAft>
              <a:buSzPts val="1400"/>
              <a:buChar char="○"/>
            </a:pPr>
            <a:r>
              <a:rPr lang="en-GB"/>
              <a:t>both create a </a:t>
            </a:r>
            <a:r>
              <a:rPr lang="en-GB" u="sng"/>
              <a:t>.bin</a:t>
            </a:r>
            <a:r>
              <a:rPr lang="en-GB"/>
              <a:t> as output</a:t>
            </a:r>
            <a:endParaRPr/>
          </a:p>
          <a:p>
            <a:pPr indent="-317500" lvl="1" marL="914400" rtl="0" algn="l">
              <a:spcBef>
                <a:spcPts val="0"/>
              </a:spcBef>
              <a:spcAft>
                <a:spcPts val="0"/>
              </a:spcAft>
              <a:buSzPts val="1400"/>
              <a:buChar char="○"/>
            </a:pPr>
            <a:r>
              <a:rPr lang="en-GB"/>
              <a:t>IDF is easier to layer other tools and editors on top of, and has an ESP-specific serial monitor (that e.g. decodes exceptions)</a:t>
            </a:r>
            <a:endParaRPr/>
          </a:p>
          <a:p>
            <a:pPr indent="-317500" lvl="1" marL="914400" rtl="0" algn="l">
              <a:spcBef>
                <a:spcPts val="0"/>
              </a:spcBef>
              <a:spcAft>
                <a:spcPts val="0"/>
              </a:spcAft>
              <a:buSzPts val="1400"/>
              <a:buChar char="○"/>
            </a:pPr>
            <a:r>
              <a:rPr lang="en-GB"/>
              <a:t>Arduino is easier to access examples and libraries</a:t>
            </a:r>
            <a:endParaRPr/>
          </a:p>
          <a:p>
            <a:pPr indent="-317500" lvl="0" marL="457200" rtl="0" algn="l">
              <a:spcBef>
                <a:spcPts val="0"/>
              </a:spcBef>
              <a:spcAft>
                <a:spcPts val="0"/>
              </a:spcAft>
              <a:buSzPts val="1400"/>
              <a:buChar char="●"/>
            </a:pPr>
            <a:r>
              <a:rPr lang="en-GB"/>
              <a:t>APIs:</a:t>
            </a:r>
            <a:endParaRPr/>
          </a:p>
          <a:p>
            <a:pPr indent="-317500" lvl="1" marL="914400" rtl="0" algn="l">
              <a:spcBef>
                <a:spcPts val="0"/>
              </a:spcBef>
              <a:spcAft>
                <a:spcPts val="0"/>
              </a:spcAft>
              <a:buSzPts val="1400"/>
              <a:buChar char="○"/>
            </a:pPr>
            <a:r>
              <a:rPr lang="en-GB"/>
              <a:t>Arduino is much more widespread and well-known; IDF more low level, potentially more efficient, and can exploit more of the particular properties of the ESP32</a:t>
            </a:r>
            <a:endParaRPr/>
          </a:p>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7" name="Shape 387"/>
        <p:cNvGrpSpPr/>
        <p:nvPr/>
      </p:nvGrpSpPr>
      <p:grpSpPr>
        <a:xfrm>
          <a:off x="0" y="0"/>
          <a:ext cx="0" cy="0"/>
          <a:chOff x="0" y="0"/>
          <a:chExt cx="0" cy="0"/>
        </a:xfrm>
      </p:grpSpPr>
      <p:sp>
        <p:nvSpPr>
          <p:cNvPr id="388" name="Google Shape;388;p59"/>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Deep C Secrets</a:t>
            </a:r>
            <a:endParaRPr/>
          </a:p>
        </p:txBody>
      </p:sp>
      <p:sp>
        <p:nvSpPr>
          <p:cNvPr id="389" name="Google Shape;389;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41g5xoVIvKL._SX408_BO1,204,203,200_.jpg" id="390" name="Google Shape;390;p59"/>
          <p:cNvPicPr preferRelativeResize="0"/>
          <p:nvPr/>
        </p:nvPicPr>
        <p:blipFill>
          <a:blip r:embed="rId3">
            <a:alphaModFix/>
          </a:blip>
          <a:stretch>
            <a:fillRect/>
          </a:stretch>
        </p:blipFill>
        <p:spPr>
          <a:xfrm>
            <a:off x="3220575" y="772275"/>
            <a:ext cx="2702250" cy="3295400"/>
          </a:xfrm>
          <a:prstGeom prst="rect">
            <a:avLst/>
          </a:prstGeom>
          <a:noFill/>
          <a:ln>
            <a:noFill/>
          </a:ln>
        </p:spPr>
      </p:pic>
      <p:pic>
        <p:nvPicPr>
          <p:cNvPr descr="51TGEPRTDNL._SX377_BO1,204,203,200_.jpg" id="391" name="Google Shape;391;p59"/>
          <p:cNvPicPr preferRelativeResize="0"/>
          <p:nvPr/>
        </p:nvPicPr>
        <p:blipFill>
          <a:blip r:embed="rId4">
            <a:alphaModFix/>
          </a:blip>
          <a:stretch>
            <a:fillRect/>
          </a:stretch>
        </p:blipFill>
        <p:spPr>
          <a:xfrm>
            <a:off x="535750" y="800049"/>
            <a:ext cx="2428650" cy="3197624"/>
          </a:xfrm>
          <a:prstGeom prst="rect">
            <a:avLst/>
          </a:prstGeom>
          <a:noFill/>
          <a:ln>
            <a:noFill/>
          </a:ln>
        </p:spPr>
      </p:pic>
      <p:pic>
        <p:nvPicPr>
          <p:cNvPr descr="4thEnglish.JPG" id="392" name="Google Shape;392;p59"/>
          <p:cNvPicPr preferRelativeResize="0"/>
          <p:nvPr/>
        </p:nvPicPr>
        <p:blipFill>
          <a:blip r:embed="rId5">
            <a:alphaModFix/>
          </a:blip>
          <a:stretch>
            <a:fillRect/>
          </a:stretch>
        </p:blipFill>
        <p:spPr>
          <a:xfrm>
            <a:off x="6187025" y="697251"/>
            <a:ext cx="2804576" cy="342620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60"/>
          <p:cNvSpPr txBox="1"/>
          <p:nvPr>
            <p:ph idx="1" type="body"/>
          </p:nvPr>
        </p:nvSpPr>
        <p:spPr>
          <a:xfrm>
            <a:off x="3117500" y="1337300"/>
            <a:ext cx="2925000" cy="22071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GB" sz="1800"/>
              <a:t>demo of model solution to this week’s exercise (and the assessment)</a:t>
            </a:r>
            <a:endParaRPr sz="1800"/>
          </a:p>
        </p:txBody>
      </p:sp>
      <p:sp>
        <p:nvSpPr>
          <p:cNvPr id="398" name="Google Shape;398;p60"/>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OTA updates (4)</a:t>
            </a:r>
            <a:endParaRPr/>
          </a:p>
        </p:txBody>
      </p:sp>
      <p:sp>
        <p:nvSpPr>
          <p:cNvPr id="399" name="Google Shape;399;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3" name="Shape 403"/>
        <p:cNvGrpSpPr/>
        <p:nvPr/>
      </p:nvGrpSpPr>
      <p:grpSpPr>
        <a:xfrm>
          <a:off x="0" y="0"/>
          <a:ext cx="0" cy="0"/>
          <a:chOff x="0" y="0"/>
          <a:chExt cx="0" cy="0"/>
        </a:xfrm>
      </p:grpSpPr>
      <p:sp>
        <p:nvSpPr>
          <p:cNvPr id="404" name="Google Shape;404;p61"/>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Easy peasy</a:t>
            </a:r>
            <a:r>
              <a:rPr lang="en-GB"/>
              <a:t>?</a:t>
            </a:r>
            <a:endParaRPr/>
          </a:p>
        </p:txBody>
      </p:sp>
      <p:sp>
        <p:nvSpPr>
          <p:cNvPr id="405" name="Google Shape;405;p61"/>
          <p:cNvSpPr txBox="1"/>
          <p:nvPr>
            <p:ph idx="1" type="body"/>
          </p:nvPr>
        </p:nvSpPr>
        <p:spPr>
          <a:xfrm>
            <a:off x="278250" y="778475"/>
            <a:ext cx="8340000" cy="52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Who thought the exercises were too easy this week?</a:t>
            </a:r>
            <a:endParaRPr sz="1800"/>
          </a:p>
        </p:txBody>
      </p:sp>
      <p:sp>
        <p:nvSpPr>
          <p:cNvPr id="406" name="Google Shape;406;p61"/>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07" name="Google Shape;407;p61"/>
          <p:cNvSpPr txBox="1"/>
          <p:nvPr>
            <p:ph idx="1" type="body"/>
          </p:nvPr>
        </p:nvSpPr>
        <p:spPr>
          <a:xfrm>
            <a:off x="278250" y="1083275"/>
            <a:ext cx="8340000" cy="528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GB" sz="1800"/>
              <a:t>DON’T WORRY!</a:t>
            </a:r>
            <a:r>
              <a:rPr lang="en-GB" sz="1800"/>
              <a:t> The material </a:t>
            </a:r>
            <a:r>
              <a:rPr i="1" lang="en-GB" sz="1800"/>
              <a:t>is</a:t>
            </a:r>
            <a:r>
              <a:rPr lang="en-GB" sz="1800"/>
              <a:t> challenging (multiple servers, several access points, GitHub vs. cloud, device vs. desktop, etc.)! But if you manage to learn it well you will have conquered one of the biggest hurdles in IoT development (provisioning).</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rPr lang="en-GB" sz="1800"/>
              <a:t>And you’ll be ahead of 99% of the game...</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rPr lang="en-GB" sz="1800"/>
              <a:t>This week we will consolidate that knowledge and move on to the next hurdle...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1" name="Shape 411"/>
        <p:cNvGrpSpPr/>
        <p:nvPr/>
      </p:nvGrpSpPr>
      <p:grpSpPr>
        <a:xfrm>
          <a:off x="0" y="0"/>
          <a:ext cx="0" cy="0"/>
          <a:chOff x="0" y="0"/>
          <a:chExt cx="0" cy="0"/>
        </a:xfrm>
      </p:grpSpPr>
      <p:sp>
        <p:nvSpPr>
          <p:cNvPr id="412" name="Google Shape;412;p62"/>
          <p:cNvSpPr txBox="1"/>
          <p:nvPr>
            <p:ph idx="1" type="body"/>
          </p:nvPr>
        </p:nvSpPr>
        <p:spPr>
          <a:xfrm>
            <a:off x="311700" y="493725"/>
            <a:ext cx="44763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Weeks 1 — 3:</a:t>
            </a:r>
            <a:endParaRPr sz="1800"/>
          </a:p>
          <a:p>
            <a:pPr indent="-342900" lvl="0" marL="457200" rtl="0" algn="l">
              <a:spcBef>
                <a:spcPts val="1000"/>
              </a:spcBef>
              <a:spcAft>
                <a:spcPts val="0"/>
              </a:spcAft>
              <a:buSzPts val="1800"/>
              <a:buChar char="●"/>
            </a:pPr>
            <a:r>
              <a:rPr lang="en-GB" sz="1800"/>
              <a:t>Thing.ino: code structure; lab exercise runner sketch</a:t>
            </a:r>
            <a:endParaRPr sz="1800"/>
          </a:p>
          <a:p>
            <a:pPr indent="-342900" lvl="0" marL="457200" rtl="0" algn="l">
              <a:spcBef>
                <a:spcPts val="0"/>
              </a:spcBef>
              <a:spcAft>
                <a:spcPts val="0"/>
              </a:spcAft>
              <a:buSzPts val="1800"/>
              <a:buChar char="●"/>
            </a:pPr>
            <a:r>
              <a:rPr lang="en-GB" sz="1800"/>
              <a:t>Ex01: printing on the serial line; blinking the built-in LED</a:t>
            </a:r>
            <a:endParaRPr sz="1800"/>
          </a:p>
          <a:p>
            <a:pPr indent="-342900" lvl="0" marL="457200" rtl="0" algn="l">
              <a:spcBef>
                <a:spcPts val="0"/>
              </a:spcBef>
              <a:spcAft>
                <a:spcPts val="0"/>
              </a:spcAft>
              <a:buSzPts val="1800"/>
              <a:buChar char="●"/>
            </a:pPr>
            <a:r>
              <a:rPr lang="en-GB" sz="1800"/>
              <a:t>Ex02: blinking an external LED; reading from a switch</a:t>
            </a:r>
            <a:endParaRPr sz="1800"/>
          </a:p>
          <a:p>
            <a:pPr indent="-342900" lvl="0" marL="457200" rtl="0" algn="l">
              <a:spcBef>
                <a:spcPts val="0"/>
              </a:spcBef>
              <a:spcAft>
                <a:spcPts val="0"/>
              </a:spcAft>
              <a:buSzPts val="1800"/>
              <a:buChar char="●"/>
            </a:pPr>
            <a:r>
              <a:rPr lang="en-GB" sz="1800"/>
              <a:t>Ex03: add more LEDs and switches; run as traffic lights or individually [OPT]</a:t>
            </a:r>
            <a:endParaRPr sz="1800"/>
          </a:p>
          <a:p>
            <a:pPr indent="-342900" lvl="0" marL="457200" rtl="0" algn="l">
              <a:spcBef>
                <a:spcPts val="0"/>
              </a:spcBef>
              <a:spcAft>
                <a:spcPts val="0"/>
              </a:spcAft>
              <a:buSzPts val="1800"/>
              <a:buChar char="●"/>
            </a:pPr>
            <a:r>
              <a:rPr lang="en-GB" sz="1800"/>
              <a:t>Ex04: debugging infrastructure [OPT]</a:t>
            </a:r>
            <a:endParaRPr sz="1800"/>
          </a:p>
          <a:p>
            <a:pPr indent="-342900" lvl="0" marL="457200" rtl="0" algn="l">
              <a:spcBef>
                <a:spcPts val="0"/>
              </a:spcBef>
              <a:spcAft>
                <a:spcPts val="0"/>
              </a:spcAft>
              <a:buSzPts val="1800"/>
              <a:buChar char="●"/>
            </a:pPr>
            <a:r>
              <a:rPr lang="en-GB" sz="1800"/>
              <a:t>Ex05: loop slicing</a:t>
            </a:r>
            <a:endParaRPr sz="1800"/>
          </a:p>
          <a:p>
            <a:pPr indent="0" lvl="0" marL="457200" rtl="0" algn="l">
              <a:spcBef>
                <a:spcPts val="1000"/>
              </a:spcBef>
              <a:spcAft>
                <a:spcPts val="1000"/>
              </a:spcAft>
              <a:buClr>
                <a:schemeClr val="dk1"/>
              </a:buClr>
              <a:buSzPts val="1100"/>
              <a:buFont typeface="Arial"/>
              <a:buNone/>
            </a:pPr>
            <a:r>
              <a:t/>
            </a:r>
            <a:endParaRPr sz="1800"/>
          </a:p>
        </p:txBody>
      </p:sp>
      <p:sp>
        <p:nvSpPr>
          <p:cNvPr id="413" name="Google Shape;413;p62"/>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400"/>
              <a:t>ESP32 Firmware, the Story so Far: Summary</a:t>
            </a:r>
            <a:endParaRPr sz="2400"/>
          </a:p>
          <a:p>
            <a:pPr indent="0" lvl="0" marL="0" rtl="0" algn="l">
              <a:spcBef>
                <a:spcPts val="0"/>
              </a:spcBef>
              <a:spcAft>
                <a:spcPts val="0"/>
              </a:spcAft>
              <a:buNone/>
            </a:pPr>
            <a:r>
              <a:t/>
            </a:r>
            <a:endParaRPr/>
          </a:p>
        </p:txBody>
      </p:sp>
      <p:sp>
        <p:nvSpPr>
          <p:cNvPr id="414" name="Google Shape;414;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15" name="Google Shape;415;p62"/>
          <p:cNvSpPr txBox="1"/>
          <p:nvPr>
            <p:ph idx="1" type="body"/>
          </p:nvPr>
        </p:nvSpPr>
        <p:spPr>
          <a:xfrm>
            <a:off x="4730100" y="477250"/>
            <a:ext cx="41898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Week 4:</a:t>
            </a:r>
            <a:endParaRPr sz="1800"/>
          </a:p>
          <a:p>
            <a:pPr indent="-342900" lvl="0" marL="457200" rtl="0" algn="l">
              <a:spcBef>
                <a:spcPts val="1000"/>
              </a:spcBef>
              <a:spcAft>
                <a:spcPts val="0"/>
              </a:spcAft>
              <a:buSzPts val="1800"/>
              <a:buChar char="●"/>
            </a:pPr>
            <a:r>
              <a:rPr lang="en-GB" sz="1800"/>
              <a:t>Ex06: becoming a wifi access point and web server</a:t>
            </a:r>
            <a:endParaRPr sz="1800"/>
          </a:p>
          <a:p>
            <a:pPr indent="-342900" lvl="1" marL="914400" rtl="0" algn="l">
              <a:spcBef>
                <a:spcPts val="0"/>
              </a:spcBef>
              <a:spcAft>
                <a:spcPts val="0"/>
              </a:spcAft>
              <a:buSzPts val="1800"/>
              <a:buChar char="○"/>
            </a:pPr>
            <a:r>
              <a:rPr lang="en-GB" sz="1800"/>
              <a:t>using WiFi.h and ESPWebServer.h fire up an access point and serve pages</a:t>
            </a:r>
            <a:endParaRPr sz="1800"/>
          </a:p>
          <a:p>
            <a:pPr indent="-342900" lvl="0" marL="457200" rtl="0" algn="l">
              <a:spcBef>
                <a:spcPts val="0"/>
              </a:spcBef>
              <a:spcAft>
                <a:spcPts val="0"/>
              </a:spcAft>
              <a:buSzPts val="1800"/>
              <a:buChar char="●"/>
            </a:pPr>
            <a:r>
              <a:rPr lang="en-GB" sz="1800"/>
              <a:t>Ex07 [OPT]: simple utilities for representing and manipulating HTML elements and serving pages</a:t>
            </a:r>
            <a:endParaRPr sz="1800"/>
          </a:p>
          <a:p>
            <a:pPr indent="0" lvl="0" marL="0" rtl="0" algn="l">
              <a:spcBef>
                <a:spcPts val="1000"/>
              </a:spcBef>
              <a:spcAft>
                <a:spcPts val="1000"/>
              </a:spcAft>
              <a:buNone/>
            </a:pPr>
            <a:r>
              <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9" name="Shape 419"/>
        <p:cNvGrpSpPr/>
        <p:nvPr/>
      </p:nvGrpSpPr>
      <p:grpSpPr>
        <a:xfrm>
          <a:off x="0" y="0"/>
          <a:ext cx="0" cy="0"/>
          <a:chOff x="0" y="0"/>
          <a:chExt cx="0" cy="0"/>
        </a:xfrm>
      </p:grpSpPr>
      <p:sp>
        <p:nvSpPr>
          <p:cNvPr id="420" name="Google Shape;420;p63"/>
          <p:cNvSpPr txBox="1"/>
          <p:nvPr>
            <p:ph idx="1" type="body"/>
          </p:nvPr>
        </p:nvSpPr>
        <p:spPr>
          <a:xfrm>
            <a:off x="2812700" y="1261100"/>
            <a:ext cx="3459300" cy="22071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GB" sz="1800"/>
              <a:t>demo of model solution to Ex 09</a:t>
            </a:r>
            <a:endParaRPr sz="1800"/>
          </a:p>
        </p:txBody>
      </p:sp>
      <p:sp>
        <p:nvSpPr>
          <p:cNvPr id="421" name="Google Shape;421;p63"/>
          <p:cNvSpPr txBox="1"/>
          <p:nvPr>
            <p:ph type="title"/>
          </p:nvPr>
        </p:nvSpPr>
        <p:spPr>
          <a:xfrm>
            <a:off x="997500" y="2236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Provisioning in practice: Ex09</a:t>
            </a:r>
            <a:endParaRPr/>
          </a:p>
        </p:txBody>
      </p:sp>
      <p:sp>
        <p:nvSpPr>
          <p:cNvPr id="422" name="Google Shape;422;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
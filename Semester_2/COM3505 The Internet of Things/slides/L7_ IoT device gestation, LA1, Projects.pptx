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312CED-5E8C-4837-9365-2A13F609A185}">
  <a:tblStyle styleId="{A1312CED-5E8C-4837-9365-2A13F609A18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46d023f2db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46d023f2db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641c3889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641c3889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c89b30a7c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c89b30a7c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1d4194fc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1d4194fc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e0070b0c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1e0070b0c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e0070b0c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e0070b0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c89b30a7ce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c89b30a7ce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c89b30a7ce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c89b30a7ce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8ae0eb4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c8ae0eb4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c89b30a7ce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c89b30a7ce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c89b30a7ce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c89b30a7c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1a695992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1a695992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c43f8836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c43f8836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c89b30a7c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c89b30a7c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46d023f2db_2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46d023f2db_2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46d023f2db_7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46d023f2db_7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46d023f2db_2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46d023f2db_2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46d023f2db_2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46d023f2db_2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46d023f2db_2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46d023f2db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46d023f2db_2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46d023f2db_2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46d023f2db_2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46d023f2db_2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Although the solder paste looks like it’s just a sloppy mess actually it’s incredibly precicely controlled and each tiny metal pad on the board recieves the right ammount of solder.</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46d023f2db_2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46d023f2db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head of the robot arm moves at a blur - you </a:t>
            </a:r>
            <a:r>
              <a:rPr lang="en-GB"/>
              <a:t>literally</a:t>
            </a:r>
            <a:r>
              <a:rPr lang="en-GB"/>
              <a:t> can’t see it working it’s that fast...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46d023f2db_2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46d023f2db_2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board has a 12 step program of hotness ahead of it, as the board and every component on it gets heated up to around 250C and then down again.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c3e2dd113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c3e2dd113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This board has a 12 step program of hotness ahead of it, as the board and every component on it gets heated up to around 250C and then down again.</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46d023f2db_7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46d023f2db_7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46d023f2db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46d023f2db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11e0070b0c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11e0070b0c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c89b30a7c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c89b30a7c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1e0070b0c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1e0070b0c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5" name="Google Shape;15;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4"/>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Char char="●"/>
              <a:defRPr sz="1400">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
        <p:nvSpPr>
          <p:cNvPr id="24" name="Google Shape;24;p4"/>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 name="Google Shape;35;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9" name="Google Shape;39;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0" name="Shape 40"/>
        <p:cNvGrpSpPr/>
        <p:nvPr/>
      </p:nvGrpSpPr>
      <p:grpSpPr>
        <a:xfrm>
          <a:off x="0" y="0"/>
          <a:ext cx="0" cy="0"/>
          <a:chOff x="0" y="0"/>
          <a:chExt cx="0" cy="0"/>
        </a:xfrm>
      </p:grpSpPr>
      <p:sp>
        <p:nvSpPr>
          <p:cNvPr id="41" name="Google Shape;4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5" name="Shape 55"/>
        <p:cNvGrpSpPr/>
        <p:nvPr/>
      </p:nvGrpSpPr>
      <p:grpSpPr>
        <a:xfrm>
          <a:off x="0" y="0"/>
          <a:ext cx="0" cy="0"/>
          <a:chOff x="0" y="0"/>
          <a:chExt cx="0" cy="0"/>
        </a:xfrm>
      </p:grpSpPr>
      <p:sp>
        <p:nvSpPr>
          <p:cNvPr id="56" name="Google Shape;56;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 name="Google Shape;57;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4"/>
          <p:cNvSpPr txBox="1"/>
          <p:nvPr>
            <p:ph type="title"/>
          </p:nvPr>
        </p:nvSpPr>
        <p:spPr>
          <a:xfrm>
            <a:off x="628650" y="273844"/>
            <a:ext cx="7886700" cy="994200"/>
          </a:xfrm>
          <a:prstGeom prst="rect">
            <a:avLst/>
          </a:prstGeom>
          <a:noFill/>
          <a:ln>
            <a:noFill/>
          </a:ln>
        </p:spPr>
        <p:txBody>
          <a:bodyPr anchorCtr="0" anchor="ctr" bIns="91425" lIns="91425" spcFirstLastPara="1" rIns="91425" wrap="square" tIns="91425">
            <a:noAutofit/>
          </a:bodyPr>
          <a:lstStyle>
            <a:lvl1pPr indent="0" lvl="0" marL="0" marR="0" rtl="0" algn="l">
              <a:lnSpc>
                <a:spcPct val="90000"/>
              </a:lnSpc>
              <a:spcBef>
                <a:spcPts val="0"/>
              </a:spcBef>
              <a:spcAft>
                <a:spcPts val="0"/>
              </a:spcAft>
              <a:buClr>
                <a:schemeClr val="dk1"/>
              </a:buClr>
              <a:buSzPts val="2800"/>
              <a:buFont typeface="Calibri"/>
              <a:buNone/>
              <a:defRPr b="0" i="0" sz="3300" u="none" cap="none" strike="noStrike">
                <a:solidFill>
                  <a:schemeClr val="dk1"/>
                </a:solidFill>
                <a:latin typeface="Calibri"/>
                <a:ea typeface="Calibri"/>
                <a:cs typeface="Calibri"/>
                <a:sym typeface="Calibri"/>
              </a:defRPr>
            </a:lvl1pPr>
            <a:lvl2pPr indent="0" lvl="1" rtl="0">
              <a:spcBef>
                <a:spcPts val="0"/>
              </a:spcBef>
              <a:spcAft>
                <a:spcPts val="0"/>
              </a:spcAft>
              <a:buSzPts val="2800"/>
              <a:buNone/>
              <a:defRPr sz="1400"/>
            </a:lvl2pPr>
            <a:lvl3pPr indent="0" lvl="2" rtl="0">
              <a:spcBef>
                <a:spcPts val="0"/>
              </a:spcBef>
              <a:spcAft>
                <a:spcPts val="0"/>
              </a:spcAft>
              <a:buSzPts val="2800"/>
              <a:buNone/>
              <a:defRPr sz="1400"/>
            </a:lvl3pPr>
            <a:lvl4pPr indent="0" lvl="3" rtl="0">
              <a:spcBef>
                <a:spcPts val="0"/>
              </a:spcBef>
              <a:spcAft>
                <a:spcPts val="0"/>
              </a:spcAft>
              <a:buSzPts val="2800"/>
              <a:buNone/>
              <a:defRPr sz="1400"/>
            </a:lvl4pPr>
            <a:lvl5pPr indent="0" lvl="4" rtl="0">
              <a:spcBef>
                <a:spcPts val="0"/>
              </a:spcBef>
              <a:spcAft>
                <a:spcPts val="0"/>
              </a:spcAft>
              <a:buSzPts val="2800"/>
              <a:buNone/>
              <a:defRPr sz="1400"/>
            </a:lvl5pPr>
            <a:lvl6pPr indent="0" lvl="5" rtl="0">
              <a:spcBef>
                <a:spcPts val="0"/>
              </a:spcBef>
              <a:spcAft>
                <a:spcPts val="0"/>
              </a:spcAft>
              <a:buSzPts val="2800"/>
              <a:buNone/>
              <a:defRPr sz="1400"/>
            </a:lvl6pPr>
            <a:lvl7pPr indent="0" lvl="6" rtl="0">
              <a:spcBef>
                <a:spcPts val="0"/>
              </a:spcBef>
              <a:spcAft>
                <a:spcPts val="0"/>
              </a:spcAft>
              <a:buSzPts val="2800"/>
              <a:buNone/>
              <a:defRPr sz="1400"/>
            </a:lvl7pPr>
            <a:lvl8pPr indent="0" lvl="7" rtl="0">
              <a:spcBef>
                <a:spcPts val="0"/>
              </a:spcBef>
              <a:spcAft>
                <a:spcPts val="0"/>
              </a:spcAft>
              <a:buSzPts val="2800"/>
              <a:buNone/>
              <a:defRPr sz="1400"/>
            </a:lvl8pPr>
            <a:lvl9pPr indent="0" lvl="8" rtl="0">
              <a:spcBef>
                <a:spcPts val="0"/>
              </a:spcBef>
              <a:spcAft>
                <a:spcPts val="0"/>
              </a:spcAft>
              <a:buSzPts val="2800"/>
              <a:buNone/>
              <a:defRPr sz="1400"/>
            </a:lvl9pPr>
          </a:lstStyle>
          <a:p/>
        </p:txBody>
      </p:sp>
      <p:sp>
        <p:nvSpPr>
          <p:cNvPr id="60" name="Google Shape;60;p14"/>
          <p:cNvSpPr txBox="1"/>
          <p:nvPr>
            <p:ph idx="1" type="body"/>
          </p:nvPr>
        </p:nvSpPr>
        <p:spPr>
          <a:xfrm>
            <a:off x="628650" y="1369219"/>
            <a:ext cx="7886700" cy="3263400"/>
          </a:xfrm>
          <a:prstGeom prst="rect">
            <a:avLst/>
          </a:prstGeom>
          <a:noFill/>
          <a:ln>
            <a:noFill/>
          </a:ln>
        </p:spPr>
        <p:txBody>
          <a:bodyPr anchorCtr="0" anchor="t" bIns="91425" lIns="91425" spcFirstLastPara="1" rIns="91425" wrap="square" tIns="91425">
            <a:no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16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16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1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1600"/>
              </a:spcBef>
              <a:spcAft>
                <a:spcPts val="160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14"/>
          <p:cNvSpPr txBox="1"/>
          <p:nvPr>
            <p:ph idx="10" type="dt"/>
          </p:nvPr>
        </p:nvSpPr>
        <p:spPr>
          <a:xfrm>
            <a:off x="628650" y="4767263"/>
            <a:ext cx="2057400" cy="273900"/>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62" name="Google Shape;62;p14"/>
          <p:cNvSpPr txBox="1"/>
          <p:nvPr>
            <p:ph idx="11" type="ftr"/>
          </p:nvPr>
        </p:nvSpPr>
        <p:spPr>
          <a:xfrm>
            <a:off x="3028950" y="4767263"/>
            <a:ext cx="3086100" cy="2739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indent="0" lvl="1" marL="3429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0" lvl="2" marL="685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0" lvl="3" marL="10287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0" lvl="4"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0" lvl="5" marL="17145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0" lvl="6" marL="2057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0" lvl="7" marL="24003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0" lvl="8"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63" name="Google Shape;63;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4" name="Shape 64"/>
        <p:cNvGrpSpPr/>
        <p:nvPr/>
      </p:nvGrpSpPr>
      <p:grpSpPr>
        <a:xfrm>
          <a:off x="0" y="0"/>
          <a:ext cx="0" cy="0"/>
          <a:chOff x="0" y="0"/>
          <a:chExt cx="0" cy="0"/>
        </a:xfrm>
      </p:grpSpPr>
      <p:sp>
        <p:nvSpPr>
          <p:cNvPr id="65" name="Google Shape;65;p15"/>
          <p:cNvSpPr txBox="1"/>
          <p:nvPr>
            <p:ph type="title"/>
          </p:nvPr>
        </p:nvSpPr>
        <p:spPr>
          <a:xfrm>
            <a:off x="311700" y="456613"/>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5"/>
          <p:cNvSpPr txBox="1"/>
          <p:nvPr>
            <p:ph idx="1" type="body"/>
          </p:nvPr>
        </p:nvSpPr>
        <p:spPr>
          <a:xfrm>
            <a:off x="311700" y="114302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5" name="Shape 75"/>
        <p:cNvGrpSpPr/>
        <p:nvPr/>
      </p:nvGrpSpPr>
      <p:grpSpPr>
        <a:xfrm>
          <a:off x="0" y="0"/>
          <a:ext cx="0" cy="0"/>
          <a:chOff x="0" y="0"/>
          <a:chExt cx="0" cy="0"/>
        </a:xfrm>
      </p:grpSpPr>
      <p:sp>
        <p:nvSpPr>
          <p:cNvPr id="76" name="Google Shape;76;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7" name="Google Shape;77;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8" name="Google Shape;78;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sp>
        <p:nvSpPr>
          <p:cNvPr id="80" name="Google Shape;80;p1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1" name="Google Shape;81;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2" name="Shape 82"/>
        <p:cNvGrpSpPr/>
        <p:nvPr/>
      </p:nvGrpSpPr>
      <p:grpSpPr>
        <a:xfrm>
          <a:off x="0" y="0"/>
          <a:ext cx="0" cy="0"/>
          <a:chOff x="0" y="0"/>
          <a:chExt cx="0" cy="0"/>
        </a:xfrm>
      </p:grpSpPr>
      <p:sp>
        <p:nvSpPr>
          <p:cNvPr id="83" name="Google Shape;83;p19"/>
          <p:cNvSpPr txBox="1"/>
          <p:nvPr>
            <p:ph type="title"/>
          </p:nvPr>
        </p:nvSpPr>
        <p:spPr>
          <a:xfrm>
            <a:off x="387900" y="445025"/>
            <a:ext cx="8444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9"/>
          <p:cNvSpPr txBox="1"/>
          <p:nvPr>
            <p:ph idx="1" type="body"/>
          </p:nvPr>
        </p:nvSpPr>
        <p:spPr>
          <a:xfrm>
            <a:off x="3879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
        <p:nvSpPr>
          <p:cNvPr id="85" name="Google Shape;8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9"/>
          <p:cNvSpPr txBox="1"/>
          <p:nvPr>
            <p:ph idx="2" type="body"/>
          </p:nvPr>
        </p:nvSpPr>
        <p:spPr>
          <a:xfrm>
            <a:off x="4642500" y="1152475"/>
            <a:ext cx="41898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1"/>
              </a:buClr>
              <a:buSzPts val="1400"/>
              <a:buChar char="●"/>
              <a:defRPr sz="1400">
                <a:solidFill>
                  <a:schemeClr val="dk1"/>
                </a:solidFill>
              </a:defRPr>
            </a:lvl1pPr>
            <a:lvl2pPr indent="-317500" lvl="1" marL="914400" rtl="0">
              <a:spcBef>
                <a:spcPts val="0"/>
              </a:spcBef>
              <a:spcAft>
                <a:spcPts val="0"/>
              </a:spcAft>
              <a:buClr>
                <a:schemeClr val="dk1"/>
              </a:buClr>
              <a:buSzPts val="1400"/>
              <a:buChar char="○"/>
              <a:defRPr>
                <a:solidFill>
                  <a:schemeClr val="dk1"/>
                </a:solidFill>
              </a:defRPr>
            </a:lvl2pPr>
            <a:lvl3pPr indent="-317500" lvl="2" marL="1371600" rtl="0">
              <a:spcBef>
                <a:spcPts val="0"/>
              </a:spcBef>
              <a:spcAft>
                <a:spcPts val="0"/>
              </a:spcAft>
              <a:buClr>
                <a:schemeClr val="dk1"/>
              </a:buClr>
              <a:buSzPts val="1400"/>
              <a:buChar char="■"/>
              <a:defRPr>
                <a:solidFill>
                  <a:schemeClr val="dk1"/>
                </a:solidFill>
              </a:defRPr>
            </a:lvl3pPr>
            <a:lvl4pPr indent="-317500" lvl="3" marL="1828800" rtl="0">
              <a:spcBef>
                <a:spcPts val="0"/>
              </a:spcBef>
              <a:spcAft>
                <a:spcPts val="0"/>
              </a:spcAft>
              <a:buClr>
                <a:schemeClr val="dk1"/>
              </a:buClr>
              <a:buSzPts val="1400"/>
              <a:buChar char="●"/>
              <a:defRPr>
                <a:solidFill>
                  <a:schemeClr val="dk1"/>
                </a:solidFill>
              </a:defRPr>
            </a:lvl4pPr>
            <a:lvl5pPr indent="-317500" lvl="4" marL="2286000" rtl="0">
              <a:spcBef>
                <a:spcPts val="0"/>
              </a:spcBef>
              <a:spcAft>
                <a:spcPts val="0"/>
              </a:spcAft>
              <a:buClr>
                <a:schemeClr val="dk1"/>
              </a:buClr>
              <a:buSzPts val="1400"/>
              <a:buChar char="○"/>
              <a:defRPr>
                <a:solidFill>
                  <a:schemeClr val="dk1"/>
                </a:solidFill>
              </a:defRPr>
            </a:lvl5pPr>
            <a:lvl6pPr indent="-317500" lvl="5" marL="2743200" rtl="0">
              <a:spcBef>
                <a:spcPts val="0"/>
              </a:spcBef>
              <a:spcAft>
                <a:spcPts val="0"/>
              </a:spcAft>
              <a:buClr>
                <a:schemeClr val="dk1"/>
              </a:buClr>
              <a:buSzPts val="1400"/>
              <a:buChar char="■"/>
              <a:defRPr>
                <a:solidFill>
                  <a:schemeClr val="dk1"/>
                </a:solidFill>
              </a:defRPr>
            </a:lvl6pPr>
            <a:lvl7pPr indent="-317500" lvl="6" marL="3200400" rtl="0">
              <a:spcBef>
                <a:spcPts val="0"/>
              </a:spcBef>
              <a:spcAft>
                <a:spcPts val="0"/>
              </a:spcAft>
              <a:buClr>
                <a:schemeClr val="dk1"/>
              </a:buClr>
              <a:buSzPts val="1400"/>
              <a:buChar char="●"/>
              <a:defRPr>
                <a:solidFill>
                  <a:schemeClr val="dk1"/>
                </a:solidFill>
              </a:defRPr>
            </a:lvl7pPr>
            <a:lvl8pPr indent="-317500" lvl="7" marL="3657600" rtl="0">
              <a:spcBef>
                <a:spcPts val="0"/>
              </a:spcBef>
              <a:spcAft>
                <a:spcPts val="0"/>
              </a:spcAft>
              <a:buClr>
                <a:schemeClr val="dk1"/>
              </a:buClr>
              <a:buSzPts val="1400"/>
              <a:buChar char="○"/>
              <a:defRPr>
                <a:solidFill>
                  <a:schemeClr val="dk1"/>
                </a:solidFill>
              </a:defRPr>
            </a:lvl8pPr>
            <a:lvl9pPr indent="-317500" lvl="8" marL="4114800" rtl="0">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7" name="Shape 87"/>
        <p:cNvGrpSpPr/>
        <p:nvPr/>
      </p:nvGrpSpPr>
      <p:grpSpPr>
        <a:xfrm>
          <a:off x="0" y="0"/>
          <a:ext cx="0" cy="0"/>
          <a:chOff x="0" y="0"/>
          <a:chExt cx="0" cy="0"/>
        </a:xfrm>
      </p:grpSpPr>
      <p:sp>
        <p:nvSpPr>
          <p:cNvPr id="88" name="Google Shape;8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9" name="Google Shape;89;p2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0" name="Google Shape;90;p2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1" name="Google Shape;9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5" name="Shape 95"/>
        <p:cNvGrpSpPr/>
        <p:nvPr/>
      </p:nvGrpSpPr>
      <p:grpSpPr>
        <a:xfrm>
          <a:off x="0" y="0"/>
          <a:ext cx="0" cy="0"/>
          <a:chOff x="0" y="0"/>
          <a:chExt cx="0" cy="0"/>
        </a:xfrm>
      </p:grpSpPr>
      <p:sp>
        <p:nvSpPr>
          <p:cNvPr id="96" name="Google Shape;96;p2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2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98" name="Google Shape;9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9" name="Shape 99"/>
        <p:cNvGrpSpPr/>
        <p:nvPr/>
      </p:nvGrpSpPr>
      <p:grpSpPr>
        <a:xfrm>
          <a:off x="0" y="0"/>
          <a:ext cx="0" cy="0"/>
          <a:chOff x="0" y="0"/>
          <a:chExt cx="0" cy="0"/>
        </a:xfrm>
      </p:grpSpPr>
      <p:sp>
        <p:nvSpPr>
          <p:cNvPr id="100" name="Google Shape;100;p2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01" name="Google Shape;10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2" name="Shape 102"/>
        <p:cNvGrpSpPr/>
        <p:nvPr/>
      </p:nvGrpSpPr>
      <p:grpSpPr>
        <a:xfrm>
          <a:off x="0" y="0"/>
          <a:ext cx="0" cy="0"/>
          <a:chOff x="0" y="0"/>
          <a:chExt cx="0" cy="0"/>
        </a:xfrm>
      </p:grpSpPr>
      <p:sp>
        <p:nvSpPr>
          <p:cNvPr id="103" name="Google Shape;103;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05" name="Google Shape;105;p2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06" name="Google Shape;106;p2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07" name="Google Shape;107;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8" name="Shape 108"/>
        <p:cNvGrpSpPr/>
        <p:nvPr/>
      </p:nvGrpSpPr>
      <p:grpSpPr>
        <a:xfrm>
          <a:off x="0" y="0"/>
          <a:ext cx="0" cy="0"/>
          <a:chOff x="0" y="0"/>
          <a:chExt cx="0" cy="0"/>
        </a:xfrm>
      </p:grpSpPr>
      <p:sp>
        <p:nvSpPr>
          <p:cNvPr id="109" name="Google Shape;109;p2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10" name="Google Shape;110;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1" name="Shape 111"/>
        <p:cNvGrpSpPr/>
        <p:nvPr/>
      </p:nvGrpSpPr>
      <p:grpSpPr>
        <a:xfrm>
          <a:off x="0" y="0"/>
          <a:ext cx="0" cy="0"/>
          <a:chOff x="0" y="0"/>
          <a:chExt cx="0" cy="0"/>
        </a:xfrm>
      </p:grpSpPr>
      <p:sp>
        <p:nvSpPr>
          <p:cNvPr id="112" name="Google Shape;112;p2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13" name="Google Shape;113;p2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4" name="Google Shape;114;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5" name="Shape 115"/>
        <p:cNvGrpSpPr/>
        <p:nvPr/>
      </p:nvGrpSpPr>
      <p:grpSpPr>
        <a:xfrm>
          <a:off x="0" y="0"/>
          <a:ext cx="0" cy="0"/>
          <a:chOff x="0" y="0"/>
          <a:chExt cx="0" cy="0"/>
        </a:xfrm>
      </p:grpSpPr>
      <p:sp>
        <p:nvSpPr>
          <p:cNvPr id="116" name="Google Shape;116;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image" Target="../media/image3.png"/><Relationship Id="rId2" Type="http://schemas.openxmlformats.org/officeDocument/2006/relationships/image" Target="../media/image7.jpg"/><Relationship Id="rId3" Type="http://schemas.openxmlformats.org/officeDocument/2006/relationships/image" Target="../media/image1.jp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slideLayout" Target="../slideLayouts/slideLayout14.xml"/><Relationship Id="rId16" Type="http://schemas.openxmlformats.org/officeDocument/2006/relationships/slideLayout" Target="../slideLayouts/slideLayout13.xml"/><Relationship Id="rId5" Type="http://schemas.openxmlformats.org/officeDocument/2006/relationships/slideLayout" Target="../slideLayouts/slideLayout2.xml"/><Relationship Id="rId6" Type="http://schemas.openxmlformats.org/officeDocument/2006/relationships/slideLayout" Target="../slideLayouts/slideLayout3.xml"/><Relationship Id="rId18" Type="http://schemas.openxmlformats.org/officeDocument/2006/relationships/theme" Target="../theme/theme1.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jpg"/><Relationship Id="rId2" Type="http://schemas.openxmlformats.org/officeDocument/2006/relationships/image" Target="../media/image3.png"/><Relationship Id="rId3" Type="http://schemas.openxmlformats.org/officeDocument/2006/relationships/image" Target="../media/image7.jpg"/><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2.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9" name="Google Shape;9;p1"/>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usfd-logo-fred-350x138.png" id="10" name="Google Shape;10;p1"/>
          <p:cNvPicPr preferRelativeResize="0"/>
          <p:nvPr/>
        </p:nvPicPr>
        <p:blipFill>
          <a:blip r:embed="rId1">
            <a:alphaModFix/>
          </a:blip>
          <a:stretch>
            <a:fillRect/>
          </a:stretch>
        </p:blipFill>
        <p:spPr>
          <a:xfrm>
            <a:off x="76197" y="73575"/>
            <a:ext cx="1111675" cy="439575"/>
          </a:xfrm>
          <a:prstGeom prst="rect">
            <a:avLst/>
          </a:prstGeom>
          <a:noFill/>
          <a:ln>
            <a:noFill/>
          </a:ln>
        </p:spPr>
      </p:pic>
      <p:pic>
        <p:nvPicPr>
          <p:cNvPr descr="625px-Internet_of_Things.jpg" id="11" name="Google Shape;11;p1"/>
          <p:cNvPicPr preferRelativeResize="0"/>
          <p:nvPr/>
        </p:nvPicPr>
        <p:blipFill>
          <a:blip r:embed="rId2">
            <a:alphaModFix/>
          </a:blip>
          <a:stretch>
            <a:fillRect/>
          </a:stretch>
        </p:blipFill>
        <p:spPr>
          <a:xfrm>
            <a:off x="8362825" y="73579"/>
            <a:ext cx="691500" cy="663842"/>
          </a:xfrm>
          <a:prstGeom prst="rect">
            <a:avLst/>
          </a:prstGeom>
          <a:noFill/>
          <a:ln>
            <a:noFill/>
          </a:ln>
        </p:spPr>
      </p:pic>
      <p:pic>
        <p:nvPicPr>
          <p:cNvPr descr="esp32-feather.jpg" id="12" name="Google Shape;12;p1"/>
          <p:cNvPicPr preferRelativeResize="0"/>
          <p:nvPr/>
        </p:nvPicPr>
        <p:blipFill>
          <a:blip r:embed="rId3">
            <a:alphaModFix/>
          </a:blip>
          <a:stretch>
            <a:fillRect/>
          </a:stretch>
        </p:blipFill>
        <p:spPr>
          <a:xfrm>
            <a:off x="76985" y="4540237"/>
            <a:ext cx="521324" cy="5200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7" name="Shape 67"/>
        <p:cNvGrpSpPr/>
        <p:nvPr/>
      </p:nvGrpSpPr>
      <p:grpSpPr>
        <a:xfrm>
          <a:off x="0" y="0"/>
          <a:ext cx="0" cy="0"/>
          <a:chOff x="0" y="0"/>
          <a:chExt cx="0" cy="0"/>
        </a:xfrm>
      </p:grpSpPr>
      <p:sp>
        <p:nvSpPr>
          <p:cNvPr id="68" name="Google Shape;68;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69" name="Google Shape;69;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70" name="Google Shape;7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
        <p:nvSpPr>
          <p:cNvPr id="71" name="Google Shape;71;p16"/>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GB"/>
              <a:t>‹#›</a:t>
            </a:fld>
            <a:endParaRPr/>
          </a:p>
        </p:txBody>
      </p:sp>
      <p:pic>
        <p:nvPicPr>
          <p:cNvPr descr="esp32-feather.jpg" id="72" name="Google Shape;72;p16"/>
          <p:cNvPicPr preferRelativeResize="0"/>
          <p:nvPr/>
        </p:nvPicPr>
        <p:blipFill>
          <a:blip r:embed="rId1">
            <a:alphaModFix/>
          </a:blip>
          <a:stretch>
            <a:fillRect/>
          </a:stretch>
        </p:blipFill>
        <p:spPr>
          <a:xfrm>
            <a:off x="76985" y="4540237"/>
            <a:ext cx="521324" cy="520026"/>
          </a:xfrm>
          <a:prstGeom prst="rect">
            <a:avLst/>
          </a:prstGeom>
          <a:noFill/>
          <a:ln>
            <a:noFill/>
          </a:ln>
        </p:spPr>
      </p:pic>
      <p:pic>
        <p:nvPicPr>
          <p:cNvPr descr="usfd-logo-fred-350x138.png" id="73" name="Google Shape;73;p16"/>
          <p:cNvPicPr preferRelativeResize="0"/>
          <p:nvPr/>
        </p:nvPicPr>
        <p:blipFill>
          <a:blip r:embed="rId2">
            <a:alphaModFix/>
          </a:blip>
          <a:stretch>
            <a:fillRect/>
          </a:stretch>
        </p:blipFill>
        <p:spPr>
          <a:xfrm>
            <a:off x="76197" y="73575"/>
            <a:ext cx="1111675" cy="439575"/>
          </a:xfrm>
          <a:prstGeom prst="rect">
            <a:avLst/>
          </a:prstGeom>
          <a:noFill/>
          <a:ln>
            <a:noFill/>
          </a:ln>
        </p:spPr>
      </p:pic>
      <p:pic>
        <p:nvPicPr>
          <p:cNvPr descr="625px-Internet_of_Things.jpg" id="74" name="Google Shape;74;p16"/>
          <p:cNvPicPr preferRelativeResize="0"/>
          <p:nvPr/>
        </p:nvPicPr>
        <p:blipFill>
          <a:blip r:embed="rId3">
            <a:alphaModFix/>
          </a:blip>
          <a:stretch>
            <a:fillRect/>
          </a:stretch>
        </p:blipFill>
        <p:spPr>
          <a:xfrm>
            <a:off x="8362825" y="73579"/>
            <a:ext cx="691500" cy="66384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esp32.com/viewtopic.php?t=4978#p21478" TargetMode="External"/><Relationship Id="rId4" Type="http://schemas.openxmlformats.org/officeDocument/2006/relationships/hyperlink" Target="https://youtu.be/CJhWlfkf-5M" TargetMode="External"/><Relationship Id="rId5" Type="http://schemas.openxmlformats.org/officeDocument/2006/relationships/hyperlink" Target="https://iot.unphone.net/#timers-interrupts-tasks-events" TargetMode="External"/><Relationship Id="rId6"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docs.espressif.com/projects/esp-idf/en/latest/esp32/api-reference/peripherals/gpio.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iot.unphone.net/#lipo-safet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3.jpg"/><Relationship Id="rId6" Type="http://schemas.openxmlformats.org/officeDocument/2006/relationships/image" Target="../media/image15.png"/><Relationship Id="rId7" Type="http://schemas.openxmlformats.org/officeDocument/2006/relationships/image" Target="../media/image34.png"/><Relationship Id="rId8"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38.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drive.google.com/file/d/17RpC2cSTNgBJ1Lfl4xBVIWR2XzXayzSp/view" TargetMode="Externa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7.jpg"/><Relationship Id="rId4" Type="http://schemas.openxmlformats.org/officeDocument/2006/relationships/hyperlink" Target="http://drive.google.com/file/d/1rFxLqepiWUY2WNTTh88F2ztNAPkWbN7pZQ/view" TargetMode="External"/><Relationship Id="rId5"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drive.google.com/file/d/1JBQJyoi8NN3ci30JF6MKgWLlEjGskeViGw/view" TargetMode="External"/><Relationship Id="rId4" Type="http://schemas.openxmlformats.org/officeDocument/2006/relationships/image" Target="../media/image11.jpg"/><Relationship Id="rId5" Type="http://schemas.openxmlformats.org/officeDocument/2006/relationships/image" Target="../media/image18.png"/><Relationship Id="rId6"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jpg"/><Relationship Id="rId4" Type="http://schemas.openxmlformats.org/officeDocument/2006/relationships/hyperlink" Target="http://drive.google.com/file/d/14QB92sMHyBfX8lCGHduAmRZvS8Es8KOSVg/view" TargetMode="External"/><Relationship Id="rId5" Type="http://schemas.openxmlformats.org/officeDocument/2006/relationships/image" Target="../media/image3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www.youtube.com/watch?v=VLZLt7qXatY" TargetMode="External"/><Relationship Id="rId4" Type="http://schemas.openxmlformats.org/officeDocument/2006/relationships/image" Target="../media/image2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7.jpg"/><Relationship Id="rId4" Type="http://schemas.openxmlformats.org/officeDocument/2006/relationships/image" Target="../media/image23.jpg"/><Relationship Id="rId9" Type="http://schemas.openxmlformats.org/officeDocument/2006/relationships/image" Target="../media/image28.jpg"/><Relationship Id="rId5" Type="http://schemas.openxmlformats.org/officeDocument/2006/relationships/image" Target="../media/image35.jpg"/><Relationship Id="rId6" Type="http://schemas.openxmlformats.org/officeDocument/2006/relationships/image" Target="../media/image24.jpg"/><Relationship Id="rId7" Type="http://schemas.openxmlformats.org/officeDocument/2006/relationships/image" Target="../media/image31.jpg"/><Relationship Id="rId8" Type="http://schemas.openxmlformats.org/officeDocument/2006/relationships/image" Target="../media/image3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ph idx="1" type="subTitle"/>
          </p:nvPr>
        </p:nvSpPr>
        <p:spPr>
          <a:xfrm>
            <a:off x="1627650" y="2834125"/>
            <a:ext cx="58887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a:p>
            <a:pPr indent="0" lvl="0" marL="0" rtl="0" algn="ctr">
              <a:spcBef>
                <a:spcPts val="0"/>
              </a:spcBef>
              <a:spcAft>
                <a:spcPts val="0"/>
              </a:spcAft>
              <a:buNone/>
            </a:pPr>
            <a:r>
              <a:rPr lang="en-GB"/>
              <a:t>COM3505, Lecture 7</a:t>
            </a:r>
            <a:endParaRPr/>
          </a:p>
          <a:p>
            <a:pPr indent="0" lvl="0" marL="0" rtl="0" algn="ctr">
              <a:spcBef>
                <a:spcPts val="0"/>
              </a:spcBef>
              <a:spcAft>
                <a:spcPts val="0"/>
              </a:spcAft>
              <a:buNone/>
            </a:pPr>
            <a:r>
              <a:rPr lang="en-GB"/>
              <a:t>Prof Hamish Cunningham</a:t>
            </a:r>
            <a:endParaRPr/>
          </a:p>
        </p:txBody>
      </p:sp>
      <p:sp>
        <p:nvSpPr>
          <p:cNvPr id="122" name="Google Shape;122;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23" name="Google Shape;123;p28"/>
          <p:cNvSpPr txBox="1"/>
          <p:nvPr>
            <p:ph type="ctrTitle"/>
          </p:nvPr>
        </p:nvSpPr>
        <p:spPr>
          <a:xfrm>
            <a:off x="235508" y="100232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sz="4800"/>
              <a:t>IoT device gestation,</a:t>
            </a:r>
            <a:br>
              <a:rPr lang="en-GB" sz="4800"/>
            </a:br>
            <a:r>
              <a:rPr lang="en-GB" sz="4800"/>
              <a:t>LA1, Projects</a:t>
            </a:r>
            <a:endParaRPr sz="4800"/>
          </a:p>
          <a:p>
            <a:pPr indent="0" lvl="0" marL="0" rtl="0" algn="ctr">
              <a:spcBef>
                <a:spcPts val="0"/>
              </a:spcBef>
              <a:spcAft>
                <a:spcPts val="0"/>
              </a:spcAft>
              <a:buClr>
                <a:schemeClr val="dk1"/>
              </a:buClr>
              <a:buSzPts val="1100"/>
              <a:buFont typeface="Arial"/>
              <a:buNone/>
            </a:pPr>
            <a:r>
              <a:rPr lang="en-GB" sz="4800"/>
              <a:t>— SA-DF-HE</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9"/>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Congrats, you’ve (almost) made it half way!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The rest of the course:</a:t>
            </a:r>
            <a:endParaRPr sz="1800"/>
          </a:p>
          <a:p>
            <a:pPr indent="-342900" lvl="0" marL="457200" rtl="0" algn="l">
              <a:spcBef>
                <a:spcPts val="0"/>
              </a:spcBef>
              <a:spcAft>
                <a:spcPts val="0"/>
              </a:spcAft>
              <a:buSzPts val="1800"/>
              <a:buChar char="●"/>
            </a:pPr>
            <a:r>
              <a:rPr lang="en-GB" sz="1800"/>
              <a:t>starts with Lab Assessment 1 (LA1),</a:t>
            </a:r>
            <a:br>
              <a:rPr lang="en-GB" sz="1800"/>
            </a:br>
            <a:r>
              <a:rPr lang="en-GB" sz="1800"/>
              <a:t>a threshold test due Friday</a:t>
            </a:r>
            <a:endParaRPr sz="1800"/>
          </a:p>
          <a:p>
            <a:pPr indent="-342900" lvl="0" marL="457200" rtl="0" algn="l">
              <a:spcBef>
                <a:spcPts val="0"/>
              </a:spcBef>
              <a:spcAft>
                <a:spcPts val="0"/>
              </a:spcAft>
              <a:buSzPts val="1800"/>
              <a:buChar char="●"/>
            </a:pPr>
            <a:r>
              <a:rPr lang="en-GB" sz="1800"/>
              <a:t>then covers a bit more theory</a:t>
            </a:r>
            <a:endParaRPr sz="1800"/>
          </a:p>
          <a:p>
            <a:pPr indent="-342900" lvl="0" marL="457200" rtl="0" algn="l">
              <a:spcBef>
                <a:spcPts val="0"/>
              </a:spcBef>
              <a:spcAft>
                <a:spcPts val="0"/>
              </a:spcAft>
              <a:buSzPts val="1800"/>
              <a:buChar char="●"/>
            </a:pPr>
            <a:r>
              <a:rPr lang="en-GB" sz="1800"/>
              <a:t>prepares for the exam (mock exam available from week 9/10)</a:t>
            </a:r>
            <a:endParaRPr sz="1800"/>
          </a:p>
          <a:p>
            <a:pPr indent="-342900" lvl="0" marL="457200" rtl="0" algn="l">
              <a:spcBef>
                <a:spcPts val="0"/>
              </a:spcBef>
              <a:spcAft>
                <a:spcPts val="0"/>
              </a:spcAft>
              <a:buSzPts val="1800"/>
              <a:buChar char="●"/>
            </a:pPr>
            <a:r>
              <a:rPr lang="en-GB" sz="1800"/>
              <a:t>lets you loose on the </a:t>
            </a:r>
            <a:r>
              <a:rPr b="1" lang="en-GB" sz="1800"/>
              <a:t>project</a:t>
            </a:r>
            <a:r>
              <a:rPr lang="en-GB" sz="1800"/>
              <a:t> :)</a:t>
            </a:r>
            <a:endParaRPr sz="1800"/>
          </a:p>
          <a:p>
            <a:pPr indent="-342900" lvl="1" marL="914400" rtl="0" algn="l">
              <a:spcBef>
                <a:spcPts val="0"/>
              </a:spcBef>
              <a:spcAft>
                <a:spcPts val="0"/>
              </a:spcAft>
              <a:buSzPts val="1800"/>
              <a:buChar char="○"/>
            </a:pPr>
            <a:r>
              <a:rPr lang="en-GB" sz="1800"/>
              <a:t>subject of the second lab assessment due week 12</a:t>
            </a:r>
            <a:endParaRPr sz="1800"/>
          </a:p>
          <a:p>
            <a:pPr indent="-342900" lvl="1" marL="914400" rtl="0" algn="l">
              <a:spcBef>
                <a:spcPts val="0"/>
              </a:spcBef>
              <a:spcAft>
                <a:spcPts val="0"/>
              </a:spcAft>
              <a:buSzPts val="1800"/>
              <a:buChar char="○"/>
            </a:pPr>
            <a:r>
              <a:rPr lang="en-GB" sz="1800"/>
              <a:t>a vehicle for </a:t>
            </a:r>
            <a:r>
              <a:rPr b="1" lang="en-GB" sz="1800"/>
              <a:t>your portfolio</a:t>
            </a:r>
            <a:endParaRPr sz="1800"/>
          </a:p>
          <a:p>
            <a:pPr indent="-342900" lvl="0" marL="457200" rtl="0" algn="l">
              <a:spcBef>
                <a:spcPts val="0"/>
              </a:spcBef>
              <a:spcAft>
                <a:spcPts val="0"/>
              </a:spcAft>
              <a:buSzPts val="1800"/>
              <a:buChar char="●"/>
            </a:pPr>
            <a:r>
              <a:rPr lang="en-GB" sz="1800"/>
              <a:t>today we will...</a:t>
            </a:r>
            <a:endParaRPr sz="1800"/>
          </a:p>
        </p:txBody>
      </p:sp>
      <p:sp>
        <p:nvSpPr>
          <p:cNvPr id="129" name="Google Shape;129;p29"/>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COM3505 2022 — Part 2</a:t>
            </a:r>
            <a:endParaRPr/>
          </a:p>
        </p:txBody>
      </p:sp>
      <p:sp>
        <p:nvSpPr>
          <p:cNvPr id="130" name="Google Shape;130;p29"/>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0"/>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b="1" lang="en-GB" sz="1800"/>
              <a:t>interrupts and timers</a:t>
            </a:r>
            <a:endParaRPr b="1" sz="1800"/>
          </a:p>
          <a:p>
            <a:pPr indent="-342900" lvl="0" marL="457200" rtl="0" algn="l">
              <a:spcBef>
                <a:spcPts val="1000"/>
              </a:spcBef>
              <a:spcAft>
                <a:spcPts val="0"/>
              </a:spcAft>
              <a:buSzPts val="1800"/>
              <a:buAutoNum type="arabicPeriod"/>
            </a:pPr>
            <a:r>
              <a:rPr lang="en-GB" sz="1800"/>
              <a:t>lab assessment 1: build a Pr[ovisioning]AndUpd[ate]Thing</a:t>
            </a:r>
            <a:endParaRPr sz="1800"/>
          </a:p>
          <a:p>
            <a:pPr indent="-342900" lvl="0" marL="457200" rtl="0" algn="l">
              <a:spcBef>
                <a:spcPts val="1000"/>
              </a:spcBef>
              <a:spcAft>
                <a:spcPts val="0"/>
              </a:spcAft>
              <a:buSzPts val="1800"/>
              <a:buAutoNum type="arabicPeriod"/>
            </a:pPr>
            <a:r>
              <a:rPr lang="en-GB" sz="1800"/>
              <a:t>projects: Marvin, unPhone, LilyGoWatch, or…?</a:t>
            </a:r>
            <a:endParaRPr sz="1800"/>
          </a:p>
          <a:p>
            <a:pPr indent="-342900" lvl="0" marL="457200" rtl="0" algn="l">
              <a:spcBef>
                <a:spcPts val="1000"/>
              </a:spcBef>
              <a:spcAft>
                <a:spcPts val="0"/>
              </a:spcAft>
              <a:buSzPts val="1800"/>
              <a:buAutoNum type="arabicPeriod"/>
            </a:pPr>
            <a:r>
              <a:rPr lang="en-GB" sz="1800"/>
              <a:t>creating a new IoT device</a:t>
            </a:r>
            <a:endParaRPr b="1" sz="1800"/>
          </a:p>
          <a:p>
            <a:pPr indent="0" lvl="0" marL="0" rtl="0" algn="l">
              <a:spcBef>
                <a:spcPts val="1000"/>
              </a:spcBef>
              <a:spcAft>
                <a:spcPts val="0"/>
              </a:spcAft>
              <a:buNone/>
            </a:pPr>
            <a:r>
              <a:t/>
            </a:r>
            <a:endParaRPr sz="1800"/>
          </a:p>
        </p:txBody>
      </p:sp>
      <p:sp>
        <p:nvSpPr>
          <p:cNvPr id="136" name="Google Shape;136;p30"/>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7</a:t>
            </a:r>
            <a:endParaRPr/>
          </a:p>
        </p:txBody>
      </p:sp>
      <p:sp>
        <p:nvSpPr>
          <p:cNvPr id="137" name="Google Shape;137;p30"/>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8" name="Google Shape;138;p30"/>
          <p:cNvSpPr txBox="1"/>
          <p:nvPr/>
        </p:nvSpPr>
        <p:spPr>
          <a:xfrm>
            <a:off x="3685325" y="217650"/>
            <a:ext cx="4178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2"/>
                </a:solidFill>
              </a:rPr>
              <a:t>start with LA1, skip to L8/projects, if time do unPhone assembly demo and maybe more bits of L7</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1"/>
          <p:cNvSpPr txBox="1"/>
          <p:nvPr>
            <p:ph type="title"/>
          </p:nvPr>
        </p:nvSpPr>
        <p:spPr>
          <a:xfrm>
            <a:off x="921300" y="-90717"/>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Timers and Interrupts: T</a:t>
            </a:r>
            <a:r>
              <a:rPr lang="en-GB"/>
              <a:t>imingThing</a:t>
            </a:r>
            <a:endParaRPr/>
          </a:p>
        </p:txBody>
      </p:sp>
      <p:sp>
        <p:nvSpPr>
          <p:cNvPr id="144" name="Google Shape;144;p31"/>
          <p:cNvSpPr txBox="1"/>
          <p:nvPr>
            <p:ph idx="1" type="body"/>
          </p:nvPr>
        </p:nvSpPr>
        <p:spPr>
          <a:xfrm>
            <a:off x="97200" y="297450"/>
            <a:ext cx="74730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background: multiprocessing vs. MCU/RTOS</a:t>
            </a:r>
            <a:endParaRPr sz="1800"/>
          </a:p>
          <a:p>
            <a:pPr indent="-342900" lvl="1" marL="914400" rtl="0" algn="l">
              <a:spcBef>
                <a:spcPts val="0"/>
              </a:spcBef>
              <a:spcAft>
                <a:spcPts val="0"/>
              </a:spcAft>
              <a:buSzPts val="1800"/>
              <a:buChar char="○"/>
            </a:pPr>
            <a:r>
              <a:rPr lang="en-GB" sz="1800"/>
              <a:t>the two ESP32 cores mean we can do a little multiprocessing,</a:t>
            </a:r>
            <a:br>
              <a:rPr lang="en-GB" sz="1800"/>
            </a:br>
            <a:r>
              <a:rPr lang="en-GB" sz="1800"/>
              <a:t>though one core is mostly for protocols, WiFi, …</a:t>
            </a:r>
            <a:endParaRPr sz="1800"/>
          </a:p>
          <a:p>
            <a:pPr indent="-342900" lvl="1" marL="914400" rtl="0" algn="l">
              <a:spcBef>
                <a:spcPts val="0"/>
              </a:spcBef>
              <a:spcAft>
                <a:spcPts val="0"/>
              </a:spcAft>
              <a:buSzPts val="1800"/>
              <a:buChar char="○"/>
            </a:pPr>
            <a:r>
              <a:rPr lang="en-GB" sz="1800"/>
              <a:t>RTOS tasks allow both hardware </a:t>
            </a:r>
            <a:r>
              <a:rPr lang="en-GB" sz="1800"/>
              <a:t>interrupts</a:t>
            </a:r>
            <a:r>
              <a:rPr lang="en-GB" sz="1800"/>
              <a:t> and timer/resume</a:t>
            </a:r>
            <a:endParaRPr sz="1800"/>
          </a:p>
          <a:p>
            <a:pPr indent="-342900" lvl="0" marL="457200" rtl="0" algn="l">
              <a:spcBef>
                <a:spcPts val="0"/>
              </a:spcBef>
              <a:spcAft>
                <a:spcPts val="0"/>
              </a:spcAft>
              <a:buSzPts val="1800"/>
              <a:buChar char="●"/>
            </a:pPr>
            <a:r>
              <a:rPr lang="en-GB" sz="1800"/>
              <a:t>an example board: one switch, one LED (gotcha: a floating switch triggers interrupts continuously, so use a bias resistor, e.g. pullup to V+)</a:t>
            </a:r>
            <a:endParaRPr sz="1800"/>
          </a:p>
          <a:p>
            <a:pPr indent="-342900" lvl="0" marL="457200" rtl="0" algn="l">
              <a:spcBef>
                <a:spcPts val="0"/>
              </a:spcBef>
              <a:spcAft>
                <a:spcPts val="0"/>
              </a:spcAft>
              <a:buSzPts val="1800"/>
              <a:buChar char="●"/>
            </a:pPr>
            <a:r>
              <a:rPr lang="en-GB" sz="1800" u="sng"/>
              <a:t>simplified.ino:</a:t>
            </a:r>
            <a:r>
              <a:rPr lang="en-GB" sz="1800"/>
              <a:t> the digitalRead/delay approach</a:t>
            </a:r>
            <a:endParaRPr sz="1800"/>
          </a:p>
          <a:p>
            <a:pPr indent="-342900" lvl="0" marL="457200" rtl="0" algn="l">
              <a:spcBef>
                <a:spcPts val="0"/>
              </a:spcBef>
              <a:spcAft>
                <a:spcPts val="0"/>
              </a:spcAft>
              <a:buSzPts val="1800"/>
              <a:buChar char="●"/>
            </a:pPr>
            <a:r>
              <a:rPr lang="en-GB" sz="1800"/>
              <a:t>problem: what if the switch press comes during the delay?</a:t>
            </a:r>
            <a:endParaRPr sz="1800"/>
          </a:p>
          <a:p>
            <a:pPr indent="-342900" lvl="0" marL="457200" rtl="0" algn="l">
              <a:spcBef>
                <a:spcPts val="0"/>
              </a:spcBef>
              <a:spcAft>
                <a:spcPts val="0"/>
              </a:spcAft>
              <a:buSzPts val="1800"/>
              <a:buChar char="●"/>
            </a:pPr>
            <a:r>
              <a:rPr lang="en-GB" sz="1800"/>
              <a:t>interrupts: let the electronics do the work,</a:t>
            </a:r>
            <a:br>
              <a:rPr lang="en-GB" sz="1800"/>
            </a:br>
            <a:r>
              <a:rPr lang="en-GB" sz="1800"/>
              <a:t>attach handler to pin</a:t>
            </a:r>
            <a:endParaRPr sz="1800"/>
          </a:p>
          <a:p>
            <a:pPr indent="-342900" lvl="0" marL="457200" rtl="0" algn="l">
              <a:spcBef>
                <a:spcPts val="0"/>
              </a:spcBef>
              <a:spcAft>
                <a:spcPts val="0"/>
              </a:spcAft>
              <a:buSzPts val="1800"/>
              <a:buChar char="●"/>
            </a:pPr>
            <a:r>
              <a:rPr lang="en-GB" sz="1800" u="sng"/>
              <a:t>sketch.ino</a:t>
            </a:r>
            <a:r>
              <a:rPr lang="en-GB" sz="1800" u="sng"/>
              <a:t>;</a:t>
            </a:r>
            <a:r>
              <a:rPr lang="en-GB" sz="1800"/>
              <a:t> </a:t>
            </a:r>
            <a:r>
              <a:rPr lang="en-GB" sz="1800" u="sng">
                <a:solidFill>
                  <a:schemeClr val="hlink"/>
                </a:solidFill>
                <a:hlinkClick r:id="rId3"/>
              </a:rPr>
              <a:t>IRAM_ATTR</a:t>
            </a:r>
            <a:r>
              <a:rPr lang="en-GB" sz="1800"/>
              <a:t>; safety in ISRs; </a:t>
            </a:r>
            <a:r>
              <a:rPr lang="en-GB" sz="1800" u="sng">
                <a:solidFill>
                  <a:schemeClr val="hlink"/>
                </a:solidFill>
                <a:hlinkClick r:id="rId4"/>
              </a:rPr>
              <a:t>Andreas’ video</a:t>
            </a:r>
            <a:endParaRPr sz="1800"/>
          </a:p>
          <a:p>
            <a:pPr indent="-342900" lvl="0" marL="457200" rtl="0" algn="l">
              <a:spcBef>
                <a:spcPts val="0"/>
              </a:spcBef>
              <a:spcAft>
                <a:spcPts val="0"/>
              </a:spcAft>
              <a:buSzPts val="1800"/>
              <a:buChar char="●"/>
            </a:pPr>
            <a:r>
              <a:rPr lang="en-GB" sz="1800"/>
              <a:t>see also the </a:t>
            </a:r>
            <a:r>
              <a:rPr lang="en-GB" sz="1800" u="sng">
                <a:solidFill>
                  <a:schemeClr val="hlink"/>
                </a:solidFill>
                <a:hlinkClick r:id="rId5"/>
              </a:rPr>
              <a:t>course notes, section 7.1</a:t>
            </a:r>
            <a:endParaRPr sz="1800"/>
          </a:p>
          <a:p>
            <a:pPr indent="-342900" lvl="0" marL="457200" rtl="0" algn="l">
              <a:spcBef>
                <a:spcPts val="0"/>
              </a:spcBef>
              <a:spcAft>
                <a:spcPts val="0"/>
              </a:spcAft>
              <a:buSzPts val="1800"/>
              <a:buChar char="●"/>
            </a:pPr>
            <a:r>
              <a:rPr lang="en-GB" sz="1800"/>
              <a:t>should I use it? in the long run yes; for small examples you can get away with simpler methods</a:t>
            </a:r>
            <a:endParaRPr sz="1800"/>
          </a:p>
        </p:txBody>
      </p:sp>
      <p:sp>
        <p:nvSpPr>
          <p:cNvPr id="145" name="Google Shape;145;p31"/>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146" name="Google Shape;146;p31"/>
          <p:cNvPicPr preferRelativeResize="0"/>
          <p:nvPr/>
        </p:nvPicPr>
        <p:blipFill>
          <a:blip r:embed="rId6">
            <a:alphaModFix/>
          </a:blip>
          <a:stretch>
            <a:fillRect/>
          </a:stretch>
        </p:blipFill>
        <p:spPr>
          <a:xfrm>
            <a:off x="6652525" y="2433625"/>
            <a:ext cx="2432998" cy="18247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2"/>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TimingThing (2)</a:t>
            </a:r>
            <a:endParaRPr/>
          </a:p>
        </p:txBody>
      </p:sp>
      <p:sp>
        <p:nvSpPr>
          <p:cNvPr id="152" name="Google Shape;152;p32"/>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3" name="Google Shape;153;p32"/>
          <p:cNvSpPr txBox="1"/>
          <p:nvPr>
            <p:ph idx="1" type="body"/>
          </p:nvPr>
        </p:nvSpPr>
        <p:spPr>
          <a:xfrm>
            <a:off x="467400" y="699575"/>
            <a:ext cx="8340000" cy="264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300">
                <a:solidFill>
                  <a:srgbClr val="696969"/>
                </a:solidFill>
                <a:highlight>
                  <a:srgbClr val="FFFFFF"/>
                </a:highlight>
              </a:rPr>
              <a:t>// sketch.ino: an example of using interrupts</a:t>
            </a:r>
            <a:endParaRPr sz="1300">
              <a:highlight>
                <a:srgbClr val="FFFFFF"/>
              </a:highlight>
            </a:endParaRPr>
          </a:p>
          <a:p>
            <a:pPr indent="0" lvl="0" marL="0" rtl="0" algn="l">
              <a:spcBef>
                <a:spcPts val="0"/>
              </a:spcBef>
              <a:spcAft>
                <a:spcPts val="0"/>
              </a:spcAft>
              <a:buNone/>
            </a:pPr>
            <a:r>
              <a:rPr lang="en-GB" sz="1300">
                <a:solidFill>
                  <a:srgbClr val="004A43"/>
                </a:solidFill>
                <a:highlight>
                  <a:srgbClr val="FFFFFF"/>
                </a:highlight>
              </a:rPr>
              <a:t>#include </a:t>
            </a:r>
            <a:r>
              <a:rPr lang="en-GB" sz="1300">
                <a:solidFill>
                  <a:srgbClr val="800000"/>
                </a:solidFill>
                <a:highlight>
                  <a:srgbClr val="FFFFFF"/>
                </a:highlight>
              </a:rPr>
              <a:t>&lt;</a:t>
            </a:r>
            <a:r>
              <a:rPr lang="en-GB" sz="1300">
                <a:solidFill>
                  <a:srgbClr val="40015A"/>
                </a:solidFill>
                <a:highlight>
                  <a:srgbClr val="FFFFFF"/>
                </a:highlight>
              </a:rPr>
              <a:t>Arduino.h</a:t>
            </a:r>
            <a:r>
              <a:rPr lang="en-GB" sz="1300">
                <a:solidFill>
                  <a:srgbClr val="800000"/>
                </a:solidFill>
                <a:highlight>
                  <a:srgbClr val="FFFFFF"/>
                </a:highlight>
              </a:rPr>
              <a:t>&gt;</a:t>
            </a:r>
            <a:endParaRPr sz="1300">
              <a:highlight>
                <a:srgbClr val="FFFFFF"/>
              </a:highlight>
            </a:endParaRPr>
          </a:p>
          <a:p>
            <a:pPr indent="0" lvl="0" marL="0" rtl="0" algn="l">
              <a:spcBef>
                <a:spcPts val="0"/>
              </a:spcBef>
              <a:spcAft>
                <a:spcPts val="0"/>
              </a:spcAft>
              <a:buNone/>
            </a:pPr>
            <a:r>
              <a:t/>
            </a:r>
            <a:endParaRPr sz="1300">
              <a:highlight>
                <a:srgbClr val="FFFFFF"/>
              </a:highlight>
            </a:endParaRPr>
          </a:p>
          <a:p>
            <a:pPr indent="0" lvl="0" marL="0" rtl="0" algn="l">
              <a:spcBef>
                <a:spcPts val="0"/>
              </a:spcBef>
              <a:spcAft>
                <a:spcPts val="0"/>
              </a:spcAft>
              <a:buNone/>
            </a:pPr>
            <a:r>
              <a:rPr lang="en-GB" sz="1300">
                <a:highlight>
                  <a:srgbClr val="FFFFFF"/>
                </a:highlight>
              </a:rPr>
              <a:t>uint8_t SWITCH_PIN </a:t>
            </a:r>
            <a:r>
              <a:rPr lang="en-GB" sz="1300">
                <a:solidFill>
                  <a:srgbClr val="808030"/>
                </a:solidFill>
                <a:highlight>
                  <a:srgbClr val="FFFFFF"/>
                </a:highlight>
              </a:rPr>
              <a:t>=</a:t>
            </a:r>
            <a:r>
              <a:rPr lang="en-GB" sz="1300">
                <a:highlight>
                  <a:srgbClr val="FFFFFF"/>
                </a:highlight>
              </a:rPr>
              <a:t> </a:t>
            </a:r>
            <a:r>
              <a:rPr lang="en-GB" sz="1300">
                <a:solidFill>
                  <a:srgbClr val="008C00"/>
                </a:solidFill>
                <a:highlight>
                  <a:srgbClr val="FFFFFF"/>
                </a:highlight>
              </a:rPr>
              <a:t>14</a:t>
            </a:r>
            <a:r>
              <a:rPr lang="en-GB" sz="1300">
                <a:solidFill>
                  <a:srgbClr val="808030"/>
                </a:solidFill>
                <a:highlight>
                  <a:srgbClr val="FFFFFF"/>
                </a:highlight>
              </a:rPr>
              <a:t>,</a:t>
            </a:r>
            <a:r>
              <a:rPr lang="en-GB" sz="1300">
                <a:highlight>
                  <a:srgbClr val="FFFFFF"/>
                </a:highlight>
              </a:rPr>
              <a:t> LED_PIN </a:t>
            </a:r>
            <a:r>
              <a:rPr lang="en-GB" sz="1300">
                <a:solidFill>
                  <a:srgbClr val="808030"/>
                </a:solidFill>
                <a:highlight>
                  <a:srgbClr val="FFFFFF"/>
                </a:highlight>
              </a:rPr>
              <a:t>=</a:t>
            </a:r>
            <a:r>
              <a:rPr lang="en-GB" sz="1300">
                <a:highlight>
                  <a:srgbClr val="FFFFFF"/>
                </a:highlight>
              </a:rPr>
              <a:t> </a:t>
            </a:r>
            <a:r>
              <a:rPr lang="en-GB" sz="1300">
                <a:solidFill>
                  <a:srgbClr val="008C00"/>
                </a:solidFill>
                <a:highlight>
                  <a:srgbClr val="FFFFFF"/>
                </a:highlight>
              </a:rPr>
              <a:t>32</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which GPIO we're using</a:t>
            </a:r>
            <a:endParaRPr sz="1300">
              <a:highlight>
                <a:srgbClr val="FFFFFF"/>
              </a:highlight>
            </a:endParaRPr>
          </a:p>
          <a:p>
            <a:pPr indent="0" lvl="0" marL="0" rtl="0" algn="l">
              <a:spcBef>
                <a:spcPts val="0"/>
              </a:spcBef>
              <a:spcAft>
                <a:spcPts val="0"/>
              </a:spcAft>
              <a:buNone/>
            </a:pPr>
            <a:r>
              <a:rPr b="1" lang="en-GB" sz="1300">
                <a:solidFill>
                  <a:srgbClr val="800000"/>
                </a:solidFill>
                <a:highlight>
                  <a:srgbClr val="FFFFFF"/>
                </a:highlight>
              </a:rPr>
              <a:t>static</a:t>
            </a:r>
            <a:r>
              <a:rPr lang="en-GB" sz="1300">
                <a:highlight>
                  <a:srgbClr val="FFFFFF"/>
                </a:highlight>
              </a:rPr>
              <a:t> </a:t>
            </a:r>
            <a:r>
              <a:rPr b="1" lang="en-GB" sz="1300">
                <a:solidFill>
                  <a:srgbClr val="800000"/>
                </a:solidFill>
                <a:highlight>
                  <a:srgbClr val="FFFFFF"/>
                </a:highlight>
              </a:rPr>
              <a:t>void</a:t>
            </a:r>
            <a:r>
              <a:rPr lang="en-GB" sz="1300">
                <a:highlight>
                  <a:srgbClr val="FFFFFF"/>
                </a:highlight>
              </a:rPr>
              <a:t> eventsSetup</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declare interrupts config routine</a:t>
            </a:r>
            <a:endParaRPr sz="1300">
              <a:highlight>
                <a:srgbClr val="FFFFFF"/>
              </a:highlight>
            </a:endParaRPr>
          </a:p>
          <a:p>
            <a:pPr indent="0" lvl="0" marL="0" rtl="0" algn="l">
              <a:spcBef>
                <a:spcPts val="0"/>
              </a:spcBef>
              <a:spcAft>
                <a:spcPts val="0"/>
              </a:spcAft>
              <a:buNone/>
            </a:pPr>
            <a:r>
              <a:rPr b="1" lang="en-GB" sz="1300">
                <a:solidFill>
                  <a:srgbClr val="800000"/>
                </a:solidFill>
                <a:highlight>
                  <a:srgbClr val="FFFFFF"/>
                </a:highlight>
              </a:rPr>
              <a:t>static</a:t>
            </a:r>
            <a:r>
              <a:rPr lang="en-GB" sz="1300">
                <a:highlight>
                  <a:srgbClr val="FFFFFF"/>
                </a:highlight>
              </a:rPr>
              <a:t> </a:t>
            </a:r>
            <a:r>
              <a:rPr b="1" lang="en-GB" sz="1300">
                <a:solidFill>
                  <a:srgbClr val="800000"/>
                </a:solidFill>
                <a:highlight>
                  <a:srgbClr val="FFFFFF"/>
                </a:highlight>
              </a:rPr>
              <a:t>bool</a:t>
            </a:r>
            <a:r>
              <a:rPr lang="en-GB" sz="1300">
                <a:highlight>
                  <a:srgbClr val="FFFFFF"/>
                </a:highlight>
              </a:rPr>
              <a:t> flashTheLED </a:t>
            </a:r>
            <a:r>
              <a:rPr lang="en-GB" sz="1300">
                <a:solidFill>
                  <a:srgbClr val="808030"/>
                </a:solidFill>
                <a:highlight>
                  <a:srgbClr val="FFFFFF"/>
                </a:highlight>
              </a:rPr>
              <a:t>=</a:t>
            </a:r>
            <a:r>
              <a:rPr lang="en-GB" sz="1300">
                <a:highlight>
                  <a:srgbClr val="FFFFFF"/>
                </a:highlight>
              </a:rPr>
              <a:t> </a:t>
            </a:r>
            <a:r>
              <a:rPr b="1" lang="en-GB" sz="1300">
                <a:solidFill>
                  <a:srgbClr val="800000"/>
                </a:solidFill>
                <a:highlight>
                  <a:srgbClr val="FFFFFF"/>
                </a:highlight>
              </a:rPr>
              <a:t>false</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when true flash the external LED</a:t>
            </a:r>
            <a:endParaRPr sz="1300">
              <a:highlight>
                <a:srgbClr val="FFFFFF"/>
              </a:highlight>
            </a:endParaRPr>
          </a:p>
          <a:p>
            <a:pPr indent="0" lvl="0" marL="0" rtl="0" algn="l">
              <a:spcBef>
                <a:spcPts val="0"/>
              </a:spcBef>
              <a:spcAft>
                <a:spcPts val="0"/>
              </a:spcAft>
              <a:buNone/>
            </a:pPr>
            <a:r>
              <a:t/>
            </a:r>
            <a:endParaRPr sz="1300">
              <a:highlight>
                <a:srgbClr val="FFFFFF"/>
              </a:highlight>
            </a:endParaRPr>
          </a:p>
          <a:p>
            <a:pPr indent="0" lvl="0" marL="0" rtl="0" algn="l">
              <a:spcBef>
                <a:spcPts val="0"/>
              </a:spcBef>
              <a:spcAft>
                <a:spcPts val="0"/>
              </a:spcAft>
              <a:buNone/>
            </a:pPr>
            <a:r>
              <a:rPr b="1" lang="en-GB" sz="1300">
                <a:solidFill>
                  <a:srgbClr val="800000"/>
                </a:solidFill>
                <a:highlight>
                  <a:srgbClr val="FFFFFF"/>
                </a:highlight>
              </a:rPr>
              <a:t>void</a:t>
            </a:r>
            <a:r>
              <a:rPr lang="en-GB" sz="1300">
                <a:highlight>
                  <a:srgbClr val="FFFFFF"/>
                </a:highlight>
              </a:rPr>
              <a:t> setup</a:t>
            </a:r>
            <a:r>
              <a:rPr lang="en-GB" sz="1300">
                <a:solidFill>
                  <a:srgbClr val="808030"/>
                </a:solidFill>
                <a:highlight>
                  <a:srgbClr val="FFFFFF"/>
                </a:highlight>
              </a:rPr>
              <a:t>()</a:t>
            </a:r>
            <a:r>
              <a:rPr lang="en-GB" sz="1300">
                <a:highlight>
                  <a:srgbClr val="FFFFFF"/>
                </a:highlight>
              </a:rPr>
              <a:t> </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Serial</a:t>
            </a:r>
            <a:r>
              <a:rPr lang="en-GB" sz="1300">
                <a:solidFill>
                  <a:srgbClr val="808030"/>
                </a:solidFill>
                <a:highlight>
                  <a:srgbClr val="FFFFFF"/>
                </a:highlight>
              </a:rPr>
              <a:t>.</a:t>
            </a:r>
            <a:r>
              <a:rPr lang="en-GB" sz="1300">
                <a:highlight>
                  <a:srgbClr val="FFFFFF"/>
                </a:highlight>
              </a:rPr>
              <a:t>begin</a:t>
            </a:r>
            <a:r>
              <a:rPr lang="en-GB" sz="1300">
                <a:solidFill>
                  <a:srgbClr val="808030"/>
                </a:solidFill>
                <a:highlight>
                  <a:srgbClr val="FFFFFF"/>
                </a:highlight>
              </a:rPr>
              <a:t>(</a:t>
            </a:r>
            <a:r>
              <a:rPr lang="en-GB" sz="1300">
                <a:solidFill>
                  <a:srgbClr val="008C00"/>
                </a:solidFill>
                <a:highlight>
                  <a:srgbClr val="FFFFFF"/>
                </a:highlight>
              </a:rPr>
              <a:t>115200</a:t>
            </a:r>
            <a:r>
              <a:rPr lang="en-GB" sz="1300">
                <a:solidFill>
                  <a:srgbClr val="808030"/>
                </a:solidFill>
                <a:highlight>
                  <a:srgbClr val="FFFFFF"/>
                </a:highlight>
              </a:rPr>
              <a:t>)</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a:t>
            </a:r>
            <a:r>
              <a:rPr lang="en-GB" sz="1300">
                <a:solidFill>
                  <a:srgbClr val="603000"/>
                </a:solidFill>
                <a:highlight>
                  <a:srgbClr val="FFFFFF"/>
                </a:highlight>
              </a:rPr>
              <a:t>printf</a:t>
            </a:r>
            <a:r>
              <a:rPr lang="en-GB" sz="1300">
                <a:solidFill>
                  <a:srgbClr val="808030"/>
                </a:solidFill>
                <a:highlight>
                  <a:srgbClr val="FFFFFF"/>
                </a:highlight>
              </a:rPr>
              <a:t>(</a:t>
            </a:r>
            <a:r>
              <a:rPr lang="en-GB" sz="1300">
                <a:solidFill>
                  <a:srgbClr val="800000"/>
                </a:solidFill>
                <a:highlight>
                  <a:srgbClr val="FFFFFF"/>
                </a:highlight>
              </a:rPr>
              <a:t>"</a:t>
            </a:r>
            <a:r>
              <a:rPr lang="en-GB" sz="1300">
                <a:solidFill>
                  <a:srgbClr val="0F69FF"/>
                </a:solidFill>
                <a:highlight>
                  <a:srgbClr val="FFFFFF"/>
                </a:highlight>
              </a:rPr>
              <a:t>\n</a:t>
            </a:r>
            <a:r>
              <a:rPr lang="en-GB" sz="1300">
                <a:solidFill>
                  <a:srgbClr val="0000E6"/>
                </a:solidFill>
                <a:highlight>
                  <a:srgbClr val="FFFFFF"/>
                </a:highlight>
              </a:rPr>
              <a:t>ahem, hello world</a:t>
            </a:r>
            <a:r>
              <a:rPr lang="en-GB" sz="1300">
                <a:solidFill>
                  <a:srgbClr val="0F69FF"/>
                </a:solidFill>
                <a:highlight>
                  <a:srgbClr val="FFFFFF"/>
                </a:highlight>
              </a:rPr>
              <a:t>\n</a:t>
            </a:r>
            <a:r>
              <a:rPr lang="en-GB" sz="1300">
                <a:solidFill>
                  <a:srgbClr val="800000"/>
                </a:solidFill>
                <a:highlight>
                  <a:srgbClr val="FFFFFF"/>
                </a:highlight>
              </a:rPr>
              <a:t>"</a:t>
            </a:r>
            <a:r>
              <a:rPr lang="en-GB" sz="1300">
                <a:solidFill>
                  <a:srgbClr val="808030"/>
                </a:solidFill>
                <a:highlight>
                  <a:srgbClr val="FFFFFF"/>
                </a:highlight>
              </a:rPr>
              <a:t>)</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pinMode</a:t>
            </a:r>
            <a:r>
              <a:rPr lang="en-GB" sz="1300">
                <a:solidFill>
                  <a:srgbClr val="808030"/>
                </a:solidFill>
                <a:highlight>
                  <a:srgbClr val="FFFFFF"/>
                </a:highlight>
              </a:rPr>
              <a:t>(</a:t>
            </a:r>
            <a:r>
              <a:rPr lang="en-GB" sz="1300">
                <a:highlight>
                  <a:srgbClr val="FFFFFF"/>
                </a:highlight>
              </a:rPr>
              <a:t>LED_PIN</a:t>
            </a:r>
            <a:r>
              <a:rPr lang="en-GB" sz="1300">
                <a:solidFill>
                  <a:srgbClr val="808030"/>
                </a:solidFill>
                <a:highlight>
                  <a:srgbClr val="FFFFFF"/>
                </a:highlight>
              </a:rPr>
              <a:t>,</a:t>
            </a:r>
            <a:r>
              <a:rPr lang="en-GB" sz="1300">
                <a:highlight>
                  <a:srgbClr val="FFFFFF"/>
                </a:highlight>
              </a:rPr>
              <a:t> OUTPUT</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set up LED pin as a digital output</a:t>
            </a:r>
            <a:endParaRPr sz="1300">
              <a:highlight>
                <a:srgbClr val="FFFFFF"/>
              </a:highlight>
            </a:endParaRPr>
          </a:p>
          <a:p>
            <a:pPr indent="0" lvl="0" marL="0" rtl="0" algn="l">
              <a:spcBef>
                <a:spcPts val="0"/>
              </a:spcBef>
              <a:spcAft>
                <a:spcPts val="0"/>
              </a:spcAft>
              <a:buNone/>
            </a:pPr>
            <a:r>
              <a:t/>
            </a:r>
            <a:endParaRPr sz="1300">
              <a:highlight>
                <a:srgbClr val="FFFFFF"/>
              </a:highlight>
            </a:endParaRPr>
          </a:p>
          <a:p>
            <a:pPr indent="0" lvl="0" marL="0" rtl="0" algn="l">
              <a:spcBef>
                <a:spcPts val="0"/>
              </a:spcBef>
              <a:spcAft>
                <a:spcPts val="0"/>
              </a:spcAft>
              <a:buNone/>
            </a:pPr>
            <a:r>
              <a:rPr lang="en-GB" sz="1300">
                <a:highlight>
                  <a:srgbClr val="FFFFFF"/>
                </a:highlight>
              </a:rPr>
              <a:t>  eventsSetup</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deal with interrupt events</a:t>
            </a:r>
            <a:endParaRPr sz="1300">
              <a:highlight>
                <a:srgbClr val="FFFFFF"/>
              </a:highlight>
            </a:endParaRPr>
          </a:p>
          <a:p>
            <a:pPr indent="0" lvl="0" marL="0" rtl="0" algn="l">
              <a:spcBef>
                <a:spcPts val="0"/>
              </a:spcBef>
              <a:spcAft>
                <a:spcPts val="0"/>
              </a:spcAft>
              <a:buNone/>
            </a:pP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setup</a:t>
            </a:r>
            <a:endParaRPr sz="1300">
              <a:highlight>
                <a:srgbClr val="FFFFFF"/>
              </a:highlight>
            </a:endParaRPr>
          </a:p>
          <a:p>
            <a:pPr indent="0" lvl="0" marL="0" rtl="0" algn="l">
              <a:spcBef>
                <a:spcPts val="0"/>
              </a:spcBef>
              <a:spcAft>
                <a:spcPts val="0"/>
              </a:spcAft>
              <a:buNone/>
            </a:pPr>
            <a:r>
              <a:rPr lang="en-GB" sz="1300">
                <a:highlight>
                  <a:srgbClr val="FFFFFF"/>
                </a:highlight>
              </a:rPr>
              <a:t>…</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3"/>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TimingThing (3):</a:t>
            </a:r>
            <a:br>
              <a:rPr lang="en-GB"/>
            </a:br>
            <a:r>
              <a:rPr lang="en-GB"/>
              <a:t>interrupt on switch, delay on LED</a:t>
            </a:r>
            <a:endParaRPr/>
          </a:p>
        </p:txBody>
      </p:sp>
      <p:sp>
        <p:nvSpPr>
          <p:cNvPr id="159" name="Google Shape;159;p33"/>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0" name="Google Shape;160;p33"/>
          <p:cNvSpPr txBox="1"/>
          <p:nvPr>
            <p:ph idx="1" type="body"/>
          </p:nvPr>
        </p:nvSpPr>
        <p:spPr>
          <a:xfrm>
            <a:off x="630600" y="1024525"/>
            <a:ext cx="8340000" cy="264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rgbClr val="800000"/>
                </a:solidFill>
                <a:highlight>
                  <a:srgbClr val="FFFFFF"/>
                </a:highlight>
              </a:rPr>
              <a:t>void</a:t>
            </a:r>
            <a:r>
              <a:rPr lang="en-GB" sz="1300">
                <a:highlight>
                  <a:srgbClr val="FFFFFF"/>
                </a:highlight>
              </a:rPr>
              <a:t> loop</a:t>
            </a:r>
            <a:r>
              <a:rPr lang="en-GB" sz="1300">
                <a:solidFill>
                  <a:srgbClr val="808030"/>
                </a:solidFill>
                <a:highlight>
                  <a:srgbClr val="FFFFFF"/>
                </a:highlight>
              </a:rPr>
              <a:t>()</a:t>
            </a:r>
            <a:r>
              <a:rPr lang="en-GB" sz="1300">
                <a:highlight>
                  <a:srgbClr val="FFFFFF"/>
                </a:highlight>
              </a:rPr>
              <a:t> </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a:t>
            </a:r>
            <a:r>
              <a:rPr b="1" lang="en-GB" sz="1300">
                <a:solidFill>
                  <a:srgbClr val="800000"/>
                </a:solidFill>
                <a:highlight>
                  <a:srgbClr val="FFFFFF"/>
                </a:highlight>
              </a:rPr>
              <a:t>if</a:t>
            </a:r>
            <a:r>
              <a:rPr lang="en-GB" sz="1300">
                <a:solidFill>
                  <a:srgbClr val="808030"/>
                </a:solidFill>
                <a:highlight>
                  <a:srgbClr val="FFFFFF"/>
                </a:highlight>
              </a:rPr>
              <a:t>(</a:t>
            </a:r>
            <a:r>
              <a:rPr lang="en-GB" sz="1300">
                <a:highlight>
                  <a:srgbClr val="FFFFFF"/>
                </a:highlight>
              </a:rPr>
              <a:t>flashTheLED</a:t>
            </a:r>
            <a:r>
              <a:rPr lang="en-GB" sz="1300">
                <a:solidFill>
                  <a:srgbClr val="808030"/>
                </a:solidFill>
                <a:highlight>
                  <a:srgbClr val="FFFFFF"/>
                </a:highlight>
              </a:rPr>
              <a:t>)</a:t>
            </a:r>
            <a:r>
              <a:rPr lang="en-GB" sz="1300">
                <a:highlight>
                  <a:srgbClr val="FFFFFF"/>
                </a:highlight>
              </a:rPr>
              <a:t> </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Serial</a:t>
            </a:r>
            <a:r>
              <a:rPr lang="en-GB" sz="1300">
                <a:solidFill>
                  <a:srgbClr val="808030"/>
                </a:solidFill>
                <a:highlight>
                  <a:srgbClr val="FFFFFF"/>
                </a:highlight>
              </a:rPr>
              <a:t>.</a:t>
            </a:r>
            <a:r>
              <a:rPr lang="en-GB" sz="1300">
                <a:highlight>
                  <a:srgbClr val="FFFFFF"/>
                </a:highlight>
              </a:rPr>
              <a:t>printf</a:t>
            </a:r>
            <a:r>
              <a:rPr lang="en-GB" sz="1300">
                <a:solidFill>
                  <a:srgbClr val="808030"/>
                </a:solidFill>
                <a:highlight>
                  <a:srgbClr val="FFFFFF"/>
                </a:highlight>
              </a:rPr>
              <a:t>(</a:t>
            </a:r>
            <a:r>
              <a:rPr lang="en-GB" sz="1300">
                <a:solidFill>
                  <a:srgbClr val="800000"/>
                </a:solidFill>
                <a:highlight>
                  <a:srgbClr val="FFFFFF"/>
                </a:highlight>
              </a:rPr>
              <a:t>"</a:t>
            </a:r>
            <a:r>
              <a:rPr lang="en-GB" sz="1300">
                <a:solidFill>
                  <a:srgbClr val="0000E6"/>
                </a:solidFill>
                <a:highlight>
                  <a:srgbClr val="FFFFFF"/>
                </a:highlight>
              </a:rPr>
              <a:t>setting 32 HIGH...</a:t>
            </a:r>
            <a:r>
              <a:rPr lang="en-GB" sz="1300">
                <a:solidFill>
                  <a:srgbClr val="0F69FF"/>
                </a:solidFill>
                <a:highlight>
                  <a:srgbClr val="FFFFFF"/>
                </a:highlight>
              </a:rPr>
              <a:t>\n</a:t>
            </a:r>
            <a:r>
              <a:rPr lang="en-GB" sz="1300">
                <a:solidFill>
                  <a:srgbClr val="800000"/>
                </a:solidFill>
                <a:highlight>
                  <a:srgbClr val="FFFFFF"/>
                </a:highlight>
              </a:rPr>
              <a:t>"</a:t>
            </a:r>
            <a:r>
              <a:rPr lang="en-GB" sz="1300">
                <a:solidFill>
                  <a:srgbClr val="808030"/>
                </a:solidFill>
                <a:highlight>
                  <a:srgbClr val="FFFFFF"/>
                </a:highlight>
              </a:rPr>
              <a:t>)</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digitalWrite</a:t>
            </a:r>
            <a:r>
              <a:rPr lang="en-GB" sz="1300">
                <a:solidFill>
                  <a:srgbClr val="808030"/>
                </a:solidFill>
                <a:highlight>
                  <a:srgbClr val="FFFFFF"/>
                </a:highlight>
              </a:rPr>
              <a:t>(</a:t>
            </a:r>
            <a:r>
              <a:rPr lang="en-GB" sz="1300">
                <a:highlight>
                  <a:srgbClr val="FFFFFF"/>
                </a:highlight>
              </a:rPr>
              <a:t>LED_PIN</a:t>
            </a:r>
            <a:r>
              <a:rPr lang="en-GB" sz="1300">
                <a:solidFill>
                  <a:srgbClr val="808030"/>
                </a:solidFill>
                <a:highlight>
                  <a:srgbClr val="FFFFFF"/>
                </a:highlight>
              </a:rPr>
              <a:t>,</a:t>
            </a:r>
            <a:r>
              <a:rPr lang="en-GB" sz="1300">
                <a:highlight>
                  <a:srgbClr val="FFFFFF"/>
                </a:highlight>
              </a:rPr>
              <a:t> HIGH</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on...</a:t>
            </a:r>
            <a:endParaRPr sz="1300">
              <a:highlight>
                <a:srgbClr val="FFFFFF"/>
              </a:highlight>
            </a:endParaRPr>
          </a:p>
          <a:p>
            <a:pPr indent="0" lvl="0" marL="0" rtl="0" algn="l">
              <a:spcBef>
                <a:spcPts val="0"/>
              </a:spcBef>
              <a:spcAft>
                <a:spcPts val="0"/>
              </a:spcAft>
              <a:buNone/>
            </a:pPr>
            <a:r>
              <a:rPr lang="en-GB" sz="1300">
                <a:highlight>
                  <a:srgbClr val="FFFFFF"/>
                </a:highlight>
              </a:rPr>
              <a:t>    delay</a:t>
            </a:r>
            <a:r>
              <a:rPr lang="en-GB" sz="1300">
                <a:solidFill>
                  <a:srgbClr val="808030"/>
                </a:solidFill>
                <a:highlight>
                  <a:srgbClr val="FFFFFF"/>
                </a:highlight>
              </a:rPr>
              <a:t>(</a:t>
            </a:r>
            <a:r>
              <a:rPr lang="en-GB" sz="1300">
                <a:solidFill>
                  <a:srgbClr val="008C00"/>
                </a:solidFill>
                <a:highlight>
                  <a:srgbClr val="FFFFFF"/>
                </a:highlight>
              </a:rPr>
              <a:t>500</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how would you avoid this?</a:t>
            </a:r>
            <a:endParaRPr sz="1300">
              <a:highlight>
                <a:srgbClr val="FFFFFF"/>
              </a:highlight>
            </a:endParaRPr>
          </a:p>
          <a:p>
            <a:pPr indent="0" lvl="0" marL="0" rtl="0" algn="l">
              <a:spcBef>
                <a:spcPts val="0"/>
              </a:spcBef>
              <a:spcAft>
                <a:spcPts val="0"/>
              </a:spcAft>
              <a:buNone/>
            </a:pPr>
            <a:r>
              <a:rPr lang="en-GB" sz="1300">
                <a:highlight>
                  <a:srgbClr val="FFFFFF"/>
                </a:highlight>
              </a:rPr>
              <a:t>    Serial</a:t>
            </a:r>
            <a:r>
              <a:rPr lang="en-GB" sz="1300">
                <a:solidFill>
                  <a:srgbClr val="808030"/>
                </a:solidFill>
                <a:highlight>
                  <a:srgbClr val="FFFFFF"/>
                </a:highlight>
              </a:rPr>
              <a:t>.</a:t>
            </a:r>
            <a:r>
              <a:rPr lang="en-GB" sz="1300">
                <a:highlight>
                  <a:srgbClr val="FFFFFF"/>
                </a:highlight>
              </a:rPr>
              <a:t>printf</a:t>
            </a:r>
            <a:r>
              <a:rPr lang="en-GB" sz="1300">
                <a:solidFill>
                  <a:srgbClr val="808030"/>
                </a:solidFill>
                <a:highlight>
                  <a:srgbClr val="FFFFFF"/>
                </a:highlight>
              </a:rPr>
              <a:t>(</a:t>
            </a:r>
            <a:r>
              <a:rPr lang="en-GB" sz="1300">
                <a:solidFill>
                  <a:srgbClr val="800000"/>
                </a:solidFill>
                <a:highlight>
                  <a:srgbClr val="FFFFFF"/>
                </a:highlight>
              </a:rPr>
              <a:t>"</a:t>
            </a:r>
            <a:r>
              <a:rPr lang="en-GB" sz="1300">
                <a:solidFill>
                  <a:srgbClr val="0000E6"/>
                </a:solidFill>
                <a:highlight>
                  <a:srgbClr val="FFFFFF"/>
                </a:highlight>
              </a:rPr>
              <a:t>setting 32 LOW...</a:t>
            </a:r>
            <a:r>
              <a:rPr lang="en-GB" sz="1300">
                <a:solidFill>
                  <a:srgbClr val="0F69FF"/>
                </a:solidFill>
                <a:highlight>
                  <a:srgbClr val="FFFFFF"/>
                </a:highlight>
              </a:rPr>
              <a:t>\n</a:t>
            </a:r>
            <a:r>
              <a:rPr lang="en-GB" sz="1300">
                <a:solidFill>
                  <a:srgbClr val="800000"/>
                </a:solidFill>
                <a:highlight>
                  <a:srgbClr val="FFFFFF"/>
                </a:highlight>
              </a:rPr>
              <a:t>"</a:t>
            </a:r>
            <a:r>
              <a:rPr lang="en-GB" sz="1300">
                <a:solidFill>
                  <a:srgbClr val="808030"/>
                </a:solidFill>
                <a:highlight>
                  <a:srgbClr val="FFFFFF"/>
                </a:highlight>
              </a:rPr>
              <a:t>)</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digitalWrite</a:t>
            </a:r>
            <a:r>
              <a:rPr lang="en-GB" sz="1300">
                <a:solidFill>
                  <a:srgbClr val="808030"/>
                </a:solidFill>
                <a:highlight>
                  <a:srgbClr val="FFFFFF"/>
                </a:highlight>
              </a:rPr>
              <a:t>(</a:t>
            </a:r>
            <a:r>
              <a:rPr lang="en-GB" sz="1300">
                <a:highlight>
                  <a:srgbClr val="FFFFFF"/>
                </a:highlight>
              </a:rPr>
              <a:t>LED_PIN</a:t>
            </a:r>
            <a:r>
              <a:rPr lang="en-GB" sz="1300">
                <a:solidFill>
                  <a:srgbClr val="808030"/>
                </a:solidFill>
                <a:highlight>
                  <a:srgbClr val="FFFFFF"/>
                </a:highlight>
              </a:rPr>
              <a:t>,</a:t>
            </a:r>
            <a:r>
              <a:rPr lang="en-GB" sz="1300">
                <a:highlight>
                  <a:srgbClr val="FFFFFF"/>
                </a:highlight>
              </a:rPr>
              <a:t> LOW</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off...</a:t>
            </a:r>
            <a:endParaRPr sz="1300">
              <a:highlight>
                <a:srgbClr val="FFFFFF"/>
              </a:highlight>
            </a:endParaRPr>
          </a:p>
          <a:p>
            <a:pPr indent="0" lvl="0" marL="0" rtl="0" algn="l">
              <a:spcBef>
                <a:spcPts val="0"/>
              </a:spcBef>
              <a:spcAft>
                <a:spcPts val="0"/>
              </a:spcAft>
              <a:buNone/>
            </a:pPr>
            <a:r>
              <a:rPr lang="en-GB" sz="1300">
                <a:highlight>
                  <a:srgbClr val="FFFFFF"/>
                </a:highlight>
              </a:rPr>
              <a:t>    delay</a:t>
            </a:r>
            <a:r>
              <a:rPr lang="en-GB" sz="1300">
                <a:solidFill>
                  <a:srgbClr val="808030"/>
                </a:solidFill>
                <a:highlight>
                  <a:srgbClr val="FFFFFF"/>
                </a:highlight>
              </a:rPr>
              <a:t>(</a:t>
            </a:r>
            <a:r>
              <a:rPr lang="en-GB" sz="1300">
                <a:solidFill>
                  <a:srgbClr val="008C00"/>
                </a:solidFill>
                <a:highlight>
                  <a:srgbClr val="FFFFFF"/>
                </a:highlight>
              </a:rPr>
              <a:t>500</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hint: see chapter 7 on timers :)</a:t>
            </a:r>
            <a:endParaRPr sz="1300">
              <a:highlight>
                <a:srgbClr val="FFFFFF"/>
              </a:highlight>
            </a:endParaRPr>
          </a:p>
          <a:p>
            <a:pPr indent="0" lvl="0" marL="0" rtl="0" algn="l">
              <a:spcBef>
                <a:spcPts val="0"/>
              </a:spcBef>
              <a:spcAft>
                <a:spcPts val="0"/>
              </a:spcAft>
              <a:buNone/>
            </a:pPr>
            <a:r>
              <a:rPr lang="en-GB" sz="1300">
                <a:highlight>
                  <a:srgbClr val="FFFFFF"/>
                </a:highlight>
              </a:rPr>
              <a:t>  </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loop</a:t>
            </a:r>
            <a:endParaRPr sz="1300">
              <a:highlight>
                <a:srgbClr val="FFFFFF"/>
              </a:highlight>
            </a:endParaRPr>
          </a:p>
          <a:p>
            <a:pPr indent="0" lvl="0" marL="0" rtl="0" algn="l">
              <a:spcBef>
                <a:spcPts val="0"/>
              </a:spcBef>
              <a:spcAft>
                <a:spcPts val="0"/>
              </a:spcAft>
              <a:buNone/>
            </a:pPr>
            <a:r>
              <a:t/>
            </a:r>
            <a:endParaRPr sz="1300">
              <a:highlight>
                <a:srgbClr val="FFFFFF"/>
              </a:highlight>
            </a:endParaRPr>
          </a:p>
          <a:p>
            <a:pPr indent="0" lvl="0" marL="0" rtl="0" algn="l">
              <a:spcBef>
                <a:spcPts val="0"/>
              </a:spcBef>
              <a:spcAft>
                <a:spcPts val="0"/>
              </a:spcAft>
              <a:buNone/>
            </a:pPr>
            <a:r>
              <a:rPr lang="en-GB" sz="1300">
                <a:solidFill>
                  <a:srgbClr val="696969"/>
                </a:solidFill>
                <a:highlight>
                  <a:srgbClr val="FFFFFF"/>
                </a:highlight>
              </a:rPr>
              <a:t>// gpio interrupt events</a:t>
            </a:r>
            <a:endParaRPr sz="1300">
              <a:highlight>
                <a:srgbClr val="FFFFFF"/>
              </a:highlight>
            </a:endParaRPr>
          </a:p>
          <a:p>
            <a:pPr indent="0" lvl="0" marL="0" rtl="0" algn="l">
              <a:spcBef>
                <a:spcPts val="0"/>
              </a:spcBef>
              <a:spcAft>
                <a:spcPts val="0"/>
              </a:spcAft>
              <a:buNone/>
            </a:pPr>
            <a:r>
              <a:rPr b="1" lang="en-GB" sz="1300">
                <a:solidFill>
                  <a:srgbClr val="800000"/>
                </a:solidFill>
                <a:highlight>
                  <a:srgbClr val="FFFFFF"/>
                </a:highlight>
              </a:rPr>
              <a:t>static</a:t>
            </a:r>
            <a:r>
              <a:rPr lang="en-GB" sz="1300">
                <a:highlight>
                  <a:srgbClr val="FFFFFF"/>
                </a:highlight>
              </a:rPr>
              <a:t> </a:t>
            </a:r>
            <a:r>
              <a:rPr b="1" lang="en-GB" sz="1300">
                <a:solidFill>
                  <a:srgbClr val="800000"/>
                </a:solidFill>
                <a:highlight>
                  <a:srgbClr val="FFFFFF"/>
                </a:highlight>
              </a:rPr>
              <a:t>void</a:t>
            </a:r>
            <a:r>
              <a:rPr lang="en-GB" sz="1300">
                <a:highlight>
                  <a:srgbClr val="FFFFFF"/>
                </a:highlight>
              </a:rPr>
              <a:t> IRAM_ATTR gpio_isr_handler</a:t>
            </a:r>
            <a:r>
              <a:rPr lang="en-GB" sz="1300">
                <a:solidFill>
                  <a:srgbClr val="808030"/>
                </a:solidFill>
                <a:highlight>
                  <a:srgbClr val="FFFFFF"/>
                </a:highlight>
              </a:rPr>
              <a:t>(</a:t>
            </a:r>
            <a:r>
              <a:rPr b="1" lang="en-GB" sz="1300">
                <a:solidFill>
                  <a:srgbClr val="800000"/>
                </a:solidFill>
                <a:highlight>
                  <a:srgbClr val="FFFFFF"/>
                </a:highlight>
              </a:rPr>
              <a:t>void</a:t>
            </a:r>
            <a:r>
              <a:rPr lang="en-GB" sz="1300">
                <a:highlight>
                  <a:srgbClr val="FFFFFF"/>
                </a:highlight>
              </a:rPr>
              <a:t> </a:t>
            </a:r>
            <a:r>
              <a:rPr lang="en-GB" sz="1300">
                <a:solidFill>
                  <a:srgbClr val="808030"/>
                </a:solidFill>
                <a:highlight>
                  <a:srgbClr val="FFFFFF"/>
                </a:highlight>
              </a:rPr>
              <a:t>*</a:t>
            </a:r>
            <a:r>
              <a:rPr lang="en-GB" sz="1300">
                <a:solidFill>
                  <a:srgbClr val="400000"/>
                </a:solidFill>
                <a:highlight>
                  <a:srgbClr val="FFFFFF"/>
                </a:highlight>
              </a:rPr>
              <a:t>arg</a:t>
            </a:r>
            <a:r>
              <a:rPr lang="en-GB" sz="1300">
                <a:solidFill>
                  <a:srgbClr val="808030"/>
                </a:solidFill>
                <a:highlight>
                  <a:srgbClr val="FFFFFF"/>
                </a:highlight>
              </a:rPr>
              <a:t>)</a:t>
            </a:r>
            <a:r>
              <a:rPr lang="en-GB" sz="1300">
                <a:highlight>
                  <a:srgbClr val="FFFFFF"/>
                </a:highlight>
              </a:rPr>
              <a:t> </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switch press handler</a:t>
            </a:r>
            <a:endParaRPr sz="1300">
              <a:highlight>
                <a:srgbClr val="FFFFFF"/>
              </a:highlight>
            </a:endParaRPr>
          </a:p>
          <a:p>
            <a:pPr indent="0" lvl="0" marL="0" rtl="0" algn="l">
              <a:spcBef>
                <a:spcPts val="0"/>
              </a:spcBef>
              <a:spcAft>
                <a:spcPts val="0"/>
              </a:spcAft>
              <a:buNone/>
            </a:pPr>
            <a:r>
              <a:rPr lang="en-GB" sz="1300">
                <a:highlight>
                  <a:srgbClr val="FFFFFF"/>
                </a:highlight>
              </a:rPr>
              <a:t>  uint32_t gpio_num </a:t>
            </a:r>
            <a:r>
              <a:rPr lang="en-GB" sz="1300">
                <a:solidFill>
                  <a:srgbClr val="808030"/>
                </a:solidFill>
                <a:highlight>
                  <a:srgbClr val="FFFFFF"/>
                </a:highlight>
              </a:rPr>
              <a:t>=</a:t>
            </a:r>
            <a:r>
              <a:rPr lang="en-GB" sz="1300">
                <a:highlight>
                  <a:srgbClr val="FFFFFF"/>
                </a:highlight>
              </a:rPr>
              <a:t> </a:t>
            </a:r>
            <a:r>
              <a:rPr lang="en-GB" sz="1300">
                <a:solidFill>
                  <a:srgbClr val="808030"/>
                </a:solidFill>
                <a:highlight>
                  <a:srgbClr val="FFFFFF"/>
                </a:highlight>
              </a:rPr>
              <a:t>(</a:t>
            </a:r>
            <a:r>
              <a:rPr lang="en-GB" sz="1300">
                <a:highlight>
                  <a:srgbClr val="FFFFFF"/>
                </a:highlight>
              </a:rPr>
              <a:t>uint32_t</a:t>
            </a:r>
            <a:r>
              <a:rPr lang="en-GB" sz="1300">
                <a:solidFill>
                  <a:srgbClr val="808030"/>
                </a:solidFill>
                <a:highlight>
                  <a:srgbClr val="FFFFFF"/>
                </a:highlight>
              </a:rPr>
              <a:t>)</a:t>
            </a:r>
            <a:r>
              <a:rPr lang="en-GB" sz="1300">
                <a:highlight>
                  <a:srgbClr val="FFFFFF"/>
                </a:highlight>
              </a:rPr>
              <a:t> </a:t>
            </a:r>
            <a:r>
              <a:rPr lang="en-GB" sz="1300">
                <a:solidFill>
                  <a:srgbClr val="400000"/>
                </a:solidFill>
                <a:highlight>
                  <a:srgbClr val="FFFFFF"/>
                </a:highlight>
              </a:rPr>
              <a:t>arg</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flashTheLED </a:t>
            </a:r>
            <a:r>
              <a:rPr lang="en-GB" sz="1300">
                <a:solidFill>
                  <a:srgbClr val="808030"/>
                </a:solidFill>
                <a:highlight>
                  <a:srgbClr val="FFFFFF"/>
                </a:highlight>
              </a:rPr>
              <a:t>=</a:t>
            </a:r>
            <a:r>
              <a:rPr lang="en-GB" sz="1300">
                <a:highlight>
                  <a:srgbClr val="FFFFFF"/>
                </a:highlight>
              </a:rPr>
              <a:t> </a:t>
            </a:r>
            <a:r>
              <a:rPr lang="en-GB" sz="1300">
                <a:solidFill>
                  <a:srgbClr val="808030"/>
                </a:solidFill>
                <a:highlight>
                  <a:srgbClr val="FFFFFF"/>
                </a:highlight>
              </a:rPr>
              <a:t>!</a:t>
            </a:r>
            <a:r>
              <a:rPr lang="en-GB" sz="1300">
                <a:highlight>
                  <a:srgbClr val="FFFFFF"/>
                </a:highlight>
              </a:rPr>
              <a:t> flashTheLED</a:t>
            </a:r>
            <a:r>
              <a:rPr lang="en-GB" sz="1300">
                <a:solidFill>
                  <a:srgbClr val="800080"/>
                </a:solidFill>
                <a:highlight>
                  <a:srgbClr val="FFFFFF"/>
                </a:highlight>
              </a:rPr>
              <a:t>; </a:t>
            </a:r>
            <a:r>
              <a:rPr lang="en-GB" sz="1300">
                <a:highlight>
                  <a:schemeClr val="lt1"/>
                </a:highlight>
              </a:rPr>
              <a:t> </a:t>
            </a:r>
            <a:r>
              <a:rPr lang="en-GB" sz="1300">
                <a:solidFill>
                  <a:srgbClr val="696969"/>
                </a:solidFill>
                <a:highlight>
                  <a:schemeClr val="lt1"/>
                </a:highlight>
              </a:rPr>
              <a:t>// toggle LED flash state</a:t>
            </a:r>
            <a:endParaRPr sz="1300">
              <a:highlight>
                <a:srgbClr val="FFFFFF"/>
              </a:highlight>
            </a:endParaRPr>
          </a:p>
          <a:p>
            <a:pPr indent="0" lvl="0" marL="0" rtl="0" algn="l">
              <a:spcBef>
                <a:spcPts val="0"/>
              </a:spcBef>
              <a:spcAft>
                <a:spcPts val="0"/>
              </a:spcAft>
              <a:buNone/>
            </a:pP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4"/>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TimingThing (4)</a:t>
            </a:r>
            <a:endParaRPr/>
          </a:p>
        </p:txBody>
      </p:sp>
      <p:sp>
        <p:nvSpPr>
          <p:cNvPr id="166" name="Google Shape;166;p34"/>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67" name="Google Shape;167;p34"/>
          <p:cNvSpPr txBox="1"/>
          <p:nvPr>
            <p:ph idx="1" type="body"/>
          </p:nvPr>
        </p:nvSpPr>
        <p:spPr>
          <a:xfrm>
            <a:off x="997500" y="726475"/>
            <a:ext cx="8340000" cy="264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rgbClr val="800000"/>
                </a:solidFill>
                <a:highlight>
                  <a:srgbClr val="FFFFFF"/>
                </a:highlight>
              </a:rPr>
              <a:t>static</a:t>
            </a:r>
            <a:r>
              <a:rPr lang="en-GB" sz="1300">
                <a:highlight>
                  <a:srgbClr val="FFFFFF"/>
                </a:highlight>
              </a:rPr>
              <a:t> </a:t>
            </a:r>
            <a:r>
              <a:rPr b="1" lang="en-GB" sz="1300">
                <a:solidFill>
                  <a:srgbClr val="800000"/>
                </a:solidFill>
                <a:highlight>
                  <a:srgbClr val="FFFFFF"/>
                </a:highlight>
              </a:rPr>
              <a:t>void</a:t>
            </a:r>
            <a:r>
              <a:rPr lang="en-GB" sz="1300">
                <a:highlight>
                  <a:srgbClr val="FFFFFF"/>
                </a:highlight>
              </a:rPr>
              <a:t> eventsSetup</a:t>
            </a:r>
            <a:r>
              <a:rPr lang="en-GB" sz="1300">
                <a:solidFill>
                  <a:srgbClr val="808030"/>
                </a:solidFill>
                <a:highlight>
                  <a:srgbClr val="FFFFFF"/>
                </a:highlight>
              </a:rPr>
              <a:t>()</a:t>
            </a:r>
            <a:r>
              <a:rPr lang="en-GB" sz="1300">
                <a:highlight>
                  <a:srgbClr val="FFFFFF"/>
                </a:highlight>
              </a:rPr>
              <a:t> </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highlight>
                  <a:srgbClr val="FFFFFF"/>
                </a:highlight>
              </a:rPr>
              <a:t>  </a:t>
            </a:r>
            <a:r>
              <a:rPr lang="en-GB" sz="1300">
                <a:solidFill>
                  <a:srgbClr val="696969"/>
                </a:solidFill>
                <a:highlight>
                  <a:srgbClr val="FFFFFF"/>
                </a:highlight>
              </a:rPr>
              <a:t>// configure the switch pin (INPUT, falling edge interrupts)</a:t>
            </a:r>
            <a:endParaRPr sz="1300">
              <a:solidFill>
                <a:srgbClr val="696969"/>
              </a:solidFill>
              <a:highlight>
                <a:srgbClr val="FFFFFF"/>
              </a:highlight>
            </a:endParaRPr>
          </a:p>
          <a:p>
            <a:pPr indent="0" lvl="0" marL="0" rtl="0" algn="l">
              <a:spcBef>
                <a:spcPts val="0"/>
              </a:spcBef>
              <a:spcAft>
                <a:spcPts val="0"/>
              </a:spcAft>
              <a:buNone/>
            </a:pPr>
            <a:r>
              <a:rPr lang="en-GB" sz="1300">
                <a:solidFill>
                  <a:srgbClr val="696969"/>
                </a:solidFill>
                <a:highlight>
                  <a:srgbClr val="FFFFFF"/>
                </a:highlight>
              </a:rPr>
              <a:t>  // uses the </a:t>
            </a:r>
            <a:r>
              <a:rPr lang="en-GB" sz="1300" u="sng">
                <a:solidFill>
                  <a:schemeClr val="hlink"/>
                </a:solidFill>
                <a:highlight>
                  <a:srgbClr val="FFFFFF"/>
                </a:highlight>
                <a:hlinkClick r:id="rId3"/>
              </a:rPr>
              <a:t>IDF API</a:t>
            </a:r>
            <a:r>
              <a:rPr lang="en-GB" sz="1300">
                <a:solidFill>
                  <a:srgbClr val="696969"/>
                </a:solidFill>
                <a:highlight>
                  <a:srgbClr val="FFFFFF"/>
                </a:highlight>
              </a:rPr>
              <a:t> to configure GPIO</a:t>
            </a:r>
            <a:endParaRPr sz="1300">
              <a:highlight>
                <a:srgbClr val="FFFFFF"/>
              </a:highlight>
            </a:endParaRPr>
          </a:p>
          <a:p>
            <a:pPr indent="0" lvl="0" marL="0" rtl="0" algn="l">
              <a:spcBef>
                <a:spcPts val="0"/>
              </a:spcBef>
              <a:spcAft>
                <a:spcPts val="0"/>
              </a:spcAft>
              <a:buNone/>
            </a:pPr>
            <a:r>
              <a:rPr lang="en-GB" sz="1300">
                <a:highlight>
                  <a:srgbClr val="FFFFFF"/>
                </a:highlight>
              </a:rPr>
              <a:t>  gpio_config_t io_conf</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params for switches</a:t>
            </a:r>
            <a:endParaRPr sz="1300">
              <a:highlight>
                <a:srgbClr val="FFFFFF"/>
              </a:highlight>
            </a:endParaRPr>
          </a:p>
          <a:p>
            <a:pPr indent="0" lvl="0" marL="0" rtl="0" algn="l">
              <a:spcBef>
                <a:spcPts val="0"/>
              </a:spcBef>
              <a:spcAft>
                <a:spcPts val="0"/>
              </a:spcAft>
              <a:buNone/>
            </a:pPr>
            <a:r>
              <a:rPr lang="en-GB" sz="1300">
                <a:highlight>
                  <a:srgbClr val="FFFFFF"/>
                </a:highlight>
              </a:rPr>
              <a:t>  io_conf</a:t>
            </a:r>
            <a:r>
              <a:rPr lang="en-GB" sz="1300">
                <a:solidFill>
                  <a:srgbClr val="808030"/>
                </a:solidFill>
                <a:highlight>
                  <a:srgbClr val="FFFFFF"/>
                </a:highlight>
              </a:rPr>
              <a:t>.</a:t>
            </a:r>
            <a:r>
              <a:rPr lang="en-GB" sz="1300">
                <a:highlight>
                  <a:srgbClr val="FFFFFF"/>
                </a:highlight>
              </a:rPr>
              <a:t>mode </a:t>
            </a:r>
            <a:r>
              <a:rPr lang="en-GB" sz="1300">
                <a:solidFill>
                  <a:srgbClr val="808030"/>
                </a:solidFill>
                <a:highlight>
                  <a:srgbClr val="FFFFFF"/>
                </a:highlight>
              </a:rPr>
              <a:t>=</a:t>
            </a:r>
            <a:r>
              <a:rPr lang="en-GB" sz="1300">
                <a:highlight>
                  <a:srgbClr val="FFFFFF"/>
                </a:highlight>
              </a:rPr>
              <a:t> GPIO_MODE_INPUT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set as input mode</a:t>
            </a:r>
            <a:endParaRPr sz="1300">
              <a:highlight>
                <a:srgbClr val="FFFFFF"/>
              </a:highlight>
            </a:endParaRPr>
          </a:p>
          <a:p>
            <a:pPr indent="0" lvl="0" marL="0" rtl="0" algn="l">
              <a:spcBef>
                <a:spcPts val="0"/>
              </a:spcBef>
              <a:spcAft>
                <a:spcPts val="0"/>
              </a:spcAft>
              <a:buNone/>
            </a:pPr>
            <a:r>
              <a:rPr lang="en-GB" sz="1300">
                <a:highlight>
                  <a:srgbClr val="FFFFFF"/>
                </a:highlight>
              </a:rPr>
              <a:t>  io_conf</a:t>
            </a:r>
            <a:r>
              <a:rPr lang="en-GB" sz="1300">
                <a:solidFill>
                  <a:srgbClr val="808030"/>
                </a:solidFill>
                <a:highlight>
                  <a:srgbClr val="FFFFFF"/>
                </a:highlight>
              </a:rPr>
              <a:t>.</a:t>
            </a:r>
            <a:r>
              <a:rPr lang="en-GB" sz="1300">
                <a:highlight>
                  <a:srgbClr val="FFFFFF"/>
                </a:highlight>
              </a:rPr>
              <a:t>pin_bit_mask </a:t>
            </a:r>
            <a:r>
              <a:rPr lang="en-GB" sz="1300">
                <a:solidFill>
                  <a:srgbClr val="808030"/>
                </a:solidFill>
                <a:highlight>
                  <a:srgbClr val="FFFFFF"/>
                </a:highlight>
              </a:rPr>
              <a:t>=</a:t>
            </a:r>
            <a:r>
              <a:rPr lang="en-GB" sz="1300">
                <a:highlight>
                  <a:srgbClr val="FFFFFF"/>
                </a:highlight>
              </a:rPr>
              <a:t> </a:t>
            </a:r>
            <a:r>
              <a:rPr lang="en-GB" sz="1300">
                <a:solidFill>
                  <a:srgbClr val="008C00"/>
                </a:solidFill>
                <a:highlight>
                  <a:srgbClr val="FFFFFF"/>
                </a:highlight>
              </a:rPr>
              <a:t>1</a:t>
            </a:r>
            <a:r>
              <a:rPr lang="en-GB" sz="1300">
                <a:solidFill>
                  <a:srgbClr val="006600"/>
                </a:solidFill>
                <a:highlight>
                  <a:srgbClr val="FFFFFF"/>
                </a:highlight>
              </a:rPr>
              <a:t>ULL</a:t>
            </a:r>
            <a:r>
              <a:rPr lang="en-GB" sz="1300">
                <a:highlight>
                  <a:srgbClr val="FFFFFF"/>
                </a:highlight>
              </a:rPr>
              <a:t> </a:t>
            </a:r>
            <a:r>
              <a:rPr lang="en-GB" sz="1300">
                <a:solidFill>
                  <a:srgbClr val="808030"/>
                </a:solidFill>
                <a:highlight>
                  <a:srgbClr val="FFFFFF"/>
                </a:highlight>
              </a:rPr>
              <a:t>&lt;&lt;</a:t>
            </a:r>
            <a:r>
              <a:rPr lang="en-GB" sz="1300">
                <a:highlight>
                  <a:srgbClr val="FFFFFF"/>
                </a:highlight>
              </a:rPr>
              <a:t> SWITCH_PIN</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bit mask of pin(s) to set</a:t>
            </a:r>
            <a:endParaRPr sz="1300">
              <a:highlight>
                <a:srgbClr val="FFFFFF"/>
              </a:highlight>
            </a:endParaRPr>
          </a:p>
          <a:p>
            <a:pPr indent="0" lvl="0" marL="0" rtl="0" algn="l">
              <a:spcBef>
                <a:spcPts val="0"/>
              </a:spcBef>
              <a:spcAft>
                <a:spcPts val="0"/>
              </a:spcAft>
              <a:buNone/>
            </a:pPr>
            <a:r>
              <a:rPr lang="en-GB" sz="1300">
                <a:highlight>
                  <a:srgbClr val="FFFFFF"/>
                </a:highlight>
              </a:rPr>
              <a:t>  io_conf</a:t>
            </a:r>
            <a:r>
              <a:rPr lang="en-GB" sz="1300">
                <a:solidFill>
                  <a:srgbClr val="808030"/>
                </a:solidFill>
                <a:highlight>
                  <a:srgbClr val="FFFFFF"/>
                </a:highlight>
              </a:rPr>
              <a:t>.</a:t>
            </a:r>
            <a:r>
              <a:rPr lang="en-GB" sz="1300">
                <a:highlight>
                  <a:srgbClr val="FFFFFF"/>
                </a:highlight>
              </a:rPr>
              <a:t>pull_up_en </a:t>
            </a:r>
            <a:r>
              <a:rPr lang="en-GB" sz="1300">
                <a:solidFill>
                  <a:srgbClr val="808030"/>
                </a:solidFill>
                <a:highlight>
                  <a:srgbClr val="FFFFFF"/>
                </a:highlight>
              </a:rPr>
              <a:t>=</a:t>
            </a:r>
            <a:r>
              <a:rPr lang="en-GB" sz="1300">
                <a:highlight>
                  <a:srgbClr val="FFFFFF"/>
                </a:highlight>
              </a:rPr>
              <a:t> GPIO_PULLUP_ENABLE</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enable pull-up mode</a:t>
            </a:r>
            <a:endParaRPr sz="1300">
              <a:highlight>
                <a:srgbClr val="FFFFFF"/>
              </a:highlight>
            </a:endParaRPr>
          </a:p>
          <a:p>
            <a:pPr indent="0" lvl="0" marL="0" rtl="0" algn="l">
              <a:spcBef>
                <a:spcPts val="0"/>
              </a:spcBef>
              <a:spcAft>
                <a:spcPts val="0"/>
              </a:spcAft>
              <a:buNone/>
            </a:pPr>
            <a:r>
              <a:rPr lang="en-GB" sz="1300">
                <a:highlight>
                  <a:srgbClr val="FFFFFF"/>
                </a:highlight>
              </a:rPr>
              <a:t>  io_conf</a:t>
            </a:r>
            <a:r>
              <a:rPr lang="en-GB" sz="1300">
                <a:solidFill>
                  <a:srgbClr val="808030"/>
                </a:solidFill>
                <a:highlight>
                  <a:srgbClr val="FFFFFF"/>
                </a:highlight>
              </a:rPr>
              <a:t>.</a:t>
            </a:r>
            <a:r>
              <a:rPr lang="en-GB" sz="1300">
                <a:highlight>
                  <a:srgbClr val="FFFFFF"/>
                </a:highlight>
              </a:rPr>
              <a:t>pull_down_en </a:t>
            </a:r>
            <a:r>
              <a:rPr lang="en-GB" sz="1300">
                <a:solidFill>
                  <a:srgbClr val="808030"/>
                </a:solidFill>
                <a:highlight>
                  <a:srgbClr val="FFFFFF"/>
                </a:highlight>
              </a:rPr>
              <a:t>=</a:t>
            </a:r>
            <a:r>
              <a:rPr lang="en-GB" sz="1300">
                <a:highlight>
                  <a:srgbClr val="FFFFFF"/>
                </a:highlight>
              </a:rPr>
              <a:t> GPIO_PULLDOWN_DISABLE</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disable pull-down mode</a:t>
            </a:r>
            <a:endParaRPr sz="1300">
              <a:highlight>
                <a:srgbClr val="FFFFFF"/>
              </a:highlight>
            </a:endParaRPr>
          </a:p>
          <a:p>
            <a:pPr indent="0" lvl="0" marL="0" rtl="0" algn="l">
              <a:spcBef>
                <a:spcPts val="0"/>
              </a:spcBef>
              <a:spcAft>
                <a:spcPts val="0"/>
              </a:spcAft>
              <a:buNone/>
            </a:pPr>
            <a:r>
              <a:rPr lang="en-GB" sz="1300">
                <a:highlight>
                  <a:srgbClr val="FFFFFF"/>
                </a:highlight>
              </a:rPr>
              <a:t>  io_conf</a:t>
            </a:r>
            <a:r>
              <a:rPr lang="en-GB" sz="1300">
                <a:solidFill>
                  <a:srgbClr val="808030"/>
                </a:solidFill>
                <a:highlight>
                  <a:srgbClr val="FFFFFF"/>
                </a:highlight>
              </a:rPr>
              <a:t>.</a:t>
            </a:r>
            <a:r>
              <a:rPr lang="en-GB" sz="1300">
                <a:highlight>
                  <a:srgbClr val="FFFFFF"/>
                </a:highlight>
              </a:rPr>
              <a:t>intr_type </a:t>
            </a:r>
            <a:r>
              <a:rPr lang="en-GB" sz="1300">
                <a:solidFill>
                  <a:srgbClr val="808030"/>
                </a:solidFill>
                <a:highlight>
                  <a:srgbClr val="FFFFFF"/>
                </a:highlight>
              </a:rPr>
              <a:t>=</a:t>
            </a:r>
            <a:r>
              <a:rPr lang="en-GB" sz="1300">
                <a:highlight>
                  <a:srgbClr val="FFFFFF"/>
                </a:highlight>
              </a:rPr>
              <a:t> GPIO_INTR_NEGEDGE</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interrupt on falling edge</a:t>
            </a:r>
            <a:endParaRPr sz="1300">
              <a:highlight>
                <a:srgbClr val="FFFFFF"/>
              </a:highlight>
            </a:endParaRPr>
          </a:p>
          <a:p>
            <a:pPr indent="0" lvl="0" marL="0" rtl="0" algn="l">
              <a:spcBef>
                <a:spcPts val="0"/>
              </a:spcBef>
              <a:spcAft>
                <a:spcPts val="0"/>
              </a:spcAft>
              <a:buNone/>
            </a:pPr>
            <a:r>
              <a:rPr lang="en-GB" sz="1300">
                <a:highlight>
                  <a:srgbClr val="FFFFFF"/>
                </a:highlight>
              </a:rPr>
              <a:t>  </a:t>
            </a:r>
            <a:r>
              <a:rPr lang="en-GB" sz="1300">
                <a:solidFill>
                  <a:srgbClr val="808030"/>
                </a:solidFill>
                <a:highlight>
                  <a:srgbClr val="FFFFFF"/>
                </a:highlight>
              </a:rPr>
              <a:t>(</a:t>
            </a:r>
            <a:r>
              <a:rPr b="1" lang="en-GB" sz="1300">
                <a:solidFill>
                  <a:srgbClr val="800000"/>
                </a:solidFill>
                <a:highlight>
                  <a:srgbClr val="FFFFFF"/>
                </a:highlight>
              </a:rPr>
              <a:t>void</a:t>
            </a:r>
            <a:r>
              <a:rPr lang="en-GB" sz="1300">
                <a:solidFill>
                  <a:srgbClr val="808030"/>
                </a:solidFill>
                <a:highlight>
                  <a:srgbClr val="FFFFFF"/>
                </a:highlight>
              </a:rPr>
              <a:t>)</a:t>
            </a:r>
            <a:r>
              <a:rPr lang="en-GB" sz="1300">
                <a:highlight>
                  <a:srgbClr val="FFFFFF"/>
                </a:highlight>
              </a:rPr>
              <a:t> gpio_config</a:t>
            </a:r>
            <a:r>
              <a:rPr lang="en-GB" sz="1300">
                <a:solidFill>
                  <a:srgbClr val="808030"/>
                </a:solidFill>
                <a:highlight>
                  <a:srgbClr val="FFFFFF"/>
                </a:highlight>
              </a:rPr>
              <a:t>(&amp;</a:t>
            </a:r>
            <a:r>
              <a:rPr lang="en-GB" sz="1300">
                <a:highlight>
                  <a:srgbClr val="FFFFFF"/>
                </a:highlight>
              </a:rPr>
              <a:t>io_conf</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do the configuration</a:t>
            </a:r>
            <a:endParaRPr sz="1300">
              <a:highlight>
                <a:srgbClr val="FFFFFF"/>
              </a:highlight>
            </a:endParaRPr>
          </a:p>
          <a:p>
            <a:pPr indent="0" lvl="0" marL="0" rtl="0" algn="l">
              <a:spcBef>
                <a:spcPts val="0"/>
              </a:spcBef>
              <a:spcAft>
                <a:spcPts val="0"/>
              </a:spcAft>
              <a:buNone/>
            </a:pPr>
            <a:r>
              <a:t/>
            </a:r>
            <a:endParaRPr sz="1300">
              <a:highlight>
                <a:srgbClr val="FFFFFF"/>
              </a:highlight>
            </a:endParaRPr>
          </a:p>
          <a:p>
            <a:pPr indent="0" lvl="0" marL="0" rtl="0" algn="l">
              <a:spcBef>
                <a:spcPts val="0"/>
              </a:spcBef>
              <a:spcAft>
                <a:spcPts val="0"/>
              </a:spcAft>
              <a:buNone/>
            </a:pPr>
            <a:r>
              <a:rPr lang="en-GB" sz="1300">
                <a:highlight>
                  <a:srgbClr val="FFFFFF"/>
                </a:highlight>
              </a:rPr>
              <a:t>  </a:t>
            </a:r>
            <a:r>
              <a:rPr lang="en-GB" sz="1300">
                <a:solidFill>
                  <a:srgbClr val="696969"/>
                </a:solidFill>
                <a:highlight>
                  <a:srgbClr val="FFFFFF"/>
                </a:highlight>
              </a:rPr>
              <a:t>// install gpio isr service &amp; hook up isr handlers</a:t>
            </a:r>
            <a:endParaRPr sz="1300">
              <a:highlight>
                <a:srgbClr val="FFFFFF"/>
              </a:highlight>
            </a:endParaRPr>
          </a:p>
          <a:p>
            <a:pPr indent="0" lvl="0" marL="0" rtl="0" algn="l">
              <a:spcBef>
                <a:spcPts val="0"/>
              </a:spcBef>
              <a:spcAft>
                <a:spcPts val="0"/>
              </a:spcAft>
              <a:buNone/>
            </a:pPr>
            <a:r>
              <a:rPr lang="en-GB" sz="1300">
                <a:highlight>
                  <a:srgbClr val="FFFFFF"/>
                </a:highlight>
              </a:rPr>
              <a:t>  gpio_install_isr_service</a:t>
            </a:r>
            <a:r>
              <a:rPr lang="en-GB" sz="1300">
                <a:solidFill>
                  <a:srgbClr val="808030"/>
                </a:solidFill>
                <a:highlight>
                  <a:srgbClr val="FFFFFF"/>
                </a:highlight>
              </a:rPr>
              <a:t>(</a:t>
            </a:r>
            <a:r>
              <a:rPr lang="en-GB" sz="1300">
                <a:solidFill>
                  <a:srgbClr val="008C00"/>
                </a:solidFill>
                <a:highlight>
                  <a:srgbClr val="FFFFFF"/>
                </a:highlight>
              </a:rPr>
              <a:t>0</a:t>
            </a:r>
            <a:r>
              <a:rPr lang="en-GB" sz="1300">
                <a:solidFill>
                  <a:srgbClr val="808030"/>
                </a:solidFill>
                <a:highlight>
                  <a:srgbClr val="FFFFFF"/>
                </a:highlight>
              </a:rPr>
              <a:t>)</a:t>
            </a:r>
            <a:r>
              <a:rPr lang="en-GB" sz="1300">
                <a:solidFill>
                  <a:srgbClr val="800080"/>
                </a:solidFill>
                <a:highlight>
                  <a:srgbClr val="FFFFFF"/>
                </a:highlight>
              </a:rPr>
              <a:t>;</a:t>
            </a:r>
            <a:r>
              <a:rPr lang="en-GB" sz="1300">
                <a:highlight>
                  <a:srgbClr val="FFFFFF"/>
                </a:highlight>
              </a:rPr>
              <a:t> </a:t>
            </a:r>
            <a:r>
              <a:rPr lang="en-GB" sz="1300">
                <a:solidFill>
                  <a:srgbClr val="696969"/>
                </a:solidFill>
                <a:highlight>
                  <a:srgbClr val="FFFFFF"/>
                </a:highlight>
              </a:rPr>
              <a:t>// prints an error if already there; ignore!</a:t>
            </a:r>
            <a:endParaRPr sz="1300">
              <a:highlight>
                <a:srgbClr val="FFFFFF"/>
              </a:highlight>
            </a:endParaRPr>
          </a:p>
          <a:p>
            <a:pPr indent="0" lvl="0" marL="0" rtl="0" algn="l">
              <a:spcBef>
                <a:spcPts val="0"/>
              </a:spcBef>
              <a:spcAft>
                <a:spcPts val="0"/>
              </a:spcAft>
              <a:buNone/>
            </a:pPr>
            <a:r>
              <a:rPr lang="en-GB" sz="1300">
                <a:highlight>
                  <a:srgbClr val="FFFFFF"/>
                </a:highlight>
              </a:rPr>
              <a:t>  gpio_isr_handler_add</a:t>
            </a:r>
            <a:r>
              <a:rPr lang="en-GB" sz="1300">
                <a:solidFill>
                  <a:srgbClr val="808030"/>
                </a:solidFill>
                <a:highlight>
                  <a:srgbClr val="FFFFFF"/>
                </a:highlight>
              </a:rPr>
              <a:t>(</a:t>
            </a:r>
            <a:r>
              <a:rPr lang="en-GB" sz="1300">
                <a:highlight>
                  <a:srgbClr val="FFFFFF"/>
                </a:highlight>
              </a:rPr>
              <a:t>        </a:t>
            </a:r>
            <a:r>
              <a:rPr lang="en-GB" sz="1300">
                <a:solidFill>
                  <a:srgbClr val="696969"/>
                </a:solidFill>
                <a:highlight>
                  <a:srgbClr val="FFFFFF"/>
                </a:highlight>
              </a:rPr>
              <a:t>// attach the handler</a:t>
            </a:r>
            <a:endParaRPr sz="1300">
              <a:highlight>
                <a:srgbClr val="FFFFFF"/>
              </a:highlight>
            </a:endParaRPr>
          </a:p>
          <a:p>
            <a:pPr indent="0" lvl="0" marL="0" rtl="0" algn="l">
              <a:spcBef>
                <a:spcPts val="0"/>
              </a:spcBef>
              <a:spcAft>
                <a:spcPts val="0"/>
              </a:spcAft>
              <a:buNone/>
            </a:pPr>
            <a:r>
              <a:rPr lang="en-GB" sz="1300">
                <a:highlight>
                  <a:srgbClr val="FFFFFF"/>
                </a:highlight>
              </a:rPr>
              <a:t>    </a:t>
            </a:r>
            <a:r>
              <a:rPr lang="en-GB" sz="1300">
                <a:solidFill>
                  <a:srgbClr val="808030"/>
                </a:solidFill>
                <a:highlight>
                  <a:srgbClr val="FFFFFF"/>
                </a:highlight>
              </a:rPr>
              <a:t>(</a:t>
            </a:r>
            <a:r>
              <a:rPr lang="en-GB" sz="1300">
                <a:highlight>
                  <a:srgbClr val="FFFFFF"/>
                </a:highlight>
              </a:rPr>
              <a:t>gpio_num_t</a:t>
            </a:r>
            <a:r>
              <a:rPr lang="en-GB" sz="1300">
                <a:solidFill>
                  <a:srgbClr val="808030"/>
                </a:solidFill>
                <a:highlight>
                  <a:srgbClr val="FFFFFF"/>
                </a:highlight>
              </a:rPr>
              <a:t>)</a:t>
            </a:r>
            <a:r>
              <a:rPr lang="en-GB" sz="1300">
                <a:highlight>
                  <a:srgbClr val="FFFFFF"/>
                </a:highlight>
              </a:rPr>
              <a:t> SWITCH_PIN</a:t>
            </a:r>
            <a:r>
              <a:rPr lang="en-GB" sz="1300">
                <a:solidFill>
                  <a:srgbClr val="808030"/>
                </a:solidFill>
                <a:highlight>
                  <a:srgbClr val="FFFFFF"/>
                </a:highlight>
              </a:rPr>
              <a:t>,</a:t>
            </a:r>
            <a:r>
              <a:rPr lang="en-GB" sz="1300">
                <a:highlight>
                  <a:srgbClr val="FFFFFF"/>
                </a:highlight>
              </a:rPr>
              <a:t> gpio_isr_handler</a:t>
            </a:r>
            <a:r>
              <a:rPr lang="en-GB" sz="1300">
                <a:solidFill>
                  <a:srgbClr val="808030"/>
                </a:solidFill>
                <a:highlight>
                  <a:srgbClr val="FFFFFF"/>
                </a:highlight>
              </a:rPr>
              <a:t>,</a:t>
            </a:r>
            <a:r>
              <a:rPr lang="en-GB" sz="1300">
                <a:highlight>
                  <a:srgbClr val="FFFFFF"/>
                </a:highlight>
              </a:rPr>
              <a:t> </a:t>
            </a:r>
            <a:r>
              <a:rPr lang="en-GB" sz="1300">
                <a:solidFill>
                  <a:srgbClr val="808030"/>
                </a:solidFill>
                <a:highlight>
                  <a:srgbClr val="FFFFFF"/>
                </a:highlight>
              </a:rPr>
              <a:t>(</a:t>
            </a:r>
            <a:r>
              <a:rPr b="1" lang="en-GB" sz="1300">
                <a:solidFill>
                  <a:srgbClr val="800000"/>
                </a:solidFill>
                <a:highlight>
                  <a:srgbClr val="FFFFFF"/>
                </a:highlight>
              </a:rPr>
              <a:t>void</a:t>
            </a:r>
            <a:r>
              <a:rPr lang="en-GB" sz="1300">
                <a:highlight>
                  <a:srgbClr val="FFFFFF"/>
                </a:highlight>
              </a:rPr>
              <a:t> </a:t>
            </a:r>
            <a:r>
              <a:rPr lang="en-GB" sz="1300">
                <a:solidFill>
                  <a:srgbClr val="808030"/>
                </a:solidFill>
                <a:highlight>
                  <a:srgbClr val="FFFFFF"/>
                </a:highlight>
              </a:rPr>
              <a:t>*)</a:t>
            </a:r>
            <a:r>
              <a:rPr lang="en-GB" sz="1300">
                <a:highlight>
                  <a:srgbClr val="FFFFFF"/>
                </a:highlight>
              </a:rPr>
              <a:t> SWITCH_PIN</a:t>
            </a:r>
            <a:endParaRPr sz="1300">
              <a:highlight>
                <a:srgbClr val="FFFFFF"/>
              </a:highlight>
            </a:endParaRPr>
          </a:p>
          <a:p>
            <a:pPr indent="0" lvl="0" marL="0" rtl="0" algn="l">
              <a:spcBef>
                <a:spcPts val="0"/>
              </a:spcBef>
              <a:spcAft>
                <a:spcPts val="0"/>
              </a:spcAft>
              <a:buNone/>
            </a:pPr>
            <a:r>
              <a:rPr lang="en-GB" sz="1300">
                <a:highlight>
                  <a:srgbClr val="FFFFFF"/>
                </a:highlight>
              </a:rPr>
              <a:t>  </a:t>
            </a:r>
            <a:r>
              <a:rPr lang="en-GB" sz="1300">
                <a:solidFill>
                  <a:srgbClr val="808030"/>
                </a:solidFill>
                <a:highlight>
                  <a:srgbClr val="FFFFFF"/>
                </a:highlight>
              </a:rPr>
              <a:t>)</a:t>
            </a: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None/>
            </a:pPr>
            <a:r>
              <a:rPr lang="en-GB" sz="1300">
                <a:solidFill>
                  <a:srgbClr val="800080"/>
                </a:solidFill>
                <a:highlight>
                  <a:srgbClr val="FFFFFF"/>
                </a:highlight>
              </a:rPr>
              <a:t>}</a:t>
            </a:r>
            <a:endParaRPr sz="1300">
              <a:highlight>
                <a:srgbClr val="FFFFFF"/>
              </a:highlight>
            </a:endParaRPr>
          </a:p>
          <a:p>
            <a:pPr indent="0" lvl="0" marL="0" rtl="0" algn="l">
              <a:spcBef>
                <a:spcPts val="0"/>
              </a:spcBef>
              <a:spcAft>
                <a:spcPts val="0"/>
              </a:spcAft>
              <a:buClr>
                <a:schemeClr val="dk1"/>
              </a:buClr>
              <a:buSzPts val="1100"/>
              <a:buFont typeface="Arial"/>
              <a:buNone/>
            </a:pPr>
            <a:r>
              <a:t/>
            </a:r>
            <a:endParaRPr sz="1300">
              <a:highlight>
                <a:srgbClr val="FFFFFF"/>
              </a:highlight>
            </a:endParaRPr>
          </a:p>
          <a:p>
            <a:pPr indent="0" lvl="0" marL="0" rtl="0" algn="l">
              <a:spcBef>
                <a:spcPts val="0"/>
              </a:spcBef>
              <a:spcAft>
                <a:spcPts val="0"/>
              </a:spcAft>
              <a:buNone/>
            </a:pPr>
            <a:r>
              <a:t/>
            </a:r>
            <a:endParaRPr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5"/>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interrupts and timers</a:t>
            </a:r>
            <a:endParaRPr sz="1800"/>
          </a:p>
          <a:p>
            <a:pPr indent="-342900" lvl="0" marL="457200" rtl="0" algn="l">
              <a:spcBef>
                <a:spcPts val="1000"/>
              </a:spcBef>
              <a:spcAft>
                <a:spcPts val="0"/>
              </a:spcAft>
              <a:buSzPts val="1800"/>
              <a:buAutoNum type="arabicPeriod"/>
            </a:pPr>
            <a:r>
              <a:rPr b="1" lang="en-GB" sz="1800"/>
              <a:t>lab assessment 1: build a PrUpdThing</a:t>
            </a:r>
            <a:endParaRPr b="1" sz="1800"/>
          </a:p>
          <a:p>
            <a:pPr indent="-342900" lvl="0" marL="457200" rtl="0" algn="l">
              <a:spcBef>
                <a:spcPts val="1000"/>
              </a:spcBef>
              <a:spcAft>
                <a:spcPts val="0"/>
              </a:spcAft>
              <a:buSzPts val="1800"/>
              <a:buAutoNum type="arabicPeriod"/>
            </a:pPr>
            <a:r>
              <a:rPr lang="en-GB" sz="1800"/>
              <a:t>projects: Marvin, unPhone, LilyGoWatch, or…?</a:t>
            </a:r>
            <a:endParaRPr sz="1800"/>
          </a:p>
          <a:p>
            <a:pPr indent="-342900" lvl="0" marL="457200" rtl="0" algn="l">
              <a:spcBef>
                <a:spcPts val="1000"/>
              </a:spcBef>
              <a:spcAft>
                <a:spcPts val="0"/>
              </a:spcAft>
              <a:buSzPts val="1800"/>
              <a:buAutoNum type="arabicPeriod"/>
            </a:pPr>
            <a:r>
              <a:rPr lang="en-GB" sz="1800"/>
              <a:t>creating a new IoT device</a:t>
            </a:r>
            <a:endParaRPr b="1" sz="1800"/>
          </a:p>
          <a:p>
            <a:pPr indent="0" lvl="0" marL="0" rtl="0" algn="l">
              <a:spcBef>
                <a:spcPts val="1000"/>
              </a:spcBef>
              <a:spcAft>
                <a:spcPts val="0"/>
              </a:spcAft>
              <a:buNone/>
            </a:pPr>
            <a:r>
              <a:t/>
            </a:r>
            <a:endParaRPr sz="1800"/>
          </a:p>
        </p:txBody>
      </p:sp>
      <p:sp>
        <p:nvSpPr>
          <p:cNvPr id="173" name="Google Shape;173;p35"/>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7</a:t>
            </a:r>
            <a:endParaRPr/>
          </a:p>
        </p:txBody>
      </p:sp>
      <p:sp>
        <p:nvSpPr>
          <p:cNvPr id="174" name="Google Shape;174;p35"/>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6"/>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LA1: </a:t>
            </a:r>
            <a:r>
              <a:rPr lang="en-GB"/>
              <a:t>PrUpdThing</a:t>
            </a:r>
            <a:endParaRPr/>
          </a:p>
        </p:txBody>
      </p:sp>
      <p:sp>
        <p:nvSpPr>
          <p:cNvPr id="180" name="Google Shape;180;p36"/>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1" name="Google Shape;181;p36"/>
          <p:cNvSpPr txBox="1"/>
          <p:nvPr>
            <p:ph idx="1" type="body"/>
          </p:nvPr>
        </p:nvSpPr>
        <p:spPr>
          <a:xfrm>
            <a:off x="244375" y="699575"/>
            <a:ext cx="86616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build a breadboard with the ESP32S3 and some LEDs connected to GPIO pins</a:t>
            </a:r>
            <a:endParaRPr sz="1800"/>
          </a:p>
          <a:p>
            <a:pPr indent="-342900" lvl="0" marL="457200" rtl="0" algn="l">
              <a:spcBef>
                <a:spcPts val="0"/>
              </a:spcBef>
              <a:spcAft>
                <a:spcPts val="0"/>
              </a:spcAft>
              <a:buSzPts val="1800"/>
              <a:buChar char="●"/>
            </a:pPr>
            <a:r>
              <a:rPr lang="en-GB" sz="1800"/>
              <a:t>implement provisioning and OTA update on the ESP (e.g. via Ex09 and Ex10)</a:t>
            </a:r>
            <a:endParaRPr sz="1800"/>
          </a:p>
          <a:p>
            <a:pPr indent="-342900" lvl="0" marL="457200" rtl="0" algn="l">
              <a:spcBef>
                <a:spcPts val="0"/>
              </a:spcBef>
              <a:spcAft>
                <a:spcPts val="0"/>
              </a:spcAft>
              <a:buSzPts val="1800"/>
              <a:buChar char="●"/>
            </a:pPr>
            <a:r>
              <a:rPr lang="en-GB" sz="1800"/>
              <a:t>light the LEDs to indicate the stage of processing</a:t>
            </a:r>
            <a:endParaRPr sz="1800"/>
          </a:p>
          <a:p>
            <a:pPr indent="-342900" lvl="0" marL="457200" rtl="0" algn="l">
              <a:spcBef>
                <a:spcPts val="0"/>
              </a:spcBef>
              <a:spcAft>
                <a:spcPts val="0"/>
              </a:spcAft>
              <a:buSzPts val="1800"/>
              <a:buChar char="●"/>
            </a:pPr>
            <a:r>
              <a:rPr lang="en-GB" sz="1800"/>
              <a:t>document it in depth and in detail! see </a:t>
            </a:r>
            <a:r>
              <a:rPr lang="en-GB" sz="1800" u="sng"/>
              <a:t>LA1/rubric.mkd</a:t>
            </a:r>
            <a:r>
              <a:rPr lang="en-GB" sz="1800"/>
              <a:t> in your repo</a:t>
            </a:r>
            <a:endParaRPr sz="1800"/>
          </a:p>
          <a:p>
            <a:pPr indent="-342900" lvl="0" marL="457200" rtl="0" algn="l">
              <a:spcBef>
                <a:spcPts val="0"/>
              </a:spcBef>
              <a:spcAft>
                <a:spcPts val="0"/>
              </a:spcAft>
              <a:buSzPts val="1800"/>
              <a:buChar char="●"/>
            </a:pPr>
            <a:r>
              <a:rPr lang="en-GB" sz="1800"/>
              <a:t>push it to your gitlab repo in a directory called </a:t>
            </a:r>
            <a:r>
              <a:rPr lang="en-GB" sz="1800" u="sng"/>
              <a:t>LA1/PrUpdThing</a:t>
            </a:r>
            <a:r>
              <a:rPr lang="en-GB" sz="1800"/>
              <a:t> at the top level; use the </a:t>
            </a:r>
            <a:r>
              <a:rPr lang="en-GB" sz="1800" u="sng"/>
              <a:t>README.mkd</a:t>
            </a:r>
            <a:r>
              <a:rPr lang="en-GB" sz="1800"/>
              <a:t> for your docs and </a:t>
            </a:r>
            <a:r>
              <a:rPr lang="en-GB" sz="1800" u="sng"/>
              <a:t>PrAndUpThing/PrAndUpThing.ino</a:t>
            </a:r>
            <a:r>
              <a:rPr lang="en-GB" sz="1800"/>
              <a:t> for your code</a:t>
            </a:r>
            <a:endParaRPr sz="1800"/>
          </a:p>
          <a:p>
            <a:pPr indent="-342900" lvl="0" marL="457200" rtl="0" algn="l">
              <a:spcBef>
                <a:spcPts val="0"/>
              </a:spcBef>
              <a:spcAft>
                <a:spcPts val="0"/>
              </a:spcAft>
              <a:buSzPts val="1800"/>
              <a:buChar char="●"/>
            </a:pPr>
            <a:r>
              <a:rPr lang="en-GB" sz="1800"/>
              <a:t>optional extra: manage the process with touch sensing</a:t>
            </a:r>
            <a:endParaRPr sz="1800"/>
          </a:p>
          <a:p>
            <a:pPr indent="-342900" lvl="0" marL="457200" rtl="0" algn="l">
              <a:spcBef>
                <a:spcPts val="0"/>
              </a:spcBef>
              <a:spcAft>
                <a:spcPts val="0"/>
              </a:spcAft>
              <a:buSzPts val="1800"/>
              <a:buChar char="●"/>
            </a:pPr>
            <a:r>
              <a:rPr b="1" lang="en-GB" sz="1800"/>
              <a:t>deadline</a:t>
            </a:r>
            <a:r>
              <a:rPr lang="en-GB" sz="1800"/>
              <a:t>: Fri March 22nd </a:t>
            </a:r>
            <a:r>
              <a:rPr b="1" lang="en-GB" sz="1800"/>
              <a:t>marks</a:t>
            </a:r>
            <a:r>
              <a:rPr lang="en-GB" sz="1800"/>
              <a:t>: 20%, pass/fail; </a:t>
            </a:r>
            <a:r>
              <a:rPr b="1" lang="en-GB" sz="1800"/>
              <a:t>size</a:t>
            </a:r>
            <a:r>
              <a:rPr lang="en-GB" sz="1800"/>
              <a:t>: ~8 hours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7"/>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LA1: </a:t>
            </a:r>
            <a:r>
              <a:rPr lang="en-GB"/>
              <a:t>PrUpdThing</a:t>
            </a:r>
            <a:r>
              <a:rPr lang="en-GB"/>
              <a:t> (contd.)</a:t>
            </a:r>
            <a:endParaRPr/>
          </a:p>
        </p:txBody>
      </p:sp>
      <p:sp>
        <p:nvSpPr>
          <p:cNvPr id="187" name="Google Shape;187;p37"/>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88" name="Google Shape;188;p37"/>
          <p:cNvSpPr txBox="1"/>
          <p:nvPr>
            <p:ph idx="1" type="body"/>
          </p:nvPr>
        </p:nvSpPr>
        <p:spPr>
          <a:xfrm>
            <a:off x="244375" y="775775"/>
            <a:ext cx="86616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bottom line: if it works, does the basics, and you’ve told me how, </a:t>
            </a:r>
            <a:r>
              <a:rPr b="1" lang="en-GB" sz="1800"/>
              <a:t>you’ll pass</a:t>
            </a:r>
            <a:endParaRPr b="1" sz="1800"/>
          </a:p>
          <a:p>
            <a:pPr indent="-342900" lvl="0" marL="457200" rtl="0" algn="l">
              <a:spcBef>
                <a:spcPts val="0"/>
              </a:spcBef>
              <a:spcAft>
                <a:spcPts val="0"/>
              </a:spcAft>
              <a:buSzPts val="1800"/>
              <a:buChar char="●"/>
            </a:pPr>
            <a:r>
              <a:rPr lang="en-GB" sz="1800"/>
              <a:t>optionally:</a:t>
            </a:r>
            <a:br>
              <a:rPr lang="en-GB" sz="1800"/>
            </a:br>
            <a:r>
              <a:rPr lang="en-GB" sz="1800"/>
              <a:t>you can also use this as a larger trial-run for the project, explore the subject in some depth and come up with a polished solution</a:t>
            </a:r>
            <a:endParaRPr sz="1800"/>
          </a:p>
          <a:p>
            <a:pPr indent="-342900" lvl="0" marL="457200" rtl="0" algn="l">
              <a:spcBef>
                <a:spcPts val="0"/>
              </a:spcBef>
              <a:spcAft>
                <a:spcPts val="0"/>
              </a:spcAft>
              <a:buSzPts val="1800"/>
              <a:buChar char="●"/>
            </a:pPr>
            <a:r>
              <a:rPr lang="en-GB" sz="1800"/>
              <a:t>both approaches are fine :)</a:t>
            </a:r>
            <a:endParaRPr sz="1800"/>
          </a:p>
          <a:p>
            <a:pPr indent="0" lvl="0" marL="0" rtl="0" algn="l">
              <a:spcBef>
                <a:spcPts val="0"/>
              </a:spcBef>
              <a:spcAft>
                <a:spcPts val="0"/>
              </a:spcAft>
              <a:buNone/>
            </a:pPr>
            <a:r>
              <a:t/>
            </a:r>
            <a:endParaRPr sz="1800"/>
          </a:p>
          <a:p>
            <a:pPr indent="457200" lvl="0" marL="457200" rtl="0" algn="l">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8"/>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interrupts and timers</a:t>
            </a:r>
            <a:endParaRPr sz="1800"/>
          </a:p>
          <a:p>
            <a:pPr indent="-342900" lvl="0" marL="457200" rtl="0" algn="l">
              <a:spcBef>
                <a:spcPts val="1000"/>
              </a:spcBef>
              <a:spcAft>
                <a:spcPts val="0"/>
              </a:spcAft>
              <a:buSzPts val="1800"/>
              <a:buAutoNum type="arabicPeriod"/>
            </a:pPr>
            <a:r>
              <a:rPr lang="en-GB" sz="1800"/>
              <a:t>lab assessment 1: build a </a:t>
            </a:r>
            <a:r>
              <a:rPr lang="en-GB" sz="1800"/>
              <a:t>PrUpdThing</a:t>
            </a:r>
            <a:endParaRPr sz="1800"/>
          </a:p>
          <a:p>
            <a:pPr indent="-342900" lvl="0" marL="457200" rtl="0" algn="l">
              <a:spcBef>
                <a:spcPts val="1000"/>
              </a:spcBef>
              <a:spcAft>
                <a:spcPts val="0"/>
              </a:spcAft>
              <a:buSzPts val="1800"/>
              <a:buAutoNum type="arabicPeriod"/>
            </a:pPr>
            <a:r>
              <a:rPr b="1" lang="en-GB" sz="1800"/>
              <a:t>projects: Marvin/Willow, unPhone, LilyGoWatch, or…?</a:t>
            </a:r>
            <a:endParaRPr b="1" sz="1800"/>
          </a:p>
          <a:p>
            <a:pPr indent="-342900" lvl="0" marL="457200" rtl="0" algn="l">
              <a:spcBef>
                <a:spcPts val="1000"/>
              </a:spcBef>
              <a:spcAft>
                <a:spcPts val="0"/>
              </a:spcAft>
              <a:buSzPts val="1800"/>
              <a:buAutoNum type="arabicPeriod"/>
            </a:pPr>
            <a:r>
              <a:rPr lang="en-GB" sz="1800"/>
              <a:t>creating a new IoT device</a:t>
            </a:r>
            <a:endParaRPr b="1" sz="1800"/>
          </a:p>
          <a:p>
            <a:pPr indent="0" lvl="0" marL="0" rtl="0" algn="l">
              <a:spcBef>
                <a:spcPts val="1000"/>
              </a:spcBef>
              <a:spcAft>
                <a:spcPts val="0"/>
              </a:spcAft>
              <a:buNone/>
            </a:pPr>
            <a:r>
              <a:t/>
            </a:r>
            <a:endParaRPr sz="1800"/>
          </a:p>
        </p:txBody>
      </p:sp>
      <p:sp>
        <p:nvSpPr>
          <p:cNvPr id="194" name="Google Shape;194;p38"/>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7</a:t>
            </a:r>
            <a:endParaRPr/>
          </a:p>
        </p:txBody>
      </p:sp>
      <p:sp>
        <p:nvSpPr>
          <p:cNvPr id="195" name="Google Shape;195;p38"/>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9"/>
          <p:cNvSpPr txBox="1"/>
          <p:nvPr>
            <p:ph idx="1" type="body"/>
          </p:nvPr>
        </p:nvSpPr>
        <p:spPr>
          <a:xfrm>
            <a:off x="273450" y="616125"/>
            <a:ext cx="8747700" cy="2640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options:</a:t>
            </a:r>
            <a:endParaRPr sz="1800"/>
          </a:p>
          <a:p>
            <a:pPr indent="-342900" lvl="1" marL="914400" rtl="0" algn="l">
              <a:spcBef>
                <a:spcPts val="0"/>
              </a:spcBef>
              <a:spcAft>
                <a:spcPts val="0"/>
              </a:spcAft>
              <a:buSzPts val="1800"/>
              <a:buAutoNum type="alphaLcPeriod"/>
            </a:pPr>
            <a:r>
              <a:rPr lang="en-GB" sz="1800"/>
              <a:t>the unPhone</a:t>
            </a:r>
            <a:endParaRPr sz="1800"/>
          </a:p>
          <a:p>
            <a:pPr indent="-342900" lvl="1" marL="914400" rtl="0" algn="l">
              <a:spcBef>
                <a:spcPts val="0"/>
              </a:spcBef>
              <a:spcAft>
                <a:spcPts val="0"/>
              </a:spcAft>
              <a:buSzPts val="1800"/>
              <a:buAutoNum type="alphaLcPeriod"/>
            </a:pPr>
            <a:r>
              <a:rPr lang="en-GB" sz="1800"/>
              <a:t>Marvin, a DIY Alexa, or ESP-Box/Willow</a:t>
            </a:r>
            <a:endParaRPr sz="1800"/>
          </a:p>
          <a:p>
            <a:pPr indent="-342900" lvl="1" marL="914400" rtl="0" algn="l">
              <a:spcBef>
                <a:spcPts val="0"/>
              </a:spcBef>
              <a:spcAft>
                <a:spcPts val="0"/>
              </a:spcAft>
              <a:buSzPts val="1800"/>
              <a:buAutoNum type="alphaLcPeriod"/>
            </a:pPr>
            <a:r>
              <a:rPr lang="en-GB" sz="1800"/>
              <a:t>LilyGoWatch</a:t>
            </a:r>
            <a:endParaRPr sz="1800"/>
          </a:p>
          <a:p>
            <a:pPr indent="-342900" lvl="1" marL="914400" rtl="0" algn="l">
              <a:spcBef>
                <a:spcPts val="0"/>
              </a:spcBef>
              <a:spcAft>
                <a:spcPts val="0"/>
              </a:spcAft>
              <a:buSzPts val="1800"/>
              <a:buAutoNum type="alphaLcPeriod"/>
            </a:pPr>
            <a:r>
              <a:rPr lang="en-GB" sz="1800"/>
              <a:t>roll your own (but check first!)</a:t>
            </a:r>
            <a:endParaRPr sz="1800"/>
          </a:p>
          <a:p>
            <a:pPr indent="-342900" lvl="0" marL="457200" rtl="0" algn="l">
              <a:spcBef>
                <a:spcPts val="0"/>
              </a:spcBef>
              <a:spcAft>
                <a:spcPts val="0"/>
              </a:spcAft>
              <a:buSzPts val="1800"/>
              <a:buChar char="●"/>
            </a:pPr>
            <a:r>
              <a:rPr lang="en-GB" sz="1800"/>
              <a:t>the spin 9 unPhone is an ESP32S3, LCD with touch display, accelerometer, SD card, LoRaWAN, IR LEDs and vibe motor</a:t>
            </a:r>
            <a:endParaRPr sz="1800"/>
          </a:p>
          <a:p>
            <a:pPr indent="-342900" lvl="0" marL="457200" rtl="0" algn="l">
              <a:spcBef>
                <a:spcPts val="0"/>
              </a:spcBef>
              <a:spcAft>
                <a:spcPts val="0"/>
              </a:spcAft>
              <a:buSzPts val="1800"/>
              <a:buChar char="●"/>
            </a:pPr>
            <a:r>
              <a:rPr lang="en-GB" sz="1800"/>
              <a:t>possible unPhone projects:  meshtastic off-grid messaging; remote control of other devices over WiFi or BT, perhaps using a gesture language; voice control via a mic on your other ESP32 (or the expander); exercise tracker; data logger; small-screen UI; fuzzy predictive text; </a:t>
            </a:r>
            <a:r>
              <a:rPr lang="en-GB" sz="1800"/>
              <a:t>TV-B-Gone, TV remote, battleships, Meshtastic, Robocar controller, step counter, GPS campus alarm </a:t>
            </a:r>
            <a:r>
              <a:rPr lang="en-GB" sz="1800"/>
              <a:t>etc. etc. etc.…</a:t>
            </a:r>
            <a:endParaRPr sz="1800"/>
          </a:p>
          <a:p>
            <a:pPr indent="-342900" lvl="0" marL="457200" rtl="0" algn="l">
              <a:spcBef>
                <a:spcPts val="0"/>
              </a:spcBef>
              <a:spcAft>
                <a:spcPts val="0"/>
              </a:spcAft>
              <a:buSzPts val="1800"/>
              <a:buChar char="●"/>
            </a:pPr>
            <a:r>
              <a:rPr lang="en-GB" sz="1800"/>
              <a:t>with Marvin or ESP-Box and/or the ML that Valentin introduced last week, lots of Alexa-type projects :)</a:t>
            </a:r>
            <a:endParaRPr sz="1800"/>
          </a:p>
        </p:txBody>
      </p:sp>
      <p:sp>
        <p:nvSpPr>
          <p:cNvPr id="201" name="Google Shape;201;p39"/>
          <p:cNvSpPr txBox="1"/>
          <p:nvPr>
            <p:ph type="title"/>
          </p:nvPr>
        </p:nvSpPr>
        <p:spPr>
          <a:xfrm>
            <a:off x="816200" y="0"/>
            <a:ext cx="7768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a:t>
            </a:r>
            <a:r>
              <a:rPr lang="en-GB"/>
              <a:t>rojects: Marvin, unPhone, LilyGoWatch, or…?</a:t>
            </a:r>
            <a:endParaRPr/>
          </a:p>
        </p:txBody>
      </p:sp>
      <p:sp>
        <p:nvSpPr>
          <p:cNvPr id="202" name="Google Shape;202;p39"/>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0"/>
          <p:cNvSpPr txBox="1"/>
          <p:nvPr>
            <p:ph type="title"/>
          </p:nvPr>
        </p:nvSpPr>
        <p:spPr>
          <a:xfrm>
            <a:off x="997500" y="-76200"/>
            <a:ext cx="75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Projects: pros and cons</a:t>
            </a:r>
            <a:endParaRPr/>
          </a:p>
        </p:txBody>
      </p:sp>
      <p:sp>
        <p:nvSpPr>
          <p:cNvPr id="208" name="Google Shape;208;p40"/>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09" name="Google Shape;209;p40"/>
          <p:cNvGraphicFramePr/>
          <p:nvPr/>
        </p:nvGraphicFramePr>
        <p:xfrm>
          <a:off x="714800" y="505225"/>
          <a:ext cx="3000000" cy="3000000"/>
        </p:xfrm>
        <a:graphic>
          <a:graphicData uri="http://schemas.openxmlformats.org/drawingml/2006/table">
            <a:tbl>
              <a:tblPr>
                <a:noFill/>
                <a:tableStyleId>{A1312CED-5E8C-4837-9365-2A13F609A185}</a:tableStyleId>
              </a:tblPr>
              <a:tblGrid>
                <a:gridCol w="1594650"/>
                <a:gridCol w="3257475"/>
                <a:gridCol w="3255825"/>
              </a:tblGrid>
              <a:tr h="381000">
                <a:tc>
                  <a:txBody>
                    <a:bodyPr/>
                    <a:lstStyle/>
                    <a:p>
                      <a:pPr indent="0" lvl="0" marL="0" rtl="0" algn="ctr">
                        <a:spcBef>
                          <a:spcPts val="0"/>
                        </a:spcBef>
                        <a:spcAft>
                          <a:spcPts val="0"/>
                        </a:spcAft>
                        <a:buNone/>
                      </a:pPr>
                      <a:r>
                        <a:rPr b="1" lang="en-GB" sz="1500"/>
                        <a:t>Project</a:t>
                      </a:r>
                      <a:endParaRPr b="1" sz="1500"/>
                    </a:p>
                  </a:txBody>
                  <a:tcPr marT="91425" marB="91425" marR="91425" marL="91425"/>
                </a:tc>
                <a:tc>
                  <a:txBody>
                    <a:bodyPr/>
                    <a:lstStyle/>
                    <a:p>
                      <a:pPr indent="0" lvl="0" marL="0" rtl="0" algn="ctr">
                        <a:spcBef>
                          <a:spcPts val="0"/>
                        </a:spcBef>
                        <a:spcAft>
                          <a:spcPts val="0"/>
                        </a:spcAft>
                        <a:buNone/>
                      </a:pPr>
                      <a:r>
                        <a:rPr b="1" lang="en-GB" sz="1500"/>
                        <a:t>Advantages</a:t>
                      </a:r>
                      <a:endParaRPr b="1" sz="1500"/>
                    </a:p>
                  </a:txBody>
                  <a:tcPr marT="91425" marB="91425" marR="91425" marL="91425"/>
                </a:tc>
                <a:tc>
                  <a:txBody>
                    <a:bodyPr/>
                    <a:lstStyle/>
                    <a:p>
                      <a:pPr indent="0" lvl="0" marL="0" rtl="0" algn="ctr">
                        <a:spcBef>
                          <a:spcPts val="0"/>
                        </a:spcBef>
                        <a:spcAft>
                          <a:spcPts val="0"/>
                        </a:spcAft>
                        <a:buNone/>
                      </a:pPr>
                      <a:r>
                        <a:rPr b="1" lang="en-GB" sz="1500"/>
                        <a:t>Disadvantages</a:t>
                      </a:r>
                      <a:endParaRPr b="1" sz="1500"/>
                    </a:p>
                  </a:txBody>
                  <a:tcPr marT="91425" marB="91425" marR="91425" marL="91425"/>
                </a:tc>
              </a:tr>
              <a:tr h="381000">
                <a:tc>
                  <a:txBody>
                    <a:bodyPr/>
                    <a:lstStyle/>
                    <a:p>
                      <a:pPr indent="0" lvl="0" marL="0" rtl="0" algn="l">
                        <a:spcBef>
                          <a:spcPts val="0"/>
                        </a:spcBef>
                        <a:spcAft>
                          <a:spcPts val="0"/>
                        </a:spcAft>
                        <a:buNone/>
                      </a:pPr>
                      <a:r>
                        <a:rPr b="1" lang="en-GB" sz="1500"/>
                        <a:t>unPhone</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all the elements are pre-soldered (unless you use the expander board)</a:t>
                      </a:r>
                      <a:endParaRPr sz="1500"/>
                    </a:p>
                    <a:p>
                      <a:pPr indent="-323850" lvl="0" marL="457200" rtl="0" algn="l">
                        <a:spcBef>
                          <a:spcPts val="0"/>
                        </a:spcBef>
                        <a:spcAft>
                          <a:spcPts val="0"/>
                        </a:spcAft>
                        <a:buSzPts val="1500"/>
                        <a:buChar char="●"/>
                      </a:pPr>
                      <a:r>
                        <a:rPr lang="en-GB" sz="1500"/>
                        <a:t>there’s a UI!</a:t>
                      </a:r>
                      <a:endParaRPr sz="1500"/>
                    </a:p>
                    <a:p>
                      <a:pPr indent="-323850" lvl="0" marL="457200" rtl="0" algn="l">
                        <a:spcBef>
                          <a:spcPts val="0"/>
                        </a:spcBef>
                        <a:spcAft>
                          <a:spcPts val="0"/>
                        </a:spcAft>
                        <a:buSzPts val="1500"/>
                        <a:buChar char="●"/>
                      </a:pPr>
                      <a:r>
                        <a:rPr lang="en-GB" sz="1500"/>
                        <a:t>lots of variations possible</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it looks like a phone but… isn’t!</a:t>
                      </a:r>
                      <a:endParaRPr sz="1500"/>
                    </a:p>
                    <a:p>
                      <a:pPr indent="-323850" lvl="0" marL="457200" rtl="0" algn="l">
                        <a:spcBef>
                          <a:spcPts val="0"/>
                        </a:spcBef>
                        <a:spcAft>
                          <a:spcPts val="0"/>
                        </a:spcAft>
                        <a:buSzPts val="1500"/>
                        <a:buChar char="●"/>
                      </a:pPr>
                      <a:r>
                        <a:rPr lang="en-GB" sz="1500"/>
                        <a:t>relies on patched libraries which can make development (even) trickier</a:t>
                      </a:r>
                      <a:br>
                        <a:rPr lang="en-GB" sz="1500"/>
                      </a:br>
                      <a:r>
                        <a:rPr lang="en-GB" sz="1500"/>
                        <a:t>(v9 better tho)</a:t>
                      </a:r>
                      <a:endParaRPr sz="1500"/>
                    </a:p>
                  </a:txBody>
                  <a:tcPr marT="91425" marB="91425" marR="91425" marL="91425"/>
                </a:tc>
              </a:tr>
              <a:tr h="381000">
                <a:tc>
                  <a:txBody>
                    <a:bodyPr/>
                    <a:lstStyle/>
                    <a:p>
                      <a:pPr indent="0" lvl="0" marL="0" rtl="0" algn="l">
                        <a:spcBef>
                          <a:spcPts val="0"/>
                        </a:spcBef>
                        <a:spcAft>
                          <a:spcPts val="0"/>
                        </a:spcAft>
                        <a:buNone/>
                      </a:pPr>
                      <a:r>
                        <a:rPr b="1" lang="en-GB" sz="1500"/>
                        <a:t>Marvin or ESP-Box</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close to mass-market products like Alexa, Google Home, etc.</a:t>
                      </a:r>
                      <a:endParaRPr sz="1500"/>
                    </a:p>
                    <a:p>
                      <a:pPr indent="-323850" lvl="0" marL="457200" rtl="0" algn="l">
                        <a:spcBef>
                          <a:spcPts val="0"/>
                        </a:spcBef>
                        <a:spcAft>
                          <a:spcPts val="0"/>
                        </a:spcAft>
                        <a:buSzPts val="1500"/>
                        <a:buChar char="●"/>
                      </a:pPr>
                      <a:r>
                        <a:rPr lang="en-GB" sz="1500"/>
                        <a:t>good online supporting resources</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Marvin version needs wiring</a:t>
                      </a:r>
                      <a:endParaRPr sz="1500"/>
                    </a:p>
                    <a:p>
                      <a:pPr indent="-323850" lvl="0" marL="457200" rtl="0" algn="l">
                        <a:spcBef>
                          <a:spcPts val="0"/>
                        </a:spcBef>
                        <a:spcAft>
                          <a:spcPts val="0"/>
                        </a:spcAft>
                        <a:buSzPts val="1500"/>
                        <a:buChar char="●"/>
                      </a:pPr>
                      <a:r>
                        <a:rPr lang="en-GB" sz="1500"/>
                        <a:t>noise and voice dependent</a:t>
                      </a:r>
                      <a:endParaRPr sz="1500"/>
                    </a:p>
                    <a:p>
                      <a:pPr indent="-323850" lvl="0" marL="457200" rtl="0" algn="l">
                        <a:spcBef>
                          <a:spcPts val="0"/>
                        </a:spcBef>
                        <a:spcAft>
                          <a:spcPts val="0"/>
                        </a:spcAft>
                        <a:buSzPts val="1500"/>
                        <a:buChar char="●"/>
                      </a:pPr>
                      <a:r>
                        <a:rPr lang="en-GB" sz="1500"/>
                        <a:t>relies on 3rd party services</a:t>
                      </a:r>
                      <a:endParaRPr sz="1500"/>
                    </a:p>
                    <a:p>
                      <a:pPr indent="0" lvl="0" marL="0" rtl="0" algn="l">
                        <a:spcBef>
                          <a:spcPts val="0"/>
                        </a:spcBef>
                        <a:spcAft>
                          <a:spcPts val="0"/>
                        </a:spcAft>
                        <a:buNone/>
                      </a:pPr>
                      <a:r>
                        <a:t/>
                      </a:r>
                      <a:endParaRPr sz="1500"/>
                    </a:p>
                  </a:txBody>
                  <a:tcPr marT="91425" marB="91425" marR="91425" marL="91425"/>
                </a:tc>
              </a:tr>
              <a:tr h="381000">
                <a:tc>
                  <a:txBody>
                    <a:bodyPr/>
                    <a:lstStyle/>
                    <a:p>
                      <a:pPr indent="0" lvl="0" marL="0" rtl="0" algn="l">
                        <a:spcBef>
                          <a:spcPts val="0"/>
                        </a:spcBef>
                        <a:spcAft>
                          <a:spcPts val="0"/>
                        </a:spcAft>
                        <a:buNone/>
                      </a:pPr>
                      <a:r>
                        <a:rPr b="1" lang="en-GB" sz="1500"/>
                        <a:t>LilyGO Watch</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a wearable!</a:t>
                      </a:r>
                      <a:endParaRPr sz="1500"/>
                    </a:p>
                    <a:p>
                      <a:pPr indent="-323850" lvl="0" marL="457200" rtl="0" algn="l">
                        <a:spcBef>
                          <a:spcPts val="0"/>
                        </a:spcBef>
                        <a:spcAft>
                          <a:spcPts val="0"/>
                        </a:spcAft>
                        <a:buSzPts val="1500"/>
                        <a:buChar char="●"/>
                      </a:pPr>
                      <a:r>
                        <a:rPr lang="en-GB" sz="1500"/>
                        <a:t>carry a memento of COM3505 everywhere you go!</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not a smart watch!</a:t>
                      </a:r>
                      <a:endParaRPr sz="1500"/>
                    </a:p>
                    <a:p>
                      <a:pPr indent="-323850" lvl="0" marL="457200" rtl="0" algn="l">
                        <a:spcBef>
                          <a:spcPts val="0"/>
                        </a:spcBef>
                        <a:spcAft>
                          <a:spcPts val="0"/>
                        </a:spcAft>
                        <a:buSzPts val="1500"/>
                        <a:buChar char="●"/>
                      </a:pPr>
                      <a:r>
                        <a:rPr lang="en-GB" sz="1500"/>
                        <a:t>translation of docs not perfect</a:t>
                      </a:r>
                      <a:endParaRPr sz="1500"/>
                    </a:p>
                  </a:txBody>
                  <a:tcPr marT="91425" marB="91425" marR="91425" marL="91425"/>
                </a:tc>
              </a:tr>
              <a:tr h="381000">
                <a:tc>
                  <a:txBody>
                    <a:bodyPr/>
                    <a:lstStyle/>
                    <a:p>
                      <a:pPr indent="0" lvl="0" marL="0" rtl="0" algn="l">
                        <a:spcBef>
                          <a:spcPts val="0"/>
                        </a:spcBef>
                        <a:spcAft>
                          <a:spcPts val="0"/>
                        </a:spcAft>
                        <a:buNone/>
                      </a:pPr>
                      <a:r>
                        <a:rPr b="1" lang="en-GB" sz="1500"/>
                        <a:t>A.N.Other</a:t>
                      </a:r>
                      <a:endParaRPr b="1" sz="1500"/>
                    </a:p>
                  </a:txBody>
                  <a:tcPr marT="91425" marB="91425" marR="91425" marL="91425"/>
                </a:tc>
                <a:tc>
                  <a:txBody>
                    <a:bodyPr/>
                    <a:lstStyle/>
                    <a:p>
                      <a:pPr indent="-323850" lvl="0" marL="457200" rtl="0" algn="l">
                        <a:spcBef>
                          <a:spcPts val="0"/>
                        </a:spcBef>
                        <a:spcAft>
                          <a:spcPts val="0"/>
                        </a:spcAft>
                        <a:buSzPts val="1500"/>
                        <a:buChar char="●"/>
                      </a:pPr>
                      <a:r>
                        <a:rPr lang="en-GB" sz="1500"/>
                        <a:t>creativity!</a:t>
                      </a:r>
                      <a:endParaRPr sz="1500"/>
                    </a:p>
                  </a:txBody>
                  <a:tcPr marT="91425" marB="91425" marR="91425" marL="91425"/>
                </a:tc>
                <a:tc>
                  <a:txBody>
                    <a:bodyPr/>
                    <a:lstStyle/>
                    <a:p>
                      <a:pPr indent="-323850" lvl="0" marL="457200" rtl="0" algn="l">
                        <a:spcBef>
                          <a:spcPts val="0"/>
                        </a:spcBef>
                        <a:spcAft>
                          <a:spcPts val="0"/>
                        </a:spcAft>
                        <a:buSzPts val="1500"/>
                        <a:buChar char="●"/>
                      </a:pPr>
                      <a:r>
                        <a:rPr lang="en-GB" sz="1500"/>
                        <a:t>you need to be sure it is A) feasible and B) hard enough</a:t>
                      </a:r>
                      <a:endParaRPr sz="15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41"/>
          <p:cNvSpPr txBox="1"/>
          <p:nvPr>
            <p:ph type="title"/>
          </p:nvPr>
        </p:nvSpPr>
        <p:spPr>
          <a:xfrm>
            <a:off x="1073700" y="-121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LiPo: handle and charge carefully</a:t>
            </a:r>
            <a:endParaRPr/>
          </a:p>
        </p:txBody>
      </p:sp>
      <p:sp>
        <p:nvSpPr>
          <p:cNvPr id="215" name="Google Shape;215;p41"/>
          <p:cNvSpPr txBox="1"/>
          <p:nvPr>
            <p:ph idx="1" type="body"/>
          </p:nvPr>
        </p:nvSpPr>
        <p:spPr>
          <a:xfrm>
            <a:off x="311725" y="542875"/>
            <a:ext cx="816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The unPhone contains a Lithium Polymer (LiPo) battery; treat it carefully!</a:t>
            </a:r>
            <a:endParaRPr sz="1800"/>
          </a:p>
          <a:p>
            <a:pPr indent="-342900" lvl="0" marL="457200" rtl="0" algn="l">
              <a:spcBef>
                <a:spcPts val="0"/>
              </a:spcBef>
              <a:spcAft>
                <a:spcPts val="0"/>
              </a:spcAft>
              <a:buSzPts val="1800"/>
              <a:buChar char="●"/>
            </a:pPr>
            <a:r>
              <a:rPr lang="en-GB" sz="1800"/>
              <a:t>These are potentially dangerous: sign the disclaimer, read the notes — </a:t>
            </a:r>
            <a:r>
              <a:rPr lang="en-GB" sz="1800" u="sng">
                <a:solidFill>
                  <a:schemeClr val="hlink"/>
                </a:solidFill>
                <a:hlinkClick r:id="rId3"/>
              </a:rPr>
              <a:t>https://iot.unphone.net/#lipo-safety</a:t>
            </a:r>
            <a:r>
              <a:rPr lang="en-GB" sz="1800"/>
              <a:t>, if in doubt ask!</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The two main issues:</a:t>
            </a:r>
            <a:endParaRPr sz="1800"/>
          </a:p>
          <a:p>
            <a:pPr indent="-342900" lvl="0" marL="457200" rtl="0" algn="l">
              <a:spcBef>
                <a:spcPts val="0"/>
              </a:spcBef>
              <a:spcAft>
                <a:spcPts val="0"/>
              </a:spcAft>
              <a:buSzPts val="1800"/>
              <a:buChar char="●"/>
            </a:pPr>
            <a:r>
              <a:rPr lang="en-GB" sz="1800"/>
              <a:t>handling (don’t break the containment)</a:t>
            </a:r>
            <a:endParaRPr sz="1800"/>
          </a:p>
          <a:p>
            <a:pPr indent="-342900" lvl="0" marL="457200" rtl="0" algn="l">
              <a:spcBef>
                <a:spcPts val="0"/>
              </a:spcBef>
              <a:spcAft>
                <a:spcPts val="0"/>
              </a:spcAft>
              <a:buSzPts val="1800"/>
              <a:buChar char="●"/>
            </a:pPr>
            <a:r>
              <a:rPr lang="en-GB" sz="1800"/>
              <a:t>charging (the PMU / battery management chip and its programming have been verified by qualified engineers at Adafruit and Pimoroni, but that doesn’t mean they’re infallible, and there is potential for us to break it… take care!)</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216" name="Google Shape;216;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42"/>
          <p:cNvSpPr txBox="1"/>
          <p:nvPr>
            <p:ph idx="1" type="body"/>
          </p:nvPr>
        </p:nvSpPr>
        <p:spPr>
          <a:xfrm>
            <a:off x="278250" y="6260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800"/>
              <a:t>Contents</a:t>
            </a:r>
            <a:endParaRPr b="1" sz="1800"/>
          </a:p>
          <a:p>
            <a:pPr indent="-342900" lvl="0" marL="457200" rtl="0" algn="l">
              <a:spcBef>
                <a:spcPts val="0"/>
              </a:spcBef>
              <a:spcAft>
                <a:spcPts val="0"/>
              </a:spcAft>
              <a:buSzPts val="1800"/>
              <a:buAutoNum type="arabicPeriod"/>
            </a:pPr>
            <a:r>
              <a:rPr lang="en-GB" sz="1800"/>
              <a:t>interrupts and timers</a:t>
            </a:r>
            <a:endParaRPr sz="1800"/>
          </a:p>
          <a:p>
            <a:pPr indent="-342900" lvl="0" marL="457200" rtl="0" algn="l">
              <a:spcBef>
                <a:spcPts val="1000"/>
              </a:spcBef>
              <a:spcAft>
                <a:spcPts val="0"/>
              </a:spcAft>
              <a:buSzPts val="1800"/>
              <a:buAutoNum type="arabicPeriod"/>
            </a:pPr>
            <a:r>
              <a:rPr lang="en-GB" sz="1800"/>
              <a:t>lab assessment 1: build a </a:t>
            </a:r>
            <a:r>
              <a:rPr lang="en-GB" sz="1800"/>
              <a:t>PrUpdThing</a:t>
            </a:r>
            <a:endParaRPr sz="1800"/>
          </a:p>
          <a:p>
            <a:pPr indent="-342900" lvl="0" marL="457200" rtl="0" algn="l">
              <a:spcBef>
                <a:spcPts val="1000"/>
              </a:spcBef>
              <a:spcAft>
                <a:spcPts val="0"/>
              </a:spcAft>
              <a:buSzPts val="1800"/>
              <a:buAutoNum type="arabicPeriod"/>
            </a:pPr>
            <a:r>
              <a:rPr lang="en-GB" sz="1800"/>
              <a:t>projects: smartwatch in the post!</a:t>
            </a:r>
            <a:endParaRPr sz="1800"/>
          </a:p>
          <a:p>
            <a:pPr indent="-342900" lvl="0" marL="457200" rtl="0" algn="l">
              <a:spcBef>
                <a:spcPts val="1000"/>
              </a:spcBef>
              <a:spcAft>
                <a:spcPts val="0"/>
              </a:spcAft>
              <a:buSzPts val="1800"/>
              <a:buAutoNum type="arabicPeriod"/>
            </a:pPr>
            <a:r>
              <a:rPr b="1" lang="en-GB" sz="1800"/>
              <a:t>creating a new IoT device</a:t>
            </a:r>
            <a:endParaRPr b="1" sz="1800"/>
          </a:p>
          <a:p>
            <a:pPr indent="0" lvl="0" marL="0" rtl="0" algn="l">
              <a:spcBef>
                <a:spcPts val="1000"/>
              </a:spcBef>
              <a:spcAft>
                <a:spcPts val="0"/>
              </a:spcAft>
              <a:buNone/>
            </a:pPr>
            <a:r>
              <a:t/>
            </a:r>
            <a:endParaRPr sz="1800"/>
          </a:p>
        </p:txBody>
      </p:sp>
      <p:sp>
        <p:nvSpPr>
          <p:cNvPr id="222" name="Google Shape;222;p42"/>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Lecture 7</a:t>
            </a:r>
            <a:endParaRPr/>
          </a:p>
        </p:txBody>
      </p:sp>
      <p:sp>
        <p:nvSpPr>
          <p:cNvPr id="223" name="Google Shape;223;p42"/>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3"/>
          <p:cNvSpPr txBox="1"/>
          <p:nvPr>
            <p:ph idx="1" type="body"/>
          </p:nvPr>
        </p:nvSpPr>
        <p:spPr>
          <a:xfrm>
            <a:off x="103440" y="679875"/>
            <a:ext cx="1590900" cy="7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From this...</a:t>
            </a:r>
            <a:endParaRPr b="1" sz="1800"/>
          </a:p>
        </p:txBody>
      </p:sp>
      <p:sp>
        <p:nvSpPr>
          <p:cNvPr id="229" name="Google Shape;229;p43"/>
          <p:cNvSpPr txBox="1"/>
          <p:nvPr>
            <p:ph type="title"/>
          </p:nvPr>
        </p:nvSpPr>
        <p:spPr>
          <a:xfrm>
            <a:off x="997500" y="-8"/>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How painful…?</a:t>
            </a:r>
            <a:endParaRPr/>
          </a:p>
        </p:txBody>
      </p:sp>
      <p:sp>
        <p:nvSpPr>
          <p:cNvPr id="230" name="Google Shape;230;p43"/>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31" name="Google Shape;231;p43"/>
          <p:cNvPicPr preferRelativeResize="0"/>
          <p:nvPr/>
        </p:nvPicPr>
        <p:blipFill>
          <a:blip r:embed="rId3">
            <a:alphaModFix/>
          </a:blip>
          <a:stretch>
            <a:fillRect/>
          </a:stretch>
        </p:blipFill>
        <p:spPr>
          <a:xfrm>
            <a:off x="201725" y="1129026"/>
            <a:ext cx="1978952" cy="2638592"/>
          </a:xfrm>
          <a:prstGeom prst="rect">
            <a:avLst/>
          </a:prstGeom>
          <a:noFill/>
          <a:ln>
            <a:noFill/>
          </a:ln>
        </p:spPr>
      </p:pic>
      <p:sp>
        <p:nvSpPr>
          <p:cNvPr id="232" name="Google Shape;232;p43"/>
          <p:cNvSpPr txBox="1"/>
          <p:nvPr>
            <p:ph idx="1" type="body"/>
          </p:nvPr>
        </p:nvSpPr>
        <p:spPr>
          <a:xfrm>
            <a:off x="2799575" y="679875"/>
            <a:ext cx="1590900" cy="7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...to</a:t>
            </a:r>
            <a:r>
              <a:rPr lang="en-GB" sz="1800"/>
              <a:t> this...</a:t>
            </a:r>
            <a:endParaRPr b="1" sz="1800"/>
          </a:p>
        </p:txBody>
      </p:sp>
      <p:sp>
        <p:nvSpPr>
          <p:cNvPr id="233" name="Google Shape;233;p43"/>
          <p:cNvSpPr txBox="1"/>
          <p:nvPr>
            <p:ph idx="1" type="body"/>
          </p:nvPr>
        </p:nvSpPr>
        <p:spPr>
          <a:xfrm>
            <a:off x="4475975" y="2432475"/>
            <a:ext cx="1590900" cy="7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...via</a:t>
            </a:r>
            <a:r>
              <a:rPr lang="en-GB" sz="1800"/>
              <a:t> this...</a:t>
            </a:r>
            <a:endParaRPr b="1" sz="1800"/>
          </a:p>
        </p:txBody>
      </p:sp>
      <p:sp>
        <p:nvSpPr>
          <p:cNvPr id="234" name="Google Shape;234;p43"/>
          <p:cNvSpPr txBox="1"/>
          <p:nvPr>
            <p:ph idx="1" type="body"/>
          </p:nvPr>
        </p:nvSpPr>
        <p:spPr>
          <a:xfrm>
            <a:off x="6914375" y="679875"/>
            <a:ext cx="1590900" cy="7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...for these:</a:t>
            </a:r>
            <a:endParaRPr b="1" sz="1800"/>
          </a:p>
        </p:txBody>
      </p:sp>
      <p:pic>
        <p:nvPicPr>
          <p:cNvPr id="235" name="Google Shape;235;p43"/>
          <p:cNvPicPr preferRelativeResize="0"/>
          <p:nvPr/>
        </p:nvPicPr>
        <p:blipFill>
          <a:blip r:embed="rId4">
            <a:alphaModFix/>
          </a:blip>
          <a:stretch>
            <a:fillRect/>
          </a:stretch>
        </p:blipFill>
        <p:spPr>
          <a:xfrm>
            <a:off x="6854586" y="1648685"/>
            <a:ext cx="1738651" cy="1093163"/>
          </a:xfrm>
          <a:prstGeom prst="rect">
            <a:avLst/>
          </a:prstGeom>
          <a:noFill/>
          <a:ln>
            <a:noFill/>
          </a:ln>
        </p:spPr>
      </p:pic>
      <p:pic>
        <p:nvPicPr>
          <p:cNvPr id="236" name="Google Shape;236;p43"/>
          <p:cNvPicPr preferRelativeResize="0"/>
          <p:nvPr/>
        </p:nvPicPr>
        <p:blipFill>
          <a:blip r:embed="rId5">
            <a:alphaModFix/>
          </a:blip>
          <a:stretch>
            <a:fillRect/>
          </a:stretch>
        </p:blipFill>
        <p:spPr>
          <a:xfrm>
            <a:off x="6371675" y="1155925"/>
            <a:ext cx="2605301" cy="1634349"/>
          </a:xfrm>
          <a:prstGeom prst="rect">
            <a:avLst/>
          </a:prstGeom>
          <a:noFill/>
          <a:ln>
            <a:noFill/>
          </a:ln>
        </p:spPr>
      </p:pic>
      <p:pic>
        <p:nvPicPr>
          <p:cNvPr id="237" name="Google Shape;237;p43"/>
          <p:cNvPicPr preferRelativeResize="0"/>
          <p:nvPr/>
        </p:nvPicPr>
        <p:blipFill>
          <a:blip r:embed="rId4">
            <a:alphaModFix/>
          </a:blip>
          <a:stretch>
            <a:fillRect/>
          </a:stretch>
        </p:blipFill>
        <p:spPr>
          <a:xfrm>
            <a:off x="6797842" y="2992150"/>
            <a:ext cx="2179132" cy="1634349"/>
          </a:xfrm>
          <a:prstGeom prst="rect">
            <a:avLst/>
          </a:prstGeom>
          <a:noFill/>
          <a:ln>
            <a:noFill/>
          </a:ln>
        </p:spPr>
      </p:pic>
      <p:pic>
        <p:nvPicPr>
          <p:cNvPr id="238" name="Google Shape;238;p43"/>
          <p:cNvPicPr preferRelativeResize="0"/>
          <p:nvPr/>
        </p:nvPicPr>
        <p:blipFill>
          <a:blip r:embed="rId6">
            <a:alphaModFix/>
          </a:blip>
          <a:stretch>
            <a:fillRect/>
          </a:stretch>
        </p:blipFill>
        <p:spPr>
          <a:xfrm>
            <a:off x="4044625" y="2992156"/>
            <a:ext cx="2179125" cy="1634344"/>
          </a:xfrm>
          <a:prstGeom prst="rect">
            <a:avLst/>
          </a:prstGeom>
          <a:noFill/>
          <a:ln>
            <a:noFill/>
          </a:ln>
        </p:spPr>
      </p:pic>
      <p:pic>
        <p:nvPicPr>
          <p:cNvPr id="239" name="Google Shape;239;p43"/>
          <p:cNvPicPr preferRelativeResize="0"/>
          <p:nvPr/>
        </p:nvPicPr>
        <p:blipFill>
          <a:blip r:embed="rId7">
            <a:alphaModFix/>
          </a:blip>
          <a:stretch>
            <a:fillRect/>
          </a:stretch>
        </p:blipFill>
        <p:spPr>
          <a:xfrm>
            <a:off x="2316675" y="1146957"/>
            <a:ext cx="2179125" cy="1634344"/>
          </a:xfrm>
          <a:prstGeom prst="rect">
            <a:avLst/>
          </a:prstGeom>
          <a:noFill/>
          <a:ln>
            <a:noFill/>
          </a:ln>
        </p:spPr>
      </p:pic>
      <p:pic>
        <p:nvPicPr>
          <p:cNvPr id="240" name="Google Shape;240;p43"/>
          <p:cNvPicPr preferRelativeResize="0"/>
          <p:nvPr/>
        </p:nvPicPr>
        <p:blipFill>
          <a:blip r:embed="rId8">
            <a:alphaModFix/>
          </a:blip>
          <a:stretch>
            <a:fillRect/>
          </a:stretch>
        </p:blipFill>
        <p:spPr>
          <a:xfrm>
            <a:off x="698475" y="3677771"/>
            <a:ext cx="2248676" cy="1349200"/>
          </a:xfrm>
          <a:prstGeom prst="rect">
            <a:avLst/>
          </a:prstGeom>
          <a:noFill/>
          <a:ln>
            <a:noFill/>
          </a:ln>
        </p:spPr>
      </p:pic>
      <p:sp>
        <p:nvSpPr>
          <p:cNvPr id="241" name="Google Shape;241;p43"/>
          <p:cNvSpPr txBox="1"/>
          <p:nvPr>
            <p:ph idx="1" type="body"/>
          </p:nvPr>
        </p:nvSpPr>
        <p:spPr>
          <a:xfrm>
            <a:off x="2880257" y="3880275"/>
            <a:ext cx="1590900" cy="71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(lots of</a:t>
            </a:r>
            <a:br>
              <a:rPr lang="en-GB" sz="1800"/>
            </a:br>
            <a:r>
              <a:rPr lang="en-GB" sz="1800"/>
              <a:t>work for</a:t>
            </a:r>
            <a:br>
              <a:rPr lang="en-GB" sz="1800"/>
            </a:br>
            <a:r>
              <a:rPr lang="en-GB" sz="1800"/>
              <a:t>this!)</a:t>
            </a:r>
            <a:endParaRPr b="1"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4"/>
          <p:cNvSpPr txBox="1"/>
          <p:nvPr>
            <p:ph type="title"/>
          </p:nvPr>
        </p:nvSpPr>
        <p:spPr>
          <a:xfrm>
            <a:off x="1054525" y="279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a:t>
            </a:r>
            <a:endParaRPr/>
          </a:p>
        </p:txBody>
      </p:sp>
      <p:pic>
        <p:nvPicPr>
          <p:cNvPr id="247" name="Google Shape;247;p44"/>
          <p:cNvPicPr preferRelativeResize="0"/>
          <p:nvPr/>
        </p:nvPicPr>
        <p:blipFill rotWithShape="1">
          <a:blip r:embed="rId3">
            <a:alphaModFix/>
          </a:blip>
          <a:srcRect b="23159" l="0" r="0" t="0"/>
          <a:stretch/>
        </p:blipFill>
        <p:spPr>
          <a:xfrm>
            <a:off x="76200" y="600650"/>
            <a:ext cx="5650725" cy="3256424"/>
          </a:xfrm>
          <a:prstGeom prst="rect">
            <a:avLst/>
          </a:prstGeom>
          <a:noFill/>
          <a:ln>
            <a:noFill/>
          </a:ln>
        </p:spPr>
      </p:pic>
      <p:sp>
        <p:nvSpPr>
          <p:cNvPr id="248" name="Google Shape;248;p44"/>
          <p:cNvSpPr txBox="1"/>
          <p:nvPr/>
        </p:nvSpPr>
        <p:spPr>
          <a:xfrm>
            <a:off x="181525" y="3106275"/>
            <a:ext cx="1405200" cy="5727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headphone jack (</a:t>
            </a:r>
            <a:r>
              <a:rPr b="1" lang="en-GB"/>
              <a:t>not</a:t>
            </a:r>
            <a:r>
              <a:rPr lang="en-GB"/>
              <a:t> in 7+)</a:t>
            </a:r>
            <a:endParaRPr/>
          </a:p>
        </p:txBody>
      </p:sp>
      <p:sp>
        <p:nvSpPr>
          <p:cNvPr id="249" name="Google Shape;249;p44"/>
          <p:cNvSpPr txBox="1"/>
          <p:nvPr/>
        </p:nvSpPr>
        <p:spPr>
          <a:xfrm>
            <a:off x="3414750" y="3182475"/>
            <a:ext cx="628800" cy="3936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reset</a:t>
            </a:r>
            <a:endParaRPr/>
          </a:p>
        </p:txBody>
      </p:sp>
      <p:sp>
        <p:nvSpPr>
          <p:cNvPr id="250" name="Google Shape;250;p44"/>
          <p:cNvSpPr txBox="1"/>
          <p:nvPr/>
        </p:nvSpPr>
        <p:spPr>
          <a:xfrm>
            <a:off x="2992477" y="2150602"/>
            <a:ext cx="628800" cy="5727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IR LEDs</a:t>
            </a:r>
            <a:endParaRPr/>
          </a:p>
        </p:txBody>
      </p:sp>
      <p:sp>
        <p:nvSpPr>
          <p:cNvPr id="251" name="Google Shape;251;p44"/>
          <p:cNvSpPr txBox="1"/>
          <p:nvPr/>
        </p:nvSpPr>
        <p:spPr>
          <a:xfrm>
            <a:off x="2078075" y="3293600"/>
            <a:ext cx="1191900" cy="3936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&lt;= on/off =&gt;</a:t>
            </a:r>
            <a:endParaRPr/>
          </a:p>
        </p:txBody>
      </p:sp>
      <p:pic>
        <p:nvPicPr>
          <p:cNvPr id="252" name="Google Shape;252;p44"/>
          <p:cNvPicPr preferRelativeResize="0"/>
          <p:nvPr/>
        </p:nvPicPr>
        <p:blipFill rotWithShape="1">
          <a:blip r:embed="rId4">
            <a:alphaModFix/>
          </a:blip>
          <a:srcRect b="31123" l="17831" r="13688" t="28186"/>
          <a:stretch/>
        </p:blipFill>
        <p:spPr>
          <a:xfrm>
            <a:off x="5624626" y="3509249"/>
            <a:ext cx="3485774" cy="1553451"/>
          </a:xfrm>
          <a:prstGeom prst="rect">
            <a:avLst/>
          </a:prstGeom>
          <a:noFill/>
          <a:ln>
            <a:noFill/>
          </a:ln>
        </p:spPr>
      </p:pic>
      <p:sp>
        <p:nvSpPr>
          <p:cNvPr id="253" name="Google Shape;253;p44"/>
          <p:cNvSpPr txBox="1"/>
          <p:nvPr/>
        </p:nvSpPr>
        <p:spPr>
          <a:xfrm>
            <a:off x="7125225" y="4482475"/>
            <a:ext cx="628800" cy="5292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SD card</a:t>
            </a:r>
            <a:endParaRPr/>
          </a:p>
        </p:txBody>
      </p:sp>
      <p:sp>
        <p:nvSpPr>
          <p:cNvPr id="254" name="Google Shape;254;p44"/>
          <p:cNvSpPr txBox="1"/>
          <p:nvPr/>
        </p:nvSpPr>
        <p:spPr>
          <a:xfrm>
            <a:off x="6274500" y="3758475"/>
            <a:ext cx="628800" cy="3936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vibe</a:t>
            </a:r>
            <a:endParaRPr/>
          </a:p>
        </p:txBody>
      </p:sp>
      <p:sp>
        <p:nvSpPr>
          <p:cNvPr id="255" name="Google Shape;255;p44"/>
          <p:cNvSpPr txBox="1"/>
          <p:nvPr/>
        </p:nvSpPr>
        <p:spPr>
          <a:xfrm>
            <a:off x="4918625" y="2665750"/>
            <a:ext cx="879300" cy="11913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a:t>USB power and serial (C in 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5"/>
          <p:cNvSpPr txBox="1"/>
          <p:nvPr>
            <p:ph idx="1" type="body"/>
          </p:nvPr>
        </p:nvSpPr>
        <p:spPr>
          <a:xfrm>
            <a:off x="125850" y="778475"/>
            <a:ext cx="8340000" cy="384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Stages:</a:t>
            </a:r>
            <a:endParaRPr sz="1800"/>
          </a:p>
          <a:p>
            <a:pPr indent="-342900" lvl="0" marL="457200" marR="0" rtl="0" algn="l">
              <a:lnSpc>
                <a:spcPct val="115000"/>
              </a:lnSpc>
              <a:spcBef>
                <a:spcPts val="0"/>
              </a:spcBef>
              <a:spcAft>
                <a:spcPts val="0"/>
              </a:spcAft>
              <a:buClr>
                <a:schemeClr val="dk1"/>
              </a:buClr>
              <a:buSzPts val="1800"/>
              <a:buFont typeface="Arial"/>
              <a:buChar char="●"/>
            </a:pPr>
            <a:r>
              <a:rPr lang="en-GB" sz="1800"/>
              <a:t>breadboarding</a:t>
            </a:r>
            <a:endParaRPr sz="1800"/>
          </a:p>
          <a:p>
            <a:pPr indent="-342900" lvl="0" marL="457200" marR="0" rtl="0" algn="l">
              <a:lnSpc>
                <a:spcPct val="115000"/>
              </a:lnSpc>
              <a:spcBef>
                <a:spcPts val="0"/>
              </a:spcBef>
              <a:spcAft>
                <a:spcPts val="0"/>
              </a:spcAft>
              <a:buSzPts val="1800"/>
              <a:buChar char="●"/>
            </a:pPr>
            <a:r>
              <a:rPr lang="en-GB" sz="1800"/>
              <a:t>stripboarding</a:t>
            </a:r>
            <a:endParaRPr sz="1800"/>
          </a:p>
          <a:p>
            <a:pPr indent="-342900" lvl="0" marL="457200" marR="0" rtl="0" algn="l">
              <a:lnSpc>
                <a:spcPct val="115000"/>
              </a:lnSpc>
              <a:spcBef>
                <a:spcPts val="0"/>
              </a:spcBef>
              <a:spcAft>
                <a:spcPts val="0"/>
              </a:spcAft>
              <a:buSzPts val="1800"/>
              <a:buChar char="●"/>
            </a:pPr>
            <a:r>
              <a:rPr lang="en-GB" sz="1800"/>
              <a:t>testing testing testing!</a:t>
            </a:r>
            <a:endParaRPr sz="1800"/>
          </a:p>
          <a:p>
            <a:pPr indent="-342900" lvl="1" marL="914400" marR="0" rtl="0" algn="l">
              <a:lnSpc>
                <a:spcPct val="115000"/>
              </a:lnSpc>
              <a:spcBef>
                <a:spcPts val="0"/>
              </a:spcBef>
              <a:spcAft>
                <a:spcPts val="0"/>
              </a:spcAft>
              <a:buSzPts val="1800"/>
              <a:buChar char="○"/>
            </a:pPr>
            <a:r>
              <a:rPr lang="en-GB" sz="1800"/>
              <a:t>no one likes a wet factory :(</a:t>
            </a:r>
            <a:endParaRPr sz="1800"/>
          </a:p>
          <a:p>
            <a:pPr indent="-342900" lvl="0" marL="457200" marR="0" rtl="0" algn="l">
              <a:lnSpc>
                <a:spcPct val="115000"/>
              </a:lnSpc>
              <a:spcBef>
                <a:spcPts val="0"/>
              </a:spcBef>
              <a:spcAft>
                <a:spcPts val="0"/>
              </a:spcAft>
              <a:buSzPts val="1800"/>
              <a:buChar char="●"/>
            </a:pPr>
            <a:r>
              <a:rPr lang="en-GB" sz="1800"/>
              <a:t>proof of concept? demand?</a:t>
            </a:r>
            <a:endParaRPr sz="1800"/>
          </a:p>
          <a:p>
            <a:pPr indent="-342900" lvl="0" marL="457200" marR="0" rtl="0" algn="l">
              <a:lnSpc>
                <a:spcPct val="115000"/>
              </a:lnSpc>
              <a:spcBef>
                <a:spcPts val="0"/>
              </a:spcBef>
              <a:spcAft>
                <a:spcPts val="0"/>
              </a:spcAft>
              <a:buSzPts val="1800"/>
              <a:buChar char="●"/>
            </a:pPr>
            <a:r>
              <a:rPr lang="en-GB" sz="1800"/>
              <a:t>creating a circuit board…</a:t>
            </a:r>
            <a:endParaRPr sz="1800"/>
          </a:p>
          <a:p>
            <a:pPr indent="-342900" lvl="0" marL="457200" marR="0" rtl="0" algn="l">
              <a:lnSpc>
                <a:spcPct val="115000"/>
              </a:lnSpc>
              <a:spcBef>
                <a:spcPts val="0"/>
              </a:spcBef>
              <a:spcAft>
                <a:spcPts val="0"/>
              </a:spcAft>
              <a:buSzPts val="1800"/>
              <a:buChar char="●"/>
            </a:pPr>
            <a:r>
              <a:rPr lang="en-GB" sz="1800"/>
              <a:t>bringing up the board: if chip X</a:t>
            </a:r>
            <a:br>
              <a:rPr lang="en-GB" sz="1800"/>
            </a:br>
            <a:r>
              <a:rPr lang="en-GB" sz="1800"/>
              <a:t>doesn’t work, reach for the</a:t>
            </a:r>
            <a:br>
              <a:rPr lang="en-GB" sz="1800"/>
            </a:br>
            <a:r>
              <a:rPr lang="en-GB" sz="1800"/>
              <a:t>scope…</a:t>
            </a:r>
            <a:endParaRPr sz="1800"/>
          </a:p>
          <a:p>
            <a:pPr indent="-342900" lvl="0" marL="457200" marR="0" rtl="0" algn="l">
              <a:lnSpc>
                <a:spcPct val="115000"/>
              </a:lnSpc>
              <a:spcBef>
                <a:spcPts val="0"/>
              </a:spcBef>
              <a:spcAft>
                <a:spcPts val="0"/>
              </a:spcAft>
              <a:buSzPts val="1800"/>
              <a:buChar char="●"/>
            </a:pPr>
            <a:r>
              <a:rPr lang="en-GB" sz="1800"/>
              <a:t>writing a firmware test harness</a:t>
            </a:r>
            <a:endParaRPr sz="1800"/>
          </a:p>
          <a:p>
            <a:pPr indent="-342900" lvl="0" marL="457200" marR="0" rtl="0" algn="l">
              <a:lnSpc>
                <a:spcPct val="115000"/>
              </a:lnSpc>
              <a:spcBef>
                <a:spcPts val="0"/>
              </a:spcBef>
              <a:spcAft>
                <a:spcPts val="0"/>
              </a:spcAft>
              <a:buSzPts val="1800"/>
              <a:buChar char="●"/>
            </a:pPr>
            <a:r>
              <a:rPr lang="en-GB" sz="1800"/>
              <a:t>applications time!</a:t>
            </a:r>
            <a:endParaRPr sz="1800"/>
          </a:p>
        </p:txBody>
      </p:sp>
      <p:sp>
        <p:nvSpPr>
          <p:cNvPr id="261" name="Google Shape;261;p45"/>
          <p:cNvSpPr txBox="1"/>
          <p:nvPr>
            <p:ph type="title"/>
          </p:nvPr>
        </p:nvSpPr>
        <p:spPr>
          <a:xfrm>
            <a:off x="997500" y="0"/>
            <a:ext cx="307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Creating a new IoT device</a:t>
            </a:r>
            <a:endParaRPr/>
          </a:p>
        </p:txBody>
      </p:sp>
      <p:sp>
        <p:nvSpPr>
          <p:cNvPr id="262" name="Google Shape;262;p45"/>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63" name="Google Shape;263;p45"/>
          <p:cNvPicPr preferRelativeResize="0"/>
          <p:nvPr/>
        </p:nvPicPr>
        <p:blipFill>
          <a:blip r:embed="rId3">
            <a:alphaModFix/>
          </a:blip>
          <a:stretch>
            <a:fillRect/>
          </a:stretch>
        </p:blipFill>
        <p:spPr>
          <a:xfrm>
            <a:off x="3988174" y="0"/>
            <a:ext cx="5143500"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6"/>
          <p:cNvSpPr txBox="1"/>
          <p:nvPr>
            <p:ph idx="1" type="body"/>
          </p:nvPr>
        </p:nvSpPr>
        <p:spPr>
          <a:xfrm>
            <a:off x="125850" y="702275"/>
            <a:ext cx="3977700" cy="38466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GB" sz="1800"/>
              <a:t>Developing schematics (in Eagle, or KiCAD)</a:t>
            </a:r>
            <a:endParaRPr sz="1800"/>
          </a:p>
          <a:p>
            <a:pPr indent="-342900" lvl="0" marL="457200" marR="0" rtl="0" algn="l">
              <a:lnSpc>
                <a:spcPct val="115000"/>
              </a:lnSpc>
              <a:spcBef>
                <a:spcPts val="0"/>
              </a:spcBef>
              <a:spcAft>
                <a:spcPts val="0"/>
              </a:spcAft>
              <a:buSzPts val="1800"/>
              <a:buChar char="●"/>
            </a:pPr>
            <a:r>
              <a:rPr lang="en-GB" sz="1800"/>
              <a:t>logical level circuit diagrams ==&gt;</a:t>
            </a:r>
            <a:endParaRPr sz="1800"/>
          </a:p>
          <a:p>
            <a:pPr indent="-342900" lvl="0" marL="457200" marR="0" rtl="0" algn="l">
              <a:lnSpc>
                <a:spcPct val="115000"/>
              </a:lnSpc>
              <a:spcBef>
                <a:spcPts val="0"/>
              </a:spcBef>
              <a:spcAft>
                <a:spcPts val="0"/>
              </a:spcAft>
              <a:buSzPts val="1800"/>
              <a:buChar char="●"/>
            </a:pPr>
            <a:r>
              <a:rPr lang="en-GB" sz="1800"/>
              <a:t>building on Adafruit’s open</a:t>
            </a:r>
            <a:br>
              <a:rPr lang="en-GB" sz="1800"/>
            </a:br>
            <a:r>
              <a:rPr lang="en-GB" sz="1800"/>
              <a:t>hardware designs &amp; Gareth &amp; Pimoroni’s expertise</a:t>
            </a:r>
            <a:endParaRPr sz="1800"/>
          </a:p>
          <a:p>
            <a:pPr indent="0" lvl="0" marL="0" marR="0" rtl="0" algn="l">
              <a:lnSpc>
                <a:spcPct val="115000"/>
              </a:lnSpc>
              <a:spcBef>
                <a:spcPts val="0"/>
              </a:spcBef>
              <a:spcAft>
                <a:spcPts val="0"/>
              </a:spcAft>
              <a:buNone/>
            </a:pPr>
            <a:r>
              <a:t/>
            </a:r>
            <a:endParaRPr sz="1800"/>
          </a:p>
          <a:p>
            <a:pPr indent="-342900" lvl="0" marL="457200" marR="0" rtl="0" algn="l">
              <a:lnSpc>
                <a:spcPct val="115000"/>
              </a:lnSpc>
              <a:spcBef>
                <a:spcPts val="0"/>
              </a:spcBef>
              <a:spcAft>
                <a:spcPts val="0"/>
              </a:spcAft>
              <a:buSzPts val="1800"/>
              <a:buChar char="●"/>
            </a:pPr>
            <a:r>
              <a:rPr lang="en-GB" sz="1800"/>
              <a:t>PCB (printed circuit board)</a:t>
            </a:r>
            <a:br>
              <a:rPr lang="en-GB" sz="1800"/>
            </a:br>
            <a:r>
              <a:rPr lang="en-GB" sz="1800"/>
              <a:t>routing diagrams =======&gt;</a:t>
            </a:r>
            <a:endParaRPr sz="1800"/>
          </a:p>
          <a:p>
            <a:pPr indent="-342900" lvl="0" marL="457200" marR="0" rtl="0" algn="l">
              <a:lnSpc>
                <a:spcPct val="115000"/>
              </a:lnSpc>
              <a:spcBef>
                <a:spcPts val="0"/>
              </a:spcBef>
              <a:spcAft>
                <a:spcPts val="0"/>
              </a:spcAft>
              <a:buSzPts val="1800"/>
              <a:buChar char="●"/>
            </a:pPr>
            <a:r>
              <a:rPr lang="en-GB" sz="1800"/>
              <a:t>send away for PCBs and </a:t>
            </a:r>
            <a:br>
              <a:rPr lang="en-GB" sz="1800"/>
            </a:br>
            <a:r>
              <a:rPr lang="en-GB" sz="1800"/>
              <a:t>a stencil, and...</a:t>
            </a:r>
            <a:endParaRPr sz="1800"/>
          </a:p>
        </p:txBody>
      </p:sp>
      <p:sp>
        <p:nvSpPr>
          <p:cNvPr id="269" name="Google Shape;269;p46"/>
          <p:cNvSpPr txBox="1"/>
          <p:nvPr>
            <p:ph type="title"/>
          </p:nvPr>
        </p:nvSpPr>
        <p:spPr>
          <a:xfrm>
            <a:off x="845100" y="-152400"/>
            <a:ext cx="307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From circuit</a:t>
            </a:r>
            <a:br>
              <a:rPr lang="en-GB"/>
            </a:br>
            <a:r>
              <a:rPr lang="en-GB"/>
              <a:t>to board</a:t>
            </a:r>
            <a:endParaRPr/>
          </a:p>
        </p:txBody>
      </p:sp>
      <p:sp>
        <p:nvSpPr>
          <p:cNvPr id="270" name="Google Shape;270;p46"/>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71" name="Google Shape;271;p46"/>
          <p:cNvPicPr preferRelativeResize="0"/>
          <p:nvPr/>
        </p:nvPicPr>
        <p:blipFill>
          <a:blip r:embed="rId3">
            <a:alphaModFix/>
          </a:blip>
          <a:stretch>
            <a:fillRect/>
          </a:stretch>
        </p:blipFill>
        <p:spPr>
          <a:xfrm>
            <a:off x="4103600" y="39300"/>
            <a:ext cx="4964198" cy="2792351"/>
          </a:xfrm>
          <a:prstGeom prst="rect">
            <a:avLst/>
          </a:prstGeom>
          <a:noFill/>
          <a:ln>
            <a:noFill/>
          </a:ln>
        </p:spPr>
      </p:pic>
      <p:pic>
        <p:nvPicPr>
          <p:cNvPr id="272" name="Google Shape;272;p46"/>
          <p:cNvPicPr preferRelativeResize="0"/>
          <p:nvPr/>
        </p:nvPicPr>
        <p:blipFill>
          <a:blip r:embed="rId4">
            <a:alphaModFix/>
          </a:blip>
          <a:stretch>
            <a:fillRect/>
          </a:stretch>
        </p:blipFill>
        <p:spPr>
          <a:xfrm rot="5400000">
            <a:off x="4381497" y="2100800"/>
            <a:ext cx="2233850" cy="38047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7"/>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Bung it in the pick’n’place machine</a:t>
            </a:r>
            <a:endParaRPr/>
          </a:p>
        </p:txBody>
      </p:sp>
      <p:sp>
        <p:nvSpPr>
          <p:cNvPr id="278" name="Google Shape;278;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79" name="Google Shape;279;p47"/>
          <p:cNvPicPr preferRelativeResize="0"/>
          <p:nvPr/>
        </p:nvPicPr>
        <p:blipFill rotWithShape="1">
          <a:blip r:embed="rId3">
            <a:alphaModFix/>
          </a:blip>
          <a:srcRect b="-832" l="0" r="0" t="20050"/>
          <a:stretch/>
        </p:blipFill>
        <p:spPr>
          <a:xfrm>
            <a:off x="397000" y="724463"/>
            <a:ext cx="8349997" cy="37943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8"/>
          <p:cNvSpPr txBox="1"/>
          <p:nvPr>
            <p:ph type="title"/>
          </p:nvPr>
        </p:nvSpPr>
        <p:spPr>
          <a:xfrm>
            <a:off x="997500" y="7295"/>
            <a:ext cx="72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Load in a bunch of rolls of components...</a:t>
            </a:r>
            <a:endParaRPr/>
          </a:p>
        </p:txBody>
      </p:sp>
      <p:sp>
        <p:nvSpPr>
          <p:cNvPr id="285" name="Google Shape;285;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86" name="Google Shape;286;p48" title="20180716_144545.mp4">
            <a:hlinkClick r:id="rId3"/>
          </p:cNvPr>
          <p:cNvPicPr preferRelativeResize="0"/>
          <p:nvPr/>
        </p:nvPicPr>
        <p:blipFill>
          <a:blip r:embed="rId4">
            <a:alphaModFix/>
          </a:blip>
          <a:stretch>
            <a:fillRect/>
          </a:stretch>
        </p:blipFill>
        <p:spPr>
          <a:xfrm>
            <a:off x="1828800" y="732401"/>
            <a:ext cx="5306774" cy="39800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9"/>
          <p:cNvSpPr txBox="1"/>
          <p:nvPr>
            <p:ph type="title"/>
          </p:nvPr>
        </p:nvSpPr>
        <p:spPr>
          <a:xfrm>
            <a:off x="971175" y="51125"/>
            <a:ext cx="7308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Applying solder paste to the bare board</a:t>
            </a:r>
            <a:endParaRPr/>
          </a:p>
        </p:txBody>
      </p:sp>
      <p:sp>
        <p:nvSpPr>
          <p:cNvPr id="292" name="Google Shape;292;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293" name="Google Shape;293;p49"/>
          <p:cNvPicPr preferRelativeResize="0"/>
          <p:nvPr/>
        </p:nvPicPr>
        <p:blipFill>
          <a:blip r:embed="rId3">
            <a:alphaModFix/>
          </a:blip>
          <a:stretch>
            <a:fillRect/>
          </a:stretch>
        </p:blipFill>
        <p:spPr>
          <a:xfrm>
            <a:off x="1667873" y="776224"/>
            <a:ext cx="7126030" cy="4008401"/>
          </a:xfrm>
          <a:prstGeom prst="rect">
            <a:avLst/>
          </a:prstGeom>
          <a:noFill/>
          <a:ln>
            <a:noFill/>
          </a:ln>
        </p:spPr>
      </p:pic>
      <p:pic>
        <p:nvPicPr>
          <p:cNvPr id="294" name="Google Shape;294;p49" title="20180716_143421.mp4">
            <a:hlinkClick r:id="rId4"/>
          </p:cNvPr>
          <p:cNvPicPr preferRelativeResize="0"/>
          <p:nvPr/>
        </p:nvPicPr>
        <p:blipFill>
          <a:blip r:embed="rId5">
            <a:alphaModFix/>
          </a:blip>
          <a:stretch>
            <a:fillRect/>
          </a:stretch>
        </p:blipFill>
        <p:spPr>
          <a:xfrm>
            <a:off x="251650" y="776225"/>
            <a:ext cx="5520576" cy="31053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0"/>
          <p:cNvSpPr txBox="1"/>
          <p:nvPr>
            <p:ph type="title"/>
          </p:nvPr>
        </p:nvSpPr>
        <p:spPr>
          <a:xfrm>
            <a:off x="4249625" y="445025"/>
            <a:ext cx="4582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Pick and place robot</a:t>
            </a:r>
            <a:endParaRPr/>
          </a:p>
        </p:txBody>
      </p:sp>
      <p:sp>
        <p:nvSpPr>
          <p:cNvPr id="300" name="Google Shape;300;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01" name="Google Shape;301;p50" title="20180716_151553.mp4">
            <a:hlinkClick r:id="rId3"/>
          </p:cNvPr>
          <p:cNvPicPr preferRelativeResize="0"/>
          <p:nvPr/>
        </p:nvPicPr>
        <p:blipFill>
          <a:blip r:embed="rId4">
            <a:alphaModFix/>
          </a:blip>
          <a:stretch>
            <a:fillRect/>
          </a:stretch>
        </p:blipFill>
        <p:spPr>
          <a:xfrm>
            <a:off x="1235625" y="-12"/>
            <a:ext cx="2866158" cy="5095373"/>
          </a:xfrm>
          <a:prstGeom prst="rect">
            <a:avLst/>
          </a:prstGeom>
          <a:noFill/>
          <a:ln>
            <a:noFill/>
          </a:ln>
          <a:effectLst>
            <a:outerShdw blurRad="57150" rotWithShape="0" algn="bl" dir="5400000" dist="19050">
              <a:srgbClr val="000000">
                <a:alpha val="50000"/>
              </a:srgbClr>
            </a:outerShdw>
          </a:effectLst>
        </p:spPr>
      </p:pic>
      <p:pic>
        <p:nvPicPr>
          <p:cNvPr id="302" name="Google Shape;302;p50"/>
          <p:cNvPicPr preferRelativeResize="0"/>
          <p:nvPr/>
        </p:nvPicPr>
        <p:blipFill>
          <a:blip r:embed="rId5">
            <a:alphaModFix/>
          </a:blip>
          <a:stretch>
            <a:fillRect/>
          </a:stretch>
        </p:blipFill>
        <p:spPr>
          <a:xfrm>
            <a:off x="6768783" y="1246325"/>
            <a:ext cx="2149780" cy="3820974"/>
          </a:xfrm>
          <a:prstGeom prst="rect">
            <a:avLst/>
          </a:prstGeom>
          <a:noFill/>
          <a:ln>
            <a:noFill/>
          </a:ln>
        </p:spPr>
      </p:pic>
      <p:pic>
        <p:nvPicPr>
          <p:cNvPr id="303" name="Google Shape;303;p50"/>
          <p:cNvPicPr preferRelativeResize="0"/>
          <p:nvPr/>
        </p:nvPicPr>
        <p:blipFill>
          <a:blip r:embed="rId6">
            <a:alphaModFix/>
          </a:blip>
          <a:stretch>
            <a:fillRect/>
          </a:stretch>
        </p:blipFill>
        <p:spPr>
          <a:xfrm>
            <a:off x="4406583" y="1246325"/>
            <a:ext cx="2149780" cy="38209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1"/>
          <p:cNvSpPr txBox="1"/>
          <p:nvPr>
            <p:ph type="title"/>
          </p:nvPr>
        </p:nvSpPr>
        <p:spPr>
          <a:xfrm>
            <a:off x="1054525" y="1041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Carefully apply the hotness</a:t>
            </a:r>
            <a:endParaRPr/>
          </a:p>
        </p:txBody>
      </p:sp>
      <p:sp>
        <p:nvSpPr>
          <p:cNvPr id="309" name="Google Shape;309;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10" name="Google Shape;310;p51"/>
          <p:cNvPicPr preferRelativeResize="0"/>
          <p:nvPr/>
        </p:nvPicPr>
        <p:blipFill>
          <a:blip r:embed="rId3">
            <a:alphaModFix/>
          </a:blip>
          <a:stretch>
            <a:fillRect/>
          </a:stretch>
        </p:blipFill>
        <p:spPr>
          <a:xfrm>
            <a:off x="4918199" y="2691825"/>
            <a:ext cx="3914102" cy="2201674"/>
          </a:xfrm>
          <a:prstGeom prst="rect">
            <a:avLst/>
          </a:prstGeom>
          <a:noFill/>
          <a:ln>
            <a:noFill/>
          </a:ln>
        </p:spPr>
      </p:pic>
      <p:pic>
        <p:nvPicPr>
          <p:cNvPr id="311" name="Google Shape;311;p51" title="20180716_152940.mp4">
            <a:hlinkClick r:id="rId4"/>
          </p:cNvPr>
          <p:cNvPicPr preferRelativeResize="0"/>
          <p:nvPr/>
        </p:nvPicPr>
        <p:blipFill>
          <a:blip r:embed="rId5">
            <a:alphaModFix/>
          </a:blip>
          <a:stretch>
            <a:fillRect/>
          </a:stretch>
        </p:blipFill>
        <p:spPr>
          <a:xfrm>
            <a:off x="387900" y="1017726"/>
            <a:ext cx="5293200" cy="2977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2"/>
          <p:cNvSpPr txBox="1"/>
          <p:nvPr>
            <p:ph type="title"/>
          </p:nvPr>
        </p:nvSpPr>
        <p:spPr>
          <a:xfrm>
            <a:off x="1054525" y="10415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Yet more video…</a:t>
            </a:r>
            <a:endParaRPr/>
          </a:p>
        </p:txBody>
      </p:sp>
      <p:sp>
        <p:nvSpPr>
          <p:cNvPr id="317" name="Google Shape;317;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descr="Read all about our new Europlacer PCB assembly line here: http://blog.pimoroni.com/our-new-manufacturing-line" id="318" name="Google Shape;318;p52" title="Our new Europlacer pick and place machine">
            <a:hlinkClick r:id="rId3"/>
          </p:cNvPr>
          <p:cNvPicPr preferRelativeResize="0"/>
          <p:nvPr/>
        </p:nvPicPr>
        <p:blipFill>
          <a:blip r:embed="rId4">
            <a:alphaModFix/>
          </a:blip>
          <a:stretch>
            <a:fillRect/>
          </a:stretch>
        </p:blipFill>
        <p:spPr>
          <a:xfrm>
            <a:off x="990600" y="829250"/>
            <a:ext cx="7261775" cy="4084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3"/>
          <p:cNvSpPr txBox="1"/>
          <p:nvPr>
            <p:ph type="title"/>
          </p:nvPr>
        </p:nvSpPr>
        <p:spPr>
          <a:xfrm>
            <a:off x="997500" y="-76200"/>
            <a:ext cx="7131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Getting it right: 9 hardware iterations</a:t>
            </a:r>
            <a:endParaRPr/>
          </a:p>
        </p:txBody>
      </p:sp>
      <p:sp>
        <p:nvSpPr>
          <p:cNvPr id="324" name="Google Shape;324;p53"/>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25" name="Google Shape;325;p53"/>
          <p:cNvPicPr preferRelativeResize="0"/>
          <p:nvPr/>
        </p:nvPicPr>
        <p:blipFill rotWithShape="1">
          <a:blip r:embed="rId3">
            <a:alphaModFix/>
          </a:blip>
          <a:srcRect b="18679" l="5693" r="12379" t="23416"/>
          <a:stretch/>
        </p:blipFill>
        <p:spPr>
          <a:xfrm>
            <a:off x="768600" y="478475"/>
            <a:ext cx="7463949" cy="2967350"/>
          </a:xfrm>
          <a:prstGeom prst="rect">
            <a:avLst/>
          </a:prstGeom>
          <a:noFill/>
          <a:ln>
            <a:noFill/>
          </a:ln>
        </p:spPr>
      </p:pic>
      <p:sp>
        <p:nvSpPr>
          <p:cNvPr id="326" name="Google Shape;326;p53"/>
          <p:cNvSpPr txBox="1"/>
          <p:nvPr/>
        </p:nvSpPr>
        <p:spPr>
          <a:xfrm>
            <a:off x="1030950" y="3377450"/>
            <a:ext cx="7990200" cy="45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1"/>
                </a:solidFill>
              </a:rPr>
              <a:t>From left to right:</a:t>
            </a:r>
            <a:endParaRPr sz="1800">
              <a:solidFill>
                <a:schemeClr val="dk1"/>
              </a:solidFill>
            </a:endParaRPr>
          </a:p>
          <a:p>
            <a:pPr indent="-342900" lvl="0" marL="457200" rtl="0" algn="l">
              <a:spcBef>
                <a:spcPts val="0"/>
              </a:spcBef>
              <a:spcAft>
                <a:spcPts val="0"/>
              </a:spcAft>
              <a:buClr>
                <a:schemeClr val="dk1"/>
              </a:buClr>
              <a:buSzPts val="1800"/>
              <a:buChar char="●"/>
            </a:pPr>
            <a:r>
              <a:rPr lang="en-GB" sz="1800">
                <a:solidFill>
                  <a:schemeClr val="dk1"/>
                </a:solidFill>
              </a:rPr>
              <a:t>first pcb version (buttons are for programming and reset),</a:t>
            </a:r>
            <a:endParaRPr sz="1800">
              <a:solidFill>
                <a:schemeClr val="dk1"/>
              </a:solidFill>
            </a:endParaRPr>
          </a:p>
          <a:p>
            <a:pPr indent="-342900" lvl="0" marL="457200" rtl="0" algn="l">
              <a:spcBef>
                <a:spcPts val="0"/>
              </a:spcBef>
              <a:spcAft>
                <a:spcPts val="0"/>
              </a:spcAft>
              <a:buClr>
                <a:schemeClr val="dk1"/>
              </a:buClr>
              <a:buSzPts val="1800"/>
              <a:buChar char="●"/>
            </a:pPr>
            <a:r>
              <a:rPr lang="en-GB" sz="1800">
                <a:solidFill>
                  <a:schemeClr val="dk1"/>
                </a:solidFill>
              </a:rPr>
              <a:t>second with auto-programming,</a:t>
            </a:r>
            <a:endParaRPr sz="1800">
              <a:solidFill>
                <a:schemeClr val="dk1"/>
              </a:solidFill>
            </a:endParaRPr>
          </a:p>
          <a:p>
            <a:pPr indent="-342900" lvl="0" marL="457200" rtl="0" algn="l">
              <a:spcBef>
                <a:spcPts val="0"/>
              </a:spcBef>
              <a:spcAft>
                <a:spcPts val="0"/>
              </a:spcAft>
              <a:buClr>
                <a:schemeClr val="dk1"/>
              </a:buClr>
              <a:buSzPts val="1800"/>
              <a:buChar char="●"/>
            </a:pPr>
            <a:r>
              <a:rPr lang="en-GB" sz="1800">
                <a:solidFill>
                  <a:schemeClr val="dk1"/>
                </a:solidFill>
              </a:rPr>
              <a:t>third with new expander to handle the SPI CS (chip selects) and etc. (e.g. backlight),</a:t>
            </a:r>
            <a:endParaRPr sz="1800">
              <a:solidFill>
                <a:schemeClr val="dk1"/>
              </a:solidFill>
            </a:endParaRPr>
          </a:p>
          <a:p>
            <a:pPr indent="-342900" lvl="0" marL="457200" rtl="0" algn="l">
              <a:spcBef>
                <a:spcPts val="0"/>
              </a:spcBef>
              <a:spcAft>
                <a:spcPts val="0"/>
              </a:spcAft>
              <a:buClr>
                <a:schemeClr val="dk1"/>
              </a:buClr>
              <a:buSzPts val="1800"/>
              <a:buChar char="●"/>
            </a:pPr>
            <a:r>
              <a:rPr lang="en-GB" sz="1800">
                <a:solidFill>
                  <a:schemeClr val="dk1"/>
                </a:solidFill>
              </a:rPr>
              <a:t>and version 4 with more minor fixes; this was the first COM3505 version</a:t>
            </a:r>
            <a:endParaRPr sz="1800">
              <a:solidFill>
                <a:schemeClr val="dk1"/>
              </a:solidFill>
            </a:endParaRPr>
          </a:p>
          <a:p>
            <a:pPr indent="0" lvl="0" marL="0" rtl="0" algn="l">
              <a:spcBef>
                <a:spcPts val="0"/>
              </a:spcBef>
              <a:spcAft>
                <a:spcPts val="0"/>
              </a:spcAft>
              <a:buNone/>
            </a:pPr>
            <a:r>
              <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4"/>
          <p:cNvSpPr txBox="1"/>
          <p:nvPr>
            <p:ph type="title"/>
          </p:nvPr>
        </p:nvSpPr>
        <p:spPr>
          <a:xfrm>
            <a:off x="768900" y="-136430"/>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It’s a thing! </a:t>
            </a:r>
            <a:r>
              <a:rPr lang="en-GB" sz="1800"/>
              <a:t>(v4: 31st Jan-8th Nov 2018: 9 months proposal to delivery!)</a:t>
            </a:r>
            <a:endParaRPr sz="1800"/>
          </a:p>
        </p:txBody>
      </p:sp>
      <p:sp>
        <p:nvSpPr>
          <p:cNvPr id="332" name="Google Shape;332;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333" name="Google Shape;333;p54"/>
          <p:cNvPicPr preferRelativeResize="0"/>
          <p:nvPr/>
        </p:nvPicPr>
        <p:blipFill rotWithShape="1">
          <a:blip r:embed="rId3">
            <a:alphaModFix/>
          </a:blip>
          <a:srcRect b="9011" l="0" r="0" t="14166"/>
          <a:stretch/>
        </p:blipFill>
        <p:spPr>
          <a:xfrm>
            <a:off x="235150" y="647700"/>
            <a:ext cx="2742100" cy="3744998"/>
          </a:xfrm>
          <a:prstGeom prst="rect">
            <a:avLst/>
          </a:prstGeom>
          <a:noFill/>
          <a:ln>
            <a:noFill/>
          </a:ln>
        </p:spPr>
      </p:pic>
      <p:sp>
        <p:nvSpPr>
          <p:cNvPr id="334" name="Google Shape;334;p54"/>
          <p:cNvSpPr txBox="1"/>
          <p:nvPr>
            <p:ph idx="2" type="body"/>
          </p:nvPr>
        </p:nvSpPr>
        <p:spPr>
          <a:xfrm>
            <a:off x="2876350" y="237550"/>
            <a:ext cx="6179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Bringing the board up: messy!</a:t>
            </a:r>
            <a:endParaRPr/>
          </a:p>
          <a:p>
            <a:pPr indent="-317500" lvl="0" marL="457200" rtl="0" algn="l">
              <a:spcBef>
                <a:spcPts val="0"/>
              </a:spcBef>
              <a:spcAft>
                <a:spcPts val="0"/>
              </a:spcAft>
              <a:buSzPts val="1400"/>
              <a:buChar char="●"/>
            </a:pPr>
            <a:r>
              <a:rPr lang="en-GB"/>
              <a:t>when things don’t work as expected there’s no knowing whether it is the hardware or the code that’s at fault; lots of painful debugging with an oscilloscope!</a:t>
            </a:r>
            <a:endParaRPr/>
          </a:p>
          <a:p>
            <a:pPr indent="-317500" lvl="0" marL="457200" rtl="0" algn="l">
              <a:spcBef>
                <a:spcPts val="0"/>
              </a:spcBef>
              <a:spcAft>
                <a:spcPts val="0"/>
              </a:spcAft>
              <a:buSzPts val="1400"/>
              <a:buChar char="●"/>
            </a:pPr>
            <a:r>
              <a:rPr lang="en-GB"/>
              <a:t>unintended consequences: “I know, let’s add an IO expander!”</a:t>
            </a:r>
            <a:endParaRPr/>
          </a:p>
          <a:p>
            <a:pPr indent="-317500" lvl="0" marL="457200" rtl="0" algn="l">
              <a:spcBef>
                <a:spcPts val="0"/>
              </a:spcBef>
              <a:spcAft>
                <a:spcPts val="0"/>
              </a:spcAft>
              <a:buSzPts val="1400"/>
              <a:buChar char="●"/>
            </a:pPr>
            <a:r>
              <a:rPr b="1" lang="en-GB"/>
              <a:t>adds lots of connectivity</a:t>
            </a:r>
            <a:r>
              <a:rPr lang="en-GB"/>
              <a:t> by shunting the chip select lines of the various modules onto an expander chip (TCA9555, on I2C)  :-) </a:t>
            </a:r>
            <a:endParaRPr/>
          </a:p>
          <a:p>
            <a:pPr indent="-317500" lvl="0" marL="457200" rtl="0" algn="l">
              <a:spcBef>
                <a:spcPts val="0"/>
              </a:spcBef>
              <a:spcAft>
                <a:spcPts val="0"/>
              </a:spcAft>
              <a:buSzPts val="1400"/>
              <a:buChar char="●"/>
            </a:pPr>
            <a:r>
              <a:rPr lang="en-GB"/>
              <a:t>means that </a:t>
            </a:r>
            <a:r>
              <a:rPr b="1" lang="en-GB"/>
              <a:t>none of the libraries work</a:t>
            </a:r>
            <a:r>
              <a:rPr lang="en-GB"/>
              <a:t> any more  :-(</a:t>
            </a:r>
            <a:br>
              <a:rPr lang="en-GB"/>
            </a:br>
            <a:r>
              <a:rPr lang="en-GB"/>
              <a:t>because they use digitalWrite(PIN, HIGH) internally</a:t>
            </a:r>
            <a:endParaRPr/>
          </a:p>
          <a:p>
            <a:pPr indent="-317500" lvl="0" marL="457200" rtl="0" algn="l">
              <a:spcBef>
                <a:spcPts val="0"/>
              </a:spcBef>
              <a:spcAft>
                <a:spcPts val="0"/>
              </a:spcAft>
              <a:buSzPts val="1400"/>
              <a:buChar char="●"/>
            </a:pPr>
            <a:r>
              <a:rPr lang="en-GB"/>
              <a:t>so now we have an IOExpander class that we inject into libs:</a:t>
            </a:r>
            <a:br>
              <a:rPr lang="en-GB"/>
            </a:br>
            <a:r>
              <a:rPr lang="en-GB" sz="1100">
                <a:solidFill>
                  <a:srgbClr val="004A43"/>
                </a:solidFill>
                <a:highlight>
                  <a:srgbClr val="FFFFFF"/>
                </a:highlight>
              </a:rPr>
              <a:t>#include </a:t>
            </a:r>
            <a:r>
              <a:rPr lang="en-GB" sz="1100">
                <a:solidFill>
                  <a:srgbClr val="800000"/>
                </a:solidFill>
                <a:highlight>
                  <a:srgbClr val="FFFFFF"/>
                </a:highlight>
              </a:rPr>
              <a:t>"</a:t>
            </a:r>
            <a:r>
              <a:rPr lang="en-GB" sz="1100">
                <a:solidFill>
                  <a:srgbClr val="40015A"/>
                </a:solidFill>
                <a:highlight>
                  <a:srgbClr val="FFFFFF"/>
                </a:highlight>
              </a:rPr>
              <a:t>IOExpander.h</a:t>
            </a:r>
            <a:r>
              <a:rPr lang="en-GB" sz="1100">
                <a:solidFill>
                  <a:srgbClr val="800000"/>
                </a:solidFill>
                <a:highlight>
                  <a:srgbClr val="FFFFFF"/>
                </a:highlight>
              </a:rPr>
              <a:t>"</a:t>
            </a:r>
            <a:br>
              <a:rPr lang="en-GB" sz="1100">
                <a:highlight>
                  <a:srgbClr val="FFFFFF"/>
                </a:highlight>
              </a:rPr>
            </a:br>
            <a:r>
              <a:rPr lang="en-GB" sz="1100">
                <a:solidFill>
                  <a:srgbClr val="004A43"/>
                </a:solidFill>
                <a:highlight>
                  <a:srgbClr val="FFFFFF"/>
                </a:highlight>
              </a:rPr>
              <a:t>#define digitalWrite IOExpander</a:t>
            </a:r>
            <a:r>
              <a:rPr lang="en-GB" sz="1100">
                <a:solidFill>
                  <a:srgbClr val="808030"/>
                </a:solidFill>
                <a:highlight>
                  <a:srgbClr val="FFFFFF"/>
                </a:highlight>
              </a:rPr>
              <a:t>::</a:t>
            </a:r>
            <a:r>
              <a:rPr lang="en-GB" sz="1100">
                <a:solidFill>
                  <a:srgbClr val="004A43"/>
                </a:solidFill>
                <a:highlight>
                  <a:srgbClr val="FFFFFF"/>
                </a:highlight>
              </a:rPr>
              <a:t>digitalWrite</a:t>
            </a:r>
            <a:br>
              <a:rPr lang="en-GB" sz="1100">
                <a:highlight>
                  <a:srgbClr val="FFFFFF"/>
                </a:highlight>
              </a:rPr>
            </a:br>
            <a:r>
              <a:rPr lang="en-GB" sz="1100">
                <a:solidFill>
                  <a:srgbClr val="004A43"/>
                </a:solidFill>
                <a:highlight>
                  <a:srgbClr val="FFFFFF"/>
                </a:highlight>
              </a:rPr>
              <a:t>#define pinMode IOExpander</a:t>
            </a:r>
            <a:r>
              <a:rPr lang="en-GB" sz="1100">
                <a:solidFill>
                  <a:srgbClr val="808030"/>
                </a:solidFill>
                <a:highlight>
                  <a:srgbClr val="FFFFFF"/>
                </a:highlight>
              </a:rPr>
              <a:t>::</a:t>
            </a:r>
            <a:r>
              <a:rPr lang="en-GB" sz="1100">
                <a:solidFill>
                  <a:srgbClr val="004A43"/>
                </a:solidFill>
                <a:highlight>
                  <a:srgbClr val="FFFFFF"/>
                </a:highlight>
              </a:rPr>
              <a:t>pinMode</a:t>
            </a:r>
            <a:br>
              <a:rPr lang="en-GB" sz="1100">
                <a:highlight>
                  <a:srgbClr val="FFFFFF"/>
                </a:highlight>
              </a:rPr>
            </a:br>
            <a:r>
              <a:rPr lang="en-GB" sz="1100">
                <a:solidFill>
                  <a:srgbClr val="004A43"/>
                </a:solidFill>
                <a:highlight>
                  <a:srgbClr val="FFFFFF"/>
                </a:highlight>
              </a:rPr>
              <a:t>#define digitalRead IOExpander</a:t>
            </a:r>
            <a:r>
              <a:rPr lang="en-GB" sz="1100">
                <a:solidFill>
                  <a:srgbClr val="808030"/>
                </a:solidFill>
                <a:highlight>
                  <a:srgbClr val="FFFFFF"/>
                </a:highlight>
              </a:rPr>
              <a:t>::</a:t>
            </a:r>
            <a:r>
              <a:rPr lang="en-GB" sz="1100">
                <a:solidFill>
                  <a:srgbClr val="004A43"/>
                </a:solidFill>
                <a:highlight>
                  <a:srgbClr val="FFFFFF"/>
                </a:highlight>
              </a:rPr>
              <a:t>digitalRead</a:t>
            </a:r>
            <a:endParaRPr sz="1100">
              <a:solidFill>
                <a:srgbClr val="004A43"/>
              </a:solidFill>
              <a:highlight>
                <a:srgbClr val="FFFFFF"/>
              </a:highlight>
            </a:endParaRPr>
          </a:p>
          <a:p>
            <a:pPr indent="-317500" lvl="0" marL="457200" rtl="0" algn="l">
              <a:spcBef>
                <a:spcPts val="0"/>
              </a:spcBef>
              <a:spcAft>
                <a:spcPts val="0"/>
              </a:spcAft>
              <a:buSzPts val="1400"/>
              <a:buChar char="●"/>
            </a:pPr>
            <a:r>
              <a:rPr lang="en-GB"/>
              <a:t>the overridden methods use bit 2 of the PIN int to signal an unPhone pin (why not the top bit? casts from uint to int make it -ve!)</a:t>
            </a:r>
            <a:endParaRPr/>
          </a:p>
          <a:p>
            <a:pPr indent="-317500" lvl="0" marL="457200" rtl="0" algn="l">
              <a:spcBef>
                <a:spcPts val="0"/>
              </a:spcBef>
              <a:spcAft>
                <a:spcPts val="0"/>
              </a:spcAft>
              <a:buSzPts val="1400"/>
              <a:buChar char="●"/>
            </a:pPr>
            <a:r>
              <a:rPr b="1" lang="en-GB" sz="1100">
                <a:solidFill>
                  <a:srgbClr val="800000"/>
                </a:solidFill>
                <a:highlight>
                  <a:srgbClr val="FFFFFF"/>
                </a:highlight>
              </a:rPr>
              <a:t>void</a:t>
            </a:r>
            <a:r>
              <a:rPr lang="en-GB" sz="1100">
                <a:highlight>
                  <a:srgbClr val="FFFFFF"/>
                </a:highlight>
              </a:rPr>
              <a:t> IOExpander</a:t>
            </a:r>
            <a:r>
              <a:rPr lang="en-GB" sz="1100">
                <a:solidFill>
                  <a:srgbClr val="800080"/>
                </a:solidFill>
                <a:highlight>
                  <a:srgbClr val="FFFFFF"/>
                </a:highlight>
              </a:rPr>
              <a:t>::</a:t>
            </a:r>
            <a:r>
              <a:rPr lang="en-GB" sz="1100">
                <a:highlight>
                  <a:srgbClr val="FFFFFF"/>
                </a:highlight>
              </a:rPr>
              <a:t>digitalWrite</a:t>
            </a:r>
            <a:r>
              <a:rPr lang="en-GB" sz="1100">
                <a:solidFill>
                  <a:srgbClr val="808030"/>
                </a:solidFill>
                <a:highlight>
                  <a:srgbClr val="FFFFFF"/>
                </a:highlight>
              </a:rPr>
              <a:t>(</a:t>
            </a:r>
            <a:r>
              <a:rPr lang="en-GB" sz="1100">
                <a:highlight>
                  <a:srgbClr val="FFFFFF"/>
                </a:highlight>
              </a:rPr>
              <a:t>uint8_t pin</a:t>
            </a:r>
            <a:r>
              <a:rPr lang="en-GB" sz="1100">
                <a:solidFill>
                  <a:srgbClr val="808030"/>
                </a:solidFill>
                <a:highlight>
                  <a:srgbClr val="FFFFFF"/>
                </a:highlight>
              </a:rPr>
              <a:t>,</a:t>
            </a:r>
            <a:r>
              <a:rPr lang="en-GB" sz="1100">
                <a:highlight>
                  <a:srgbClr val="FFFFFF"/>
                </a:highlight>
              </a:rPr>
              <a:t> uint8_t value</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a:t>
            </a:r>
            <a:r>
              <a:rPr b="1" lang="en-GB" sz="1100">
                <a:solidFill>
                  <a:srgbClr val="800000"/>
                </a:solidFill>
                <a:highlight>
                  <a:srgbClr val="FFFFFF"/>
                </a:highlight>
              </a:rPr>
              <a:t>if</a:t>
            </a:r>
            <a:r>
              <a:rPr lang="en-GB" sz="1100">
                <a:solidFill>
                  <a:srgbClr val="808030"/>
                </a:solidFill>
                <a:highlight>
                  <a:srgbClr val="FFFFFF"/>
                </a:highlight>
              </a:rPr>
              <a:t>(</a:t>
            </a:r>
            <a:r>
              <a:rPr lang="en-GB" sz="1100">
                <a:highlight>
                  <a:srgbClr val="FFFFFF"/>
                </a:highlight>
              </a:rPr>
              <a:t>pin </a:t>
            </a:r>
            <a:r>
              <a:rPr lang="en-GB" sz="1100">
                <a:solidFill>
                  <a:srgbClr val="808030"/>
                </a:solidFill>
                <a:highlight>
                  <a:srgbClr val="FFFFFF"/>
                </a:highlight>
              </a:rPr>
              <a:t>&amp;</a:t>
            </a:r>
            <a:r>
              <a:rPr lang="en-GB" sz="1100">
                <a:highlight>
                  <a:srgbClr val="FFFFFF"/>
                </a:highlight>
              </a:rPr>
              <a:t> </a:t>
            </a:r>
            <a:r>
              <a:rPr lang="en-GB" sz="1100">
                <a:solidFill>
                  <a:srgbClr val="008000"/>
                </a:solidFill>
                <a:highlight>
                  <a:srgbClr val="FFFFFF"/>
                </a:highlight>
              </a:rPr>
              <a:t>0x40</a:t>
            </a:r>
            <a:r>
              <a:rPr lang="en-GB" sz="1100">
                <a:solidFill>
                  <a:srgbClr val="808030"/>
                </a:solidFill>
                <a:highlight>
                  <a:srgbClr val="FFFFFF"/>
                </a:highlight>
              </a:rPr>
              <a:t>)</a:t>
            </a:r>
            <a:r>
              <a:rPr lang="en-GB" sz="1100">
                <a:highlight>
                  <a:srgbClr val="FFFFFF"/>
                </a:highlight>
              </a:rPr>
              <a:t> </a:t>
            </a:r>
            <a:r>
              <a:rPr lang="en-GB" sz="1100">
                <a:solidFill>
                  <a:srgbClr val="800080"/>
                </a:solidFill>
                <a:highlight>
                  <a:srgbClr val="FFFFFF"/>
                </a:highlight>
              </a:rPr>
              <a:t>{</a:t>
            </a:r>
            <a:br>
              <a:rPr lang="en-GB" sz="1100">
                <a:highlight>
                  <a:srgbClr val="FFFFFF"/>
                </a:highlight>
              </a:rPr>
            </a:br>
            <a:r>
              <a:rPr lang="en-GB" sz="1100">
                <a:highlight>
                  <a:srgbClr val="FFFFFF"/>
                </a:highlight>
              </a:rPr>
              <a:t>    pin </a:t>
            </a:r>
            <a:r>
              <a:rPr lang="en-GB" sz="1100">
                <a:solidFill>
                  <a:srgbClr val="808030"/>
                </a:solidFill>
                <a:highlight>
                  <a:srgbClr val="FFFFFF"/>
                </a:highlight>
              </a:rPr>
              <a:t>&amp;=</a:t>
            </a:r>
            <a:r>
              <a:rPr lang="en-GB" sz="1100">
                <a:highlight>
                  <a:srgbClr val="FFFFFF"/>
                </a:highlight>
              </a:rPr>
              <a:t> </a:t>
            </a:r>
            <a:r>
              <a:rPr b="1" i="1" lang="en-GB" sz="1100">
                <a:highlight>
                  <a:srgbClr val="F3F3F3"/>
                </a:highlight>
              </a:rPr>
              <a:t>0b10111111</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mask out the high bit</a:t>
            </a:r>
            <a:br>
              <a:rPr lang="en-GB" sz="1100">
                <a:highlight>
                  <a:srgbClr val="FFFFFF"/>
                </a:highlight>
              </a:rPr>
            </a:br>
            <a:r>
              <a:rPr lang="en-GB" sz="1100">
                <a:highlight>
                  <a:srgbClr val="FFFFFF"/>
                </a:highlight>
              </a:rPr>
              <a:t>    IOExpander</a:t>
            </a:r>
            <a:r>
              <a:rPr lang="en-GB" sz="1100">
                <a:solidFill>
                  <a:srgbClr val="800080"/>
                </a:solidFill>
                <a:highlight>
                  <a:srgbClr val="FFFFFF"/>
                </a:highlight>
              </a:rPr>
              <a:t>::</a:t>
            </a:r>
            <a:r>
              <a:rPr lang="en-GB" sz="1100">
                <a:highlight>
                  <a:srgbClr val="FFFFFF"/>
                </a:highlight>
              </a:rPr>
              <a:t>writeRegisterWord</a:t>
            </a:r>
            <a:r>
              <a:rPr lang="en-GB" sz="1100">
                <a:solidFill>
                  <a:srgbClr val="808030"/>
                </a:solidFill>
                <a:highlight>
                  <a:srgbClr val="FFFFFF"/>
                </a:highlight>
              </a:rPr>
              <a:t>(</a:t>
            </a:r>
            <a:r>
              <a:rPr lang="en-GB" sz="1100">
                <a:solidFill>
                  <a:srgbClr val="008000"/>
                </a:solidFill>
                <a:highlight>
                  <a:srgbClr val="FFFFFF"/>
                </a:highlight>
              </a:rPr>
              <a:t>0x02</a:t>
            </a:r>
            <a:r>
              <a:rPr lang="en-GB" sz="1100">
                <a:solidFill>
                  <a:srgbClr val="808030"/>
                </a:solidFill>
                <a:highlight>
                  <a:srgbClr val="FFFFFF"/>
                </a:highlight>
              </a:rPr>
              <a:t>,</a:t>
            </a:r>
            <a:r>
              <a:rPr lang="en-GB" sz="1100">
                <a:highlight>
                  <a:srgbClr val="FFFFFF"/>
                </a:highlight>
              </a:rPr>
              <a:t> new_output_states</a:t>
            </a:r>
            <a:r>
              <a:rPr lang="en-GB" sz="1100">
                <a:solidFill>
                  <a:srgbClr val="808030"/>
                </a:solidFill>
                <a:highlight>
                  <a:srgbClr val="FFFFFF"/>
                </a:highlight>
              </a:rPr>
              <a:t>)</a:t>
            </a:r>
            <a:r>
              <a:rPr lang="en-GB" sz="1100">
                <a:solidFill>
                  <a:srgbClr val="800080"/>
                </a:solidFill>
                <a:highlight>
                  <a:srgbClr val="FFFFFF"/>
                </a:highlight>
              </a:rPr>
              <a:t>;</a:t>
            </a:r>
            <a:r>
              <a:rPr lang="en-GB" sz="1100">
                <a:highlight>
                  <a:srgbClr val="FFFFFF"/>
                </a:highlight>
              </a:rPr>
              <a:t> </a:t>
            </a:r>
            <a:r>
              <a:rPr lang="en-GB" sz="1100">
                <a:solidFill>
                  <a:srgbClr val="696969"/>
                </a:solidFill>
                <a:highlight>
                  <a:srgbClr val="FFFFFF"/>
                </a:highlight>
              </a:rPr>
              <a:t>// trigger 9555</a:t>
            </a:r>
            <a:endParaRPr/>
          </a:p>
          <a:p>
            <a:pPr indent="-317500" lvl="0" marL="457200" rtl="0" algn="l">
              <a:spcBef>
                <a:spcPts val="0"/>
              </a:spcBef>
              <a:spcAft>
                <a:spcPts val="0"/>
              </a:spcAft>
              <a:buSzPts val="1400"/>
              <a:buChar char="●"/>
            </a:pPr>
            <a:r>
              <a:rPr b="1" lang="en-GB"/>
              <a:t>good news:</a:t>
            </a:r>
            <a:r>
              <a:rPr lang="en-GB"/>
              <a:t> we dropped the IOExpander for most things in Spin 9!</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5"/>
          <p:cNvSpPr txBox="1"/>
          <p:nvPr>
            <p:ph type="title"/>
          </p:nvPr>
        </p:nvSpPr>
        <p:spPr>
          <a:xfrm>
            <a:off x="768900" y="-8837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It’s a product?</a:t>
            </a:r>
            <a:endParaRPr sz="1800"/>
          </a:p>
        </p:txBody>
      </p:sp>
      <p:sp>
        <p:nvSpPr>
          <p:cNvPr id="340" name="Google Shape;340;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41" name="Google Shape;341;p55"/>
          <p:cNvSpPr txBox="1"/>
          <p:nvPr>
            <p:ph idx="2" type="body"/>
          </p:nvPr>
        </p:nvSpPr>
        <p:spPr>
          <a:xfrm>
            <a:off x="123250" y="461675"/>
            <a:ext cx="3321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Spin 9 is due for retail release in 2023… and um, now </a:t>
            </a:r>
            <a:r>
              <a:rPr b="1" lang="en-GB"/>
              <a:t>actually</a:t>
            </a:r>
            <a:br>
              <a:rPr b="1" lang="en-GB"/>
            </a:br>
            <a:r>
              <a:rPr lang="en-GB"/>
              <a:t>being released :)</a:t>
            </a:r>
            <a:endParaRPr/>
          </a:p>
        </p:txBody>
      </p:sp>
      <p:pic>
        <p:nvPicPr>
          <p:cNvPr id="342" name="Google Shape;342;p55"/>
          <p:cNvPicPr preferRelativeResize="0"/>
          <p:nvPr/>
        </p:nvPicPr>
        <p:blipFill>
          <a:blip r:embed="rId3">
            <a:alphaModFix/>
          </a:blip>
          <a:stretch>
            <a:fillRect/>
          </a:stretch>
        </p:blipFill>
        <p:spPr>
          <a:xfrm>
            <a:off x="6574114" y="3269423"/>
            <a:ext cx="2412124" cy="1809101"/>
          </a:xfrm>
          <a:prstGeom prst="rect">
            <a:avLst/>
          </a:prstGeom>
          <a:noFill/>
          <a:ln>
            <a:noFill/>
          </a:ln>
        </p:spPr>
      </p:pic>
      <p:pic>
        <p:nvPicPr>
          <p:cNvPr id="343" name="Google Shape;343;p55"/>
          <p:cNvPicPr preferRelativeResize="0"/>
          <p:nvPr/>
        </p:nvPicPr>
        <p:blipFill>
          <a:blip r:embed="rId4">
            <a:alphaModFix/>
          </a:blip>
          <a:stretch>
            <a:fillRect/>
          </a:stretch>
        </p:blipFill>
        <p:spPr>
          <a:xfrm>
            <a:off x="6674383" y="1398725"/>
            <a:ext cx="2406733" cy="1805050"/>
          </a:xfrm>
          <a:prstGeom prst="rect">
            <a:avLst/>
          </a:prstGeom>
          <a:noFill/>
          <a:ln>
            <a:noFill/>
          </a:ln>
        </p:spPr>
      </p:pic>
      <p:pic>
        <p:nvPicPr>
          <p:cNvPr id="344" name="Google Shape;344;p55"/>
          <p:cNvPicPr preferRelativeResize="0"/>
          <p:nvPr/>
        </p:nvPicPr>
        <p:blipFill>
          <a:blip r:embed="rId5">
            <a:alphaModFix/>
          </a:blip>
          <a:stretch>
            <a:fillRect/>
          </a:stretch>
        </p:blipFill>
        <p:spPr>
          <a:xfrm>
            <a:off x="4719744" y="137592"/>
            <a:ext cx="1923276" cy="2564367"/>
          </a:xfrm>
          <a:prstGeom prst="rect">
            <a:avLst/>
          </a:prstGeom>
          <a:noFill/>
          <a:ln>
            <a:noFill/>
          </a:ln>
        </p:spPr>
      </p:pic>
      <p:pic>
        <p:nvPicPr>
          <p:cNvPr id="345" name="Google Shape;345;p55"/>
          <p:cNvPicPr preferRelativeResize="0"/>
          <p:nvPr/>
        </p:nvPicPr>
        <p:blipFill>
          <a:blip r:embed="rId6">
            <a:alphaModFix/>
          </a:blip>
          <a:stretch>
            <a:fillRect/>
          </a:stretch>
        </p:blipFill>
        <p:spPr>
          <a:xfrm>
            <a:off x="27050" y="3215637"/>
            <a:ext cx="2406702" cy="1805027"/>
          </a:xfrm>
          <a:prstGeom prst="rect">
            <a:avLst/>
          </a:prstGeom>
          <a:noFill/>
          <a:ln>
            <a:noFill/>
          </a:ln>
        </p:spPr>
      </p:pic>
      <p:pic>
        <p:nvPicPr>
          <p:cNvPr id="346" name="Google Shape;346;p55"/>
          <p:cNvPicPr preferRelativeResize="0"/>
          <p:nvPr/>
        </p:nvPicPr>
        <p:blipFill>
          <a:blip r:embed="rId7">
            <a:alphaModFix/>
          </a:blip>
          <a:stretch>
            <a:fillRect/>
          </a:stretch>
        </p:blipFill>
        <p:spPr>
          <a:xfrm>
            <a:off x="-53800" y="1281950"/>
            <a:ext cx="2590802" cy="1943101"/>
          </a:xfrm>
          <a:prstGeom prst="rect">
            <a:avLst/>
          </a:prstGeom>
          <a:noFill/>
          <a:ln>
            <a:noFill/>
          </a:ln>
        </p:spPr>
      </p:pic>
      <p:pic>
        <p:nvPicPr>
          <p:cNvPr id="347" name="Google Shape;347;p55"/>
          <p:cNvPicPr preferRelativeResize="0"/>
          <p:nvPr/>
        </p:nvPicPr>
        <p:blipFill>
          <a:blip r:embed="rId8">
            <a:alphaModFix/>
          </a:blip>
          <a:stretch>
            <a:fillRect/>
          </a:stretch>
        </p:blipFill>
        <p:spPr>
          <a:xfrm flipH="1">
            <a:off x="3805352" y="2996451"/>
            <a:ext cx="2659533" cy="1994650"/>
          </a:xfrm>
          <a:prstGeom prst="rect">
            <a:avLst/>
          </a:prstGeom>
          <a:noFill/>
          <a:ln>
            <a:noFill/>
          </a:ln>
        </p:spPr>
      </p:pic>
      <p:pic>
        <p:nvPicPr>
          <p:cNvPr id="348" name="Google Shape;348;p55"/>
          <p:cNvPicPr preferRelativeResize="0"/>
          <p:nvPr/>
        </p:nvPicPr>
        <p:blipFill>
          <a:blip r:embed="rId9">
            <a:alphaModFix/>
          </a:blip>
          <a:stretch>
            <a:fillRect/>
          </a:stretch>
        </p:blipFill>
        <p:spPr>
          <a:xfrm>
            <a:off x="2695963" y="908567"/>
            <a:ext cx="1923276" cy="256436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6"/>
          <p:cNvSpPr txBox="1"/>
          <p:nvPr>
            <p:ph type="title"/>
          </p:nvPr>
        </p:nvSpPr>
        <p:spPr>
          <a:xfrm>
            <a:off x="997500" y="0"/>
            <a:ext cx="7587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IoT device gestation: big, but getting smaller</a:t>
            </a:r>
            <a:endParaRPr/>
          </a:p>
        </p:txBody>
      </p:sp>
      <p:sp>
        <p:nvSpPr>
          <p:cNvPr id="354" name="Google Shape;354;p56"/>
          <p:cNvSpPr txBox="1"/>
          <p:nvPr>
            <p:ph idx="12" type="sldNum"/>
          </p:nvPr>
        </p:nvSpPr>
        <p:spPr>
          <a:xfrm>
            <a:off x="8472458" y="4640842"/>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55" name="Google Shape;355;p56"/>
          <p:cNvSpPr txBox="1"/>
          <p:nvPr>
            <p:ph idx="1" type="body"/>
          </p:nvPr>
        </p:nvSpPr>
        <p:spPr>
          <a:xfrm>
            <a:off x="247075" y="521875"/>
            <a:ext cx="8502000" cy="264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+ves</a:t>
            </a:r>
            <a:endParaRPr sz="1800"/>
          </a:p>
          <a:p>
            <a:pPr indent="-342900" lvl="0" marL="457200" rtl="0" algn="l">
              <a:spcBef>
                <a:spcPts val="0"/>
              </a:spcBef>
              <a:spcAft>
                <a:spcPts val="0"/>
              </a:spcAft>
              <a:buSzPts val="1800"/>
              <a:buChar char="●"/>
            </a:pPr>
            <a:r>
              <a:rPr lang="en-GB" sz="1800"/>
              <a:t>from original idea to working system took less than a year</a:t>
            </a:r>
            <a:endParaRPr sz="1800"/>
          </a:p>
          <a:p>
            <a:pPr indent="-342900" lvl="0" marL="457200" rtl="0" algn="l">
              <a:spcBef>
                <a:spcPts val="0"/>
              </a:spcBef>
              <a:spcAft>
                <a:spcPts val="0"/>
              </a:spcAft>
              <a:buSzPts val="1800"/>
              <a:buChar char="●"/>
            </a:pPr>
            <a:r>
              <a:rPr lang="en-GB" sz="1800"/>
              <a:t>budget was tiny in comparison to traditional product development</a:t>
            </a:r>
            <a:endParaRPr sz="1800"/>
          </a:p>
          <a:p>
            <a:pPr indent="-342900" lvl="0" marL="457200" rtl="0" algn="l">
              <a:spcBef>
                <a:spcPts val="0"/>
              </a:spcBef>
              <a:spcAft>
                <a:spcPts val="0"/>
              </a:spcAft>
              <a:buSzPts val="1800"/>
              <a:buChar char="●"/>
            </a:pPr>
            <a:r>
              <a:rPr lang="en-GB" sz="1800"/>
              <a:t>we learned a lot! (hopefully we’re managing to share some of that with you!)</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lang="en-GB" sz="1800"/>
              <a:t>-ves</a:t>
            </a:r>
            <a:endParaRPr sz="1800"/>
          </a:p>
          <a:p>
            <a:pPr indent="-342900" lvl="0" marL="457200" rtl="0" algn="l">
              <a:spcBef>
                <a:spcPts val="0"/>
              </a:spcBef>
              <a:spcAft>
                <a:spcPts val="0"/>
              </a:spcAft>
              <a:buSzPts val="1800"/>
              <a:buChar char="●"/>
            </a:pPr>
            <a:r>
              <a:rPr lang="en-GB" sz="1800"/>
              <a:t>pandemic ⇒ chip shortages; then post-pandemic, chip hoarding as strategy :(</a:t>
            </a:r>
            <a:endParaRPr sz="1800"/>
          </a:p>
          <a:p>
            <a:pPr indent="-342900" lvl="0" marL="457200" rtl="0" algn="l">
              <a:spcBef>
                <a:spcPts val="0"/>
              </a:spcBef>
              <a:spcAft>
                <a:spcPts val="0"/>
              </a:spcAft>
              <a:buSzPts val="1800"/>
              <a:buChar char="●"/>
            </a:pPr>
            <a:r>
              <a:rPr lang="en-GB" sz="1800"/>
              <a:t>lots of </a:t>
            </a:r>
            <a:r>
              <a:rPr lang="en-GB" sz="1800"/>
              <a:t>unforeseen hiccups</a:t>
            </a:r>
            <a:r>
              <a:rPr lang="en-GB" sz="1800"/>
              <a:t> and unintended consequences</a:t>
            </a:r>
            <a:endParaRPr sz="1800"/>
          </a:p>
          <a:p>
            <a:pPr indent="-342900" lvl="0" marL="457200" rtl="0" algn="l">
              <a:spcBef>
                <a:spcPts val="0"/>
              </a:spcBef>
              <a:spcAft>
                <a:spcPts val="0"/>
              </a:spcAft>
              <a:buSzPts val="1800"/>
              <a:buChar char="●"/>
            </a:pPr>
            <a:r>
              <a:rPr lang="en-GB" sz="1800"/>
              <a:t>the pace of change is challenging: “don’t look now, your synthesiser has just gone out of date”</a:t>
            </a:r>
            <a:endParaRPr sz="1800"/>
          </a:p>
          <a:p>
            <a:pPr indent="-342900" lvl="0" marL="457200" rtl="0" algn="l">
              <a:spcBef>
                <a:spcPts val="0"/>
              </a:spcBef>
              <a:spcAft>
                <a:spcPts val="0"/>
              </a:spcAft>
              <a:buSzPts val="1800"/>
              <a:buChar char="●"/>
            </a:pPr>
            <a:r>
              <a:rPr lang="en-GB" sz="1800"/>
              <a:t>“always start from a known good”... um, except when there isn’t one?!</a:t>
            </a:r>
            <a:endParaRPr sz="1800"/>
          </a:p>
          <a:p>
            <a:pPr indent="-342900" lvl="0" marL="457200" rtl="0" algn="l">
              <a:spcBef>
                <a:spcPts val="0"/>
              </a:spcBef>
              <a:spcAft>
                <a:spcPts val="0"/>
              </a:spcAft>
              <a:buSzPts val="1800"/>
              <a:buChar char="●"/>
            </a:pPr>
            <a:r>
              <a:rPr lang="en-GB" sz="1800"/>
              <a:t>the more libraries you use, the more unstable your development environment</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7"/>
          <p:cNvSpPr txBox="1"/>
          <p:nvPr>
            <p:ph idx="1" type="body"/>
          </p:nvPr>
        </p:nvSpPr>
        <p:spPr>
          <a:xfrm>
            <a:off x="464100" y="654425"/>
            <a:ext cx="8444400" cy="400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GB" sz="1800"/>
              <a:t>Do the assessment</a:t>
            </a:r>
            <a:endParaRPr sz="1800"/>
          </a:p>
          <a:p>
            <a:pPr indent="-342900" lvl="0" marL="457200" rtl="0" algn="l">
              <a:spcBef>
                <a:spcPts val="0"/>
              </a:spcBef>
              <a:spcAft>
                <a:spcPts val="0"/>
              </a:spcAft>
              <a:buSzPts val="1800"/>
              <a:buChar char="●"/>
            </a:pPr>
            <a:r>
              <a:rPr lang="en-GB" sz="1800"/>
              <a:t>Come to the lab on Wednesday</a:t>
            </a:r>
            <a:endParaRPr sz="1800"/>
          </a:p>
          <a:p>
            <a:pPr indent="-342900" lvl="1" marL="914400" rtl="0" algn="l">
              <a:spcBef>
                <a:spcPts val="0"/>
              </a:spcBef>
              <a:spcAft>
                <a:spcPts val="0"/>
              </a:spcAft>
              <a:buSzPts val="1800"/>
              <a:buChar char="○"/>
            </a:pPr>
            <a:r>
              <a:rPr lang="en-GB" sz="1800"/>
              <a:t>the GTAs won’t do your assessment for you :(</a:t>
            </a:r>
            <a:endParaRPr sz="1800"/>
          </a:p>
          <a:p>
            <a:pPr indent="-342900" lvl="1" marL="914400" rtl="0" algn="l">
              <a:spcBef>
                <a:spcPts val="0"/>
              </a:spcBef>
              <a:spcAft>
                <a:spcPts val="0"/>
              </a:spcAft>
              <a:buSzPts val="1800"/>
              <a:buChar char="○"/>
            </a:pPr>
            <a:r>
              <a:rPr lang="en-GB" sz="1800"/>
              <a:t>but the assessment is based on the exercises and the notes, and they can answer questions about those :)</a:t>
            </a:r>
            <a:endParaRPr sz="1800"/>
          </a:p>
          <a:p>
            <a:pPr indent="-342900" lvl="0" marL="457200" rtl="0" algn="l">
              <a:spcBef>
                <a:spcPts val="0"/>
              </a:spcBef>
              <a:spcAft>
                <a:spcPts val="0"/>
              </a:spcAft>
              <a:buSzPts val="1800"/>
              <a:buChar char="●"/>
            </a:pPr>
            <a:r>
              <a:rPr lang="en-GB" sz="1800"/>
              <a:t>Pick up project hardware if you want to start before week 8…</a:t>
            </a:r>
            <a:endParaRPr sz="1800"/>
          </a:p>
          <a:p>
            <a:pPr indent="0" lvl="0" marL="457200" rtl="0" algn="l">
              <a:spcBef>
                <a:spcPts val="0"/>
              </a:spcBef>
              <a:spcAft>
                <a:spcPts val="0"/>
              </a:spcAft>
              <a:buNone/>
            </a:pPr>
            <a:r>
              <a:t/>
            </a:r>
            <a:endParaRPr sz="1800"/>
          </a:p>
          <a:p>
            <a:pPr indent="0" lvl="0" marL="0" rtl="0" algn="l">
              <a:spcBef>
                <a:spcPts val="1000"/>
              </a:spcBef>
              <a:spcAft>
                <a:spcPts val="0"/>
              </a:spcAft>
              <a:buNone/>
            </a:pPr>
            <a:r>
              <a:t/>
            </a:r>
            <a:endParaRPr sz="1800"/>
          </a:p>
        </p:txBody>
      </p:sp>
      <p:sp>
        <p:nvSpPr>
          <p:cNvPr id="361" name="Google Shape;361;p57"/>
          <p:cNvSpPr txBox="1"/>
          <p:nvPr>
            <p:ph type="title"/>
          </p:nvPr>
        </p:nvSpPr>
        <p:spPr>
          <a:xfrm>
            <a:off x="1070900" y="26325"/>
            <a:ext cx="844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Your </a:t>
            </a:r>
            <a:r>
              <a:rPr b="1" lang="en-GB"/>
              <a:t>TODO</a:t>
            </a:r>
            <a:r>
              <a:rPr lang="en-GB"/>
              <a:t> list for week 7:</a:t>
            </a:r>
            <a:endParaRPr/>
          </a:p>
        </p:txBody>
      </p:sp>
      <p:sp>
        <p:nvSpPr>
          <p:cNvPr id="362" name="Google Shape;362;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
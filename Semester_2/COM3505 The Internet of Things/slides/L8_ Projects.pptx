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36A42C-2DEC-432D-92CA-773AB6F56A20}">
  <a:tblStyle styleId="{0F36A42C-2DEC-432D-92CA-773AB6F56A2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50685F4-14BF-4490-AF5E-2AB6EC53E67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4937467a0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4937467a0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cdcd6a2f2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cdcd6a2f2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27ade5153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27ade5153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28245bb9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28245bb9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4937467a0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4937467a0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dcd6a2f2a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dcd6a2f2a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cdcd6a2f2a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cdcd6a2f2a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c4508104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c4508104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4937467a85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4937467a85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2386ecb10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2386ecb10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4937467a8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4937467a8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cdcd6a2f2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cdcd6a2f2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cdcd6a2f2a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cdcd6a2f2a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4937467a85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4937467a85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4937467a85_3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4937467a85_3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cdcd6a2f2a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cdcd6a2f2a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937467a85_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4937467a85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4937467a85_4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4937467a85_4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4937467a85_4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4937467a85_4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4937467a85_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4937467a85_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27cbf0c99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27cbf0c99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4937467a8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4937467a8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cdcd6a2f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cdcd6a2f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cdcd6a2f2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cdcd6a2f2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cdcd6a2f2a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cdcd6a2f2a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Char char="●"/>
              <a:defRPr sz="1400">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4" name="Google Shape;24;p4"/>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 name="Google Shape;57;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4"/>
          <p:cNvSpPr txBox="1"/>
          <p:nvPr>
            <p:ph type="title"/>
          </p:nvPr>
        </p:nvSpPr>
        <p:spPr>
          <a:xfrm>
            <a:off x="628650" y="273844"/>
            <a:ext cx="7886700" cy="994200"/>
          </a:xfrm>
          <a:prstGeom prst="rect">
            <a:avLst/>
          </a:prstGeom>
          <a:noFill/>
          <a:ln>
            <a:noFill/>
          </a:ln>
        </p:spPr>
        <p:txBody>
          <a:bodyPr anchorCtr="0" anchor="ctr" bIns="91425" lIns="91425" spcFirstLastPara="1" rIns="91425" wrap="square" tIns="91425">
            <a:noAutofit/>
          </a:bodyPr>
          <a:lstStyle>
            <a:lvl1pPr indent="0" lvl="0" marL="0" marR="0" rtl="0" algn="l">
              <a:lnSpc>
                <a:spcPct val="90000"/>
              </a:lnSpc>
              <a:spcBef>
                <a:spcPts val="0"/>
              </a:spcBef>
              <a:spcAft>
                <a:spcPts val="0"/>
              </a:spcAft>
              <a:buClr>
                <a:schemeClr val="dk1"/>
              </a:buClr>
              <a:buSzPts val="2800"/>
              <a:buFont typeface="Calibri"/>
              <a:buNone/>
              <a:defRPr b="0" i="0" sz="3300" u="none" cap="none" strike="noStrike">
                <a:solidFill>
                  <a:schemeClr val="dk1"/>
                </a:solidFill>
                <a:latin typeface="Calibri"/>
                <a:ea typeface="Calibri"/>
                <a:cs typeface="Calibri"/>
                <a:sym typeface="Calibri"/>
              </a:defRPr>
            </a:lvl1pPr>
            <a:lvl2pPr indent="0" lvl="1" rtl="0">
              <a:spcBef>
                <a:spcPts val="0"/>
              </a:spcBef>
              <a:spcAft>
                <a:spcPts val="0"/>
              </a:spcAft>
              <a:buSzPts val="2800"/>
              <a:buNone/>
              <a:defRPr sz="1400"/>
            </a:lvl2pPr>
            <a:lvl3pPr indent="0" lvl="2" rtl="0">
              <a:spcBef>
                <a:spcPts val="0"/>
              </a:spcBef>
              <a:spcAft>
                <a:spcPts val="0"/>
              </a:spcAft>
              <a:buSzPts val="2800"/>
              <a:buNone/>
              <a:defRPr sz="1400"/>
            </a:lvl3pPr>
            <a:lvl4pPr indent="0" lvl="3" rtl="0">
              <a:spcBef>
                <a:spcPts val="0"/>
              </a:spcBef>
              <a:spcAft>
                <a:spcPts val="0"/>
              </a:spcAft>
              <a:buSzPts val="2800"/>
              <a:buNone/>
              <a:defRPr sz="1400"/>
            </a:lvl4pPr>
            <a:lvl5pPr indent="0" lvl="4" rtl="0">
              <a:spcBef>
                <a:spcPts val="0"/>
              </a:spcBef>
              <a:spcAft>
                <a:spcPts val="0"/>
              </a:spcAft>
              <a:buSzPts val="2800"/>
              <a:buNone/>
              <a:defRPr sz="1400"/>
            </a:lvl5pPr>
            <a:lvl6pPr indent="0" lvl="5" rtl="0">
              <a:spcBef>
                <a:spcPts val="0"/>
              </a:spcBef>
              <a:spcAft>
                <a:spcPts val="0"/>
              </a:spcAft>
              <a:buSzPts val="2800"/>
              <a:buNone/>
              <a:defRPr sz="1400"/>
            </a:lvl6pPr>
            <a:lvl7pPr indent="0" lvl="6" rtl="0">
              <a:spcBef>
                <a:spcPts val="0"/>
              </a:spcBef>
              <a:spcAft>
                <a:spcPts val="0"/>
              </a:spcAft>
              <a:buSzPts val="2800"/>
              <a:buNone/>
              <a:defRPr sz="1400"/>
            </a:lvl7pPr>
            <a:lvl8pPr indent="0" lvl="7" rtl="0">
              <a:spcBef>
                <a:spcPts val="0"/>
              </a:spcBef>
              <a:spcAft>
                <a:spcPts val="0"/>
              </a:spcAft>
              <a:buSzPts val="2800"/>
              <a:buNone/>
              <a:defRPr sz="1400"/>
            </a:lvl8pPr>
            <a:lvl9pPr indent="0" lvl="8" rtl="0">
              <a:spcBef>
                <a:spcPts val="0"/>
              </a:spcBef>
              <a:spcAft>
                <a:spcPts val="0"/>
              </a:spcAft>
              <a:buSzPts val="2800"/>
              <a:buNone/>
              <a:defRPr sz="1400"/>
            </a:lvl9pPr>
          </a:lstStyle>
          <a:p/>
        </p:txBody>
      </p:sp>
      <p:sp>
        <p:nvSpPr>
          <p:cNvPr id="60" name="Google Shape;60;p14"/>
          <p:cNvSpPr txBox="1"/>
          <p:nvPr>
            <p:ph idx="1" type="body"/>
          </p:nvPr>
        </p:nvSpPr>
        <p:spPr>
          <a:xfrm>
            <a:off x="628650" y="1369219"/>
            <a:ext cx="7886700" cy="3263400"/>
          </a:xfrm>
          <a:prstGeom prst="rect">
            <a:avLst/>
          </a:prstGeom>
          <a:noFill/>
          <a:ln>
            <a:noFill/>
          </a:ln>
        </p:spPr>
        <p:txBody>
          <a:bodyPr anchorCtr="0" anchor="t" bIns="91425" lIns="91425" spcFirstLastPara="1" rIns="91425" wrap="square" tIns="9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16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1600"/>
              </a:spcBef>
              <a:spcAft>
                <a:spcPts val="16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14"/>
          <p:cNvSpPr txBox="1"/>
          <p:nvPr>
            <p:ph idx="10" type="dt"/>
          </p:nvPr>
        </p:nvSpPr>
        <p:spPr>
          <a:xfrm>
            <a:off x="628650" y="4767263"/>
            <a:ext cx="2057400" cy="2739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indent="0" lvl="1" marL="3429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0" lvl="2" marL="685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0" lvl="3" marL="10287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0" lvl="4"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0" lvl="5" marL="17145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0" lvl="6" marL="2057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0" lvl="7" marL="24003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0" lvl="8"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62" name="Google Shape;62;p14"/>
          <p:cNvSpPr txBox="1"/>
          <p:nvPr>
            <p:ph idx="11" type="ftr"/>
          </p:nvPr>
        </p:nvSpPr>
        <p:spPr>
          <a:xfrm>
            <a:off x="3028950" y="4767263"/>
            <a:ext cx="3086100" cy="2739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indent="0" lvl="1" marL="3429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0" lvl="2" marL="685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0" lvl="3" marL="10287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0" lvl="4"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0" lvl="5" marL="17145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0" lvl="6" marL="2057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0" lvl="7" marL="24003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0" lvl="8"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63" name="Google Shape;63;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64" name="Shape 64"/>
        <p:cNvGrpSpPr/>
        <p:nvPr/>
      </p:nvGrpSpPr>
      <p:grpSpPr>
        <a:xfrm>
          <a:off x="0" y="0"/>
          <a:ext cx="0" cy="0"/>
          <a:chOff x="0" y="0"/>
          <a:chExt cx="0" cy="0"/>
        </a:xfrm>
      </p:grpSpPr>
      <p:sp>
        <p:nvSpPr>
          <p:cNvPr id="65" name="Google Shape;65;p15"/>
          <p:cNvSpPr txBox="1"/>
          <p:nvPr>
            <p:ph type="title"/>
          </p:nvPr>
        </p:nvSpPr>
        <p:spPr>
          <a:xfrm>
            <a:off x="311700" y="456613"/>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5"/>
          <p:cNvSpPr txBox="1"/>
          <p:nvPr>
            <p:ph idx="1" type="body"/>
          </p:nvPr>
        </p:nvSpPr>
        <p:spPr>
          <a:xfrm>
            <a:off x="311700" y="114302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5" name="Shape 75"/>
        <p:cNvGrpSpPr/>
        <p:nvPr/>
      </p:nvGrpSpPr>
      <p:grpSpPr>
        <a:xfrm>
          <a:off x="0" y="0"/>
          <a:ext cx="0" cy="0"/>
          <a:chOff x="0" y="0"/>
          <a:chExt cx="0" cy="0"/>
        </a:xfrm>
      </p:grpSpPr>
      <p:sp>
        <p:nvSpPr>
          <p:cNvPr id="76" name="Google Shape;76;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7" name="Google Shape;77;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8" name="Google Shape;78;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9" name="Shape 79"/>
        <p:cNvGrpSpPr/>
        <p:nvPr/>
      </p:nvGrpSpPr>
      <p:grpSpPr>
        <a:xfrm>
          <a:off x="0" y="0"/>
          <a:ext cx="0" cy="0"/>
          <a:chOff x="0" y="0"/>
          <a:chExt cx="0" cy="0"/>
        </a:xfrm>
      </p:grpSpPr>
      <p:sp>
        <p:nvSpPr>
          <p:cNvPr id="80" name="Google Shape;80;p1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1" name="Google Shape;81;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9"/>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9"/>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
        <p:nvSpPr>
          <p:cNvPr id="85" name="Google Shape;8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9"/>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7" name="Shape 87"/>
        <p:cNvGrpSpPr/>
        <p:nvPr/>
      </p:nvGrpSpPr>
      <p:grpSpPr>
        <a:xfrm>
          <a:off x="0" y="0"/>
          <a:ext cx="0" cy="0"/>
          <a:chOff x="0" y="0"/>
          <a:chExt cx="0" cy="0"/>
        </a:xfrm>
      </p:grpSpPr>
      <p:sp>
        <p:nvSpPr>
          <p:cNvPr id="88" name="Google Shape;8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9" name="Google Shape;89;p2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0" name="Google Shape;90;p2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1" name="Google Shape;9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 name="Shape 95"/>
        <p:cNvGrpSpPr/>
        <p:nvPr/>
      </p:nvGrpSpPr>
      <p:grpSpPr>
        <a:xfrm>
          <a:off x="0" y="0"/>
          <a:ext cx="0" cy="0"/>
          <a:chOff x="0" y="0"/>
          <a:chExt cx="0" cy="0"/>
        </a:xfrm>
      </p:grpSpPr>
      <p:sp>
        <p:nvSpPr>
          <p:cNvPr id="96" name="Google Shape;96;p2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2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8" name="Google Shape;9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9" name="Shape 99"/>
        <p:cNvGrpSpPr/>
        <p:nvPr/>
      </p:nvGrpSpPr>
      <p:grpSpPr>
        <a:xfrm>
          <a:off x="0" y="0"/>
          <a:ext cx="0" cy="0"/>
          <a:chOff x="0" y="0"/>
          <a:chExt cx="0" cy="0"/>
        </a:xfrm>
      </p:grpSpPr>
      <p:sp>
        <p:nvSpPr>
          <p:cNvPr id="100" name="Google Shape;100;p2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01" name="Google Shape;10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2" name="Shape 102"/>
        <p:cNvGrpSpPr/>
        <p:nvPr/>
      </p:nvGrpSpPr>
      <p:grpSpPr>
        <a:xfrm>
          <a:off x="0" y="0"/>
          <a:ext cx="0" cy="0"/>
          <a:chOff x="0" y="0"/>
          <a:chExt cx="0" cy="0"/>
        </a:xfrm>
      </p:grpSpPr>
      <p:sp>
        <p:nvSpPr>
          <p:cNvPr id="103" name="Google Shape;103;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5" name="Google Shape;105;p2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6" name="Google Shape;106;p2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7" name="Google Shape;107;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8" name="Shape 108"/>
        <p:cNvGrpSpPr/>
        <p:nvPr/>
      </p:nvGrpSpPr>
      <p:grpSpPr>
        <a:xfrm>
          <a:off x="0" y="0"/>
          <a:ext cx="0" cy="0"/>
          <a:chOff x="0" y="0"/>
          <a:chExt cx="0" cy="0"/>
        </a:xfrm>
      </p:grpSpPr>
      <p:sp>
        <p:nvSpPr>
          <p:cNvPr id="109" name="Google Shape;109;p2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10" name="Google Shape;110;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1" name="Shape 111"/>
        <p:cNvGrpSpPr/>
        <p:nvPr/>
      </p:nvGrpSpPr>
      <p:grpSpPr>
        <a:xfrm>
          <a:off x="0" y="0"/>
          <a:ext cx="0" cy="0"/>
          <a:chOff x="0" y="0"/>
          <a:chExt cx="0" cy="0"/>
        </a:xfrm>
      </p:grpSpPr>
      <p:sp>
        <p:nvSpPr>
          <p:cNvPr id="112" name="Google Shape;112;p2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13" name="Google Shape;113;p2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4" name="Google Shape;11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5" name="Shape 115"/>
        <p:cNvGrpSpPr/>
        <p:nvPr/>
      </p:nvGrpSpPr>
      <p:grpSpPr>
        <a:xfrm>
          <a:off x="0" y="0"/>
          <a:ext cx="0" cy="0"/>
          <a:chOff x="0" y="0"/>
          <a:chExt cx="0" cy="0"/>
        </a:xfrm>
      </p:grpSpPr>
      <p:sp>
        <p:nvSpPr>
          <p:cNvPr id="116" name="Google Shape;116;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3.png"/><Relationship Id="rId2" Type="http://schemas.openxmlformats.org/officeDocument/2006/relationships/image" Target="../media/image8.jpg"/><Relationship Id="rId3" Type="http://schemas.openxmlformats.org/officeDocument/2006/relationships/image" Target="../media/image1.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6" Type="http://schemas.openxmlformats.org/officeDocument/2006/relationships/slideLayout" Target="../slideLayouts/slideLayout3.xml"/><Relationship Id="rId18" Type="http://schemas.openxmlformats.org/officeDocument/2006/relationships/theme" Target="../theme/theme2.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image" Target="../media/image8.jpg"/><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1.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usfd-logo-fred-350x138.png" id="10" name="Google Shape;10;p1"/>
          <p:cNvPicPr preferRelativeResize="0"/>
          <p:nvPr/>
        </p:nvPicPr>
        <p:blipFill>
          <a:blip r:embed="rId1">
            <a:alphaModFix/>
          </a:blip>
          <a:stretch>
            <a:fillRect/>
          </a:stretch>
        </p:blipFill>
        <p:spPr>
          <a:xfrm>
            <a:off x="76197" y="73575"/>
            <a:ext cx="1111675" cy="439575"/>
          </a:xfrm>
          <a:prstGeom prst="rect">
            <a:avLst/>
          </a:prstGeom>
          <a:noFill/>
          <a:ln>
            <a:noFill/>
          </a:ln>
        </p:spPr>
      </p:pic>
      <p:pic>
        <p:nvPicPr>
          <p:cNvPr descr="625px-Internet_of_Things.jpg" id="11" name="Google Shape;11;p1"/>
          <p:cNvPicPr preferRelativeResize="0"/>
          <p:nvPr/>
        </p:nvPicPr>
        <p:blipFill>
          <a:blip r:embed="rId2">
            <a:alphaModFix/>
          </a:blip>
          <a:stretch>
            <a:fillRect/>
          </a:stretch>
        </p:blipFill>
        <p:spPr>
          <a:xfrm>
            <a:off x="8362825" y="73579"/>
            <a:ext cx="691500" cy="663842"/>
          </a:xfrm>
          <a:prstGeom prst="rect">
            <a:avLst/>
          </a:prstGeom>
          <a:noFill/>
          <a:ln>
            <a:noFill/>
          </a:ln>
        </p:spPr>
      </p:pic>
      <p:pic>
        <p:nvPicPr>
          <p:cNvPr descr="esp32-feather.jpg" id="12" name="Google Shape;12;p1"/>
          <p:cNvPicPr preferRelativeResize="0"/>
          <p:nvPr/>
        </p:nvPicPr>
        <p:blipFill>
          <a:blip r:embed="rId3">
            <a:alphaModFix/>
          </a:blip>
          <a:stretch>
            <a:fillRect/>
          </a:stretch>
        </p:blipFill>
        <p:spPr>
          <a:xfrm>
            <a:off x="76985" y="4540237"/>
            <a:ext cx="521324" cy="520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7" name="Shape 67"/>
        <p:cNvGrpSpPr/>
        <p:nvPr/>
      </p:nvGrpSpPr>
      <p:grpSpPr>
        <a:xfrm>
          <a:off x="0" y="0"/>
          <a:ext cx="0" cy="0"/>
          <a:chOff x="0" y="0"/>
          <a:chExt cx="0" cy="0"/>
        </a:xfrm>
      </p:grpSpPr>
      <p:sp>
        <p:nvSpPr>
          <p:cNvPr id="68" name="Google Shape;68;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69" name="Google Shape;69;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70" name="Google Shape;7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71" name="Google Shape;71;p16"/>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esp32-feather.jpg" id="72" name="Google Shape;72;p16"/>
          <p:cNvPicPr preferRelativeResize="0"/>
          <p:nvPr/>
        </p:nvPicPr>
        <p:blipFill>
          <a:blip r:embed="rId1">
            <a:alphaModFix/>
          </a:blip>
          <a:stretch>
            <a:fillRect/>
          </a:stretch>
        </p:blipFill>
        <p:spPr>
          <a:xfrm>
            <a:off x="76985" y="4540237"/>
            <a:ext cx="521324" cy="520026"/>
          </a:xfrm>
          <a:prstGeom prst="rect">
            <a:avLst/>
          </a:prstGeom>
          <a:noFill/>
          <a:ln>
            <a:noFill/>
          </a:ln>
        </p:spPr>
      </p:pic>
      <p:pic>
        <p:nvPicPr>
          <p:cNvPr descr="usfd-logo-fred-350x138.png" id="73" name="Google Shape;73;p16"/>
          <p:cNvPicPr preferRelativeResize="0"/>
          <p:nvPr/>
        </p:nvPicPr>
        <p:blipFill>
          <a:blip r:embed="rId2">
            <a:alphaModFix/>
          </a:blip>
          <a:stretch>
            <a:fillRect/>
          </a:stretch>
        </p:blipFill>
        <p:spPr>
          <a:xfrm>
            <a:off x="76197" y="73575"/>
            <a:ext cx="1111675" cy="439575"/>
          </a:xfrm>
          <a:prstGeom prst="rect">
            <a:avLst/>
          </a:prstGeom>
          <a:noFill/>
          <a:ln>
            <a:noFill/>
          </a:ln>
        </p:spPr>
      </p:pic>
      <p:pic>
        <p:nvPicPr>
          <p:cNvPr descr="625px-Internet_of_Things.jpg" id="74" name="Google Shape;74;p16"/>
          <p:cNvPicPr preferRelativeResize="0"/>
          <p:nvPr/>
        </p:nvPicPr>
        <p:blipFill>
          <a:blip r:embed="rId3">
            <a:alphaModFix/>
          </a:blip>
          <a:stretch>
            <a:fillRect/>
          </a:stretch>
        </p:blipFill>
        <p:spPr>
          <a:xfrm>
            <a:off x="8362825" y="73579"/>
            <a:ext cx="691500" cy="66384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hyperlink" Target="https://iot.unphone.net/#lipo-safet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hyperlink" Target="https://www.youtube.com/watch?v=FZ4ayyTXM2s" TargetMode="External"/><Relationship Id="rId4" Type="http://schemas.openxmlformats.org/officeDocument/2006/relationships/hyperlink" Target="https://www.youtube.com/watch?v=re-dSV_a0tM" TargetMode="External"/><Relationship Id="rId5" Type="http://schemas.openxmlformats.org/officeDocument/2006/relationships/image" Target="../media/image29.png"/><Relationship Id="rId6"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hyperlink" Target="https://heywillow.io/" TargetMode="Externa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hyperlink" Target="http://drive.google.com/file/d/14cB_kvJxQ9GSohJwPJRi2_XFegONFeH9zw/view" TargetMode="External"/><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5.jpg"/><Relationship Id="rId5" Type="http://schemas.openxmlformats.org/officeDocument/2006/relationships/image" Target="../media/image7.jpg"/><Relationship Id="rId6" Type="http://schemas.openxmlformats.org/officeDocument/2006/relationships/image" Target="../media/image11.jpg"/><Relationship Id="rId7"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7.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7.png"/><Relationship Id="rId5" Type="http://schemas.openxmlformats.org/officeDocument/2006/relationships/image" Target="../media/image18.png"/><Relationship Id="rId6"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hyperlink" Target="http://www.vlsi.fi/en/products/vs1053.html" TargetMode="External"/><Relationship Id="rId4" Type="http://schemas.openxmlformats.org/officeDocument/2006/relationships/hyperlink" Target="http://www.vlsi.fi/fileadmin/software/VS10XX/vs1053mid.mp3" TargetMode="External"/><Relationship Id="rId5" Type="http://schemas.openxmlformats.org/officeDocument/2006/relationships/hyperlink" Target="http://www.vlsi.fi/en/products/vs1053.html" TargetMode="External"/><Relationship Id="rId6" Type="http://schemas.openxmlformats.org/officeDocument/2006/relationships/hyperlink" Target="http://www.vlsi.fi/fileadmin/software/VS10XX/vs1053mid.mp3" TargetMode="External"/><Relationship Id="rId7" Type="http://schemas.openxmlformats.org/officeDocument/2006/relationships/hyperlink" Target="https://en.wikipedia.org/wiki/Battleship_(gam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ph idx="1" type="subTitle"/>
          </p:nvPr>
        </p:nvSpPr>
        <p:spPr>
          <a:xfrm>
            <a:off x="1627650" y="2834125"/>
            <a:ext cx="58887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GB"/>
              <a:t>COM3505, Lecture 8</a:t>
            </a:r>
            <a:endParaRPr/>
          </a:p>
          <a:p>
            <a:pPr indent="0" lvl="0" marL="0" rtl="0" algn="ctr">
              <a:spcBef>
                <a:spcPts val="0"/>
              </a:spcBef>
              <a:spcAft>
                <a:spcPts val="0"/>
              </a:spcAft>
              <a:buNone/>
            </a:pPr>
            <a:r>
              <a:rPr lang="en-GB"/>
              <a:t>Prof Hamish Cunningham</a:t>
            </a:r>
            <a:endParaRPr/>
          </a:p>
        </p:txBody>
      </p:sp>
      <p:sp>
        <p:nvSpPr>
          <p:cNvPr id="122" name="Google Shape;122;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3" name="Google Shape;123;p28"/>
          <p:cNvSpPr txBox="1"/>
          <p:nvPr>
            <p:ph type="ctrTitle"/>
          </p:nvPr>
        </p:nvSpPr>
        <p:spPr>
          <a:xfrm>
            <a:off x="311700" y="1002325"/>
            <a:ext cx="8520600" cy="135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4800"/>
              <a:t>Projects</a:t>
            </a:r>
            <a:endParaRPr sz="4800"/>
          </a:p>
          <a:p>
            <a:pPr indent="0" lvl="0" marL="0" rtl="0" algn="ctr">
              <a:spcBef>
                <a:spcPts val="0"/>
              </a:spcBef>
              <a:spcAft>
                <a:spcPts val="0"/>
              </a:spcAft>
              <a:buClr>
                <a:schemeClr val="dk1"/>
              </a:buClr>
              <a:buSzPts val="1100"/>
              <a:buFont typeface="Arial"/>
              <a:buNone/>
            </a:pPr>
            <a:r>
              <a:rPr lang="en-GB" sz="4800"/>
              <a:t>— SA-DF-HE</a:t>
            </a:r>
            <a:endParaRPr sz="4800"/>
          </a:p>
          <a:p>
            <a:pPr indent="0" lvl="0" marL="0" rtl="0" algn="ctr">
              <a:spcBef>
                <a:spcPts val="0"/>
              </a:spcBef>
              <a:spcAft>
                <a:spcPts val="0"/>
              </a:spcAft>
              <a:buNone/>
            </a:pPr>
            <a:r>
              <a:t/>
            </a:r>
            <a:endParaRPr sz="4800"/>
          </a:p>
        </p:txBody>
      </p:sp>
      <p:sp>
        <p:nvSpPr>
          <p:cNvPr id="124" name="Google Shape;124;p28"/>
          <p:cNvSpPr txBox="1"/>
          <p:nvPr>
            <p:ph type="ctrTitle"/>
          </p:nvPr>
        </p:nvSpPr>
        <p:spPr>
          <a:xfrm>
            <a:off x="1413625" y="1816425"/>
            <a:ext cx="6250200" cy="1429200"/>
          </a:xfrm>
          <a:prstGeom prst="rect">
            <a:avLst/>
          </a:prstGeom>
        </p:spPr>
        <p:txBody>
          <a:bodyPr anchorCtr="0" anchor="b" bIns="91425" lIns="91425" spcFirstLastPara="1" rIns="91425" wrap="square" tIns="91425">
            <a:noAutofit/>
          </a:bodyPr>
          <a:lstStyle/>
          <a:p>
            <a:pPr indent="-342900" lvl="0" marL="457200" rtl="0" algn="l">
              <a:spcBef>
                <a:spcPts val="0"/>
              </a:spcBef>
              <a:spcAft>
                <a:spcPts val="0"/>
              </a:spcAft>
              <a:buSzPts val="1800"/>
              <a:buChar char="●"/>
            </a:pPr>
            <a:r>
              <a:rPr lang="en-GB" sz="1800"/>
              <a:t>Week 9</a:t>
            </a:r>
            <a:r>
              <a:rPr lang="en-GB" sz="1300"/>
              <a:t>^H^H</a:t>
            </a:r>
            <a:r>
              <a:rPr b="1" lang="en-GB" sz="1800" u="sng"/>
              <a:t>7</a:t>
            </a:r>
            <a:r>
              <a:rPr lang="en-GB" sz="1800"/>
              <a:t> is t</a:t>
            </a:r>
            <a:r>
              <a:rPr lang="en-GB" sz="1800"/>
              <a:t>akeaway time!</a:t>
            </a:r>
            <a:endParaRPr sz="1800"/>
          </a:p>
          <a:p>
            <a:pPr indent="-342900" lvl="0" marL="457200" rtl="0" algn="l">
              <a:spcBef>
                <a:spcPts val="0"/>
              </a:spcBef>
              <a:spcAft>
                <a:spcPts val="0"/>
              </a:spcAft>
              <a:buSzPts val="1800"/>
              <a:buChar char="●"/>
            </a:pPr>
            <a:r>
              <a:rPr lang="en-GB" sz="1800"/>
              <a:t>The hardware is all yours to keep, and (</a:t>
            </a:r>
            <a:r>
              <a:rPr b="1" lang="en-GB" sz="1800" u="sng"/>
              <a:t>after</a:t>
            </a:r>
            <a:r>
              <a:rPr b="1" lang="en-GB" sz="1800"/>
              <a:t> marking</a:t>
            </a:r>
            <a:r>
              <a:rPr lang="en-GB" sz="1800"/>
              <a:t>!)</a:t>
            </a:r>
            <a:br>
              <a:rPr lang="en-GB" sz="1800"/>
            </a:br>
            <a:r>
              <a:rPr lang="en-GB" sz="1800"/>
              <a:t>you’re welcome to make all your work public (though </a:t>
            </a:r>
            <a:r>
              <a:rPr b="1" lang="en-GB" sz="1800"/>
              <a:t>NOT</a:t>
            </a:r>
            <a:r>
              <a:rPr lang="en-GB" sz="1800"/>
              <a:t> the whole repository please).</a:t>
            </a:r>
            <a:endParaRPr sz="1800"/>
          </a:p>
          <a:p>
            <a:pPr indent="-342900" lvl="0" marL="457200" rtl="0" algn="l">
              <a:spcBef>
                <a:spcPts val="0"/>
              </a:spcBef>
              <a:spcAft>
                <a:spcPts val="0"/>
              </a:spcAft>
              <a:buSzPts val="1800"/>
              <a:buChar char="●"/>
            </a:pPr>
            <a:r>
              <a:rPr lang="en-GB" sz="1800"/>
              <a:t>Build something you’ll feel proud showing off</a:t>
            </a:r>
            <a:br>
              <a:rPr lang="en-GB" sz="1800"/>
            </a:br>
            <a:r>
              <a:rPr lang="en-GB" sz="1800"/>
              <a:t>at an interview or a makerspace or a party!</a:t>
            </a:r>
            <a:endParaRPr sz="4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9"/>
          <p:cNvSpPr txBox="1"/>
          <p:nvPr>
            <p:ph type="title"/>
          </p:nvPr>
        </p:nvSpPr>
        <p:spPr>
          <a:xfrm>
            <a:off x="1226100" y="-7620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Frequently asked Qs about the project</a:t>
            </a:r>
            <a:endParaRPr/>
          </a:p>
        </p:txBody>
      </p:sp>
      <p:sp>
        <p:nvSpPr>
          <p:cNvPr id="130" name="Google Shape;130;p29"/>
          <p:cNvSpPr txBox="1"/>
          <p:nvPr>
            <p:ph idx="12" type="sldNum"/>
          </p:nvPr>
        </p:nvSpPr>
        <p:spPr>
          <a:xfrm>
            <a:off x="8624858" y="47932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1" name="Google Shape;131;p29"/>
          <p:cNvSpPr txBox="1"/>
          <p:nvPr>
            <p:ph idx="1" type="body"/>
          </p:nvPr>
        </p:nvSpPr>
        <p:spPr>
          <a:xfrm>
            <a:off x="430650" y="1068065"/>
            <a:ext cx="83400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What was it we were supposed to be doing now again?</a:t>
            </a:r>
            <a:endParaRPr sz="1800"/>
          </a:p>
        </p:txBody>
      </p:sp>
      <p:sp>
        <p:nvSpPr>
          <p:cNvPr id="132" name="Google Shape;132;p29"/>
          <p:cNvSpPr txBox="1"/>
          <p:nvPr>
            <p:ph idx="1" type="body"/>
          </p:nvPr>
        </p:nvSpPr>
        <p:spPr>
          <a:xfrm>
            <a:off x="430650" y="1372865"/>
            <a:ext cx="8340000" cy="528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sz="1800"/>
              <a:t>Creating! Playing! Making something we might use, or that someone might find useful, or that someone might take pleasure in...</a:t>
            </a:r>
            <a:endParaRPr sz="1800"/>
          </a:p>
        </p:txBody>
      </p:sp>
      <p:sp>
        <p:nvSpPr>
          <p:cNvPr id="133" name="Google Shape;133;p29"/>
          <p:cNvSpPr txBox="1"/>
          <p:nvPr>
            <p:ph idx="1" type="body"/>
          </p:nvPr>
        </p:nvSpPr>
        <p:spPr>
          <a:xfrm>
            <a:off x="583050" y="4207475"/>
            <a:ext cx="8340000" cy="528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GB" sz="1800"/>
              <a:t>Nothing good</a:t>
            </a:r>
            <a:r>
              <a:rPr lang="en-GB" sz="1800"/>
              <a:t>; please be careful!</a:t>
            </a:r>
            <a:endParaRPr sz="1800"/>
          </a:p>
        </p:txBody>
      </p:sp>
      <p:sp>
        <p:nvSpPr>
          <p:cNvPr id="134" name="Google Shape;134;p29"/>
          <p:cNvSpPr txBox="1"/>
          <p:nvPr>
            <p:ph idx="1" type="body"/>
          </p:nvPr>
        </p:nvSpPr>
        <p:spPr>
          <a:xfrm>
            <a:off x="583050" y="3902675"/>
            <a:ext cx="83400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What happens when you put a LiPo in a bag with a featherwing and sit on it?</a:t>
            </a:r>
            <a:endParaRPr sz="1800"/>
          </a:p>
        </p:txBody>
      </p:sp>
      <p:sp>
        <p:nvSpPr>
          <p:cNvPr id="135" name="Google Shape;135;p29"/>
          <p:cNvSpPr txBox="1"/>
          <p:nvPr>
            <p:ph idx="1" type="body"/>
          </p:nvPr>
        </p:nvSpPr>
        <p:spPr>
          <a:xfrm>
            <a:off x="430650" y="2661488"/>
            <a:ext cx="8340000" cy="528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sz="1800"/>
              <a:t>If you ask nicely you can swap (so long as we have the hardware left). BUT be sure you write up what problems you had and why: the marking scheme includes allocation for documenting your design and development process!</a:t>
            </a:r>
            <a:endParaRPr sz="1800"/>
          </a:p>
        </p:txBody>
      </p:sp>
      <p:sp>
        <p:nvSpPr>
          <p:cNvPr id="136" name="Google Shape;136;p29"/>
          <p:cNvSpPr txBox="1"/>
          <p:nvPr>
            <p:ph idx="1" type="body"/>
          </p:nvPr>
        </p:nvSpPr>
        <p:spPr>
          <a:xfrm>
            <a:off x="430650" y="2356688"/>
            <a:ext cx="83400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I hate this project!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LiPo: handle and charge carefully</a:t>
            </a:r>
            <a:endParaRPr/>
          </a:p>
        </p:txBody>
      </p:sp>
      <p:sp>
        <p:nvSpPr>
          <p:cNvPr id="142" name="Google Shape;142;p30"/>
          <p:cNvSpPr txBox="1"/>
          <p:nvPr>
            <p:ph idx="1" type="body"/>
          </p:nvPr>
        </p:nvSpPr>
        <p:spPr>
          <a:xfrm>
            <a:off x="311725" y="542875"/>
            <a:ext cx="816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The unPhone contains a Lithium Polymer (LiPo) battery; treat it carefully!</a:t>
            </a:r>
            <a:endParaRPr sz="1800"/>
          </a:p>
          <a:p>
            <a:pPr indent="-342900" lvl="0" marL="457200" rtl="0" algn="l">
              <a:spcBef>
                <a:spcPts val="0"/>
              </a:spcBef>
              <a:spcAft>
                <a:spcPts val="0"/>
              </a:spcAft>
              <a:buSzPts val="1800"/>
              <a:buChar char="●"/>
            </a:pPr>
            <a:r>
              <a:rPr lang="en-GB" sz="1800"/>
              <a:t>These are potentially dangerous: sign the disclaimer, read the notes — </a:t>
            </a:r>
            <a:r>
              <a:rPr lang="en-GB" sz="1800" u="sng">
                <a:solidFill>
                  <a:schemeClr val="hlink"/>
                </a:solidFill>
                <a:hlinkClick r:id="rId3"/>
              </a:rPr>
              <a:t>https://iot.unphone.net/#lipo-safety</a:t>
            </a:r>
            <a:r>
              <a:rPr lang="en-GB" sz="1800"/>
              <a:t>, if in doubt ask!</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The two main issues:</a:t>
            </a:r>
            <a:endParaRPr sz="1800"/>
          </a:p>
          <a:p>
            <a:pPr indent="-342900" lvl="0" marL="457200" rtl="0" algn="l">
              <a:spcBef>
                <a:spcPts val="0"/>
              </a:spcBef>
              <a:spcAft>
                <a:spcPts val="0"/>
              </a:spcAft>
              <a:buSzPts val="1800"/>
              <a:buChar char="●"/>
            </a:pPr>
            <a:r>
              <a:rPr lang="en-GB" sz="1800"/>
              <a:t>handling (don’t break the containment)</a:t>
            </a:r>
            <a:endParaRPr sz="1800"/>
          </a:p>
          <a:p>
            <a:pPr indent="-342900" lvl="0" marL="457200" rtl="0" algn="l">
              <a:spcBef>
                <a:spcPts val="0"/>
              </a:spcBef>
              <a:spcAft>
                <a:spcPts val="0"/>
              </a:spcAft>
              <a:buSzPts val="1800"/>
              <a:buChar char="●"/>
            </a:pPr>
            <a:r>
              <a:rPr lang="en-GB" sz="1800"/>
              <a:t>charging (the PMU / battery management chip and its programming have been verified by qualified engineers at Adafruit and Pimoroni, but that doesn’t mean they’re infallible, and there is potential for us to break it… take care!)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143" name="Google Shape;143;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 name="Shape 147"/>
        <p:cNvGrpSpPr/>
        <p:nvPr/>
      </p:nvGrpSpPr>
      <p:grpSpPr>
        <a:xfrm>
          <a:off x="0" y="0"/>
          <a:ext cx="0" cy="0"/>
          <a:chOff x="0" y="0"/>
          <a:chExt cx="0" cy="0"/>
        </a:xfrm>
      </p:grpSpPr>
      <p:sp>
        <p:nvSpPr>
          <p:cNvPr id="148" name="Google Shape;148;p31"/>
          <p:cNvSpPr txBox="1"/>
          <p:nvPr>
            <p:ph idx="1" type="body"/>
          </p:nvPr>
        </p:nvSpPr>
        <p:spPr>
          <a:xfrm>
            <a:off x="472975" y="851975"/>
            <a:ext cx="83400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options:</a:t>
            </a:r>
            <a:endParaRPr sz="1800"/>
          </a:p>
          <a:p>
            <a:pPr indent="-342900" lvl="1" marL="914400" rtl="0" algn="l">
              <a:spcBef>
                <a:spcPts val="0"/>
              </a:spcBef>
              <a:spcAft>
                <a:spcPts val="0"/>
              </a:spcAft>
              <a:buSzPts val="1800"/>
              <a:buAutoNum type="alphaLcPeriod"/>
            </a:pPr>
            <a:r>
              <a:rPr lang="en-GB" sz="1800"/>
              <a:t>the unPhone</a:t>
            </a:r>
            <a:endParaRPr sz="1800"/>
          </a:p>
          <a:p>
            <a:pPr indent="-342900" lvl="1" marL="914400" rtl="0" algn="l">
              <a:spcBef>
                <a:spcPts val="0"/>
              </a:spcBef>
              <a:spcAft>
                <a:spcPts val="0"/>
              </a:spcAft>
              <a:buSzPts val="1800"/>
              <a:buAutoNum type="alphaLcPeriod"/>
            </a:pPr>
            <a:r>
              <a:rPr lang="en-GB" sz="1800"/>
              <a:t>Marvin, a DIY Alexa</a:t>
            </a:r>
            <a:endParaRPr sz="1800"/>
          </a:p>
          <a:p>
            <a:pPr indent="-342900" lvl="1" marL="914400" rtl="0" algn="l">
              <a:spcBef>
                <a:spcPts val="0"/>
              </a:spcBef>
              <a:spcAft>
                <a:spcPts val="0"/>
              </a:spcAft>
              <a:buSzPts val="1800"/>
              <a:buAutoNum type="alphaLcPeriod"/>
            </a:pPr>
            <a:r>
              <a:rPr lang="en-GB" sz="1800"/>
              <a:t>LilyGoWatch</a:t>
            </a:r>
            <a:endParaRPr sz="1800"/>
          </a:p>
          <a:p>
            <a:pPr indent="-342900" lvl="1" marL="914400" rtl="0" algn="l">
              <a:spcBef>
                <a:spcPts val="0"/>
              </a:spcBef>
              <a:spcAft>
                <a:spcPts val="0"/>
              </a:spcAft>
              <a:buSzPts val="1800"/>
              <a:buAutoNum type="alphaLcPeriod"/>
            </a:pPr>
            <a:r>
              <a:rPr lang="en-GB" sz="1800"/>
              <a:t>roll your own (but check first!)</a:t>
            </a:r>
            <a:endParaRPr sz="1800"/>
          </a:p>
          <a:p>
            <a:pPr indent="-342900" lvl="0" marL="457200" rtl="0" algn="l">
              <a:spcBef>
                <a:spcPts val="0"/>
              </a:spcBef>
              <a:spcAft>
                <a:spcPts val="0"/>
              </a:spcAft>
              <a:buSzPts val="1800"/>
              <a:buChar char="●"/>
            </a:pPr>
            <a:r>
              <a:rPr lang="en-GB" sz="1800"/>
              <a:t>the spin 9 unPhone is an ESP32S3, LCD with touch display, accelerometer, SD card, LoRaWAN, IR LEDs and vibe motor</a:t>
            </a:r>
            <a:endParaRPr sz="1800"/>
          </a:p>
          <a:p>
            <a:pPr indent="-342900" lvl="0" marL="457200" rtl="0" algn="l">
              <a:spcBef>
                <a:spcPts val="0"/>
              </a:spcBef>
              <a:spcAft>
                <a:spcPts val="0"/>
              </a:spcAft>
              <a:buSzPts val="1800"/>
              <a:buChar char="●"/>
            </a:pPr>
            <a:r>
              <a:rPr lang="en-GB" sz="1800"/>
              <a:t>possible unPhone projects:  remote control of other devices over WiFi or BT, perhaps using a gesture language; voice control via a mic on your other ESP32 (or the expander); exercise tracker; data logger; small-screen UI; fuzzy predictive text; etc. etc. etc.…</a:t>
            </a:r>
            <a:endParaRPr sz="1800"/>
          </a:p>
          <a:p>
            <a:pPr indent="-342900" lvl="0" marL="457200" rtl="0" algn="l">
              <a:spcBef>
                <a:spcPts val="0"/>
              </a:spcBef>
              <a:spcAft>
                <a:spcPts val="0"/>
              </a:spcAft>
              <a:buSzPts val="1800"/>
              <a:buChar char="●"/>
            </a:pPr>
            <a:r>
              <a:rPr lang="en-GB" sz="1800"/>
              <a:t>with the ML that Valentin introduced last week, lots of Alexa-type projects :)</a:t>
            </a:r>
            <a:endParaRPr sz="1800"/>
          </a:p>
          <a:p>
            <a:pPr indent="-342900" lvl="0" marL="457200" rtl="0" algn="l">
              <a:spcBef>
                <a:spcPts val="0"/>
              </a:spcBef>
              <a:spcAft>
                <a:spcPts val="0"/>
              </a:spcAft>
              <a:buSzPts val="1800"/>
              <a:buChar char="●"/>
            </a:pPr>
            <a:r>
              <a:rPr lang="en-GB" sz="1800"/>
              <a:t>see also Chapter 8</a:t>
            </a:r>
            <a:endParaRPr sz="1800"/>
          </a:p>
        </p:txBody>
      </p:sp>
      <p:sp>
        <p:nvSpPr>
          <p:cNvPr id="149" name="Google Shape;149;p31"/>
          <p:cNvSpPr txBox="1"/>
          <p:nvPr>
            <p:ph type="title"/>
          </p:nvPr>
        </p:nvSpPr>
        <p:spPr>
          <a:xfrm>
            <a:off x="816200" y="0"/>
            <a:ext cx="7768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[from L7]</a:t>
            </a:r>
            <a:br>
              <a:rPr lang="en-GB"/>
            </a:br>
            <a:r>
              <a:rPr lang="en-GB"/>
              <a:t>Projects: Marvin, unPhone, LilyGoWatch, or…?</a:t>
            </a:r>
            <a:endParaRPr/>
          </a:p>
        </p:txBody>
      </p:sp>
      <p:sp>
        <p:nvSpPr>
          <p:cNvPr id="150" name="Google Shape;150;p31"/>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4" name="Shape 154"/>
        <p:cNvGrpSpPr/>
        <p:nvPr/>
      </p:nvGrpSpPr>
      <p:grpSpPr>
        <a:xfrm>
          <a:off x="0" y="0"/>
          <a:ext cx="0" cy="0"/>
          <a:chOff x="0" y="0"/>
          <a:chExt cx="0" cy="0"/>
        </a:xfrm>
      </p:grpSpPr>
      <p:sp>
        <p:nvSpPr>
          <p:cNvPr id="155" name="Google Shape;155;p32"/>
          <p:cNvSpPr txBox="1"/>
          <p:nvPr>
            <p:ph type="title"/>
          </p:nvPr>
        </p:nvSpPr>
        <p:spPr>
          <a:xfrm>
            <a:off x="997500" y="-76200"/>
            <a:ext cx="758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[From L7]   </a:t>
            </a:r>
            <a:r>
              <a:rPr lang="en-GB"/>
              <a:t>Projects: pros and cons</a:t>
            </a:r>
            <a:endParaRPr/>
          </a:p>
        </p:txBody>
      </p:sp>
      <p:sp>
        <p:nvSpPr>
          <p:cNvPr id="156" name="Google Shape;156;p32"/>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57" name="Google Shape;157;p32"/>
          <p:cNvGraphicFramePr/>
          <p:nvPr/>
        </p:nvGraphicFramePr>
        <p:xfrm>
          <a:off x="714800" y="505225"/>
          <a:ext cx="3000000" cy="3000000"/>
        </p:xfrm>
        <a:graphic>
          <a:graphicData uri="http://schemas.openxmlformats.org/drawingml/2006/table">
            <a:tbl>
              <a:tblPr>
                <a:noFill/>
                <a:tableStyleId>{0F36A42C-2DEC-432D-92CA-773AB6F56A20}</a:tableStyleId>
              </a:tblPr>
              <a:tblGrid>
                <a:gridCol w="1594650"/>
                <a:gridCol w="3257475"/>
                <a:gridCol w="3255825"/>
              </a:tblGrid>
              <a:tr h="381000">
                <a:tc>
                  <a:txBody>
                    <a:bodyPr/>
                    <a:lstStyle/>
                    <a:p>
                      <a:pPr indent="0" lvl="0" marL="0" rtl="0" algn="ctr">
                        <a:spcBef>
                          <a:spcPts val="0"/>
                        </a:spcBef>
                        <a:spcAft>
                          <a:spcPts val="0"/>
                        </a:spcAft>
                        <a:buNone/>
                      </a:pPr>
                      <a:r>
                        <a:rPr b="1" lang="en-GB" sz="1500"/>
                        <a:t>Project</a:t>
                      </a:r>
                      <a:endParaRPr b="1" sz="1500"/>
                    </a:p>
                  </a:txBody>
                  <a:tcPr marT="91425" marB="91425" marR="91425" marL="91425"/>
                </a:tc>
                <a:tc>
                  <a:txBody>
                    <a:bodyPr/>
                    <a:lstStyle/>
                    <a:p>
                      <a:pPr indent="0" lvl="0" marL="0" rtl="0" algn="ctr">
                        <a:spcBef>
                          <a:spcPts val="0"/>
                        </a:spcBef>
                        <a:spcAft>
                          <a:spcPts val="0"/>
                        </a:spcAft>
                        <a:buNone/>
                      </a:pPr>
                      <a:r>
                        <a:rPr b="1" lang="en-GB" sz="1500"/>
                        <a:t>Advantages</a:t>
                      </a:r>
                      <a:endParaRPr b="1" sz="1500"/>
                    </a:p>
                  </a:txBody>
                  <a:tcPr marT="91425" marB="91425" marR="91425" marL="91425"/>
                </a:tc>
                <a:tc>
                  <a:txBody>
                    <a:bodyPr/>
                    <a:lstStyle/>
                    <a:p>
                      <a:pPr indent="0" lvl="0" marL="0" rtl="0" algn="ctr">
                        <a:spcBef>
                          <a:spcPts val="0"/>
                        </a:spcBef>
                        <a:spcAft>
                          <a:spcPts val="0"/>
                        </a:spcAft>
                        <a:buNone/>
                      </a:pPr>
                      <a:r>
                        <a:rPr b="1" lang="en-GB" sz="1500"/>
                        <a:t>Disadvantages</a:t>
                      </a:r>
                      <a:endParaRPr b="1" sz="1500"/>
                    </a:p>
                  </a:txBody>
                  <a:tcPr marT="91425" marB="91425" marR="91425" marL="91425"/>
                </a:tc>
              </a:tr>
              <a:tr h="381000">
                <a:tc>
                  <a:txBody>
                    <a:bodyPr/>
                    <a:lstStyle/>
                    <a:p>
                      <a:pPr indent="0" lvl="0" marL="0" rtl="0" algn="l">
                        <a:spcBef>
                          <a:spcPts val="0"/>
                        </a:spcBef>
                        <a:spcAft>
                          <a:spcPts val="0"/>
                        </a:spcAft>
                        <a:buNone/>
                      </a:pPr>
                      <a:r>
                        <a:rPr b="1" lang="en-GB" sz="1500"/>
                        <a:t>unPhone</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all the elements are pre-soldered (unless you use the expander board)</a:t>
                      </a:r>
                      <a:endParaRPr sz="1500"/>
                    </a:p>
                    <a:p>
                      <a:pPr indent="-323850" lvl="0" marL="457200" rtl="0" algn="l">
                        <a:spcBef>
                          <a:spcPts val="0"/>
                        </a:spcBef>
                        <a:spcAft>
                          <a:spcPts val="0"/>
                        </a:spcAft>
                        <a:buSzPts val="1500"/>
                        <a:buChar char="●"/>
                      </a:pPr>
                      <a:r>
                        <a:rPr lang="en-GB" sz="1500"/>
                        <a:t>there’s a UI!</a:t>
                      </a:r>
                      <a:endParaRPr sz="1500"/>
                    </a:p>
                    <a:p>
                      <a:pPr indent="-323850" lvl="0" marL="457200" rtl="0" algn="l">
                        <a:spcBef>
                          <a:spcPts val="0"/>
                        </a:spcBef>
                        <a:spcAft>
                          <a:spcPts val="0"/>
                        </a:spcAft>
                        <a:buSzPts val="1500"/>
                        <a:buChar char="●"/>
                      </a:pPr>
                      <a:r>
                        <a:rPr lang="en-GB" sz="1500"/>
                        <a:t>lots of variations possible</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it looks like a phone but… isn’t!</a:t>
                      </a:r>
                      <a:endParaRPr sz="1500"/>
                    </a:p>
                    <a:p>
                      <a:pPr indent="-323850" lvl="0" marL="457200" rtl="0" algn="l">
                        <a:spcBef>
                          <a:spcPts val="0"/>
                        </a:spcBef>
                        <a:spcAft>
                          <a:spcPts val="0"/>
                        </a:spcAft>
                        <a:buSzPts val="1500"/>
                        <a:buChar char="●"/>
                      </a:pPr>
                      <a:r>
                        <a:rPr lang="en-GB" sz="1500"/>
                        <a:t>[v7 only] relies on patched libraries which can make development (even) trickier</a:t>
                      </a:r>
                      <a:endParaRPr sz="1500"/>
                    </a:p>
                  </a:txBody>
                  <a:tcPr marT="91425" marB="91425" marR="91425" marL="91425"/>
                </a:tc>
              </a:tr>
              <a:tr h="381000">
                <a:tc>
                  <a:txBody>
                    <a:bodyPr/>
                    <a:lstStyle/>
                    <a:p>
                      <a:pPr indent="0" lvl="0" marL="0" rtl="0" algn="l">
                        <a:spcBef>
                          <a:spcPts val="0"/>
                        </a:spcBef>
                        <a:spcAft>
                          <a:spcPts val="0"/>
                        </a:spcAft>
                        <a:buNone/>
                      </a:pPr>
                      <a:r>
                        <a:rPr b="1" lang="en-GB" sz="1500"/>
                        <a:t>Marvin</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close to mass-market products like Alexa, Google Home, etc.</a:t>
                      </a:r>
                      <a:endParaRPr sz="1500"/>
                    </a:p>
                    <a:p>
                      <a:pPr indent="-323850" lvl="0" marL="457200" rtl="0" algn="l">
                        <a:spcBef>
                          <a:spcPts val="0"/>
                        </a:spcBef>
                        <a:spcAft>
                          <a:spcPts val="0"/>
                        </a:spcAft>
                        <a:buSzPts val="1500"/>
                        <a:buChar char="●"/>
                      </a:pPr>
                      <a:r>
                        <a:rPr lang="en-GB" sz="1500"/>
                        <a:t>good online supporting resources</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needs wiring up</a:t>
                      </a:r>
                      <a:endParaRPr sz="1500"/>
                    </a:p>
                    <a:p>
                      <a:pPr indent="-323850" lvl="0" marL="457200" rtl="0" algn="l">
                        <a:spcBef>
                          <a:spcPts val="0"/>
                        </a:spcBef>
                        <a:spcAft>
                          <a:spcPts val="0"/>
                        </a:spcAft>
                        <a:buSzPts val="1500"/>
                        <a:buChar char="●"/>
                      </a:pPr>
                      <a:r>
                        <a:rPr lang="en-GB" sz="1500"/>
                        <a:t>noise and voice dependent</a:t>
                      </a:r>
                      <a:endParaRPr sz="1500"/>
                    </a:p>
                    <a:p>
                      <a:pPr indent="-323850" lvl="0" marL="457200" rtl="0" algn="l">
                        <a:spcBef>
                          <a:spcPts val="0"/>
                        </a:spcBef>
                        <a:spcAft>
                          <a:spcPts val="0"/>
                        </a:spcAft>
                        <a:buSzPts val="1500"/>
                        <a:buChar char="●"/>
                      </a:pPr>
                      <a:r>
                        <a:rPr lang="en-GB" sz="1500"/>
                        <a:t>relies on 3rd party services</a:t>
                      </a:r>
                      <a:endParaRPr sz="1500"/>
                    </a:p>
                    <a:p>
                      <a:pPr indent="0" lvl="0" marL="0" rtl="0" algn="l">
                        <a:spcBef>
                          <a:spcPts val="0"/>
                        </a:spcBef>
                        <a:spcAft>
                          <a:spcPts val="0"/>
                        </a:spcAft>
                        <a:buNone/>
                      </a:pPr>
                      <a:r>
                        <a:t/>
                      </a:r>
                      <a:endParaRPr sz="1500"/>
                    </a:p>
                  </a:txBody>
                  <a:tcPr marT="91425" marB="91425" marR="91425" marL="91425"/>
                </a:tc>
              </a:tr>
              <a:tr h="381000">
                <a:tc>
                  <a:txBody>
                    <a:bodyPr/>
                    <a:lstStyle/>
                    <a:p>
                      <a:pPr indent="0" lvl="0" marL="0" rtl="0" algn="l">
                        <a:spcBef>
                          <a:spcPts val="0"/>
                        </a:spcBef>
                        <a:spcAft>
                          <a:spcPts val="0"/>
                        </a:spcAft>
                        <a:buNone/>
                      </a:pPr>
                      <a:r>
                        <a:rPr b="1" lang="en-GB" sz="1500"/>
                        <a:t>LilyGO Watch</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a wearable!</a:t>
                      </a:r>
                      <a:endParaRPr sz="1500"/>
                    </a:p>
                    <a:p>
                      <a:pPr indent="-323850" lvl="0" marL="457200" rtl="0" algn="l">
                        <a:spcBef>
                          <a:spcPts val="0"/>
                        </a:spcBef>
                        <a:spcAft>
                          <a:spcPts val="0"/>
                        </a:spcAft>
                        <a:buSzPts val="1500"/>
                        <a:buChar char="●"/>
                      </a:pPr>
                      <a:r>
                        <a:rPr lang="en-GB" sz="1500"/>
                        <a:t>carry a memento of COM3505 everywhere you go!</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not a smart watch!</a:t>
                      </a:r>
                      <a:endParaRPr sz="1500"/>
                    </a:p>
                    <a:p>
                      <a:pPr indent="-323850" lvl="0" marL="457200" rtl="0" algn="l">
                        <a:spcBef>
                          <a:spcPts val="0"/>
                        </a:spcBef>
                        <a:spcAft>
                          <a:spcPts val="0"/>
                        </a:spcAft>
                        <a:buSzPts val="1500"/>
                        <a:buChar char="●"/>
                      </a:pPr>
                      <a:r>
                        <a:rPr lang="en-GB" sz="1500"/>
                        <a:t>translation of docs not perfect</a:t>
                      </a:r>
                      <a:endParaRPr sz="1500"/>
                    </a:p>
                  </a:txBody>
                  <a:tcPr marT="91425" marB="91425" marR="91425" marL="91425"/>
                </a:tc>
              </a:tr>
              <a:tr h="381000">
                <a:tc>
                  <a:txBody>
                    <a:bodyPr/>
                    <a:lstStyle/>
                    <a:p>
                      <a:pPr indent="0" lvl="0" marL="0" rtl="0" algn="l">
                        <a:spcBef>
                          <a:spcPts val="0"/>
                        </a:spcBef>
                        <a:spcAft>
                          <a:spcPts val="0"/>
                        </a:spcAft>
                        <a:buNone/>
                      </a:pPr>
                      <a:r>
                        <a:rPr b="1" lang="en-GB" sz="1500"/>
                        <a:t>A.N.Other</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creativity!</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you need to be sure it is A) feasible and B) hard enough</a:t>
                      </a:r>
                      <a:endParaRPr sz="15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3"/>
          <p:cNvSpPr txBox="1"/>
          <p:nvPr>
            <p:ph type="title"/>
          </p:nvPr>
        </p:nvSpPr>
        <p:spPr>
          <a:xfrm>
            <a:off x="997500" y="420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4292E"/>
                </a:solidFill>
              </a:rPr>
              <a:t>T</a:t>
            </a:r>
            <a:r>
              <a:rPr lang="en-GB">
                <a:solidFill>
                  <a:srgbClr val="24292E"/>
                </a:solidFill>
              </a:rPr>
              <a:t>he LilyGoWatch</a:t>
            </a:r>
            <a:endParaRPr/>
          </a:p>
        </p:txBody>
      </p:sp>
      <p:sp>
        <p:nvSpPr>
          <p:cNvPr id="163" name="Google Shape;163;p33"/>
          <p:cNvSpPr txBox="1"/>
          <p:nvPr>
            <p:ph idx="1" type="body"/>
          </p:nvPr>
        </p:nvSpPr>
        <p:spPr>
          <a:xfrm>
            <a:off x="311725" y="542875"/>
            <a:ext cx="816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4292E"/>
              </a:buClr>
              <a:buSzPts val="1800"/>
              <a:buChar char="●"/>
            </a:pPr>
            <a:r>
              <a:rPr lang="en-GB" sz="1800">
                <a:solidFill>
                  <a:srgbClr val="24292E"/>
                </a:solidFill>
              </a:rPr>
              <a:t>the LilyGO ESP32 smart[ish]watch v3</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there are lots of possible (firmware-based) projects using the watch on its own, especially now that it includes a (basic!) mic</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if you want something with a larger hardware component, you could:</a:t>
            </a:r>
            <a:endParaRPr sz="1800">
              <a:solidFill>
                <a:srgbClr val="24292E"/>
              </a:solidFill>
            </a:endParaRPr>
          </a:p>
          <a:p>
            <a:pPr indent="-342900" lvl="1" marL="914400" rtl="0" algn="l">
              <a:spcBef>
                <a:spcPts val="0"/>
              </a:spcBef>
              <a:spcAft>
                <a:spcPts val="0"/>
              </a:spcAft>
              <a:buClr>
                <a:srgbClr val="24292E"/>
              </a:buClr>
              <a:buSzPts val="1800"/>
              <a:buChar char="○"/>
            </a:pPr>
            <a:r>
              <a:rPr lang="en-GB" sz="1800">
                <a:solidFill>
                  <a:srgbClr val="24292E"/>
                </a:solidFill>
              </a:rPr>
              <a:t>connect the watch to your feather (over WiFi or BT or BLE) and use the feather / LED / etc. combination as an actuator (e.g.: turn the TV on or off over IR when I enter the room)</a:t>
            </a:r>
            <a:endParaRPr sz="1800">
              <a:solidFill>
                <a:srgbClr val="24292E"/>
              </a:solidFill>
            </a:endParaRPr>
          </a:p>
          <a:p>
            <a:pPr indent="-342900" lvl="1" marL="914400" rtl="0" algn="l">
              <a:spcBef>
                <a:spcPts val="0"/>
              </a:spcBef>
              <a:spcAft>
                <a:spcPts val="0"/>
              </a:spcAft>
              <a:buClr>
                <a:srgbClr val="24292E"/>
              </a:buClr>
              <a:buSzPts val="1800"/>
              <a:buChar char="○"/>
            </a:pPr>
            <a:r>
              <a:rPr lang="en-GB" sz="1800">
                <a:solidFill>
                  <a:srgbClr val="24292E"/>
                </a:solidFill>
              </a:rPr>
              <a:t>define a project only using the feather (make sure to ok it with me though; you’ll need to have enough to do!)</a:t>
            </a:r>
            <a:endParaRPr sz="1800">
              <a:solidFill>
                <a:srgbClr val="24292E"/>
              </a:solidFill>
            </a:endParaRPr>
          </a:p>
          <a:p>
            <a:pPr indent="-342900" lvl="1" marL="914400" rtl="0" algn="l">
              <a:spcBef>
                <a:spcPts val="0"/>
              </a:spcBef>
              <a:spcAft>
                <a:spcPts val="0"/>
              </a:spcAft>
              <a:buClr>
                <a:srgbClr val="24292E"/>
              </a:buClr>
              <a:buSzPts val="1800"/>
              <a:buChar char="○"/>
            </a:pPr>
            <a:r>
              <a:rPr lang="en-GB" sz="1800">
                <a:solidFill>
                  <a:srgbClr val="24292E"/>
                </a:solidFill>
              </a:rPr>
              <a:t>use some different hardware (next slide)</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if you want to minimise the firmware side, then think about pushing data from the watch to the cloud; display your steps on a web dashboard maybe? take notes and add them to a google doc TODO list? ...</a:t>
            </a:r>
            <a:endParaRPr sz="1800">
              <a:solidFill>
                <a:srgbClr val="24292E"/>
              </a:solidFill>
            </a:endParaRPr>
          </a:p>
          <a:p>
            <a:pPr indent="0" lvl="0" marL="0" rtl="0" algn="l">
              <a:spcBef>
                <a:spcPts val="0"/>
              </a:spcBef>
              <a:spcAft>
                <a:spcPts val="0"/>
              </a:spcAft>
              <a:buNone/>
            </a:pPr>
            <a:r>
              <a:t/>
            </a:r>
            <a:endParaRPr sz="1800"/>
          </a:p>
        </p:txBody>
      </p:sp>
      <p:sp>
        <p:nvSpPr>
          <p:cNvPr id="164" name="Google Shape;164;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ph idx="1" type="body"/>
          </p:nvPr>
        </p:nvSpPr>
        <p:spPr>
          <a:xfrm>
            <a:off x="244375" y="623375"/>
            <a:ext cx="83400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the LilyGO TTGO SmartWatch v3 is an ESP32 with touch display, mic, accelerometer and vibe motor</a:t>
            </a:r>
            <a:endParaRPr sz="1800"/>
          </a:p>
          <a:p>
            <a:pPr indent="-342900" lvl="0" marL="457200" rtl="0" algn="l">
              <a:spcBef>
                <a:spcPts val="0"/>
              </a:spcBef>
              <a:spcAft>
                <a:spcPts val="0"/>
              </a:spcAft>
              <a:buSzPts val="1800"/>
              <a:buChar char="●"/>
            </a:pPr>
            <a:r>
              <a:rPr lang="en-GB" sz="1800"/>
              <a:t>possible projects: </a:t>
            </a:r>
            <a:endParaRPr sz="1800"/>
          </a:p>
          <a:p>
            <a:pPr indent="-342900" lvl="1" marL="914400" rtl="0" algn="l">
              <a:spcBef>
                <a:spcPts val="0"/>
              </a:spcBef>
              <a:spcAft>
                <a:spcPts val="0"/>
              </a:spcAft>
              <a:buSzPts val="1800"/>
              <a:buChar char="○"/>
            </a:pPr>
            <a:r>
              <a:rPr lang="en-GB" sz="1800"/>
              <a:t>exercise tracker</a:t>
            </a:r>
            <a:endParaRPr sz="1800"/>
          </a:p>
          <a:p>
            <a:pPr indent="-342900" lvl="1" marL="914400" rtl="0" algn="l">
              <a:spcBef>
                <a:spcPts val="0"/>
              </a:spcBef>
              <a:spcAft>
                <a:spcPts val="0"/>
              </a:spcAft>
              <a:buSzPts val="1800"/>
              <a:buChar char="○"/>
            </a:pPr>
            <a:r>
              <a:rPr lang="en-GB" sz="1800"/>
              <a:t>data logger</a:t>
            </a:r>
            <a:endParaRPr sz="1800"/>
          </a:p>
          <a:p>
            <a:pPr indent="-342900" lvl="1" marL="914400" rtl="0" algn="l">
              <a:spcBef>
                <a:spcPts val="0"/>
              </a:spcBef>
              <a:spcAft>
                <a:spcPts val="0"/>
              </a:spcAft>
              <a:buSzPts val="1800"/>
              <a:buChar char="○"/>
            </a:pPr>
            <a:r>
              <a:rPr lang="en-GB" sz="1800"/>
              <a:t>remote control of other devices over WiFi or BT</a:t>
            </a:r>
            <a:endParaRPr sz="1800"/>
          </a:p>
          <a:p>
            <a:pPr indent="-342900" lvl="1" marL="914400" rtl="0" algn="l">
              <a:spcBef>
                <a:spcPts val="0"/>
              </a:spcBef>
              <a:spcAft>
                <a:spcPts val="0"/>
              </a:spcAft>
              <a:buSzPts val="1800"/>
              <a:buChar char="○"/>
            </a:pPr>
            <a:r>
              <a:rPr lang="en-GB" sz="1800"/>
              <a:t>perhaps using a gesture language</a:t>
            </a:r>
            <a:endParaRPr sz="1800"/>
          </a:p>
          <a:p>
            <a:pPr indent="-342900" lvl="1" marL="914400" rtl="0" algn="l">
              <a:spcBef>
                <a:spcPts val="0"/>
              </a:spcBef>
              <a:spcAft>
                <a:spcPts val="0"/>
              </a:spcAft>
              <a:buSzPts val="1800"/>
              <a:buChar char="○"/>
            </a:pPr>
            <a:r>
              <a:rPr lang="en-GB" sz="1800"/>
              <a:t>touch control of your watch via a mic on your feather</a:t>
            </a:r>
            <a:endParaRPr sz="1800"/>
          </a:p>
          <a:p>
            <a:pPr indent="-342900" lvl="1" marL="914400" rtl="0" algn="l">
              <a:spcBef>
                <a:spcPts val="0"/>
              </a:spcBef>
              <a:spcAft>
                <a:spcPts val="0"/>
              </a:spcAft>
              <a:buSzPts val="1800"/>
              <a:buChar char="○"/>
            </a:pPr>
            <a:r>
              <a:rPr lang="en-GB" sz="1800"/>
              <a:t>small-screen UI</a:t>
            </a:r>
            <a:endParaRPr sz="1800"/>
          </a:p>
          <a:p>
            <a:pPr indent="-342900" lvl="1" marL="914400" rtl="0" algn="l">
              <a:spcBef>
                <a:spcPts val="0"/>
              </a:spcBef>
              <a:spcAft>
                <a:spcPts val="0"/>
              </a:spcAft>
              <a:buSzPts val="1800"/>
              <a:buChar char="○"/>
            </a:pPr>
            <a:r>
              <a:rPr lang="en-GB" sz="1800"/>
              <a:t>fuzzy predictive text</a:t>
            </a:r>
            <a:endParaRPr sz="1800"/>
          </a:p>
          <a:p>
            <a:pPr indent="-342900" lvl="1" marL="914400" rtl="0" algn="l">
              <a:spcBef>
                <a:spcPts val="0"/>
              </a:spcBef>
              <a:spcAft>
                <a:spcPts val="0"/>
              </a:spcAft>
              <a:buSzPts val="1800"/>
              <a:buChar char="○"/>
            </a:pPr>
            <a:r>
              <a:rPr lang="en-GB" sz="1800"/>
              <a:t>etc. etc. etc. (just drop me an email first to check scope)</a:t>
            </a:r>
            <a:endParaRPr sz="1800"/>
          </a:p>
          <a:p>
            <a:pPr indent="-342900" lvl="0" marL="457200" rtl="0" algn="l">
              <a:spcBef>
                <a:spcPts val="0"/>
              </a:spcBef>
              <a:spcAft>
                <a:spcPts val="0"/>
              </a:spcAft>
              <a:buSzPts val="1800"/>
              <a:buChar char="●"/>
            </a:pPr>
            <a:r>
              <a:rPr lang="en-GB" sz="1800"/>
              <a:t>we have around 40 of these</a:t>
            </a:r>
            <a:endParaRPr sz="1800"/>
          </a:p>
          <a:p>
            <a:pPr indent="0" lvl="0" marL="0" rtl="0" algn="l">
              <a:spcBef>
                <a:spcPts val="0"/>
              </a:spcBef>
              <a:spcAft>
                <a:spcPts val="0"/>
              </a:spcAft>
              <a:buNone/>
            </a:pPr>
            <a:r>
              <a:t/>
            </a:r>
            <a:endParaRPr sz="1800"/>
          </a:p>
        </p:txBody>
      </p:sp>
      <p:sp>
        <p:nvSpPr>
          <p:cNvPr id="170" name="Google Shape;170;p34"/>
          <p:cNvSpPr txBox="1"/>
          <p:nvPr>
            <p:ph type="title"/>
          </p:nvPr>
        </p:nvSpPr>
        <p:spPr>
          <a:xfrm>
            <a:off x="997500" y="0"/>
            <a:ext cx="758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a:t>
            </a:r>
            <a:r>
              <a:rPr lang="en-GB">
                <a:solidFill>
                  <a:srgbClr val="24292E"/>
                </a:solidFill>
              </a:rPr>
              <a:t>LilyGoWatch</a:t>
            </a:r>
            <a:r>
              <a:rPr lang="en-GB"/>
              <a:t> (2)</a:t>
            </a:r>
            <a:endParaRPr/>
          </a:p>
        </p:txBody>
      </p:sp>
      <p:sp>
        <p:nvSpPr>
          <p:cNvPr id="171" name="Google Shape;171;p34"/>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72" name="Google Shape;172;p34"/>
          <p:cNvPicPr preferRelativeResize="0"/>
          <p:nvPr/>
        </p:nvPicPr>
        <p:blipFill rotWithShape="1">
          <a:blip r:embed="rId3">
            <a:alphaModFix/>
          </a:blip>
          <a:srcRect b="3232" l="18093" r="16797" t="0"/>
          <a:stretch/>
        </p:blipFill>
        <p:spPr>
          <a:xfrm>
            <a:off x="6818725" y="1087925"/>
            <a:ext cx="2206325" cy="1843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5"/>
          <p:cNvSpPr txBox="1"/>
          <p:nvPr>
            <p:ph idx="1" type="body"/>
          </p:nvPr>
        </p:nvSpPr>
        <p:spPr>
          <a:xfrm>
            <a:off x="244375" y="623375"/>
            <a:ext cx="83400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Chris Greening has developed a low-noise MEMS mic add-on board for the ESP32</a:t>
            </a:r>
            <a:endParaRPr sz="1800"/>
          </a:p>
          <a:p>
            <a:pPr indent="-342900" lvl="0" marL="457200" rtl="0" algn="l">
              <a:spcBef>
                <a:spcPts val="0"/>
              </a:spcBef>
              <a:spcAft>
                <a:spcPts val="0"/>
              </a:spcAft>
              <a:buSzPts val="1800"/>
              <a:buChar char="●"/>
            </a:pPr>
            <a:r>
              <a:rPr lang="en-GB" sz="1800"/>
              <a:t>he uses them to build a voice-controlled home automation system, or “DIY Alexa”:</a:t>
            </a:r>
            <a:endParaRPr sz="1800"/>
          </a:p>
          <a:p>
            <a:pPr indent="-342900" lvl="1" marL="914400" rtl="0" algn="l">
              <a:spcBef>
                <a:spcPts val="0"/>
              </a:spcBef>
              <a:spcAft>
                <a:spcPts val="0"/>
              </a:spcAft>
              <a:buSzPts val="1800"/>
              <a:buChar char="○"/>
            </a:pPr>
            <a:r>
              <a:rPr lang="en-GB" sz="1800"/>
              <a:t>introduction: </a:t>
            </a:r>
            <a:r>
              <a:rPr lang="en-GB" sz="1800" u="sng">
                <a:solidFill>
                  <a:schemeClr val="hlink"/>
                </a:solidFill>
                <a:hlinkClick r:id="rId3"/>
              </a:rPr>
              <a:t>youtube.com/watch?v=FZ4ayyTXM2s</a:t>
            </a:r>
            <a:endParaRPr sz="1800"/>
          </a:p>
          <a:p>
            <a:pPr indent="-342900" lvl="1" marL="914400" rtl="0" algn="l">
              <a:spcBef>
                <a:spcPts val="0"/>
              </a:spcBef>
              <a:spcAft>
                <a:spcPts val="0"/>
              </a:spcAft>
              <a:buSzPts val="1800"/>
              <a:buChar char="○"/>
            </a:pPr>
            <a:r>
              <a:rPr lang="en-GB" sz="1800"/>
              <a:t>tutorial: </a:t>
            </a:r>
            <a:r>
              <a:rPr lang="en-GB" sz="1800" u="sng">
                <a:solidFill>
                  <a:schemeClr val="hlink"/>
                </a:solidFill>
                <a:hlinkClick r:id="rId4"/>
              </a:rPr>
              <a:t>youtube.com/watch?v=re-dSV_a0tM</a:t>
            </a:r>
            <a:endParaRPr sz="1800"/>
          </a:p>
          <a:p>
            <a:pPr indent="-342900" lvl="0" marL="457200" rtl="0" algn="l">
              <a:spcBef>
                <a:spcPts val="0"/>
              </a:spcBef>
              <a:spcAft>
                <a:spcPts val="0"/>
              </a:spcAft>
              <a:buSzPts val="1800"/>
              <a:buChar char="●"/>
            </a:pPr>
            <a:r>
              <a:rPr lang="en-GB" sz="1800"/>
              <a:t>we have one each of the mics, and speakers and speaker driver boards</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178" name="Google Shape;178;p35"/>
          <p:cNvSpPr txBox="1"/>
          <p:nvPr>
            <p:ph type="title"/>
          </p:nvPr>
        </p:nvSpPr>
        <p:spPr>
          <a:xfrm>
            <a:off x="997500" y="0"/>
            <a:ext cx="758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DIY Alexa (Marvin)</a:t>
            </a:r>
            <a:endParaRPr/>
          </a:p>
        </p:txBody>
      </p:sp>
      <p:sp>
        <p:nvSpPr>
          <p:cNvPr id="179" name="Google Shape;179;p35"/>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80" name="Google Shape;180;p35"/>
          <p:cNvPicPr preferRelativeResize="0"/>
          <p:nvPr/>
        </p:nvPicPr>
        <p:blipFill>
          <a:blip r:embed="rId5">
            <a:alphaModFix/>
          </a:blip>
          <a:stretch>
            <a:fillRect/>
          </a:stretch>
        </p:blipFill>
        <p:spPr>
          <a:xfrm>
            <a:off x="723175" y="2979025"/>
            <a:ext cx="4040050" cy="2081051"/>
          </a:xfrm>
          <a:prstGeom prst="rect">
            <a:avLst/>
          </a:prstGeom>
          <a:noFill/>
          <a:ln>
            <a:noFill/>
          </a:ln>
        </p:spPr>
      </p:pic>
      <p:pic>
        <p:nvPicPr>
          <p:cNvPr id="181" name="Google Shape;181;p35"/>
          <p:cNvPicPr preferRelativeResize="0"/>
          <p:nvPr/>
        </p:nvPicPr>
        <p:blipFill>
          <a:blip r:embed="rId6">
            <a:alphaModFix/>
          </a:blip>
          <a:stretch>
            <a:fillRect/>
          </a:stretch>
        </p:blipFill>
        <p:spPr>
          <a:xfrm>
            <a:off x="4914175" y="2991047"/>
            <a:ext cx="4040051" cy="20570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ph idx="1" type="body"/>
          </p:nvPr>
        </p:nvSpPr>
        <p:spPr>
          <a:xfrm>
            <a:off x="244375" y="623375"/>
            <a:ext cx="83400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the Willow project — </a:t>
            </a:r>
            <a:r>
              <a:rPr lang="en-GB" sz="1800" u="sng">
                <a:solidFill>
                  <a:schemeClr val="hlink"/>
                </a:solidFill>
                <a:hlinkClick r:id="rId3"/>
              </a:rPr>
              <a:t>https://heywillow.io/</a:t>
            </a:r>
            <a:r>
              <a:rPr lang="en-GB" sz="1800"/>
              <a:t> — does wakeword, VAD and audio streaming on an ESP-Box (ESP32S3 with 16MB flash RAM)</a:t>
            </a:r>
            <a:endParaRPr sz="1800"/>
          </a:p>
          <a:p>
            <a:pPr indent="-342900" lvl="0" marL="457200" rtl="0" algn="l">
              <a:spcBef>
                <a:spcPts val="0"/>
              </a:spcBef>
              <a:spcAft>
                <a:spcPts val="0"/>
              </a:spcAft>
              <a:buSzPts val="1800"/>
              <a:buChar char="●"/>
            </a:pPr>
            <a:r>
              <a:rPr lang="en-GB" sz="1800"/>
              <a:t>speech recognition can be done:</a:t>
            </a:r>
            <a:endParaRPr sz="1800"/>
          </a:p>
          <a:p>
            <a:pPr indent="-342900" lvl="1" marL="914400" rtl="0" algn="l">
              <a:spcBef>
                <a:spcPts val="0"/>
              </a:spcBef>
              <a:spcAft>
                <a:spcPts val="0"/>
              </a:spcAft>
              <a:buSzPts val="1800"/>
              <a:buChar char="○"/>
            </a:pPr>
            <a:r>
              <a:rPr lang="en-GB" sz="1800"/>
              <a:t>on their server (slow!)</a:t>
            </a:r>
            <a:endParaRPr sz="1800"/>
          </a:p>
          <a:p>
            <a:pPr indent="-342900" lvl="1" marL="914400" rtl="0" algn="l">
              <a:spcBef>
                <a:spcPts val="0"/>
              </a:spcBef>
              <a:spcAft>
                <a:spcPts val="0"/>
              </a:spcAft>
              <a:buSzPts val="1800"/>
              <a:buChar char="○"/>
            </a:pPr>
            <a:r>
              <a:rPr lang="en-GB" sz="1800"/>
              <a:t>via another service like OpenAI whisper or</a:t>
            </a:r>
            <a:br>
              <a:rPr lang="en-GB" sz="1800"/>
            </a:br>
            <a:r>
              <a:rPr lang="en-GB" sz="1800"/>
              <a:t>Wit.ai</a:t>
            </a:r>
            <a:endParaRPr sz="1800"/>
          </a:p>
          <a:p>
            <a:pPr indent="-342900" lvl="1" marL="914400" rtl="0" algn="l">
              <a:spcBef>
                <a:spcPts val="0"/>
              </a:spcBef>
              <a:spcAft>
                <a:spcPts val="0"/>
              </a:spcAft>
              <a:buSzPts val="1800"/>
              <a:buChar char="○"/>
            </a:pPr>
            <a:r>
              <a:rPr lang="en-GB" sz="1800"/>
              <a:t>on an NVidia GPU &gt;= GTX1080 or similar</a:t>
            </a:r>
            <a:br>
              <a:rPr lang="en-GB" sz="1800"/>
            </a:br>
            <a:r>
              <a:rPr lang="en-GB" sz="1800"/>
              <a:t>(~8GB VRAM)</a:t>
            </a:r>
            <a:endParaRPr sz="1800"/>
          </a:p>
          <a:p>
            <a:pPr indent="-342900" lvl="0" marL="457200" rtl="0" algn="l">
              <a:spcBef>
                <a:spcPts val="0"/>
              </a:spcBef>
              <a:spcAft>
                <a:spcPts val="0"/>
              </a:spcAft>
              <a:buSzPts val="1800"/>
              <a:buChar char="●"/>
            </a:pPr>
            <a:r>
              <a:rPr lang="en-GB" sz="1800"/>
              <a:t>there are GPIO pins broken out on the case, and a</a:t>
            </a:r>
            <a:br>
              <a:rPr lang="en-GB" sz="1800"/>
            </a:br>
            <a:r>
              <a:rPr lang="en-GB" sz="1800"/>
              <a:t>small touchscreen (with example LVGL code) and</a:t>
            </a:r>
            <a:br>
              <a:rPr lang="en-GB" sz="1800"/>
            </a:br>
            <a:r>
              <a:rPr lang="en-GB" sz="1800"/>
              <a:t>loudspeaker</a:t>
            </a:r>
            <a:endParaRPr sz="1800"/>
          </a:p>
          <a:p>
            <a:pPr indent="-342900" lvl="0" marL="457200" rtl="0" algn="l">
              <a:spcBef>
                <a:spcPts val="0"/>
              </a:spcBef>
              <a:spcAft>
                <a:spcPts val="0"/>
              </a:spcAft>
              <a:buSzPts val="1800"/>
              <a:buChar char="●"/>
            </a:pPr>
            <a:r>
              <a:rPr lang="en-GB" sz="1800"/>
              <a:t>comes in two versions, one with IR and radar</a:t>
            </a:r>
            <a:br>
              <a:rPr lang="en-GB" sz="1800"/>
            </a:br>
            <a:r>
              <a:rPr lang="en-GB" sz="1800"/>
              <a:t>sensors</a:t>
            </a:r>
            <a:endParaRPr sz="1800"/>
          </a:p>
          <a:p>
            <a:pPr indent="-342900" lvl="0" marL="457200" rtl="0" algn="l">
              <a:spcBef>
                <a:spcPts val="0"/>
              </a:spcBef>
              <a:spcAft>
                <a:spcPts val="0"/>
              </a:spcAft>
              <a:buSzPts val="1800"/>
              <a:buChar char="●"/>
            </a:pPr>
            <a:r>
              <a:rPr lang="en-GB" sz="1800"/>
              <a:t>we have 35 or so…</a:t>
            </a:r>
            <a:endParaRPr sz="1800"/>
          </a:p>
          <a:p>
            <a:pPr indent="0" lvl="0" marL="0" rtl="0" algn="l">
              <a:spcBef>
                <a:spcPts val="0"/>
              </a:spcBef>
              <a:spcAft>
                <a:spcPts val="0"/>
              </a:spcAft>
              <a:buNone/>
            </a:pPr>
            <a:r>
              <a:t/>
            </a:r>
            <a:endParaRPr sz="1800"/>
          </a:p>
        </p:txBody>
      </p:sp>
      <p:sp>
        <p:nvSpPr>
          <p:cNvPr id="187" name="Google Shape;187;p36"/>
          <p:cNvSpPr txBox="1"/>
          <p:nvPr>
            <p:ph type="title"/>
          </p:nvPr>
        </p:nvSpPr>
        <p:spPr>
          <a:xfrm>
            <a:off x="997500" y="0"/>
            <a:ext cx="758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DIY Alexa (Willow)</a:t>
            </a:r>
            <a:endParaRPr/>
          </a:p>
        </p:txBody>
      </p:sp>
      <p:sp>
        <p:nvSpPr>
          <p:cNvPr id="188" name="Google Shape;188;p36"/>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89" name="Google Shape;189;p36"/>
          <p:cNvPicPr preferRelativeResize="0"/>
          <p:nvPr/>
        </p:nvPicPr>
        <p:blipFill>
          <a:blip r:embed="rId4">
            <a:alphaModFix/>
          </a:blip>
          <a:stretch>
            <a:fillRect/>
          </a:stretch>
        </p:blipFill>
        <p:spPr>
          <a:xfrm>
            <a:off x="6157600" y="2170900"/>
            <a:ext cx="2863550" cy="2863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7"/>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unPhone projects</a:t>
            </a:r>
            <a:endParaRPr/>
          </a:p>
        </p:txBody>
      </p:sp>
      <p:sp>
        <p:nvSpPr>
          <p:cNvPr id="195" name="Google Shape;195;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6" name="Google Shape;196;p37"/>
          <p:cNvSpPr txBox="1"/>
          <p:nvPr>
            <p:ph idx="1" type="body"/>
          </p:nvPr>
        </p:nvSpPr>
        <p:spPr>
          <a:xfrm>
            <a:off x="311725" y="619075"/>
            <a:ext cx="7714200" cy="4451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the spin 9 unPhone is an ESP32S3, LCD with touch display, accelerometer, SD card, LoRaWAN, IR LEDs and vibe motor</a:t>
            </a:r>
            <a:endParaRPr sz="1800"/>
          </a:p>
          <a:p>
            <a:pPr indent="-342900" lvl="0" marL="457200" rtl="0" algn="l">
              <a:spcBef>
                <a:spcPts val="0"/>
              </a:spcBef>
              <a:spcAft>
                <a:spcPts val="0"/>
              </a:spcAft>
              <a:buSzPts val="1800"/>
              <a:buChar char="●"/>
            </a:pPr>
            <a:r>
              <a:rPr lang="en-GB" sz="1800"/>
              <a:t>possible unPhone projects:  Meshtastic off grid messaging; remote control of other devices over WiFi or BT, perhaps using a gesture language; voice control via a mic on your other ESP32 (or the expander); exercise tracker; data logger; small-screen UI; fuzzy predictive text; etc. etc. etc.…</a:t>
            </a:r>
            <a:endParaRPr sz="1800"/>
          </a:p>
          <a:p>
            <a:pPr indent="-342900" lvl="0" marL="457200" rtl="0" algn="l">
              <a:spcBef>
                <a:spcPts val="0"/>
              </a:spcBef>
              <a:spcAft>
                <a:spcPts val="0"/>
              </a:spcAft>
              <a:buSzPts val="1800"/>
              <a:buChar char="●"/>
            </a:pPr>
            <a:r>
              <a:rPr lang="en-GB" sz="1800"/>
              <a:t>add a secret mic </a:t>
            </a:r>
            <a:r>
              <a:rPr i="1" lang="en-GB" sz="1800"/>
              <a:t>inside </a:t>
            </a:r>
            <a:r>
              <a:rPr lang="en-GB" sz="1800"/>
              <a:t>the case?</a:t>
            </a:r>
            <a:endParaRPr sz="1800"/>
          </a:p>
          <a:p>
            <a:pPr indent="-342900" lvl="0" marL="457200" rtl="0" algn="l">
              <a:spcBef>
                <a:spcPts val="0"/>
              </a:spcBef>
              <a:spcAft>
                <a:spcPts val="0"/>
              </a:spcAft>
              <a:buSzPts val="1800"/>
              <a:buChar char="●"/>
            </a:pPr>
            <a:r>
              <a:rPr lang="en-GB" sz="1800"/>
              <a:t>add a featherwing or two? (next slide)</a:t>
            </a:r>
            <a:endParaRPr sz="1800"/>
          </a:p>
          <a:p>
            <a:pPr indent="-342900" lvl="0" marL="457200" rtl="0" algn="l">
              <a:spcBef>
                <a:spcPts val="0"/>
              </a:spcBef>
              <a:spcAft>
                <a:spcPts val="0"/>
              </a:spcAft>
              <a:buSzPts val="1800"/>
              <a:buChar char="●"/>
            </a:pPr>
            <a:r>
              <a:rPr lang="en-GB" sz="1800"/>
              <a:t>with the ML that Valentin introduced, lots of Alexa-type projects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GB" sz="1800"/>
              <a:t>we have lots of unphones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8"/>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unPhone projects: assembling</a:t>
            </a:r>
            <a:endParaRPr/>
          </a:p>
        </p:txBody>
      </p:sp>
      <p:sp>
        <p:nvSpPr>
          <p:cNvPr id="202" name="Google Shape;202;p38"/>
          <p:cNvSpPr txBox="1"/>
          <p:nvPr>
            <p:ph idx="1" type="body"/>
          </p:nvPr>
        </p:nvSpPr>
        <p:spPr>
          <a:xfrm>
            <a:off x="159325" y="390475"/>
            <a:ext cx="1890600" cy="4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rPr lang="en-GB" sz="1800"/>
              <a:t>TODO v9 update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The expander board provides featherwing sockets and a prototyping area.</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203" name="Google Shape;203;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04" name="Google Shape;204;p38" title="20181120_125024.mp4">
            <a:hlinkClick r:id="rId3"/>
          </p:cNvPr>
          <p:cNvPicPr preferRelativeResize="0"/>
          <p:nvPr/>
        </p:nvPicPr>
        <p:blipFill>
          <a:blip r:embed="rId4">
            <a:alphaModFix/>
          </a:blip>
          <a:stretch>
            <a:fillRect/>
          </a:stretch>
        </p:blipFill>
        <p:spPr>
          <a:xfrm>
            <a:off x="1897525" y="560525"/>
            <a:ext cx="6430344" cy="36170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9"/>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unPhone’s expander board</a:t>
            </a:r>
            <a:endParaRPr/>
          </a:p>
        </p:txBody>
      </p:sp>
      <p:sp>
        <p:nvSpPr>
          <p:cNvPr id="210" name="Google Shape;210;p39"/>
          <p:cNvSpPr txBox="1"/>
          <p:nvPr>
            <p:ph idx="1" type="body"/>
          </p:nvPr>
        </p:nvSpPr>
        <p:spPr>
          <a:xfrm>
            <a:off x="159325" y="390475"/>
            <a:ext cx="1890600" cy="4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The expander board provides featherwing sockets and a prototyping area.</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All projects that use additional hardware need to assemble it...</a:t>
            </a:r>
            <a:endParaRPr sz="1800"/>
          </a:p>
        </p:txBody>
      </p:sp>
      <p:sp>
        <p:nvSpPr>
          <p:cNvPr id="211" name="Google Shape;211;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12" name="Google Shape;212;p39"/>
          <p:cNvPicPr preferRelativeResize="0"/>
          <p:nvPr/>
        </p:nvPicPr>
        <p:blipFill>
          <a:blip r:embed="rId3">
            <a:alphaModFix/>
          </a:blip>
          <a:stretch>
            <a:fillRect/>
          </a:stretch>
        </p:blipFill>
        <p:spPr>
          <a:xfrm>
            <a:off x="2126125" y="712925"/>
            <a:ext cx="3464498" cy="2300298"/>
          </a:xfrm>
          <a:prstGeom prst="rect">
            <a:avLst/>
          </a:prstGeom>
          <a:noFill/>
          <a:ln>
            <a:noFill/>
          </a:ln>
        </p:spPr>
      </p:pic>
      <p:pic>
        <p:nvPicPr>
          <p:cNvPr id="213" name="Google Shape;213;p39"/>
          <p:cNvPicPr preferRelativeResize="0"/>
          <p:nvPr/>
        </p:nvPicPr>
        <p:blipFill>
          <a:blip r:embed="rId4">
            <a:alphaModFix/>
          </a:blip>
          <a:stretch>
            <a:fillRect/>
          </a:stretch>
        </p:blipFill>
        <p:spPr>
          <a:xfrm>
            <a:off x="2126125" y="3165623"/>
            <a:ext cx="2500826" cy="1825476"/>
          </a:xfrm>
          <a:prstGeom prst="rect">
            <a:avLst/>
          </a:prstGeom>
          <a:noFill/>
          <a:ln>
            <a:noFill/>
          </a:ln>
        </p:spPr>
      </p:pic>
      <p:pic>
        <p:nvPicPr>
          <p:cNvPr id="214" name="Google Shape;214;p39"/>
          <p:cNvPicPr preferRelativeResize="0"/>
          <p:nvPr/>
        </p:nvPicPr>
        <p:blipFill>
          <a:blip r:embed="rId5">
            <a:alphaModFix/>
          </a:blip>
          <a:stretch>
            <a:fillRect/>
          </a:stretch>
        </p:blipFill>
        <p:spPr>
          <a:xfrm>
            <a:off x="5743023" y="712925"/>
            <a:ext cx="2821944" cy="1764025"/>
          </a:xfrm>
          <a:prstGeom prst="rect">
            <a:avLst/>
          </a:prstGeom>
          <a:noFill/>
          <a:ln>
            <a:noFill/>
          </a:ln>
        </p:spPr>
      </p:pic>
      <p:pic>
        <p:nvPicPr>
          <p:cNvPr id="215" name="Google Shape;215;p39"/>
          <p:cNvPicPr preferRelativeResize="0"/>
          <p:nvPr/>
        </p:nvPicPr>
        <p:blipFill>
          <a:blip r:embed="rId6">
            <a:alphaModFix/>
          </a:blip>
          <a:stretch>
            <a:fillRect/>
          </a:stretch>
        </p:blipFill>
        <p:spPr>
          <a:xfrm>
            <a:off x="6007324" y="2894575"/>
            <a:ext cx="2951877" cy="1082050"/>
          </a:xfrm>
          <a:prstGeom prst="rect">
            <a:avLst/>
          </a:prstGeom>
          <a:noFill/>
          <a:ln>
            <a:noFill/>
          </a:ln>
        </p:spPr>
      </p:pic>
      <p:pic>
        <p:nvPicPr>
          <p:cNvPr id="216" name="Google Shape;216;p39"/>
          <p:cNvPicPr preferRelativeResize="0"/>
          <p:nvPr/>
        </p:nvPicPr>
        <p:blipFill>
          <a:blip r:embed="rId7">
            <a:alphaModFix/>
          </a:blip>
          <a:stretch>
            <a:fillRect/>
          </a:stretch>
        </p:blipFill>
        <p:spPr>
          <a:xfrm>
            <a:off x="4926500" y="3701474"/>
            <a:ext cx="2706299" cy="1289637"/>
          </a:xfrm>
          <a:prstGeom prst="rect">
            <a:avLst/>
          </a:prstGeom>
          <a:noFill/>
          <a:ln>
            <a:noFill/>
          </a:ln>
        </p:spPr>
      </p:pic>
      <p:sp>
        <p:nvSpPr>
          <p:cNvPr id="217" name="Google Shape;217;p39"/>
          <p:cNvSpPr txBox="1"/>
          <p:nvPr>
            <p:ph idx="1" type="body"/>
          </p:nvPr>
        </p:nvSpPr>
        <p:spPr>
          <a:xfrm>
            <a:off x="4578925" y="2981275"/>
            <a:ext cx="1890600" cy="4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Don’t do this:</a:t>
            </a:r>
            <a:endParaRPr sz="1800"/>
          </a:p>
        </p:txBody>
      </p:sp>
      <p:sp>
        <p:nvSpPr>
          <p:cNvPr id="218" name="Google Shape;218;p39"/>
          <p:cNvSpPr txBox="1"/>
          <p:nvPr>
            <p:ph idx="1" type="body"/>
          </p:nvPr>
        </p:nvSpPr>
        <p:spPr>
          <a:xfrm>
            <a:off x="4655125" y="3362275"/>
            <a:ext cx="1890600" cy="4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Do this:</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graphicFrame>
        <p:nvGraphicFramePr>
          <p:cNvPr id="223" name="Google Shape;223;p40"/>
          <p:cNvGraphicFramePr/>
          <p:nvPr/>
        </p:nvGraphicFramePr>
        <p:xfrm>
          <a:off x="3777300" y="706125"/>
          <a:ext cx="3000000" cy="3000000"/>
        </p:xfrm>
        <a:graphic>
          <a:graphicData uri="http://schemas.openxmlformats.org/drawingml/2006/table">
            <a:tbl>
              <a:tblPr>
                <a:noFill/>
                <a:tableStyleId>{A50685F4-14BF-4490-AF5E-2AB6EC53E676}</a:tableStyleId>
              </a:tblPr>
              <a:tblGrid>
                <a:gridCol w="4457700"/>
              </a:tblGrid>
              <a:tr h="200025">
                <a:tc>
                  <a:txBody>
                    <a:bodyPr/>
                    <a:lstStyle/>
                    <a:p>
                      <a:pPr indent="0" lvl="0" marL="0" rtl="0" algn="l">
                        <a:lnSpc>
                          <a:spcPct val="115000"/>
                        </a:lnSpc>
                        <a:spcBef>
                          <a:spcPts val="0"/>
                        </a:spcBef>
                        <a:spcAft>
                          <a:spcPts val="0"/>
                        </a:spcAft>
                        <a:buNone/>
                      </a:pPr>
                      <a:r>
                        <a:rPr b="1" lang="en-GB" sz="1000"/>
                        <a:t>In stock</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lang="en-GB" sz="1000"/>
                        <a:t>AA alkaline batteries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solidFill>
                            <a:srgbClr val="222222"/>
                          </a:solidFill>
                        </a:rPr>
                        <a:t>Adafruit I2S 3W Class D Amplifier Breakout - MAX98357A</a:t>
                      </a:r>
                      <a:endParaRPr sz="1000">
                        <a:solidFill>
                          <a:srgbClr val="222222"/>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en-GB" sz="1000">
                          <a:solidFill>
                            <a:srgbClr val="222222"/>
                          </a:solidFill>
                        </a:rPr>
                        <a:t>Mini Speaker 4Ω (3W)</a:t>
                      </a:r>
                      <a:endParaRPr sz="1000">
                        <a:solidFill>
                          <a:srgbClr val="222222"/>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en-GB" sz="1000">
                          <a:solidFill>
                            <a:srgbClr val="222222"/>
                          </a:solidFill>
                        </a:rPr>
                        <a:t>ICS-43434 I2S MEMS Microphone CMG breakout board</a:t>
                      </a:r>
                      <a:endParaRPr sz="1000">
                        <a:solidFill>
                          <a:srgbClr val="222222"/>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en-GB" sz="1000"/>
                        <a:t>GPS featherwing</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DS18B20 water temperature sensor</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LiPo batteries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SD cards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MP3 featherwing</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Clr>
                          <a:schemeClr val="dk1"/>
                        </a:buClr>
                        <a:buSzPts val="1100"/>
                        <a:buFont typeface="Arial"/>
                        <a:buNone/>
                      </a:pPr>
                      <a:r>
                        <a:rPr lang="en-GB" sz="1000">
                          <a:solidFill>
                            <a:schemeClr val="dk1"/>
                          </a:solidFill>
                        </a:rPr>
                        <a:t>unPhone spins 7 and 9</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NeoPixel featherwing</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OLED featherwing</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Robocar (inc. motor driver featherwing)</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IR sensor</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AM2303 air temperature and humidity sensor</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Dotstar LED strip 0.5m</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Thermal camera featherwing</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GB" sz="1000"/>
                        <a:t>E-ink featherwing</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24" name="Google Shape;224;p40"/>
          <p:cNvSpPr txBox="1"/>
          <p:nvPr>
            <p:ph type="title"/>
          </p:nvPr>
        </p:nvSpPr>
        <p:spPr>
          <a:xfrm>
            <a:off x="997500" y="420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4292E"/>
                </a:solidFill>
              </a:rPr>
              <a:t>Other projects available hardware options</a:t>
            </a:r>
            <a:endParaRPr/>
          </a:p>
        </p:txBody>
      </p:sp>
      <p:sp>
        <p:nvSpPr>
          <p:cNvPr id="225" name="Google Shape;225;p40"/>
          <p:cNvSpPr txBox="1"/>
          <p:nvPr>
            <p:ph idx="1" type="body"/>
          </p:nvPr>
        </p:nvSpPr>
        <p:spPr>
          <a:xfrm>
            <a:off x="311850" y="538125"/>
            <a:ext cx="816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24292E"/>
              </a:solidFill>
            </a:endParaRPr>
          </a:p>
          <a:p>
            <a:pPr indent="0" lvl="0" marL="0" rtl="0" algn="l">
              <a:spcBef>
                <a:spcPts val="0"/>
              </a:spcBef>
              <a:spcAft>
                <a:spcPts val="0"/>
              </a:spcAft>
              <a:buNone/>
            </a:pPr>
            <a:r>
              <a:rPr lang="en-GB" sz="1800">
                <a:solidFill>
                  <a:srgbClr val="24292E"/>
                </a:solidFill>
              </a:rPr>
              <a:t>Notes:</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other bits and pieces</a:t>
            </a:r>
            <a:br>
              <a:rPr lang="en-GB" sz="1800">
                <a:solidFill>
                  <a:srgbClr val="24292E"/>
                </a:solidFill>
              </a:rPr>
            </a:br>
            <a:r>
              <a:rPr lang="en-GB" sz="1800">
                <a:solidFill>
                  <a:srgbClr val="24292E"/>
                </a:solidFill>
              </a:rPr>
              <a:t>may be needed, e.g.</a:t>
            </a:r>
            <a:br>
              <a:rPr lang="en-GB" sz="1800">
                <a:solidFill>
                  <a:srgbClr val="24292E"/>
                </a:solidFill>
              </a:rPr>
            </a:br>
            <a:r>
              <a:rPr lang="en-GB" sz="1800">
                <a:solidFill>
                  <a:srgbClr val="24292E"/>
                </a:solidFill>
              </a:rPr>
              <a:t>cabling</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there’s limited time</a:t>
            </a:r>
            <a:br>
              <a:rPr lang="en-GB" sz="1800">
                <a:solidFill>
                  <a:srgbClr val="24292E"/>
                </a:solidFill>
              </a:rPr>
            </a:br>
            <a:r>
              <a:rPr lang="en-GB" sz="1800">
                <a:solidFill>
                  <a:srgbClr val="24292E"/>
                </a:solidFill>
              </a:rPr>
              <a:t>left! you’re welcome</a:t>
            </a:r>
            <a:br>
              <a:rPr lang="en-GB" sz="1800">
                <a:solidFill>
                  <a:srgbClr val="24292E"/>
                </a:solidFill>
              </a:rPr>
            </a:br>
            <a:r>
              <a:rPr lang="en-GB" sz="1800">
                <a:solidFill>
                  <a:srgbClr val="24292E"/>
                </a:solidFill>
              </a:rPr>
              <a:t>to be ambitious, but</a:t>
            </a:r>
            <a:br>
              <a:rPr lang="en-GB" sz="1800">
                <a:solidFill>
                  <a:srgbClr val="24292E"/>
                </a:solidFill>
              </a:rPr>
            </a:br>
            <a:r>
              <a:rPr lang="en-GB" sz="1800">
                <a:solidFill>
                  <a:srgbClr val="24292E"/>
                </a:solidFill>
              </a:rPr>
              <a:t>you do need to keep</a:t>
            </a:r>
            <a:br>
              <a:rPr lang="en-GB" sz="1800">
                <a:solidFill>
                  <a:srgbClr val="24292E"/>
                </a:solidFill>
              </a:rPr>
            </a:br>
            <a:r>
              <a:rPr lang="en-GB" sz="1800">
                <a:solidFill>
                  <a:srgbClr val="24292E"/>
                </a:solidFill>
              </a:rPr>
              <a:t>an eye on the clock!</a:t>
            </a:r>
            <a:endParaRPr sz="1800">
              <a:solidFill>
                <a:srgbClr val="24292E"/>
              </a:solidFill>
            </a:endParaRPr>
          </a:p>
        </p:txBody>
      </p:sp>
      <p:sp>
        <p:nvSpPr>
          <p:cNvPr id="226" name="Google Shape;22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7" name="Google Shape;227;p40"/>
          <p:cNvSpPr txBox="1"/>
          <p:nvPr/>
        </p:nvSpPr>
        <p:spPr>
          <a:xfrm>
            <a:off x="8710025" y="4687575"/>
            <a:ext cx="357900" cy="4002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Robot Car</a:t>
            </a:r>
            <a:endParaRPr/>
          </a:p>
        </p:txBody>
      </p:sp>
      <p:sp>
        <p:nvSpPr>
          <p:cNvPr id="233" name="Google Shape;233;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4" name="Google Shape;234;p41"/>
          <p:cNvSpPr txBox="1"/>
          <p:nvPr>
            <p:ph idx="1" type="body"/>
          </p:nvPr>
        </p:nvSpPr>
        <p:spPr>
          <a:xfrm>
            <a:off x="235500" y="805675"/>
            <a:ext cx="4362000" cy="353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t</a:t>
            </a:r>
            <a:r>
              <a:rPr lang="en-GB" sz="1800"/>
              <a:t>his project involves some mechanical construction, a little bit of soldering and software</a:t>
            </a:r>
            <a:endParaRPr sz="1800"/>
          </a:p>
          <a:p>
            <a:pPr indent="-342900" lvl="0" marL="457200" rtl="0" algn="l">
              <a:spcBef>
                <a:spcPts val="0"/>
              </a:spcBef>
              <a:spcAft>
                <a:spcPts val="0"/>
              </a:spcAft>
              <a:buSzPts val="1800"/>
              <a:buChar char="●"/>
            </a:pPr>
            <a:r>
              <a:rPr lang="en-GB" sz="1800"/>
              <a:t>excellent build instructions from Adafruit</a:t>
            </a:r>
            <a:endParaRPr sz="1800"/>
          </a:p>
          <a:p>
            <a:pPr indent="-342900" lvl="0" marL="457200" rtl="0" algn="l">
              <a:spcBef>
                <a:spcPts val="0"/>
              </a:spcBef>
              <a:spcAft>
                <a:spcPts val="0"/>
              </a:spcAft>
              <a:buSzPts val="1800"/>
              <a:buChar char="●"/>
            </a:pPr>
            <a:r>
              <a:rPr lang="en-GB" sz="1800"/>
              <a:t>the tutorial for using an ESP8266 is easy to adapt to the ESP32</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GB" sz="1800"/>
              <a:t>we </a:t>
            </a:r>
            <a:r>
              <a:rPr lang="en-GB" sz="1800"/>
              <a:t>only</a:t>
            </a:r>
            <a:r>
              <a:rPr lang="en-GB" sz="1800"/>
              <a:t> have a few of these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b="1" sz="1800"/>
          </a:p>
        </p:txBody>
      </p:sp>
      <p:pic>
        <p:nvPicPr>
          <p:cNvPr id="235" name="Google Shape;235;p41"/>
          <p:cNvPicPr preferRelativeResize="0"/>
          <p:nvPr/>
        </p:nvPicPr>
        <p:blipFill>
          <a:blip r:embed="rId3">
            <a:alphaModFix/>
          </a:blip>
          <a:stretch>
            <a:fillRect/>
          </a:stretch>
        </p:blipFill>
        <p:spPr>
          <a:xfrm>
            <a:off x="4937800" y="651900"/>
            <a:ext cx="3534650" cy="3534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More project options: </a:t>
            </a:r>
            <a:r>
              <a:rPr lang="en-GB"/>
              <a:t>TV remote / TV-B-Gone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41" name="Google Shape;241;p42"/>
          <p:cNvSpPr txBox="1"/>
          <p:nvPr>
            <p:ph idx="1" type="body"/>
          </p:nvPr>
        </p:nvSpPr>
        <p:spPr>
          <a:xfrm>
            <a:off x="159325" y="619075"/>
            <a:ext cx="3127500" cy="4451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Using the unPhone’s IR LEDs, start by reviewing the TV-B-Gone codes and code inspiration.</a:t>
            </a:r>
            <a:endParaRPr sz="1800"/>
          </a:p>
          <a:p>
            <a:pPr indent="-342900" lvl="0" marL="457200" rtl="0" algn="l">
              <a:spcBef>
                <a:spcPts val="0"/>
              </a:spcBef>
              <a:spcAft>
                <a:spcPts val="0"/>
              </a:spcAft>
              <a:buSzPts val="1800"/>
              <a:buChar char="●"/>
            </a:pPr>
            <a:r>
              <a:rPr lang="en-GB" sz="1800"/>
              <a:t>We've also got a light sensor that includes an IR photodiode - so you can detect when the IR LED's are on!</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242" name="Google Shape;242;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43" name="Google Shape;243;p42"/>
          <p:cNvPicPr preferRelativeResize="0"/>
          <p:nvPr/>
        </p:nvPicPr>
        <p:blipFill>
          <a:blip r:embed="rId3">
            <a:alphaModFix/>
          </a:blip>
          <a:stretch>
            <a:fillRect/>
          </a:stretch>
        </p:blipFill>
        <p:spPr>
          <a:xfrm>
            <a:off x="3277500" y="560525"/>
            <a:ext cx="3127500" cy="3732815"/>
          </a:xfrm>
          <a:prstGeom prst="rect">
            <a:avLst/>
          </a:prstGeom>
          <a:noFill/>
          <a:ln>
            <a:noFill/>
          </a:ln>
        </p:spPr>
      </p:pic>
      <p:pic>
        <p:nvPicPr>
          <p:cNvPr id="244" name="Google Shape;244;p42"/>
          <p:cNvPicPr preferRelativeResize="0"/>
          <p:nvPr/>
        </p:nvPicPr>
        <p:blipFill>
          <a:blip r:embed="rId4">
            <a:alphaModFix/>
          </a:blip>
          <a:stretch>
            <a:fillRect/>
          </a:stretch>
        </p:blipFill>
        <p:spPr>
          <a:xfrm>
            <a:off x="5414574" y="3431774"/>
            <a:ext cx="3653599" cy="1556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idx="1" type="body"/>
          </p:nvPr>
        </p:nvSpPr>
        <p:spPr>
          <a:xfrm>
            <a:off x="159325" y="390475"/>
            <a:ext cx="3127500" cy="4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800"/>
              <a:t>NOTE: very complex! Not</a:t>
            </a:r>
            <a:br>
              <a:rPr b="1" lang="en-GB" sz="1800"/>
            </a:br>
            <a:r>
              <a:rPr b="1" lang="en-GB" sz="1800"/>
              <a:t>recommended in 2024!</a:t>
            </a:r>
            <a:endParaRPr b="1"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lang="en-GB" sz="1800"/>
              <a:t>This project uses three sensors to measure various aspects of Air Quality</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lang="en-GB" sz="1800"/>
              <a:t>This project is very  complex to wire up!</a:t>
            </a:r>
            <a:endParaRPr sz="1800"/>
          </a:p>
          <a:p>
            <a:pPr indent="0" lvl="0" marL="0" rtl="0" algn="l">
              <a:spcBef>
                <a:spcPts val="0"/>
              </a:spcBef>
              <a:spcAft>
                <a:spcPts val="0"/>
              </a:spcAft>
              <a:buNone/>
            </a:pPr>
            <a:r>
              <a:t/>
            </a:r>
            <a:endParaRPr sz="1800"/>
          </a:p>
        </p:txBody>
      </p:sp>
      <p:pic>
        <p:nvPicPr>
          <p:cNvPr id="250" name="Google Shape;250;p43"/>
          <p:cNvPicPr preferRelativeResize="0"/>
          <p:nvPr/>
        </p:nvPicPr>
        <p:blipFill>
          <a:blip r:embed="rId3">
            <a:alphaModFix/>
          </a:blip>
          <a:stretch>
            <a:fillRect/>
          </a:stretch>
        </p:blipFill>
        <p:spPr>
          <a:xfrm>
            <a:off x="3515425" y="27125"/>
            <a:ext cx="5552374" cy="3039403"/>
          </a:xfrm>
          <a:prstGeom prst="rect">
            <a:avLst/>
          </a:prstGeom>
          <a:noFill/>
          <a:ln>
            <a:noFill/>
          </a:ln>
        </p:spPr>
      </p:pic>
      <p:sp>
        <p:nvSpPr>
          <p:cNvPr id="251" name="Google Shape;251;p43"/>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Air Quality Monitor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52" name="Google Shape;252;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53" name="Google Shape;253;p43"/>
          <p:cNvPicPr preferRelativeResize="0"/>
          <p:nvPr/>
        </p:nvPicPr>
        <p:blipFill>
          <a:blip r:embed="rId4">
            <a:alphaModFix/>
          </a:blip>
          <a:stretch>
            <a:fillRect/>
          </a:stretch>
        </p:blipFill>
        <p:spPr>
          <a:xfrm>
            <a:off x="7119300" y="2688674"/>
            <a:ext cx="1891350" cy="2354825"/>
          </a:xfrm>
          <a:prstGeom prst="rect">
            <a:avLst/>
          </a:prstGeom>
          <a:noFill/>
          <a:ln>
            <a:noFill/>
          </a:ln>
        </p:spPr>
      </p:pic>
      <p:pic>
        <p:nvPicPr>
          <p:cNvPr id="254" name="Google Shape;254;p43"/>
          <p:cNvPicPr preferRelativeResize="0"/>
          <p:nvPr/>
        </p:nvPicPr>
        <p:blipFill>
          <a:blip r:embed="rId5">
            <a:alphaModFix/>
          </a:blip>
          <a:stretch>
            <a:fillRect/>
          </a:stretch>
        </p:blipFill>
        <p:spPr>
          <a:xfrm>
            <a:off x="2945898" y="2963075"/>
            <a:ext cx="4091976" cy="21042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4"/>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Voting Button</a:t>
            </a:r>
            <a:endParaRPr/>
          </a:p>
        </p:txBody>
      </p:sp>
      <p:sp>
        <p:nvSpPr>
          <p:cNvPr id="260" name="Google Shape;260;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1" name="Google Shape;261;p44"/>
          <p:cNvSpPr txBox="1"/>
          <p:nvPr>
            <p:ph idx="1" type="body"/>
          </p:nvPr>
        </p:nvSpPr>
        <p:spPr>
          <a:xfrm>
            <a:off x="235500" y="653275"/>
            <a:ext cx="4362000" cy="3534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This project involves a little bit of soldering and more software</a:t>
            </a:r>
            <a:endParaRPr sz="1800"/>
          </a:p>
          <a:p>
            <a:pPr indent="-342900" lvl="0" marL="457200" rtl="0" algn="l">
              <a:spcBef>
                <a:spcPts val="0"/>
              </a:spcBef>
              <a:spcAft>
                <a:spcPts val="0"/>
              </a:spcAft>
              <a:buSzPts val="1800"/>
              <a:buChar char="●"/>
            </a:pPr>
            <a:r>
              <a:rPr lang="en-GB" sz="1800"/>
              <a:t>Device needs to display voting instructions — challenge to use a tiny screen effectively</a:t>
            </a:r>
            <a:endParaRPr sz="1800"/>
          </a:p>
          <a:p>
            <a:pPr indent="-342900" lvl="0" marL="457200" rtl="0" algn="l">
              <a:spcBef>
                <a:spcPts val="0"/>
              </a:spcBef>
              <a:spcAft>
                <a:spcPts val="0"/>
              </a:spcAft>
              <a:buSzPts val="1800"/>
              <a:buChar char="●"/>
            </a:pPr>
            <a:r>
              <a:rPr lang="en-GB" sz="1800"/>
              <a:t>How do we ensure that everyone gets just one vote, and your vote is cast by you?</a:t>
            </a:r>
            <a:endParaRPr sz="1800"/>
          </a:p>
          <a:p>
            <a:pPr indent="-342900" lvl="0" marL="457200" rtl="0" algn="l">
              <a:spcBef>
                <a:spcPts val="0"/>
              </a:spcBef>
              <a:spcAft>
                <a:spcPts val="0"/>
              </a:spcAft>
              <a:buSzPts val="1800"/>
              <a:buChar char="●"/>
            </a:pPr>
            <a:r>
              <a:rPr lang="en-GB" sz="1800"/>
              <a:t>An Adafruit library is available for the display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262" name="Google Shape;262;p44"/>
          <p:cNvPicPr preferRelativeResize="0"/>
          <p:nvPr/>
        </p:nvPicPr>
        <p:blipFill>
          <a:blip r:embed="rId3">
            <a:alphaModFix/>
          </a:blip>
          <a:stretch>
            <a:fillRect/>
          </a:stretch>
        </p:blipFill>
        <p:spPr>
          <a:xfrm>
            <a:off x="5239150" y="1263725"/>
            <a:ext cx="3339875" cy="2124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5"/>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Campus Panic Button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68" name="Google Shape;268;p45"/>
          <p:cNvSpPr txBox="1"/>
          <p:nvPr>
            <p:ph idx="1" type="body"/>
          </p:nvPr>
        </p:nvSpPr>
        <p:spPr>
          <a:xfrm>
            <a:off x="152550" y="526000"/>
            <a:ext cx="4672500" cy="4451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Use Google’s geolocation API to get a lattitude/longitude</a:t>
            </a:r>
            <a:endParaRPr sz="1800"/>
          </a:p>
          <a:p>
            <a:pPr indent="-342900" lvl="0" marL="457200" rtl="0" algn="l">
              <a:spcBef>
                <a:spcPts val="0"/>
              </a:spcBef>
              <a:spcAft>
                <a:spcPts val="0"/>
              </a:spcAft>
              <a:buSzPts val="1800"/>
              <a:buChar char="●"/>
            </a:pPr>
            <a:r>
              <a:rPr lang="en-GB" sz="1800"/>
              <a:t>Share data in the cloud (Twitter? IFTTT? Adafruit.io? your own server?)</a:t>
            </a:r>
            <a:endParaRPr sz="1800"/>
          </a:p>
          <a:p>
            <a:pPr indent="-342900" lvl="0" marL="457200" rtl="0" algn="l">
              <a:spcBef>
                <a:spcPts val="0"/>
              </a:spcBef>
              <a:spcAft>
                <a:spcPts val="0"/>
              </a:spcAft>
              <a:buSzPts val="1800"/>
              <a:buChar char="●"/>
            </a:pPr>
            <a:r>
              <a:rPr lang="en-GB" sz="1800"/>
              <a:t>WiFi connection management: copy from Ex09?</a:t>
            </a:r>
            <a:br>
              <a:rPr lang="en-GB" sz="1800"/>
            </a:br>
            <a:r>
              <a:rPr b="1" lang="en-GB" sz="1100">
                <a:solidFill>
                  <a:srgbClr val="800000"/>
                </a:solidFill>
                <a:highlight>
                  <a:srgbClr val="FFFFFF"/>
                </a:highlight>
              </a:rPr>
              <a:t>void</a:t>
            </a:r>
            <a:r>
              <a:rPr lang="en-GB" sz="1100">
                <a:highlight>
                  <a:srgbClr val="FFFFFF"/>
                </a:highlight>
              </a:rPr>
              <a:t> setup09</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joinme wifi UI, with captve portal</a:t>
            </a:r>
            <a:br>
              <a:rPr lang="en-GB" sz="1100">
                <a:highlight>
                  <a:srgbClr val="FFFFFF"/>
                </a:highlight>
              </a:rPr>
            </a:br>
            <a:r>
              <a:rPr lang="en-GB" sz="1100">
                <a:highlight>
                  <a:srgbClr val="FFFFFF"/>
                </a:highlight>
              </a:rPr>
              <a:t>  </a:t>
            </a:r>
            <a:r>
              <a:rPr lang="en-GB" sz="1100">
                <a:solidFill>
                  <a:srgbClr val="808030"/>
                </a:solidFill>
                <a:highlight>
                  <a:srgbClr val="FFFFFF"/>
                </a:highlight>
              </a:rPr>
              <a:t>...</a:t>
            </a:r>
            <a:br>
              <a:rPr lang="en-GB" sz="1100">
                <a:highlight>
                  <a:srgbClr val="FFFFFF"/>
                </a:highlight>
              </a:rPr>
            </a:br>
            <a:r>
              <a:rPr lang="en-GB" sz="1100">
                <a:solidFill>
                  <a:srgbClr val="800080"/>
                </a:solidFill>
                <a:highlight>
                  <a:srgbClr val="FFFFFF"/>
                </a:highlight>
              </a:rPr>
              <a:t>}</a:t>
            </a:r>
            <a:br>
              <a:rPr lang="en-GB" sz="1100">
                <a:highlight>
                  <a:srgbClr val="FFFFFF"/>
                </a:highlight>
              </a:rPr>
            </a:br>
            <a:br>
              <a:rPr lang="en-GB" sz="1100">
                <a:highlight>
                  <a:srgbClr val="FFFFFF"/>
                </a:highlight>
              </a:rPr>
            </a:br>
            <a:r>
              <a:rPr b="1" lang="en-GB" sz="1100">
                <a:solidFill>
                  <a:srgbClr val="800000"/>
                </a:solidFill>
                <a:highlight>
                  <a:srgbClr val="FFFFFF"/>
                </a:highlight>
              </a:rPr>
              <a:t>void</a:t>
            </a:r>
            <a:r>
              <a:rPr lang="en-GB" sz="1100">
                <a:highlight>
                  <a:srgbClr val="FFFFFF"/>
                </a:highlight>
              </a:rPr>
              <a:t> loop09</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dnsServer</a:t>
            </a:r>
            <a:r>
              <a:rPr lang="en-GB" sz="1100">
                <a:solidFill>
                  <a:srgbClr val="808030"/>
                </a:solidFill>
                <a:highlight>
                  <a:srgbClr val="FFFFFF"/>
                </a:highlight>
              </a:rPr>
              <a:t>.</a:t>
            </a:r>
            <a:r>
              <a:rPr lang="en-GB" sz="1100">
                <a:highlight>
                  <a:srgbClr val="FFFFFF"/>
                </a:highlight>
              </a:rPr>
              <a:t>processNextRequest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handle DNS  requests</a:t>
            </a:r>
            <a:br>
              <a:rPr lang="en-GB" sz="1100">
                <a:highlight>
                  <a:srgbClr val="FFFFFF"/>
                </a:highlight>
              </a:rPr>
            </a:br>
            <a:r>
              <a:rPr lang="en-GB" sz="1100">
                <a:highlight>
                  <a:srgbClr val="FFFFFF"/>
                </a:highlight>
              </a:rPr>
              <a:t>  webServer</a:t>
            </a:r>
            <a:r>
              <a:rPr lang="en-GB" sz="1100">
                <a:solidFill>
                  <a:srgbClr val="808030"/>
                </a:solidFill>
                <a:highlight>
                  <a:srgbClr val="FFFFFF"/>
                </a:highlight>
              </a:rPr>
              <a:t>.</a:t>
            </a:r>
            <a:r>
              <a:rPr lang="en-GB" sz="1100">
                <a:highlight>
                  <a:srgbClr val="FFFFFF"/>
                </a:highlight>
              </a:rPr>
              <a:t>handleClient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handle HTTP requests</a:t>
            </a:r>
            <a:br>
              <a:rPr lang="en-GB" sz="1100">
                <a:highlight>
                  <a:srgbClr val="FFFFFF"/>
                </a:highlight>
              </a:rPr>
            </a:br>
            <a:r>
              <a:rPr lang="en-GB" sz="1100">
                <a:highlight>
                  <a:srgbClr val="FFFFFF"/>
                </a:highlight>
              </a:rPr>
              <a:t>  </a:t>
            </a:r>
            <a:r>
              <a:rPr lang="en-GB" sz="1100">
                <a:solidFill>
                  <a:srgbClr val="808030"/>
                </a:solidFill>
                <a:highlight>
                  <a:srgbClr val="FFFFFF"/>
                </a:highlight>
              </a:rPr>
              <a:t>...</a:t>
            </a:r>
            <a:br>
              <a:rPr lang="en-GB" sz="1100">
                <a:highlight>
                  <a:srgbClr val="FFFFFF"/>
                </a:highlight>
              </a:rPr>
            </a:br>
            <a:r>
              <a:rPr lang="en-GB" sz="1100">
                <a:solidFill>
                  <a:srgbClr val="800080"/>
                </a:solidFill>
                <a:highlight>
                  <a:srgbClr val="FFFFFF"/>
                </a:highlight>
              </a:rPr>
              <a:t>}</a:t>
            </a:r>
            <a:endParaRPr sz="1800">
              <a:highlight>
                <a:srgbClr val="FFFFFF"/>
              </a:highlight>
            </a:endParaRPr>
          </a:p>
          <a:p>
            <a:pPr indent="-342900" lvl="0" marL="457200" rtl="0" algn="l">
              <a:spcBef>
                <a:spcPts val="0"/>
              </a:spcBef>
              <a:spcAft>
                <a:spcPts val="0"/>
              </a:spcAft>
              <a:buSzPts val="1800"/>
              <a:buChar char="●"/>
            </a:pPr>
            <a:r>
              <a:rPr lang="en-GB" sz="1800">
                <a:highlight>
                  <a:srgbClr val="FFFFFF"/>
                </a:highlight>
              </a:rPr>
              <a:t>How secure is it? What sort of UI does it need? Add a button, an LED…?</a:t>
            </a:r>
            <a:endParaRPr sz="1800">
              <a:highlight>
                <a:srgbClr val="FFFFFF"/>
              </a:highlight>
            </a:endParaRPr>
          </a:p>
          <a:p>
            <a:pPr indent="0" lvl="0" marL="0" rtl="0" algn="l">
              <a:spcBef>
                <a:spcPts val="0"/>
              </a:spcBef>
              <a:spcAft>
                <a:spcPts val="0"/>
              </a:spcAft>
              <a:buNone/>
            </a:pPr>
            <a:r>
              <a:t/>
            </a:r>
            <a:endParaRPr sz="1800"/>
          </a:p>
        </p:txBody>
      </p:sp>
      <p:sp>
        <p:nvSpPr>
          <p:cNvPr id="269" name="Google Shape;269;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0" name="Google Shape;270;p45"/>
          <p:cNvSpPr txBox="1"/>
          <p:nvPr/>
        </p:nvSpPr>
        <p:spPr>
          <a:xfrm>
            <a:off x="5316075" y="562925"/>
            <a:ext cx="39033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100">
                <a:solidFill>
                  <a:srgbClr val="004A43"/>
                </a:solidFill>
                <a:highlight>
                  <a:srgbClr val="FFFFFF"/>
                </a:highlight>
              </a:rPr>
              <a:t>#include </a:t>
            </a:r>
            <a:r>
              <a:rPr lang="en-GB" sz="1100">
                <a:solidFill>
                  <a:srgbClr val="800000"/>
                </a:solidFill>
                <a:highlight>
                  <a:srgbClr val="FFFFFF"/>
                </a:highlight>
              </a:rPr>
              <a:t>&lt;</a:t>
            </a:r>
            <a:r>
              <a:rPr lang="en-GB" sz="1100">
                <a:solidFill>
                  <a:srgbClr val="40015A"/>
                </a:solidFill>
                <a:highlight>
                  <a:srgbClr val="FFFFFF"/>
                </a:highlight>
              </a:rPr>
              <a:t>WifiLocation.h</a:t>
            </a:r>
            <a:r>
              <a:rPr lang="en-GB" sz="1100">
                <a:solidFill>
                  <a:srgbClr val="800000"/>
                </a:solidFill>
                <a:highlight>
                  <a:srgbClr val="FFFFFF"/>
                </a:highlight>
              </a:rPr>
              <a:t>&gt;</a:t>
            </a:r>
            <a:br>
              <a:rPr lang="en-GB" sz="1100">
                <a:solidFill>
                  <a:schemeClr val="dk1"/>
                </a:solidFill>
                <a:highlight>
                  <a:srgbClr val="FFFFFF"/>
                </a:highlight>
              </a:rPr>
            </a:br>
            <a:br>
              <a:rPr lang="en-GB" sz="1100">
                <a:solidFill>
                  <a:schemeClr val="dk1"/>
                </a:solidFill>
                <a:highlight>
                  <a:srgbClr val="FFFFFF"/>
                </a:highlight>
              </a:rPr>
            </a:br>
            <a:r>
              <a:rPr b="1" lang="en-GB" sz="1100">
                <a:solidFill>
                  <a:srgbClr val="800000"/>
                </a:solidFill>
                <a:highlight>
                  <a:srgbClr val="FFFFFF"/>
                </a:highlight>
              </a:rPr>
              <a:t>char</a:t>
            </a:r>
            <a:r>
              <a:rPr lang="en-GB" sz="1100">
                <a:solidFill>
                  <a:srgbClr val="808030"/>
                </a:solidFill>
                <a:highlight>
                  <a:srgbClr val="FFFFFF"/>
                </a:highlight>
              </a:rPr>
              <a:t>*</a:t>
            </a:r>
            <a:r>
              <a:rPr lang="en-GB" sz="1100">
                <a:solidFill>
                  <a:schemeClr val="dk1"/>
                </a:solidFill>
                <a:highlight>
                  <a:srgbClr val="FFFFFF"/>
                </a:highlight>
              </a:rPr>
              <a:t> googleApiKey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800080"/>
                </a:solidFill>
                <a:highlight>
                  <a:srgbClr val="FFFFFF"/>
                </a:highlight>
              </a:rPr>
              <a:t>;</a:t>
            </a:r>
            <a:r>
              <a:rPr lang="en-GB" sz="1100">
                <a:solidFill>
                  <a:schemeClr val="dk1"/>
                </a:solidFill>
                <a:highlight>
                  <a:srgbClr val="FFFFFF"/>
                </a:highlight>
              </a:rPr>
              <a:t> </a:t>
            </a:r>
            <a:r>
              <a:rPr lang="en-GB" sz="1100">
                <a:solidFill>
                  <a:srgbClr val="696969"/>
                </a:solidFill>
                <a:highlight>
                  <a:srgbClr val="FFFFFF"/>
                </a:highlight>
              </a:rPr>
              <a:t>// </a:t>
            </a:r>
            <a:r>
              <a:rPr lang="en-GB" sz="1100">
                <a:solidFill>
                  <a:srgbClr val="FFFFFF"/>
                </a:solidFill>
                <a:highlight>
                  <a:srgbClr val="808000"/>
                </a:highlight>
              </a:rPr>
              <a:t>TODO put your key here</a:t>
            </a:r>
            <a:br>
              <a:rPr lang="en-GB" sz="1100">
                <a:solidFill>
                  <a:schemeClr val="dk1"/>
                </a:solidFill>
                <a:highlight>
                  <a:srgbClr val="FFFFFF"/>
                </a:highlight>
              </a:rPr>
            </a:br>
            <a:r>
              <a:rPr lang="en-GB" sz="1100">
                <a:solidFill>
                  <a:schemeClr val="dk1"/>
                </a:solidFill>
                <a:highlight>
                  <a:srgbClr val="FFFFFF"/>
                </a:highlight>
              </a:rPr>
              <a:t>WifiLocation location</a:t>
            </a:r>
            <a:r>
              <a:rPr lang="en-GB" sz="1100">
                <a:solidFill>
                  <a:srgbClr val="808030"/>
                </a:solidFill>
                <a:highlight>
                  <a:srgbClr val="FFFFFF"/>
                </a:highlight>
              </a:rPr>
              <a:t>(</a:t>
            </a:r>
            <a:r>
              <a:rPr lang="en-GB" sz="1100">
                <a:solidFill>
                  <a:schemeClr val="dk1"/>
                </a:solidFill>
                <a:highlight>
                  <a:srgbClr val="FFFFFF"/>
                </a:highlight>
              </a:rPr>
              <a:t>googleApiKey</a:t>
            </a:r>
            <a:r>
              <a:rPr lang="en-GB" sz="1100">
                <a:solidFill>
                  <a:srgbClr val="808030"/>
                </a:solidFill>
                <a:highlight>
                  <a:srgbClr val="FFFFFF"/>
                </a:highlight>
              </a:rPr>
              <a:t>)</a:t>
            </a:r>
            <a:r>
              <a:rPr lang="en-GB" sz="1100">
                <a:solidFill>
                  <a:srgbClr val="800080"/>
                </a:solidFill>
                <a:highlight>
                  <a:srgbClr val="FFFFFF"/>
                </a:highlight>
              </a:rPr>
              <a:t>;</a:t>
            </a:r>
            <a:r>
              <a:rPr lang="en-GB" sz="1100">
                <a:solidFill>
                  <a:schemeClr val="dk1"/>
                </a:solidFill>
                <a:highlight>
                  <a:srgbClr val="FFFFFF"/>
                </a:highlight>
              </a:rPr>
              <a:t> </a:t>
            </a:r>
            <a:r>
              <a:rPr lang="en-GB" sz="1100">
                <a:solidFill>
                  <a:srgbClr val="696969"/>
                </a:solidFill>
                <a:highlight>
                  <a:srgbClr val="FFFFFF"/>
                </a:highlight>
              </a:rPr>
              <a:t>// the location finder</a:t>
            </a:r>
            <a:br>
              <a:rPr lang="en-GB" sz="1100">
                <a:solidFill>
                  <a:schemeClr val="dk1"/>
                </a:solidFill>
                <a:highlight>
                  <a:srgbClr val="FFFFFF"/>
                </a:highlight>
              </a:rPr>
            </a:br>
            <a:r>
              <a:rPr lang="en-GB" sz="1100">
                <a:solidFill>
                  <a:srgbClr val="80803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WiFi</a:t>
            </a:r>
            <a:r>
              <a:rPr lang="en-GB" sz="1100">
                <a:solidFill>
                  <a:srgbClr val="808030"/>
                </a:solidFill>
                <a:highlight>
                  <a:srgbClr val="FFFFFF"/>
                </a:highlight>
              </a:rPr>
              <a:t>.</a:t>
            </a:r>
            <a:r>
              <a:rPr lang="en-GB" sz="1100">
                <a:solidFill>
                  <a:schemeClr val="dk1"/>
                </a:solidFill>
                <a:highlight>
                  <a:srgbClr val="FFFFFF"/>
                </a:highlight>
              </a:rPr>
              <a:t>begin</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000E6"/>
                </a:solidFill>
                <a:highlight>
                  <a:srgbClr val="FFFFFF"/>
                </a:highlight>
              </a:rPr>
              <a:t>uos-other</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shefotherkey05</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br>
              <a:rPr lang="en-GB" sz="1100">
                <a:solidFill>
                  <a:schemeClr val="dk1"/>
                </a:solidFill>
                <a:highlight>
                  <a:srgbClr val="FFFFFF"/>
                </a:highlight>
              </a:rPr>
            </a:br>
            <a:r>
              <a:rPr lang="en-GB" sz="1100">
                <a:solidFill>
                  <a:schemeClr val="dk1"/>
                </a:solidFill>
                <a:highlight>
                  <a:srgbClr val="FFFFFF"/>
                </a:highlight>
              </a:rPr>
              <a:t>location_t loc </a:t>
            </a:r>
            <a:r>
              <a:rPr lang="en-GB" sz="1100">
                <a:solidFill>
                  <a:srgbClr val="808030"/>
                </a:solidFill>
                <a:highlight>
                  <a:srgbClr val="FFFFFF"/>
                </a:highlight>
              </a:rPr>
              <a:t>=</a:t>
            </a:r>
            <a:r>
              <a:rPr lang="en-GB" sz="1100">
                <a:solidFill>
                  <a:schemeClr val="dk1"/>
                </a:solidFill>
                <a:highlight>
                  <a:srgbClr val="FFFFFF"/>
                </a:highlight>
              </a:rPr>
              <a:t> location</a:t>
            </a:r>
            <a:r>
              <a:rPr lang="en-GB" sz="1100">
                <a:solidFill>
                  <a:srgbClr val="808030"/>
                </a:solidFill>
                <a:highlight>
                  <a:srgbClr val="FFFFFF"/>
                </a:highlight>
              </a:rPr>
              <a:t>.</a:t>
            </a:r>
            <a:r>
              <a:rPr lang="en-GB" sz="1100">
                <a:solidFill>
                  <a:schemeClr val="dk1"/>
                </a:solidFill>
                <a:highlight>
                  <a:srgbClr val="FFFFFF"/>
                </a:highlight>
              </a:rPr>
              <a:t>getGeoFromWiFi</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r>
              <a:rPr b="1" lang="en-GB" sz="1100">
                <a:solidFill>
                  <a:srgbClr val="800000"/>
                </a:solidFill>
                <a:highlight>
                  <a:srgbClr val="FFFFFF"/>
                </a:highlight>
              </a:rPr>
              <a:t>if</a:t>
            </a:r>
            <a:r>
              <a:rPr lang="en-GB" sz="1100">
                <a:solidFill>
                  <a:srgbClr val="808030"/>
                </a:solidFill>
                <a:highlight>
                  <a:srgbClr val="FFFFFF"/>
                </a:highlight>
              </a:rPr>
              <a:t>(</a:t>
            </a:r>
            <a:r>
              <a:rPr lang="en-GB" sz="1100">
                <a:solidFill>
                  <a:schemeClr val="dk1"/>
                </a:solidFill>
                <a:highlight>
                  <a:srgbClr val="FFFFFF"/>
                </a:highlight>
              </a:rPr>
              <a:t>loc</a:t>
            </a:r>
            <a:r>
              <a:rPr lang="en-GB" sz="1100">
                <a:solidFill>
                  <a:srgbClr val="808030"/>
                </a:solidFill>
                <a:highlight>
                  <a:srgbClr val="FFFFFF"/>
                </a:highlight>
              </a:rPr>
              <a:t>.</a:t>
            </a:r>
            <a:r>
              <a:rPr lang="en-GB" sz="1100">
                <a:solidFill>
                  <a:schemeClr val="dk1"/>
                </a:solidFill>
                <a:highlight>
                  <a:srgbClr val="FFFFFF"/>
                </a:highlight>
              </a:rPr>
              <a:t>lat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008000"/>
                </a:solidFill>
                <a:highlight>
                  <a:srgbClr val="FFFFFF"/>
                </a:highlight>
              </a:rPr>
              <a:t>0.0</a:t>
            </a:r>
            <a:r>
              <a:rPr lang="en-GB" sz="1100">
                <a:solidFill>
                  <a:schemeClr val="dk1"/>
                </a:solidFill>
                <a:highlight>
                  <a:srgbClr val="FFFFFF"/>
                </a:highlight>
              </a:rPr>
              <a:t> </a:t>
            </a:r>
            <a:r>
              <a:rPr lang="en-GB" sz="1100">
                <a:solidFill>
                  <a:srgbClr val="808030"/>
                </a:solidFill>
                <a:highlight>
                  <a:srgbClr val="FFFFFF"/>
                </a:highlight>
              </a:rPr>
              <a:t>&amp;&amp;</a:t>
            </a:r>
            <a:r>
              <a:rPr lang="en-GB" sz="1100">
                <a:solidFill>
                  <a:schemeClr val="dk1"/>
                </a:solidFill>
                <a:highlight>
                  <a:srgbClr val="FFFFFF"/>
                </a:highlight>
              </a:rPr>
              <a:t> loc</a:t>
            </a:r>
            <a:r>
              <a:rPr lang="en-GB" sz="1100">
                <a:solidFill>
                  <a:srgbClr val="808030"/>
                </a:solidFill>
                <a:highlight>
                  <a:srgbClr val="FFFFFF"/>
                </a:highlight>
              </a:rPr>
              <a:t>.</a:t>
            </a:r>
            <a:r>
              <a:rPr lang="en-GB" sz="1100">
                <a:solidFill>
                  <a:schemeClr val="dk1"/>
                </a:solidFill>
                <a:highlight>
                  <a:srgbClr val="FFFFFF"/>
                </a:highlight>
              </a:rPr>
              <a:t>lon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008000"/>
                </a:solidFill>
                <a:highlight>
                  <a:srgbClr val="FFFFFF"/>
                </a:highlight>
              </a:rPr>
              <a:t>0.0</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  buf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Couldn't get locat!</a:t>
            </a:r>
            <a:r>
              <a:rPr lang="en-GB" sz="1100">
                <a:solidFill>
                  <a:srgbClr val="0F69FF"/>
                </a:solidFill>
                <a:highlight>
                  <a:srgbClr val="FFFFFF"/>
                </a:highlight>
              </a:rPr>
              <a:t>\n</a:t>
            </a:r>
            <a:r>
              <a:rPr lang="en-GB" sz="1100">
                <a:solidFill>
                  <a:srgbClr val="0000E6"/>
                </a:solidFill>
                <a:highlight>
                  <a:srgbClr val="FFFFFF"/>
                </a:highlight>
              </a:rPr>
              <a:t>No net connection?</a:t>
            </a:r>
            <a:r>
              <a:rPr lang="en-GB" sz="1100">
                <a:solidFill>
                  <a:srgbClr val="80000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  dln</a:t>
            </a:r>
            <a:r>
              <a:rPr lang="en-GB" sz="1100">
                <a:solidFill>
                  <a:srgbClr val="808030"/>
                </a:solidFill>
                <a:highlight>
                  <a:srgbClr val="FFFFFF"/>
                </a:highlight>
              </a:rPr>
              <a:t>(</a:t>
            </a:r>
            <a:r>
              <a:rPr lang="en-GB" sz="1100">
                <a:solidFill>
                  <a:schemeClr val="dk1"/>
                </a:solidFill>
                <a:highlight>
                  <a:srgbClr val="FFFFFF"/>
                </a:highlight>
              </a:rPr>
              <a:t>buf</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  delay</a:t>
            </a:r>
            <a:r>
              <a:rPr lang="en-GB" sz="1100">
                <a:solidFill>
                  <a:srgbClr val="808030"/>
                </a:solidFill>
                <a:highlight>
                  <a:srgbClr val="FFFFFF"/>
                </a:highlight>
              </a:rPr>
              <a:t>(</a:t>
            </a:r>
            <a:r>
              <a:rPr lang="en-GB" sz="1100">
                <a:solidFill>
                  <a:srgbClr val="008C00"/>
                </a:solidFill>
                <a:highlight>
                  <a:srgbClr val="FFFFFF"/>
                </a:highlight>
              </a:rPr>
              <a:t>2000</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  </a:t>
            </a:r>
            <a:r>
              <a:rPr b="1" lang="en-GB" sz="1100">
                <a:solidFill>
                  <a:srgbClr val="800000"/>
                </a:solidFill>
                <a:highlight>
                  <a:srgbClr val="FFFFFF"/>
                </a:highlight>
              </a:rPr>
              <a:t>return</a:t>
            </a:r>
            <a:r>
              <a:rPr lang="en-GB" sz="1100">
                <a:solidFill>
                  <a:srgbClr val="800080"/>
                </a:solidFill>
                <a:highlight>
                  <a:srgbClr val="FFFFFF"/>
                </a:highlight>
              </a:rPr>
              <a:t>;</a:t>
            </a:r>
            <a:br>
              <a:rPr lang="en-GB" sz="1100">
                <a:solidFill>
                  <a:schemeClr val="dk1"/>
                </a:solidFill>
                <a:highlight>
                  <a:srgbClr val="FFFFFF"/>
                </a:highlight>
              </a:rPr>
            </a:br>
            <a:r>
              <a:rPr lang="en-GB" sz="1100">
                <a:solidFill>
                  <a:srgbClr val="800080"/>
                </a:solidFill>
                <a:highlight>
                  <a:srgbClr val="FFFFFF"/>
                </a:highlight>
              </a:rPr>
              <a:t>}</a:t>
            </a:r>
            <a:br>
              <a:rPr lang="en-GB" sz="1100">
                <a:solidFill>
                  <a:schemeClr val="dk1"/>
                </a:solidFill>
                <a:highlight>
                  <a:srgbClr val="FFFFFF"/>
                </a:highlight>
              </a:rPr>
            </a:br>
            <a:br>
              <a:rPr lang="en-GB" sz="1100">
                <a:solidFill>
                  <a:schemeClr val="dk1"/>
                </a:solidFill>
                <a:highlight>
                  <a:srgbClr val="FFFFFF"/>
                </a:highlight>
              </a:rPr>
            </a:br>
            <a:r>
              <a:rPr lang="en-GB" sz="1100">
                <a:solidFill>
                  <a:srgbClr val="603000"/>
                </a:solidFill>
                <a:highlight>
                  <a:srgbClr val="FFFFFF"/>
                </a:highlight>
              </a:rPr>
              <a:t>String</a:t>
            </a:r>
            <a:r>
              <a:rPr lang="en-GB" sz="1100">
                <a:solidFill>
                  <a:schemeClr val="dk1"/>
                </a:solidFill>
                <a:highlight>
                  <a:srgbClr val="FFFFFF"/>
                </a:highlight>
              </a:rPr>
              <a:t> lat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8030"/>
                </a:solidFill>
                <a:highlight>
                  <a:srgbClr val="FFFFFF"/>
                </a:highlight>
              </a:rPr>
              <a:t>(</a:t>
            </a:r>
            <a:r>
              <a:rPr lang="en-GB" sz="1100">
                <a:solidFill>
                  <a:srgbClr val="603000"/>
                </a:solidFill>
                <a:highlight>
                  <a:srgbClr val="FFFFFF"/>
                </a:highlight>
              </a:rPr>
              <a:t>String</a:t>
            </a:r>
            <a:r>
              <a:rPr lang="en-GB" sz="1100">
                <a:solidFill>
                  <a:srgbClr val="808030"/>
                </a:solidFill>
                <a:highlight>
                  <a:srgbClr val="FFFFFF"/>
                </a:highlight>
              </a:rPr>
              <a:t>)</a:t>
            </a:r>
            <a:r>
              <a:rPr lang="en-GB" sz="1100">
                <a:solidFill>
                  <a:schemeClr val="dk1"/>
                </a:solidFill>
                <a:highlight>
                  <a:srgbClr val="FFFFFF"/>
                </a:highlight>
              </a:rPr>
              <a:t> loc</a:t>
            </a:r>
            <a:r>
              <a:rPr lang="en-GB" sz="1100">
                <a:solidFill>
                  <a:srgbClr val="808030"/>
                </a:solidFill>
                <a:highlight>
                  <a:srgbClr val="FFFFFF"/>
                </a:highlight>
              </a:rPr>
              <a:t>.</a:t>
            </a:r>
            <a:r>
              <a:rPr lang="en-GB" sz="1100">
                <a:solidFill>
                  <a:schemeClr val="dk1"/>
                </a:solidFill>
                <a:highlight>
                  <a:srgbClr val="FFFFFF"/>
                </a:highlight>
              </a:rPr>
              <a:t>lat</a:t>
            </a:r>
            <a:r>
              <a:rPr lang="en-GB" sz="1100">
                <a:solidFill>
                  <a:srgbClr val="800080"/>
                </a:solidFill>
                <a:highlight>
                  <a:srgbClr val="FFFFFF"/>
                </a:highlight>
              </a:rPr>
              <a:t>;</a:t>
            </a:r>
            <a:br>
              <a:rPr lang="en-GB" sz="1100">
                <a:solidFill>
                  <a:schemeClr val="dk1"/>
                </a:solidFill>
                <a:highlight>
                  <a:srgbClr val="FFFFFF"/>
                </a:highlight>
              </a:rPr>
            </a:br>
            <a:r>
              <a:rPr lang="en-GB" sz="1100">
                <a:solidFill>
                  <a:srgbClr val="603000"/>
                </a:solidFill>
                <a:highlight>
                  <a:srgbClr val="FFFFFF"/>
                </a:highlight>
              </a:rPr>
              <a:t>String</a:t>
            </a:r>
            <a:r>
              <a:rPr lang="en-GB" sz="1100">
                <a:solidFill>
                  <a:schemeClr val="dk1"/>
                </a:solidFill>
                <a:highlight>
                  <a:srgbClr val="FFFFFF"/>
                </a:highlight>
              </a:rPr>
              <a:t> lon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8030"/>
                </a:solidFill>
                <a:highlight>
                  <a:srgbClr val="FFFFFF"/>
                </a:highlight>
              </a:rPr>
              <a:t>(</a:t>
            </a:r>
            <a:r>
              <a:rPr lang="en-GB" sz="1100">
                <a:solidFill>
                  <a:srgbClr val="603000"/>
                </a:solidFill>
                <a:highlight>
                  <a:srgbClr val="FFFFFF"/>
                </a:highlight>
              </a:rPr>
              <a:t>String</a:t>
            </a:r>
            <a:r>
              <a:rPr lang="en-GB" sz="1100">
                <a:solidFill>
                  <a:srgbClr val="808030"/>
                </a:solidFill>
                <a:highlight>
                  <a:srgbClr val="FFFFFF"/>
                </a:highlight>
              </a:rPr>
              <a:t>)</a:t>
            </a:r>
            <a:r>
              <a:rPr lang="en-GB" sz="1100">
                <a:solidFill>
                  <a:schemeClr val="dk1"/>
                </a:solidFill>
                <a:highlight>
                  <a:srgbClr val="FFFFFF"/>
                </a:highlight>
              </a:rPr>
              <a:t> loc</a:t>
            </a:r>
            <a:r>
              <a:rPr lang="en-GB" sz="1100">
                <a:solidFill>
                  <a:srgbClr val="808030"/>
                </a:solidFill>
                <a:highlight>
                  <a:srgbClr val="FFFFFF"/>
                </a:highlight>
              </a:rPr>
              <a:t>.</a:t>
            </a:r>
            <a:r>
              <a:rPr lang="en-GB" sz="1100">
                <a:solidFill>
                  <a:schemeClr val="dk1"/>
                </a:solidFill>
                <a:highlight>
                  <a:srgbClr val="FFFFFF"/>
                </a:highlight>
              </a:rPr>
              <a:t>lon</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buf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Finding votes at:</a:t>
            </a:r>
            <a:r>
              <a:rPr lang="en-GB" sz="1100">
                <a:solidFill>
                  <a:srgbClr val="0F69FF"/>
                </a:solidFill>
                <a:highlight>
                  <a:srgbClr val="FFFFFF"/>
                </a:highlight>
              </a:rPr>
              <a:t>\n</a:t>
            </a:r>
            <a:r>
              <a:rPr lang="en-GB" sz="1100">
                <a:solidFill>
                  <a:srgbClr val="800000"/>
                </a:solidFill>
                <a:highlight>
                  <a:srgbClr val="FFFFFF"/>
                </a:highlight>
              </a:rPr>
              <a:t>"</a:t>
            </a:r>
            <a:r>
              <a:rPr lang="en-GB" sz="1100">
                <a:solidFill>
                  <a:schemeClr val="dk1"/>
                </a:solidFill>
                <a:highlight>
                  <a:srgbClr val="FFFFFF"/>
                </a:highlight>
              </a:rPr>
              <a:t> </a:t>
            </a:r>
            <a:r>
              <a:rPr lang="en-GB" sz="1100">
                <a:solidFill>
                  <a:srgbClr val="808030"/>
                </a:solidFill>
                <a:highlight>
                  <a:srgbClr val="FFFFFF"/>
                </a:highlight>
              </a:rPr>
              <a:t>+</a:t>
            </a:r>
            <a:r>
              <a:rPr lang="en-GB" sz="1100">
                <a:solidFill>
                  <a:schemeClr val="dk1"/>
                </a:solidFill>
                <a:highlight>
                  <a:srgbClr val="FFFFFF"/>
                </a:highlight>
              </a:rPr>
              <a:t> lat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 </a:t>
            </a:r>
            <a:r>
              <a:rPr lang="en-GB" sz="1100">
                <a:solidFill>
                  <a:srgbClr val="800000"/>
                </a:solidFill>
                <a:highlight>
                  <a:srgbClr val="FFFFFF"/>
                </a:highlight>
              </a:rPr>
              <a:t>"</a:t>
            </a:r>
            <a:r>
              <a:rPr lang="en-GB" sz="1100">
                <a:solidFill>
                  <a:schemeClr val="dk1"/>
                </a:solidFill>
                <a:highlight>
                  <a:srgbClr val="FFFFFF"/>
                </a:highlight>
              </a:rPr>
              <a:t> </a:t>
            </a:r>
            <a:r>
              <a:rPr lang="en-GB" sz="1100">
                <a:solidFill>
                  <a:srgbClr val="808030"/>
                </a:solidFill>
                <a:highlight>
                  <a:srgbClr val="FFFFFF"/>
                </a:highlight>
              </a:rPr>
              <a:t>+</a:t>
            </a:r>
            <a:r>
              <a:rPr lang="en-GB" sz="1100">
                <a:solidFill>
                  <a:schemeClr val="dk1"/>
                </a:solidFill>
                <a:highlight>
                  <a:srgbClr val="FFFFFF"/>
                </a:highlight>
              </a:rPr>
              <a:t> lon</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dln</a:t>
            </a:r>
            <a:r>
              <a:rPr lang="en-GB" sz="1100">
                <a:solidFill>
                  <a:srgbClr val="808030"/>
                </a:solidFill>
                <a:highlight>
                  <a:srgbClr val="FFFFFF"/>
                </a:highlight>
              </a:rPr>
              <a:t>(</a:t>
            </a:r>
            <a:r>
              <a:rPr lang="en-GB" sz="1100">
                <a:solidFill>
                  <a:schemeClr val="dk1"/>
                </a:solidFill>
                <a:highlight>
                  <a:srgbClr val="FFFFFF"/>
                </a:highlight>
              </a:rPr>
              <a:t>buf</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dln</a:t>
            </a:r>
            <a:r>
              <a:rPr lang="en-GB" sz="1100">
                <a:solidFill>
                  <a:srgbClr val="808030"/>
                </a:solidFill>
                <a:highlight>
                  <a:srgbClr val="FFFFFF"/>
                </a:highlight>
              </a:rPr>
              <a:t>(</a:t>
            </a:r>
            <a:r>
              <a:rPr lang="en-GB" sz="1100">
                <a:solidFill>
                  <a:schemeClr val="dk1"/>
                </a:solidFill>
                <a:highlight>
                  <a:srgbClr val="FFFFFF"/>
                </a:highlight>
              </a:rPr>
              <a:t>netDBG</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location request data</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dln</a:t>
            </a:r>
            <a:r>
              <a:rPr lang="en-GB" sz="1100">
                <a:solidFill>
                  <a:srgbClr val="808030"/>
                </a:solidFill>
                <a:highlight>
                  <a:srgbClr val="FFFFFF"/>
                </a:highlight>
              </a:rPr>
              <a:t>(</a:t>
            </a:r>
            <a:r>
              <a:rPr lang="en-GB" sz="1100">
                <a:solidFill>
                  <a:schemeClr val="dk1"/>
                </a:solidFill>
                <a:highlight>
                  <a:srgbClr val="FFFFFF"/>
                </a:highlight>
              </a:rPr>
              <a:t>netDBG</a:t>
            </a:r>
            <a:r>
              <a:rPr lang="en-GB" sz="1100">
                <a:solidFill>
                  <a:srgbClr val="808030"/>
                </a:solidFill>
                <a:highlight>
                  <a:srgbClr val="FFFFFF"/>
                </a:highlight>
              </a:rPr>
              <a:t>,</a:t>
            </a:r>
            <a:r>
              <a:rPr lang="en-GB" sz="1100">
                <a:solidFill>
                  <a:schemeClr val="dk1"/>
                </a:solidFill>
                <a:highlight>
                  <a:srgbClr val="FFFFFF"/>
                </a:highlight>
              </a:rPr>
              <a:t> location</a:t>
            </a:r>
            <a:r>
              <a:rPr lang="en-GB" sz="1100">
                <a:solidFill>
                  <a:srgbClr val="808030"/>
                </a:solidFill>
                <a:highlight>
                  <a:srgbClr val="FFFFFF"/>
                </a:highlight>
              </a:rPr>
              <a:t>.</a:t>
            </a:r>
            <a:r>
              <a:rPr lang="en-GB" sz="1100">
                <a:solidFill>
                  <a:schemeClr val="dk1"/>
                </a:solidFill>
                <a:highlight>
                  <a:srgbClr val="FFFFFF"/>
                </a:highlight>
              </a:rPr>
              <a:t>getSurroundingWiFiJson</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dln</a:t>
            </a:r>
            <a:r>
              <a:rPr lang="en-GB" sz="1100">
                <a:solidFill>
                  <a:srgbClr val="808030"/>
                </a:solidFill>
                <a:highlight>
                  <a:srgbClr val="FFFFFF"/>
                </a:highlight>
              </a:rPr>
              <a:t>(</a:t>
            </a:r>
            <a:r>
              <a:rPr lang="en-GB" sz="1100">
                <a:solidFill>
                  <a:schemeClr val="dk1"/>
                </a:solidFill>
                <a:highlight>
                  <a:srgbClr val="FFFFFF"/>
                </a:highlight>
              </a:rPr>
              <a:t>netDBG</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latitude: </a:t>
            </a:r>
            <a:r>
              <a:rPr lang="en-GB" sz="1100">
                <a:solidFill>
                  <a:srgbClr val="800000"/>
                </a:solidFill>
                <a:highlight>
                  <a:srgbClr val="FFFFFF"/>
                </a:highlight>
              </a:rPr>
              <a:t>"</a:t>
            </a:r>
            <a:r>
              <a:rPr lang="en-GB" sz="1100">
                <a:solidFill>
                  <a:schemeClr val="dk1"/>
                </a:solidFill>
                <a:highlight>
                  <a:srgbClr val="FFFFFF"/>
                </a:highlight>
              </a:rPr>
              <a:t> </a:t>
            </a:r>
            <a:r>
              <a:rPr lang="en-GB" sz="1100">
                <a:solidFill>
                  <a:srgbClr val="808030"/>
                </a:solidFill>
                <a:highlight>
                  <a:srgbClr val="FFFFFF"/>
                </a:highlight>
              </a:rPr>
              <a:t>+</a:t>
            </a:r>
            <a:r>
              <a:rPr lang="en-GB" sz="1100">
                <a:solidFill>
                  <a:schemeClr val="dk1"/>
                </a:solidFill>
                <a:highlight>
                  <a:srgbClr val="FFFFFF"/>
                </a:highlight>
              </a:rPr>
              <a:t> lat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 longitude: </a:t>
            </a:r>
            <a:r>
              <a:rPr lang="en-GB" sz="1100">
                <a:solidFill>
                  <a:srgbClr val="800000"/>
                </a:solidFill>
                <a:highlight>
                  <a:srgbClr val="FFFFFF"/>
                </a:highlight>
              </a:rPr>
              <a:t>"</a:t>
            </a:r>
            <a:r>
              <a:rPr lang="en-GB" sz="1100">
                <a:solidFill>
                  <a:schemeClr val="dk1"/>
                </a:solidFill>
                <a:highlight>
                  <a:srgbClr val="FFFFFF"/>
                </a:highlight>
              </a:rPr>
              <a:t> </a:t>
            </a:r>
            <a:r>
              <a:rPr lang="en-GB" sz="1100">
                <a:solidFill>
                  <a:srgbClr val="808030"/>
                </a:solidFill>
                <a:highlight>
                  <a:srgbClr val="FFFFFF"/>
                </a:highlight>
              </a:rPr>
              <a:t>+</a:t>
            </a:r>
            <a:r>
              <a:rPr lang="en-GB" sz="1100">
                <a:solidFill>
                  <a:schemeClr val="dk1"/>
                </a:solidFill>
                <a:highlight>
                  <a:srgbClr val="FFFFFF"/>
                </a:highlight>
              </a:rPr>
              <a:t> lon</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r>
              <a:rPr lang="en-GB" sz="1100">
                <a:solidFill>
                  <a:schemeClr val="dk1"/>
                </a:solidFill>
                <a:highlight>
                  <a:srgbClr val="FFFFFF"/>
                </a:highlight>
              </a:rPr>
              <a:t>dln</a:t>
            </a:r>
            <a:r>
              <a:rPr lang="en-GB" sz="1100">
                <a:solidFill>
                  <a:srgbClr val="808030"/>
                </a:solidFill>
                <a:highlight>
                  <a:srgbClr val="FFFFFF"/>
                </a:highlight>
              </a:rPr>
              <a:t>(</a:t>
            </a:r>
            <a:r>
              <a:rPr lang="en-GB" sz="1100">
                <a:solidFill>
                  <a:schemeClr val="dk1"/>
                </a:solidFill>
                <a:highlight>
                  <a:srgbClr val="FFFFFF"/>
                </a:highlight>
              </a:rPr>
              <a:t>netDBG</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accuracy: </a:t>
            </a:r>
            <a:r>
              <a:rPr lang="en-GB" sz="1100">
                <a:solidFill>
                  <a:srgbClr val="800000"/>
                </a:solidFill>
                <a:highlight>
                  <a:srgbClr val="FFFFFF"/>
                </a:highlight>
              </a:rPr>
              <a:t>"</a:t>
            </a:r>
            <a:r>
              <a:rPr lang="en-GB" sz="1100">
                <a:solidFill>
                  <a:schemeClr val="dk1"/>
                </a:solidFill>
                <a:highlight>
                  <a:srgbClr val="FFFFFF"/>
                </a:highlight>
              </a:rPr>
              <a:t> </a:t>
            </a:r>
            <a:r>
              <a:rPr lang="en-GB" sz="1100">
                <a:solidFill>
                  <a:srgbClr val="808030"/>
                </a:solidFill>
                <a:highlight>
                  <a:srgbClr val="FFFFFF"/>
                </a:highlight>
              </a:rPr>
              <a:t>+</a:t>
            </a:r>
            <a:r>
              <a:rPr lang="en-GB" sz="1100">
                <a:solidFill>
                  <a:schemeClr val="dk1"/>
                </a:solidFill>
                <a:highlight>
                  <a:srgbClr val="FFFFFF"/>
                </a:highlight>
              </a:rPr>
              <a:t> </a:t>
            </a:r>
            <a:r>
              <a:rPr lang="en-GB" sz="1100">
                <a:solidFill>
                  <a:srgbClr val="603000"/>
                </a:solidFill>
                <a:highlight>
                  <a:srgbClr val="FFFFFF"/>
                </a:highlight>
              </a:rPr>
              <a:t>String</a:t>
            </a:r>
            <a:r>
              <a:rPr lang="en-GB" sz="1100">
                <a:solidFill>
                  <a:srgbClr val="808030"/>
                </a:solidFill>
                <a:highlight>
                  <a:srgbClr val="FFFFFF"/>
                </a:highlight>
              </a:rPr>
              <a:t>(</a:t>
            </a:r>
            <a:r>
              <a:rPr lang="en-GB" sz="1100">
                <a:solidFill>
                  <a:schemeClr val="dk1"/>
                </a:solidFill>
                <a:highlight>
                  <a:srgbClr val="FFFFFF"/>
                </a:highlight>
              </a:rPr>
              <a:t>loc</a:t>
            </a:r>
            <a:r>
              <a:rPr lang="en-GB" sz="1100">
                <a:solidFill>
                  <a:srgbClr val="808030"/>
                </a:solidFill>
                <a:highlight>
                  <a:srgbClr val="FFFFFF"/>
                </a:highlight>
              </a:rPr>
              <a:t>.</a:t>
            </a:r>
            <a:r>
              <a:rPr lang="en-GB" sz="1100">
                <a:solidFill>
                  <a:schemeClr val="dk1"/>
                </a:solidFill>
                <a:highlight>
                  <a:srgbClr val="FFFFFF"/>
                </a:highlight>
              </a:rPr>
              <a:t>accuracy</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chemeClr val="dk1"/>
                </a:solidFill>
                <a:highlight>
                  <a:srgbClr val="FFFFFF"/>
                </a:highlight>
              </a:rPr>
            </a:br>
            <a:endParaRPr sz="1100">
              <a:solidFill>
                <a:schemeClr val="dk1"/>
              </a:solidFill>
              <a:highlight>
                <a:srgbClr val="FFFFFF"/>
              </a:highlight>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46"/>
          <p:cNvPicPr preferRelativeResize="0"/>
          <p:nvPr/>
        </p:nvPicPr>
        <p:blipFill>
          <a:blip r:embed="rId3">
            <a:alphaModFix/>
          </a:blip>
          <a:stretch>
            <a:fillRect/>
          </a:stretch>
        </p:blipFill>
        <p:spPr>
          <a:xfrm>
            <a:off x="3847951" y="52773"/>
            <a:ext cx="4610250" cy="528100"/>
          </a:xfrm>
          <a:prstGeom prst="rect">
            <a:avLst/>
          </a:prstGeom>
          <a:noFill/>
          <a:ln>
            <a:noFill/>
          </a:ln>
        </p:spPr>
      </p:pic>
      <p:sp>
        <p:nvSpPr>
          <p:cNvPr id="276" name="Google Shape;276;p46"/>
          <p:cNvSpPr txBox="1"/>
          <p:nvPr>
            <p:ph type="title"/>
          </p:nvPr>
        </p:nvSpPr>
        <p:spPr>
          <a:xfrm>
            <a:off x="845100" y="-12175"/>
            <a:ext cx="312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Home Automation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77" name="Google Shape;277;p46"/>
          <p:cNvSpPr txBox="1"/>
          <p:nvPr>
            <p:ph idx="1" type="body"/>
          </p:nvPr>
        </p:nvSpPr>
        <p:spPr>
          <a:xfrm>
            <a:off x="159325" y="390475"/>
            <a:ext cx="3127500" cy="4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This project adds remote mains power switching to your project using a 433 MHz transmitter and mains socket receiver / relay: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If you have a specific device in mind that uses IR you can also work with the IR LEDs and sensor (as in the TV Remote example above):</a:t>
            </a:r>
            <a:endParaRPr sz="1800"/>
          </a:p>
        </p:txBody>
      </p:sp>
      <p:sp>
        <p:nvSpPr>
          <p:cNvPr id="278" name="Google Shape;278;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79" name="Google Shape;279;p46"/>
          <p:cNvPicPr preferRelativeResize="0"/>
          <p:nvPr/>
        </p:nvPicPr>
        <p:blipFill>
          <a:blip r:embed="rId4">
            <a:alphaModFix/>
          </a:blip>
          <a:stretch>
            <a:fillRect/>
          </a:stretch>
        </p:blipFill>
        <p:spPr>
          <a:xfrm>
            <a:off x="2823774" y="3431774"/>
            <a:ext cx="3653599" cy="1556825"/>
          </a:xfrm>
          <a:prstGeom prst="rect">
            <a:avLst/>
          </a:prstGeom>
          <a:noFill/>
          <a:ln>
            <a:noFill/>
          </a:ln>
        </p:spPr>
      </p:pic>
      <p:pic>
        <p:nvPicPr>
          <p:cNvPr id="280" name="Google Shape;280;p46"/>
          <p:cNvPicPr preferRelativeResize="0"/>
          <p:nvPr/>
        </p:nvPicPr>
        <p:blipFill>
          <a:blip r:embed="rId5">
            <a:alphaModFix/>
          </a:blip>
          <a:stretch>
            <a:fillRect/>
          </a:stretch>
        </p:blipFill>
        <p:spPr>
          <a:xfrm>
            <a:off x="3286825" y="560525"/>
            <a:ext cx="1822949" cy="2680808"/>
          </a:xfrm>
          <a:prstGeom prst="rect">
            <a:avLst/>
          </a:prstGeom>
          <a:noFill/>
          <a:ln>
            <a:noFill/>
          </a:ln>
        </p:spPr>
      </p:pic>
      <p:pic>
        <p:nvPicPr>
          <p:cNvPr id="281" name="Google Shape;281;p46"/>
          <p:cNvPicPr preferRelativeResize="0"/>
          <p:nvPr/>
        </p:nvPicPr>
        <p:blipFill>
          <a:blip r:embed="rId6">
            <a:alphaModFix/>
          </a:blip>
          <a:stretch>
            <a:fillRect/>
          </a:stretch>
        </p:blipFill>
        <p:spPr>
          <a:xfrm>
            <a:off x="5262174" y="789125"/>
            <a:ext cx="3729426" cy="24762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845100" y="-12175"/>
            <a:ext cx="720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Dawn Simulator Alarm Clock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87" name="Google Shape;287;p47"/>
          <p:cNvSpPr txBox="1"/>
          <p:nvPr>
            <p:ph idx="1" type="body"/>
          </p:nvPr>
        </p:nvSpPr>
        <p:spPr>
          <a:xfrm>
            <a:off x="6925" y="466675"/>
            <a:ext cx="3127500" cy="4451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Adafruit's NeoPixels are bright multicolour LEDs controlled via a single signal wire (plus two for power). </a:t>
            </a:r>
            <a:endParaRPr sz="1800"/>
          </a:p>
          <a:p>
            <a:pPr indent="-342900" lvl="0" marL="457200" rtl="0" algn="l">
              <a:spcBef>
                <a:spcPts val="0"/>
              </a:spcBef>
              <a:spcAft>
                <a:spcPts val="0"/>
              </a:spcAft>
              <a:buSzPts val="1800"/>
              <a:buChar char="●"/>
            </a:pPr>
            <a:r>
              <a:rPr lang="en-GB" sz="1800"/>
              <a:t>first solder on three connections for power and data</a:t>
            </a:r>
            <a:endParaRPr sz="1800"/>
          </a:p>
          <a:p>
            <a:pPr indent="-342900" lvl="0" marL="457200" rtl="0" algn="l">
              <a:spcBef>
                <a:spcPts val="0"/>
              </a:spcBef>
              <a:spcAft>
                <a:spcPts val="0"/>
              </a:spcAft>
              <a:buSzPts val="1800"/>
              <a:buChar char="●"/>
            </a:pPr>
            <a:r>
              <a:rPr lang="en-GB" sz="1800"/>
              <a:t>then connect these to the USB 5V, GND and pin A0 as shown</a:t>
            </a:r>
            <a:endParaRPr sz="1800"/>
          </a:p>
        </p:txBody>
      </p:sp>
      <p:sp>
        <p:nvSpPr>
          <p:cNvPr id="288" name="Google Shape;288;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89" name="Google Shape;289;p47"/>
          <p:cNvPicPr preferRelativeResize="0"/>
          <p:nvPr/>
        </p:nvPicPr>
        <p:blipFill>
          <a:blip r:embed="rId3">
            <a:alphaModFix/>
          </a:blip>
          <a:stretch>
            <a:fillRect/>
          </a:stretch>
        </p:blipFill>
        <p:spPr>
          <a:xfrm>
            <a:off x="3491798" y="2016278"/>
            <a:ext cx="4348825" cy="1117225"/>
          </a:xfrm>
          <a:prstGeom prst="rect">
            <a:avLst/>
          </a:prstGeom>
          <a:noFill/>
          <a:ln>
            <a:noFill/>
          </a:ln>
        </p:spPr>
      </p:pic>
      <p:pic>
        <p:nvPicPr>
          <p:cNvPr id="290" name="Google Shape;290;p47"/>
          <p:cNvPicPr preferRelativeResize="0"/>
          <p:nvPr/>
        </p:nvPicPr>
        <p:blipFill>
          <a:blip r:embed="rId4">
            <a:alphaModFix/>
          </a:blip>
          <a:stretch>
            <a:fillRect/>
          </a:stretch>
        </p:blipFill>
        <p:spPr>
          <a:xfrm>
            <a:off x="3495103" y="3229175"/>
            <a:ext cx="2613625" cy="1838124"/>
          </a:xfrm>
          <a:prstGeom prst="rect">
            <a:avLst/>
          </a:prstGeom>
          <a:noFill/>
          <a:ln>
            <a:noFill/>
          </a:ln>
        </p:spPr>
      </p:pic>
      <p:pic>
        <p:nvPicPr>
          <p:cNvPr id="291" name="Google Shape;291;p47"/>
          <p:cNvPicPr preferRelativeResize="0"/>
          <p:nvPr/>
        </p:nvPicPr>
        <p:blipFill rotWithShape="1">
          <a:blip r:embed="rId5">
            <a:alphaModFix/>
          </a:blip>
          <a:srcRect b="16965" l="0" r="0" t="28763"/>
          <a:stretch/>
        </p:blipFill>
        <p:spPr>
          <a:xfrm>
            <a:off x="3495675" y="492150"/>
            <a:ext cx="3530600" cy="1439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845100" y="-12175"/>
            <a:ext cx="720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Tiny AI: ChatGPT meets the IoT [advanced!]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97" name="Google Shape;297;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8" name="Google Shape;298;p48"/>
          <p:cNvSpPr txBox="1"/>
          <p:nvPr>
            <p:ph idx="1" type="body"/>
          </p:nvPr>
        </p:nvSpPr>
        <p:spPr>
          <a:xfrm>
            <a:off x="276150" y="542875"/>
            <a:ext cx="8601300" cy="4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The Transformer models that have been trained on the biggest datasets are proving to be a step-change in conversational AI. ChatGPT is the best known at present, and is extremely effective at appearing to be a lucid dialogue partner or (via GitHub co-pilot) a knowledgeable pair programming companion. This is an application of some of the largest computations over the largest data sets that have ever been achieved. Many things are set to change as a result.</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The IoT, on the other hand, is about the application of our smallest units of computation to networked microcontrollers. Special purpose devices combine sensors and actuators, expose control surfaces of various types, and communicate with local hubs and/or cloud analytics and control.</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	This project: using a mic and speech recognition, or an on-screen keyboard, </a:t>
            </a:r>
            <a:br>
              <a:rPr lang="en-GB" sz="1800"/>
            </a:br>
            <a:r>
              <a:rPr lang="en-GB" sz="1800"/>
              <a:t>	make an ESP32 interface to ChatGPT.</a:t>
            </a:r>
            <a:endParaRPr sz="1800"/>
          </a:p>
          <a:p>
            <a:pPr indent="0" lvl="0" marL="0" rtl="0" algn="l">
              <a:spcBef>
                <a:spcPts val="0"/>
              </a:spcBef>
              <a:spcAft>
                <a:spcPts val="0"/>
              </a:spcAft>
              <a:buNone/>
            </a:pPr>
            <a:r>
              <a:t/>
            </a:r>
            <a:endParaRPr b="1"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845100" y="-12175"/>
            <a:ext cx="720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Yet more projects...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04" name="Google Shape;304;p49"/>
          <p:cNvSpPr txBox="1"/>
          <p:nvPr>
            <p:ph idx="1" type="body"/>
          </p:nvPr>
        </p:nvSpPr>
        <p:spPr>
          <a:xfrm>
            <a:off x="276150" y="542875"/>
            <a:ext cx="8601300" cy="4451400"/>
          </a:xfrm>
          <a:prstGeom prst="rect">
            <a:avLst/>
          </a:prstGeom>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b="1" lang="en-GB" sz="1700">
                <a:solidFill>
                  <a:srgbClr val="24292E"/>
                </a:solidFill>
              </a:rPr>
              <a:t>MP3 player</a:t>
            </a:r>
            <a:endParaRPr b="1" sz="1700">
              <a:solidFill>
                <a:srgbClr val="24292E"/>
              </a:solidFill>
            </a:endParaRPr>
          </a:p>
          <a:p>
            <a:pPr indent="0" lvl="0" marL="457200" rtl="0" algn="l">
              <a:spcBef>
                <a:spcPts val="0"/>
              </a:spcBef>
              <a:spcAft>
                <a:spcPts val="0"/>
              </a:spcAft>
              <a:buClr>
                <a:schemeClr val="dk1"/>
              </a:buClr>
              <a:buSzPts val="1100"/>
              <a:buFont typeface="Arial"/>
              <a:buNone/>
            </a:pPr>
            <a:r>
              <a:rPr lang="en-GB" sz="1200">
                <a:solidFill>
                  <a:srgbClr val="24292E"/>
                </a:solidFill>
              </a:rPr>
              <a:t>The unPhone includes a </a:t>
            </a:r>
            <a:r>
              <a:rPr lang="en-GB" sz="1200" u="sng">
                <a:solidFill>
                  <a:srgbClr val="0366D6"/>
                </a:solidFill>
                <a:hlinkClick r:id="rId3">
                  <a:extLst>
                    <a:ext uri="{A12FA001-AC4F-418D-AE19-62706E023703}">
                      <ahyp:hlinkClr val="tx"/>
                    </a:ext>
                  </a:extLst>
                </a:hlinkClick>
              </a:rPr>
              <a:t>VS1053 MP3 decoder chip</a:t>
            </a:r>
            <a:r>
              <a:rPr lang="en-GB" sz="1200">
                <a:solidFill>
                  <a:srgbClr val="24292E"/>
                </a:solidFill>
              </a:rPr>
              <a:t> which can also do a nice job of </a:t>
            </a:r>
            <a:r>
              <a:rPr lang="en-GB" sz="1200" u="sng">
                <a:solidFill>
                  <a:srgbClr val="0366D6"/>
                </a:solidFill>
                <a:hlinkClick r:id="rId4">
                  <a:extLst>
                    <a:ext uri="{A12FA001-AC4F-418D-AE19-62706E023703}">
                      <ahyp:hlinkClr val="tx"/>
                    </a:ext>
                  </a:extLst>
                </a:hlinkClick>
              </a:rPr>
              <a:t>synthesising MIDI input</a:t>
            </a:r>
            <a:r>
              <a:rPr lang="en-GB" sz="1200">
                <a:solidFill>
                  <a:srgbClr val="24292E"/>
                </a:solidFill>
              </a:rPr>
              <a:t>. Store your</a:t>
            </a:r>
            <a:r>
              <a:rPr lang="en-GB" sz="1000">
                <a:solidFill>
                  <a:srgbClr val="24292E"/>
                </a:solidFill>
                <a:latin typeface="Consolas"/>
                <a:ea typeface="Consolas"/>
                <a:cs typeface="Consolas"/>
                <a:sym typeface="Consolas"/>
              </a:rPr>
              <a:t>.mp3</a:t>
            </a:r>
            <a:r>
              <a:rPr lang="en-GB" sz="1200">
                <a:solidFill>
                  <a:srgbClr val="24292E"/>
                </a:solidFill>
              </a:rPr>
              <a:t> files on the SD card that came with your unPhone (after formatting it to FAT), and see the example code for how to play via the headphone jack.</a:t>
            </a:r>
            <a:endParaRPr sz="1200">
              <a:solidFill>
                <a:srgbClr val="24292E"/>
              </a:solidFill>
            </a:endParaRPr>
          </a:p>
          <a:p>
            <a:pPr indent="0" lvl="0" marL="457200" rtl="0" algn="l">
              <a:spcBef>
                <a:spcPts val="0"/>
              </a:spcBef>
              <a:spcAft>
                <a:spcPts val="0"/>
              </a:spcAft>
              <a:buClr>
                <a:schemeClr val="dk1"/>
              </a:buClr>
              <a:buSzPts val="1100"/>
              <a:buFont typeface="Arial"/>
              <a:buNone/>
            </a:pPr>
            <a:r>
              <a:rPr lang="en-GB" sz="1200">
                <a:solidFill>
                  <a:srgbClr val="24292E"/>
                </a:solidFill>
              </a:rPr>
              <a:t>Note that streaming audio is a blocking operation for at least one of the ESP32's cores, so your UI will have to find clever ways to squeeze into available processing power!</a:t>
            </a:r>
            <a:endParaRPr sz="1200">
              <a:solidFill>
                <a:srgbClr val="24292E"/>
              </a:solidFill>
            </a:endParaRPr>
          </a:p>
          <a:p>
            <a:pPr indent="190500" lvl="0" marL="0" marR="38100" rtl="0" algn="l">
              <a:lnSpc>
                <a:spcPct val="100000"/>
              </a:lnSpc>
              <a:spcBef>
                <a:spcPts val="0"/>
              </a:spcBef>
              <a:spcAft>
                <a:spcPts val="0"/>
              </a:spcAft>
              <a:buClr>
                <a:schemeClr val="dk1"/>
              </a:buClr>
              <a:buSzPts val="1100"/>
              <a:buFont typeface="Arial"/>
              <a:buNone/>
            </a:pPr>
            <a:r>
              <a:rPr b="1" lang="en-GB" sz="1700">
                <a:solidFill>
                  <a:srgbClr val="24292E"/>
                </a:solidFill>
              </a:rPr>
              <a:t>Predictive text UI</a:t>
            </a:r>
            <a:endParaRPr b="1" sz="1700">
              <a:solidFill>
                <a:srgbClr val="24292E"/>
              </a:solidFill>
            </a:endParaRPr>
          </a:p>
          <a:p>
            <a:pPr indent="0" lvl="0" marL="457200" rtl="0" algn="l">
              <a:spcBef>
                <a:spcPts val="0"/>
              </a:spcBef>
              <a:spcAft>
                <a:spcPts val="0"/>
              </a:spcAft>
              <a:buClr>
                <a:schemeClr val="dk1"/>
              </a:buClr>
              <a:buSzPts val="1100"/>
              <a:buFont typeface="Arial"/>
              <a:buNone/>
            </a:pPr>
            <a:r>
              <a:rPr lang="en-GB" sz="1200">
                <a:solidFill>
                  <a:srgbClr val="24292E"/>
                </a:solidFill>
              </a:rPr>
              <a:t>See the </a:t>
            </a:r>
            <a:r>
              <a:rPr lang="en-GB" sz="1000">
                <a:solidFill>
                  <a:srgbClr val="24292E"/>
                </a:solidFill>
                <a:latin typeface="Consolas"/>
                <a:ea typeface="Consolas"/>
                <a:cs typeface="Consolas"/>
                <a:sym typeface="Consolas"/>
              </a:rPr>
              <a:t>Predictor</a:t>
            </a:r>
            <a:r>
              <a:rPr lang="en-GB" sz="1200">
                <a:solidFill>
                  <a:srgbClr val="24292E"/>
                </a:solidFill>
              </a:rPr>
              <a:t> examples in the template sketches.</a:t>
            </a:r>
            <a:endParaRPr sz="1200">
              <a:solidFill>
                <a:srgbClr val="24292E"/>
              </a:solidFill>
            </a:endParaRPr>
          </a:p>
          <a:p>
            <a:pPr indent="190500" lvl="0" marL="0" marR="38100" rtl="0" algn="l">
              <a:lnSpc>
                <a:spcPct val="100000"/>
              </a:lnSpc>
              <a:spcBef>
                <a:spcPts val="0"/>
              </a:spcBef>
              <a:spcAft>
                <a:spcPts val="0"/>
              </a:spcAft>
              <a:buClr>
                <a:schemeClr val="dk1"/>
              </a:buClr>
              <a:buSzPts val="1100"/>
              <a:buFont typeface="Arial"/>
              <a:buNone/>
            </a:pPr>
            <a:r>
              <a:rPr b="1" lang="en-GB" sz="1700">
                <a:solidFill>
                  <a:srgbClr val="24292E"/>
                </a:solidFill>
              </a:rPr>
              <a:t>Musical instrument</a:t>
            </a:r>
            <a:endParaRPr b="1" sz="1700">
              <a:solidFill>
                <a:srgbClr val="24292E"/>
              </a:solidFill>
            </a:endParaRPr>
          </a:p>
          <a:p>
            <a:pPr indent="0" lvl="0" marL="457200" rtl="0" algn="l">
              <a:spcBef>
                <a:spcPts val="0"/>
              </a:spcBef>
              <a:spcAft>
                <a:spcPts val="0"/>
              </a:spcAft>
              <a:buClr>
                <a:schemeClr val="dk1"/>
              </a:buClr>
              <a:buSzPts val="1100"/>
              <a:buFont typeface="Arial"/>
              <a:buNone/>
            </a:pPr>
            <a:r>
              <a:rPr lang="en-GB" sz="1200">
                <a:solidFill>
                  <a:srgbClr val="24292E"/>
                </a:solidFill>
              </a:rPr>
              <a:t>Using the </a:t>
            </a:r>
            <a:r>
              <a:rPr lang="en-GB" sz="1200" u="sng">
                <a:solidFill>
                  <a:srgbClr val="0366D6"/>
                </a:solidFill>
                <a:hlinkClick r:id="rId5">
                  <a:extLst>
                    <a:ext uri="{A12FA001-AC4F-418D-AE19-62706E023703}">
                      <ahyp:hlinkClr val="tx"/>
                    </a:ext>
                  </a:extLst>
                </a:hlinkClick>
              </a:rPr>
              <a:t>VS1053</a:t>
            </a:r>
            <a:r>
              <a:rPr lang="en-GB" sz="1200">
                <a:solidFill>
                  <a:srgbClr val="24292E"/>
                </a:solidFill>
              </a:rPr>
              <a:t>'s </a:t>
            </a:r>
            <a:r>
              <a:rPr lang="en-GB" sz="1200" u="sng">
                <a:solidFill>
                  <a:srgbClr val="0366D6"/>
                </a:solidFill>
                <a:hlinkClick r:id="rId6">
                  <a:extLst>
                    <a:ext uri="{A12FA001-AC4F-418D-AE19-62706E023703}">
                      <ahyp:hlinkClr val="tx"/>
                    </a:ext>
                  </a:extLst>
                </a:hlinkClick>
              </a:rPr>
              <a:t>MIDI synthesis</a:t>
            </a:r>
            <a:r>
              <a:rPr lang="en-GB" sz="1200">
                <a:solidFill>
                  <a:srgbClr val="24292E"/>
                </a:solidFill>
              </a:rPr>
              <a:t> capability and e.g. the accelerometer as a control mechanisms many musical instruments become possible.</a:t>
            </a:r>
            <a:endParaRPr sz="1200">
              <a:solidFill>
                <a:srgbClr val="24292E"/>
              </a:solidFill>
            </a:endParaRPr>
          </a:p>
          <a:p>
            <a:pPr indent="190500" lvl="0" marL="0" marR="38100" rtl="0" algn="l">
              <a:lnSpc>
                <a:spcPct val="100000"/>
              </a:lnSpc>
              <a:spcBef>
                <a:spcPts val="0"/>
              </a:spcBef>
              <a:spcAft>
                <a:spcPts val="0"/>
              </a:spcAft>
              <a:buClr>
                <a:schemeClr val="dk1"/>
              </a:buClr>
              <a:buSzPts val="1100"/>
              <a:buFont typeface="Arial"/>
              <a:buNone/>
            </a:pPr>
            <a:r>
              <a:rPr b="1" lang="en-GB" sz="1700">
                <a:solidFill>
                  <a:srgbClr val="24292E"/>
                </a:solidFill>
              </a:rPr>
              <a:t>Bedtime tracker</a:t>
            </a:r>
            <a:endParaRPr b="1" sz="1700">
              <a:solidFill>
                <a:srgbClr val="24292E"/>
              </a:solidFill>
            </a:endParaRPr>
          </a:p>
          <a:p>
            <a:pPr indent="0" lvl="0" marL="457200" rtl="0" algn="l">
              <a:spcBef>
                <a:spcPts val="0"/>
              </a:spcBef>
              <a:spcAft>
                <a:spcPts val="0"/>
              </a:spcAft>
              <a:buClr>
                <a:schemeClr val="dk1"/>
              </a:buClr>
              <a:buSzPts val="1100"/>
              <a:buFont typeface="Arial"/>
              <a:buNone/>
            </a:pPr>
            <a:r>
              <a:rPr lang="en-GB" sz="1200">
                <a:solidFill>
                  <a:srgbClr val="24292E"/>
                </a:solidFill>
              </a:rPr>
              <a:t>Eyes drooping? C programming not seeming quite as exciting as usual? Perhaps you should be getting more sleep :) How to track your screen-off shut-eye time and present the data back in an easy to interpret form?</a:t>
            </a:r>
            <a:endParaRPr sz="1200">
              <a:solidFill>
                <a:srgbClr val="24292E"/>
              </a:solidFill>
            </a:endParaRPr>
          </a:p>
          <a:p>
            <a:pPr indent="190500" lvl="0" marL="0" marR="38100" rtl="0" algn="l">
              <a:lnSpc>
                <a:spcPct val="100000"/>
              </a:lnSpc>
              <a:spcBef>
                <a:spcPts val="0"/>
              </a:spcBef>
              <a:spcAft>
                <a:spcPts val="0"/>
              </a:spcAft>
              <a:buClr>
                <a:schemeClr val="dk1"/>
              </a:buClr>
              <a:buSzPts val="1100"/>
              <a:buFont typeface="Arial"/>
              <a:buNone/>
            </a:pPr>
            <a:r>
              <a:rPr b="1" lang="en-GB" sz="1700">
                <a:solidFill>
                  <a:srgbClr val="24292E"/>
                </a:solidFill>
              </a:rPr>
              <a:t>Battleships game</a:t>
            </a:r>
            <a:endParaRPr b="1" sz="1700">
              <a:solidFill>
                <a:srgbClr val="24292E"/>
              </a:solidFill>
            </a:endParaRPr>
          </a:p>
          <a:p>
            <a:pPr indent="0" lvl="0" marL="457200" rtl="0" algn="l">
              <a:spcBef>
                <a:spcPts val="0"/>
              </a:spcBef>
              <a:spcAft>
                <a:spcPts val="0"/>
              </a:spcAft>
              <a:buClr>
                <a:schemeClr val="dk1"/>
              </a:buClr>
              <a:buSzPts val="1100"/>
              <a:buFont typeface="Arial"/>
              <a:buNone/>
            </a:pPr>
            <a:r>
              <a:rPr lang="en-GB" sz="1200">
                <a:solidFill>
                  <a:srgbClr val="24292E"/>
                </a:solidFill>
              </a:rPr>
              <a:t>This is a </a:t>
            </a:r>
            <a:r>
              <a:rPr lang="en-GB" sz="1200" u="sng">
                <a:solidFill>
                  <a:srgbClr val="0366D6"/>
                </a:solidFill>
                <a:hlinkClick r:id="rId7">
                  <a:extLst>
                    <a:ext uri="{A12FA001-AC4F-418D-AE19-62706E023703}">
                      <ahyp:hlinkClr val="tx"/>
                    </a:ext>
                  </a:extLst>
                </a:hlinkClick>
              </a:rPr>
              <a:t>popular game</a:t>
            </a:r>
            <a:r>
              <a:rPr lang="en-GB" sz="1200">
                <a:solidFill>
                  <a:srgbClr val="24292E"/>
                </a:solidFill>
              </a:rPr>
              <a:t> with simple UI requirements, perfect for a connected microcontroller like the ESP32.</a:t>
            </a:r>
            <a:endParaRPr sz="1200">
              <a:solidFill>
                <a:srgbClr val="24292E"/>
              </a:solidFill>
            </a:endParaRPr>
          </a:p>
          <a:p>
            <a:pPr indent="0" lvl="0" marL="0" rtl="0" algn="l">
              <a:spcBef>
                <a:spcPts val="0"/>
              </a:spcBef>
              <a:spcAft>
                <a:spcPts val="0"/>
              </a:spcAft>
              <a:buNone/>
            </a:pPr>
            <a:r>
              <a:t/>
            </a:r>
            <a:endParaRPr sz="1800"/>
          </a:p>
        </p:txBody>
      </p:sp>
      <p:sp>
        <p:nvSpPr>
          <p:cNvPr id="305" name="Google Shape;305;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Additional hardware: kit lists</a:t>
            </a:r>
            <a:endParaRPr/>
          </a:p>
        </p:txBody>
      </p:sp>
      <p:sp>
        <p:nvSpPr>
          <p:cNvPr id="311" name="Google Shape;311;p50"/>
          <p:cNvSpPr txBox="1"/>
          <p:nvPr>
            <p:ph idx="1" type="body"/>
          </p:nvPr>
        </p:nvSpPr>
        <p:spPr>
          <a:xfrm>
            <a:off x="540325" y="542875"/>
            <a:ext cx="2676900" cy="4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700">
                <a:solidFill>
                  <a:srgbClr val="24292E"/>
                </a:solidFill>
              </a:rPr>
              <a:t>unPhone projects with external components:</a:t>
            </a:r>
            <a:endParaRPr b="1"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unPhone expander board</a:t>
            </a:r>
            <a:endParaRPr sz="1700">
              <a:solidFill>
                <a:srgbClr val="24292E"/>
              </a:solidFill>
            </a:endParaRPr>
          </a:p>
          <a:p>
            <a:pPr indent="0" lvl="0" marL="0" rtl="0" algn="l">
              <a:spcBef>
                <a:spcPts val="0"/>
              </a:spcBef>
              <a:spcAft>
                <a:spcPts val="0"/>
              </a:spcAft>
              <a:buClr>
                <a:schemeClr val="dk1"/>
              </a:buClr>
              <a:buSzPts val="1100"/>
              <a:buFont typeface="Arial"/>
              <a:buNone/>
            </a:pPr>
            <a:r>
              <a:rPr b="1" lang="en-GB" sz="1700">
                <a:solidFill>
                  <a:srgbClr val="24292E"/>
                </a:solidFill>
              </a:rPr>
              <a:t>Dawn simulator:</a:t>
            </a:r>
            <a:endParaRPr b="1"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NeoPixel LEDs</a:t>
            </a:r>
            <a:endParaRPr sz="1700">
              <a:solidFill>
                <a:srgbClr val="24292E"/>
              </a:solidFill>
            </a:endParaRPr>
          </a:p>
          <a:p>
            <a:pPr indent="0" lvl="0" marL="0" rtl="0" algn="l">
              <a:spcBef>
                <a:spcPts val="0"/>
              </a:spcBef>
              <a:spcAft>
                <a:spcPts val="0"/>
              </a:spcAft>
              <a:buClr>
                <a:schemeClr val="dk1"/>
              </a:buClr>
              <a:buSzPts val="1100"/>
              <a:buFont typeface="Arial"/>
              <a:buNone/>
            </a:pPr>
            <a:r>
              <a:rPr b="1" lang="en-GB" sz="1700">
                <a:solidFill>
                  <a:srgbClr val="24292E"/>
                </a:solidFill>
              </a:rPr>
              <a:t>Home automation:</a:t>
            </a:r>
            <a:endParaRPr b="1"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433 MHz transmitter board</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mains socket switch</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30cm length of wire for arial</a:t>
            </a:r>
            <a:endParaRPr sz="1700">
              <a:solidFill>
                <a:srgbClr val="24292E"/>
              </a:solidFill>
            </a:endParaRPr>
          </a:p>
          <a:p>
            <a:pPr indent="0" lvl="0" marL="0" rtl="0" algn="l">
              <a:spcBef>
                <a:spcPts val="0"/>
              </a:spcBef>
              <a:spcAft>
                <a:spcPts val="0"/>
              </a:spcAft>
              <a:buClr>
                <a:schemeClr val="dk1"/>
              </a:buClr>
              <a:buSzPts val="1100"/>
              <a:buFont typeface="Arial"/>
              <a:buNone/>
            </a:pPr>
            <a:r>
              <a:rPr b="1" lang="en-GB" sz="1700">
                <a:solidFill>
                  <a:srgbClr val="24292E"/>
                </a:solidFill>
              </a:rPr>
              <a:t>Air Quality:</a:t>
            </a:r>
            <a:endParaRPr b="1"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Sharp dust sensor</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MQ-135 gas sensor</a:t>
            </a:r>
            <a:endParaRPr sz="1700">
              <a:solidFill>
                <a:srgbClr val="24292E"/>
              </a:solidFill>
            </a:endParaRPr>
          </a:p>
        </p:txBody>
      </p:sp>
      <p:sp>
        <p:nvSpPr>
          <p:cNvPr id="312" name="Google Shape;312;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13" name="Google Shape;313;p50"/>
          <p:cNvSpPr txBox="1"/>
          <p:nvPr>
            <p:ph idx="1" type="body"/>
          </p:nvPr>
        </p:nvSpPr>
        <p:spPr>
          <a:xfrm>
            <a:off x="3207325" y="542875"/>
            <a:ext cx="2676900" cy="4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700">
                <a:solidFill>
                  <a:srgbClr val="24292E"/>
                </a:solidFill>
              </a:rPr>
              <a:t>Air Quality contd.:</a:t>
            </a:r>
            <a:endParaRPr b="1"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AM2302 Humidity sensor</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5v boost power supply</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4x10k resistors</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2x3.3k resistors</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1x220R resistor</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1x220uF capacitor</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Dust sensor cable</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Breadboard</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Jumper cables</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2x pin headers</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Sticky tape</a:t>
            </a:r>
            <a:endParaRPr sz="1700">
              <a:solidFill>
                <a:srgbClr val="24292E"/>
              </a:solidFill>
            </a:endParaRPr>
          </a:p>
        </p:txBody>
      </p:sp>
      <p:sp>
        <p:nvSpPr>
          <p:cNvPr id="314" name="Google Shape;314;p50"/>
          <p:cNvSpPr txBox="1"/>
          <p:nvPr>
            <p:ph idx="1" type="body"/>
          </p:nvPr>
        </p:nvSpPr>
        <p:spPr>
          <a:xfrm>
            <a:off x="5645725" y="542875"/>
            <a:ext cx="2676900" cy="44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700">
                <a:solidFill>
                  <a:srgbClr val="24292E"/>
                </a:solidFill>
              </a:rPr>
              <a:t>Robot Car:</a:t>
            </a:r>
            <a:endParaRPr b="1"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Robot chassis and motor kit</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Motor driver feather</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Battery box</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4xAA batteries</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4xlong pin headers</a:t>
            </a:r>
            <a:endParaRPr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4 Sticky pads</a:t>
            </a:r>
            <a:endParaRPr sz="1700">
              <a:solidFill>
                <a:srgbClr val="24292E"/>
              </a:solidFill>
            </a:endParaRPr>
          </a:p>
          <a:p>
            <a:pPr indent="0" lvl="0" marL="0" rtl="0" algn="l">
              <a:spcBef>
                <a:spcPts val="0"/>
              </a:spcBef>
              <a:spcAft>
                <a:spcPts val="0"/>
              </a:spcAft>
              <a:buNone/>
            </a:pPr>
            <a:r>
              <a:t/>
            </a:r>
            <a:endParaRPr sz="1700">
              <a:solidFill>
                <a:srgbClr val="24292E"/>
              </a:solidFill>
            </a:endParaRPr>
          </a:p>
          <a:p>
            <a:pPr indent="0" lvl="0" marL="0" rtl="0" algn="l">
              <a:spcBef>
                <a:spcPts val="0"/>
              </a:spcBef>
              <a:spcAft>
                <a:spcPts val="0"/>
              </a:spcAft>
              <a:buNone/>
            </a:pPr>
            <a:r>
              <a:rPr b="1" lang="en-GB" sz="1700">
                <a:solidFill>
                  <a:srgbClr val="24292E"/>
                </a:solidFill>
              </a:rPr>
              <a:t>Others:</a:t>
            </a:r>
            <a:endParaRPr b="1" sz="1700">
              <a:solidFill>
                <a:srgbClr val="24292E"/>
              </a:solidFill>
            </a:endParaRPr>
          </a:p>
          <a:p>
            <a:pPr indent="-336550" lvl="0" marL="457200" rtl="0" algn="l">
              <a:spcBef>
                <a:spcPts val="0"/>
              </a:spcBef>
              <a:spcAft>
                <a:spcPts val="0"/>
              </a:spcAft>
              <a:buClr>
                <a:srgbClr val="24292E"/>
              </a:buClr>
              <a:buSzPts val="1700"/>
              <a:buChar char="●"/>
            </a:pPr>
            <a:r>
              <a:rPr lang="en-GB" sz="1700">
                <a:solidFill>
                  <a:srgbClr val="24292E"/>
                </a:solidFill>
              </a:rPr>
              <a:t>we have switches, LEDs, resistors, etc. — just ask</a:t>
            </a:r>
            <a:endParaRPr sz="1700">
              <a:solidFill>
                <a:srgbClr val="24292E"/>
              </a:solidFill>
            </a:endParaRPr>
          </a:p>
          <a:p>
            <a:pPr indent="0" lvl="0" marL="0" rtl="0" algn="l">
              <a:spcBef>
                <a:spcPts val="0"/>
              </a:spcBef>
              <a:spcAft>
                <a:spcPts val="0"/>
              </a:spcAft>
              <a:buNone/>
            </a:pPr>
            <a:r>
              <a:t/>
            </a:r>
            <a:endParaRPr sz="1700">
              <a:solidFill>
                <a:srgbClr val="24292E"/>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1"/>
          <p:cNvSpPr txBox="1"/>
          <p:nvPr>
            <p:ph type="title"/>
          </p:nvPr>
        </p:nvSpPr>
        <p:spPr>
          <a:xfrm>
            <a:off x="997500" y="420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4292E"/>
                </a:solidFill>
              </a:rPr>
              <a:t>Design, Build, Demo</a:t>
            </a:r>
            <a:endParaRPr/>
          </a:p>
        </p:txBody>
      </p:sp>
      <p:sp>
        <p:nvSpPr>
          <p:cNvPr id="320" name="Google Shape;320;p51"/>
          <p:cNvSpPr txBox="1"/>
          <p:nvPr>
            <p:ph idx="1" type="body"/>
          </p:nvPr>
        </p:nvSpPr>
        <p:spPr>
          <a:xfrm>
            <a:off x="311725" y="542875"/>
            <a:ext cx="816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solidFill>
                  <a:srgbClr val="24292E"/>
                </a:solidFill>
              </a:rPr>
              <a:t>When</a:t>
            </a:r>
            <a:r>
              <a:rPr lang="en-GB" sz="1800">
                <a:solidFill>
                  <a:srgbClr val="24292E"/>
                </a:solidFill>
              </a:rPr>
              <a:t> you've chosen a project you need to start:</a:t>
            </a:r>
            <a:endParaRPr sz="1800">
              <a:solidFill>
                <a:srgbClr val="24292E"/>
              </a:solidFill>
            </a:endParaRPr>
          </a:p>
          <a:p>
            <a:pPr indent="-342900" lvl="0" marL="457200" rtl="0" algn="l">
              <a:spcBef>
                <a:spcPts val="1200"/>
              </a:spcBef>
              <a:spcAft>
                <a:spcPts val="0"/>
              </a:spcAft>
              <a:buClr>
                <a:srgbClr val="24292E"/>
              </a:buClr>
              <a:buSzPts val="1800"/>
              <a:buChar char="●"/>
            </a:pPr>
            <a:r>
              <a:rPr lang="en-GB" sz="1800">
                <a:solidFill>
                  <a:srgbClr val="24292E"/>
                </a:solidFill>
              </a:rPr>
              <a:t>documenting your design</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building any extra hardware that is needed</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working on the firmware</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thinking about how you will test the project</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thinking about how you will demo the project</a:t>
            </a:r>
            <a:endParaRPr sz="1800">
              <a:solidFill>
                <a:srgbClr val="24292E"/>
              </a:solidFill>
            </a:endParaRPr>
          </a:p>
          <a:p>
            <a:pPr indent="0" lvl="0" marL="0" rtl="0" algn="l">
              <a:spcBef>
                <a:spcPts val="1200"/>
              </a:spcBef>
              <a:spcAft>
                <a:spcPts val="0"/>
              </a:spcAft>
              <a:buNone/>
            </a:pPr>
            <a:r>
              <a:t/>
            </a:r>
            <a:endParaRPr sz="1800">
              <a:solidFill>
                <a:srgbClr val="24292E"/>
              </a:solidFill>
            </a:endParaRPr>
          </a:p>
          <a:p>
            <a:pPr indent="0" lvl="0" marL="0" rtl="0" algn="l">
              <a:spcBef>
                <a:spcPts val="1200"/>
              </a:spcBef>
              <a:spcAft>
                <a:spcPts val="0"/>
              </a:spcAft>
              <a:buNone/>
            </a:pPr>
            <a:r>
              <a:rPr lang="en-GB" sz="1800">
                <a:solidFill>
                  <a:srgbClr val="24292E"/>
                </a:solidFill>
              </a:rPr>
              <a:t>This will form the qualitative (grading) element of your course assessment...</a:t>
            </a:r>
            <a:endParaRPr sz="1800">
              <a:solidFill>
                <a:srgbClr val="24292E"/>
              </a:solidFill>
            </a:endParaRPr>
          </a:p>
          <a:p>
            <a:pPr indent="0" lvl="0" marL="0" rtl="0" algn="l">
              <a:spcBef>
                <a:spcPts val="1200"/>
              </a:spcBef>
              <a:spcAft>
                <a:spcPts val="0"/>
              </a:spcAft>
              <a:buClr>
                <a:schemeClr val="dk1"/>
              </a:buClr>
              <a:buSzPts val="1100"/>
              <a:buFont typeface="Arial"/>
              <a:buNone/>
            </a:pPr>
            <a:r>
              <a:t/>
            </a:r>
            <a:endParaRPr sz="1800">
              <a:solidFill>
                <a:srgbClr val="24292E"/>
              </a:solidFill>
            </a:endParaRPr>
          </a:p>
          <a:p>
            <a:pPr indent="0" lvl="0" marL="0" rtl="0" algn="l">
              <a:spcBef>
                <a:spcPts val="1200"/>
              </a:spcBef>
              <a:spcAft>
                <a:spcPts val="0"/>
              </a:spcAft>
              <a:buClr>
                <a:schemeClr val="dk1"/>
              </a:buClr>
              <a:buSzPts val="1100"/>
              <a:buFont typeface="Arial"/>
              <a:buNone/>
            </a:pPr>
            <a:r>
              <a:t/>
            </a:r>
            <a:endParaRPr sz="1100"/>
          </a:p>
          <a:p>
            <a:pPr indent="0" lvl="0" marL="0" rtl="0" algn="l">
              <a:spcBef>
                <a:spcPts val="0"/>
              </a:spcBef>
              <a:spcAft>
                <a:spcPts val="0"/>
              </a:spcAft>
              <a:buNone/>
            </a:pPr>
            <a:r>
              <a:t/>
            </a:r>
            <a:endParaRPr sz="1800"/>
          </a:p>
        </p:txBody>
      </p:sp>
      <p:sp>
        <p:nvSpPr>
          <p:cNvPr id="321" name="Google Shape;321;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2"/>
          <p:cNvSpPr txBox="1"/>
          <p:nvPr>
            <p:ph type="title"/>
          </p:nvPr>
        </p:nvSpPr>
        <p:spPr>
          <a:xfrm>
            <a:off x="997500" y="420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4292E"/>
                </a:solidFill>
              </a:rPr>
              <a:t>LA2 (project) assessment</a:t>
            </a:r>
            <a:endParaRPr/>
          </a:p>
        </p:txBody>
      </p:sp>
      <p:sp>
        <p:nvSpPr>
          <p:cNvPr id="327" name="Google Shape;327;p52"/>
          <p:cNvSpPr txBox="1"/>
          <p:nvPr>
            <p:ph idx="1" type="body"/>
          </p:nvPr>
        </p:nvSpPr>
        <p:spPr>
          <a:xfrm>
            <a:off x="311725" y="542875"/>
            <a:ext cx="816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4292E"/>
              </a:buClr>
              <a:buSzPts val="1800"/>
              <a:buChar char="●"/>
            </a:pPr>
            <a:r>
              <a:rPr lang="en-GB" sz="1800">
                <a:solidFill>
                  <a:srgbClr val="24292E"/>
                </a:solidFill>
              </a:rPr>
              <a:t>This is an advanced course and the project assessment in particular is</a:t>
            </a:r>
            <a:endParaRPr sz="1800">
              <a:solidFill>
                <a:srgbClr val="24292E"/>
              </a:solidFill>
            </a:endParaRPr>
          </a:p>
          <a:p>
            <a:pPr indent="0" lvl="0" marL="457200" rtl="0" algn="l">
              <a:spcBef>
                <a:spcPts val="0"/>
              </a:spcBef>
              <a:spcAft>
                <a:spcPts val="0"/>
              </a:spcAft>
              <a:buNone/>
            </a:pPr>
            <a:r>
              <a:rPr lang="en-GB" sz="1800">
                <a:solidFill>
                  <a:srgbClr val="24292E"/>
                </a:solidFill>
              </a:rPr>
              <a:t>intentionally </a:t>
            </a:r>
            <a:r>
              <a:rPr b="1" lang="en-GB" sz="1800">
                <a:solidFill>
                  <a:srgbClr val="24292E"/>
                </a:solidFill>
              </a:rPr>
              <a:t>open-ended</a:t>
            </a:r>
            <a:r>
              <a:rPr lang="en-GB" sz="1800">
                <a:solidFill>
                  <a:srgbClr val="24292E"/>
                </a:solidFill>
              </a:rPr>
              <a:t>. There is no single right answer! (And almost certainly no perfect answer!)</a:t>
            </a:r>
            <a:endParaRPr sz="1800">
              <a:solidFill>
                <a:srgbClr val="24292E"/>
              </a:solidFill>
            </a:endParaRPr>
          </a:p>
          <a:p>
            <a:pPr indent="-342900" lvl="0" marL="457200" rtl="0" algn="l">
              <a:spcBef>
                <a:spcPts val="0"/>
              </a:spcBef>
              <a:spcAft>
                <a:spcPts val="0"/>
              </a:spcAft>
              <a:buClr>
                <a:srgbClr val="24292E"/>
              </a:buClr>
              <a:buSzPts val="1800"/>
              <a:buChar char="●"/>
            </a:pPr>
            <a:r>
              <a:rPr b="1" lang="en-GB" sz="1800">
                <a:solidFill>
                  <a:srgbClr val="24292E"/>
                </a:solidFill>
              </a:rPr>
              <a:t>Deadline</a:t>
            </a:r>
            <a:r>
              <a:rPr lang="en-GB" sz="1800">
                <a:solidFill>
                  <a:srgbClr val="24292E"/>
                </a:solidFill>
              </a:rPr>
              <a:t>. The Friday of week 12 at midday UK time.</a:t>
            </a:r>
            <a:endParaRPr sz="1800">
              <a:solidFill>
                <a:srgbClr val="24292E"/>
              </a:solidFill>
            </a:endParaRPr>
          </a:p>
          <a:p>
            <a:pPr indent="-342900" lvl="0" marL="457200" rtl="0" algn="l">
              <a:spcBef>
                <a:spcPts val="0"/>
              </a:spcBef>
              <a:spcAft>
                <a:spcPts val="0"/>
              </a:spcAft>
              <a:buClr>
                <a:srgbClr val="24292E"/>
              </a:buClr>
              <a:buSzPts val="1800"/>
              <a:buChar char="●"/>
            </a:pPr>
            <a:r>
              <a:rPr b="1" lang="en-GB" sz="1800">
                <a:solidFill>
                  <a:srgbClr val="24292E"/>
                </a:solidFill>
              </a:rPr>
              <a:t>Size</a:t>
            </a:r>
            <a:r>
              <a:rPr lang="en-GB" sz="1800">
                <a:solidFill>
                  <a:srgbClr val="24292E"/>
                </a:solidFill>
              </a:rPr>
              <a:t>. If you have spent e.g. 8 hours per week on the work so far, you should be able to achieve a good solution if you allocate a similar amount of time to the project </a:t>
            </a:r>
            <a:r>
              <a:rPr b="1" lang="en-GB" sz="1800">
                <a:solidFill>
                  <a:srgbClr val="24292E"/>
                </a:solidFill>
              </a:rPr>
              <a:t>each week</a:t>
            </a:r>
            <a:r>
              <a:rPr lang="en-GB" sz="1800">
                <a:solidFill>
                  <a:srgbClr val="24292E"/>
                </a:solidFill>
              </a:rPr>
              <a:t> until the end of the semester.</a:t>
            </a:r>
            <a:endParaRPr sz="1800">
              <a:solidFill>
                <a:srgbClr val="24292E"/>
              </a:solidFill>
            </a:endParaRPr>
          </a:p>
          <a:p>
            <a:pPr indent="-342900" lvl="0" marL="457200" rtl="0" algn="l">
              <a:spcBef>
                <a:spcPts val="0"/>
              </a:spcBef>
              <a:spcAft>
                <a:spcPts val="0"/>
              </a:spcAft>
              <a:buClr>
                <a:srgbClr val="24292E"/>
              </a:buClr>
              <a:buSzPts val="1800"/>
              <a:buChar char="●"/>
            </a:pPr>
            <a:r>
              <a:rPr b="1" lang="en-GB" sz="1800">
                <a:solidFill>
                  <a:srgbClr val="24292E"/>
                </a:solidFill>
              </a:rPr>
              <a:t>Marks</a:t>
            </a:r>
            <a:r>
              <a:rPr lang="en-GB" sz="1800">
                <a:solidFill>
                  <a:srgbClr val="24292E"/>
                </a:solidFill>
              </a:rPr>
              <a:t>. The assessment is marked out of 100 and contributes a possible</a:t>
            </a:r>
            <a:endParaRPr sz="1800">
              <a:solidFill>
                <a:srgbClr val="24292E"/>
              </a:solidFill>
            </a:endParaRPr>
          </a:p>
          <a:p>
            <a:pPr indent="0" lvl="0" marL="457200" rtl="0" algn="l">
              <a:spcBef>
                <a:spcPts val="0"/>
              </a:spcBef>
              <a:spcAft>
                <a:spcPts val="0"/>
              </a:spcAft>
              <a:buNone/>
            </a:pPr>
            <a:r>
              <a:rPr lang="en-GB" sz="1800">
                <a:solidFill>
                  <a:srgbClr val="24292E"/>
                </a:solidFill>
              </a:rPr>
              <a:t>maximum of 60 to your score for the course. LA1 and the exam are pass/fail threshold elements of your assessment; LA2 dictates your grade after passing the other two. It is possible to pass the course without completing LA2, in which case your mark will be 40.</a:t>
            </a:r>
            <a:endParaRPr sz="1800">
              <a:solidFill>
                <a:srgbClr val="24292E"/>
              </a:solidFill>
            </a:endParaRPr>
          </a:p>
          <a:p>
            <a:pPr indent="0" lvl="0" marL="0" rtl="0" algn="l">
              <a:spcBef>
                <a:spcPts val="0"/>
              </a:spcBef>
              <a:spcAft>
                <a:spcPts val="0"/>
              </a:spcAft>
              <a:buNone/>
            </a:pPr>
            <a:r>
              <a:t/>
            </a:r>
            <a:endParaRPr sz="1800">
              <a:solidFill>
                <a:srgbClr val="24292E"/>
              </a:solidFill>
            </a:endParaRPr>
          </a:p>
        </p:txBody>
      </p:sp>
      <p:sp>
        <p:nvSpPr>
          <p:cNvPr id="328" name="Google Shape;328;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3"/>
          <p:cNvSpPr txBox="1"/>
          <p:nvPr>
            <p:ph type="title"/>
          </p:nvPr>
        </p:nvSpPr>
        <p:spPr>
          <a:xfrm>
            <a:off x="997500" y="420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4292E"/>
                </a:solidFill>
              </a:rPr>
              <a:t>Projects: summary</a:t>
            </a:r>
            <a:endParaRPr/>
          </a:p>
        </p:txBody>
      </p:sp>
      <p:sp>
        <p:nvSpPr>
          <p:cNvPr id="334" name="Google Shape;334;p53"/>
          <p:cNvSpPr txBox="1"/>
          <p:nvPr>
            <p:ph idx="1" type="body"/>
          </p:nvPr>
        </p:nvSpPr>
        <p:spPr>
          <a:xfrm>
            <a:off x="311725" y="695275"/>
            <a:ext cx="816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4292E"/>
              </a:buClr>
              <a:buSzPts val="1800"/>
              <a:buChar char="●"/>
            </a:pPr>
            <a:r>
              <a:rPr lang="en-GB" sz="1800">
                <a:solidFill>
                  <a:srgbClr val="24292E"/>
                </a:solidFill>
              </a:rPr>
              <a:t>do something fun!</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do something to demo to other people later on</a:t>
            </a:r>
            <a:endParaRPr sz="1800">
              <a:solidFill>
                <a:srgbClr val="24292E"/>
              </a:solidFill>
            </a:endParaRPr>
          </a:p>
          <a:p>
            <a:pPr indent="-342900" lvl="0" marL="457200" rtl="0" algn="l">
              <a:spcBef>
                <a:spcPts val="0"/>
              </a:spcBef>
              <a:spcAft>
                <a:spcPts val="0"/>
              </a:spcAft>
              <a:buClr>
                <a:srgbClr val="24292E"/>
              </a:buClr>
              <a:buSzPts val="1800"/>
              <a:buChar char="●"/>
            </a:pPr>
            <a:r>
              <a:rPr lang="en-GB" sz="1800">
                <a:solidFill>
                  <a:srgbClr val="24292E"/>
                </a:solidFill>
              </a:rPr>
              <a:t>be creative!</a:t>
            </a:r>
            <a:endParaRPr sz="1800">
              <a:solidFill>
                <a:srgbClr val="24292E"/>
              </a:solidFill>
            </a:endParaRPr>
          </a:p>
          <a:p>
            <a:pPr indent="0" lvl="0" marL="0" rtl="0" algn="l">
              <a:spcBef>
                <a:spcPts val="0"/>
              </a:spcBef>
              <a:spcAft>
                <a:spcPts val="0"/>
              </a:spcAft>
              <a:buNone/>
            </a:pPr>
            <a:r>
              <a:t/>
            </a:r>
            <a:endParaRPr sz="1800">
              <a:solidFill>
                <a:srgbClr val="24292E"/>
              </a:solidFill>
            </a:endParaRPr>
          </a:p>
          <a:p>
            <a:pPr indent="0" lvl="0" marL="0" rtl="0" algn="l">
              <a:spcBef>
                <a:spcPts val="0"/>
              </a:spcBef>
              <a:spcAft>
                <a:spcPts val="0"/>
              </a:spcAft>
              <a:buNone/>
            </a:pPr>
            <a:r>
              <a:t/>
            </a:r>
            <a:endParaRPr sz="1800">
              <a:solidFill>
                <a:srgbClr val="24292E"/>
              </a:solidFill>
            </a:endParaRPr>
          </a:p>
          <a:p>
            <a:pPr indent="0" lvl="0" marL="0" rtl="0" algn="l">
              <a:spcBef>
                <a:spcPts val="0"/>
              </a:spcBef>
              <a:spcAft>
                <a:spcPts val="0"/>
              </a:spcAft>
              <a:buNone/>
            </a:pPr>
            <a:r>
              <a:t/>
            </a:r>
            <a:endParaRPr sz="1800">
              <a:solidFill>
                <a:srgbClr val="24292E"/>
              </a:solidFill>
            </a:endParaRPr>
          </a:p>
          <a:p>
            <a:pPr indent="0" lvl="0" marL="0" rtl="0" algn="l">
              <a:spcBef>
                <a:spcPts val="0"/>
              </a:spcBef>
              <a:spcAft>
                <a:spcPts val="0"/>
              </a:spcAft>
              <a:buNone/>
            </a:pPr>
            <a:r>
              <a:t/>
            </a:r>
            <a:endParaRPr sz="1800">
              <a:solidFill>
                <a:srgbClr val="24292E"/>
              </a:solidFill>
            </a:endParaRPr>
          </a:p>
          <a:p>
            <a:pPr indent="0" lvl="0" marL="0" rtl="0" algn="l">
              <a:spcBef>
                <a:spcPts val="0"/>
              </a:spcBef>
              <a:spcAft>
                <a:spcPts val="0"/>
              </a:spcAft>
              <a:buNone/>
            </a:pPr>
            <a:r>
              <a:t/>
            </a:r>
            <a:endParaRPr sz="1800">
              <a:solidFill>
                <a:srgbClr val="24292E"/>
              </a:solidFill>
            </a:endParaRPr>
          </a:p>
          <a:p>
            <a:pPr indent="0" lvl="0" marL="0" rtl="0" algn="l">
              <a:spcBef>
                <a:spcPts val="0"/>
              </a:spcBef>
              <a:spcAft>
                <a:spcPts val="0"/>
              </a:spcAft>
              <a:buNone/>
            </a:pPr>
            <a:r>
              <a:t/>
            </a:r>
            <a:endParaRPr sz="1800">
              <a:solidFill>
                <a:srgbClr val="24292E"/>
              </a:solidFill>
            </a:endParaRPr>
          </a:p>
          <a:p>
            <a:pPr indent="0" lvl="0" marL="0" rtl="0" algn="l">
              <a:spcBef>
                <a:spcPts val="0"/>
              </a:spcBef>
              <a:spcAft>
                <a:spcPts val="0"/>
              </a:spcAft>
              <a:buNone/>
            </a:pPr>
            <a:r>
              <a:t/>
            </a:r>
            <a:endParaRPr sz="1800"/>
          </a:p>
        </p:txBody>
      </p:sp>
      <p:sp>
        <p:nvSpPr>
          <p:cNvPr id="335" name="Google Shape;335;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
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E27F06-71F9-44A9-A020-4788B1561A79}">
  <a:tblStyle styleId="{EFE27F06-71F9-44A9-A020-4788B1561A7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77f238f2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77f238f2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c1efa111d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c1efa111d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1efa111d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1efa111d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421465ae2_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421465ae2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Sits at the intersection of embedded systems (IoT devices) and ML algorithms.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You already take TinyML for granted. When you say Okay Google, Alexa, or Hey Siri. Your voice gets converted into machine signals by algorithms running so efficiently that can continuously listen to your voice until it recognises those keywords.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But that is just the top of the iceberg. TinyML has many useful applications.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34c2cbbde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34c2cbbde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34c2cbbde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c34c2cbbde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&lt;Interaction&gt; Can anyone tell me why we would want to run ML at the edge?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energy consuming tasks (physically vibrating an antenna to communication bits through the air vs just moving some electrons around in metal and silicon).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c34c2cbbde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c34c2cbbde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Big</a:t>
            </a:r>
            <a:endParaRPr/>
          </a:p>
          <a:p>
            <a:pPr indent="0" lvl="0" marL="0" rtl="0" algn="l">
              <a:spcBef>
                <a:spcPts val="0"/>
              </a:spcBef>
              <a:spcAft>
                <a:spcPts val="0"/>
              </a:spcAft>
              <a:buNone/>
            </a:pPr>
            <a:r>
              <a:rPr lang="en-GB"/>
              <a:t>Small</a:t>
            </a:r>
            <a:endParaRPr/>
          </a:p>
          <a:p>
            <a:pPr indent="0" lvl="0" marL="0" rtl="0" algn="l">
              <a:spcBef>
                <a:spcPts val="0"/>
              </a:spcBef>
              <a:spcAft>
                <a:spcPts val="0"/>
              </a:spcAft>
              <a:buNone/>
            </a:pPr>
            <a:r>
              <a:rPr lang="en-GB"/>
              <a:t>Tiny</a:t>
            </a:r>
            <a:endParaRPr/>
          </a:p>
          <a:p>
            <a:pPr indent="0" lvl="0" marL="0" rtl="0" algn="l">
              <a:spcBef>
                <a:spcPts val="0"/>
              </a:spcBef>
              <a:spcAft>
                <a:spcPts val="0"/>
              </a:spcAft>
              <a:buNone/>
            </a:pPr>
            <a:r>
              <a:rPr lang="en-GB"/>
              <a:t>Consume power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34c2cbbde_1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34c2cbbde_1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number of devices is currently in the billions and we are expecting to reach the trillion mark of small computing devices. They are ubiquitous and they will continue to be introduced in more and more devices.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34c2cbbde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34c2cbbde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Machines are prone to failures. Early detection of failures will give enough time to order the spare parts and service the equipment with minimal stall to the production line. This predictive maintenance can lead to significant cost savings for wind turbines for instance.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Ping Services, an Australian startup, introduced the IoT device that autonomously monitors wind turbines by magnetically attaching to the outside of the turbine and analyzing detailed data at the edge.</a:t>
            </a:r>
            <a:endParaRPr/>
          </a:p>
          <a:p>
            <a:pPr indent="0" lvl="0" marL="0" rtl="0" algn="l">
              <a:spcBef>
                <a:spcPts val="0"/>
              </a:spcBef>
              <a:spcAft>
                <a:spcPts val="0"/>
              </a:spcAft>
              <a:buClr>
                <a:schemeClr val="dk1"/>
              </a:buClr>
              <a:buSzPts val="1100"/>
              <a:buFont typeface="Arial"/>
              <a:buNone/>
            </a:pPr>
            <a:r>
              <a:rPr lang="en-GB"/>
              <a:t>Amazon with their AWS have an integrated service just for this task - Amazon Monitron Sensors. They still rely on the cloud for ML analysis.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Solar Scare Mosquito project uses TinyML to curb the spread of mosquito-borne diseases like Dengue, Malaria, Zika Virus, Chikungunya, etc. It works by detecting the mosquito breeding conditions and agitates the water to prevent mosquito breeding. It runs on solar power and can thus run indefinitely.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Medtronic Micra - Adjusts your heart rate automatically, by sensing changes in your body related to your activity level and adjusting your heart rate accordingly.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Any device that you can think of can be enabled with sensors to generate some sort of data and with ML you can make decisions locally. Can you think of any other applications that we could see in the future? </a:t>
            </a:r>
            <a:r>
              <a:rPr b="1" lang="en-GB"/>
              <a:t>2 minutes</a:t>
            </a:r>
            <a:r>
              <a:rPr lang="en-GB"/>
              <a:t> to generate some ideas.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c34c2cbbde_1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c34c2cbbde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https://jamboard.google.com/d/1u1M35eNfZmHlMnArzAEAJEyDhuMJ7vR4jb0ZbofiWq0/edit?usp=sharing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c34c2cbbde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c34c2cbbde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c34c2cbbde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c34c2cbbde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c34c2cbbde_1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c34c2cbbde_1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c34c2cbbde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c34c2cbbde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energy consuming tasks (physically vibrating an antenna to communication bits through the air vs just moving some electrons around in metal and silicon).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c34c2cbbde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c34c2cbbde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Complex tasks such as image classification, image segmentation, on images or audio recognition require more robust classification methods. Deep </a:t>
            </a:r>
            <a:r>
              <a:rPr lang="en-GB"/>
              <a:t>learning</a:t>
            </a:r>
            <a:r>
              <a:rPr lang="en-GB"/>
              <a:t> can bridge that complexity.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c34c2cbbde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c34c2cbbde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c34c2cbbde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c34c2cbbde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c34c2cbbde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c34c2cbbde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c34c2cbbde_1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c34c2cbbde_1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parameters determine the current solution.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c34c2cbbde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c34c2cbbde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energy consuming tasks (physically vibrating an antenna to communication bits through the air vs just moving some electrons around in metal and silicon).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c9553f50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c9553f50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c34c2cbbde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c34c2cbbde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c34c2cbbde_1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c34c2cbbde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c34c2cbbde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c34c2cbbde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c34c2cbbde_1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c34c2cbbde_1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a:t>
            </a:r>
            <a:r>
              <a:rPr lang="en-GB"/>
              <a:t>t simulates quantization effects in the forward pass of training. Backpropagation still happens as usual, and all weights and biases are stored in floating point so that they can be easily nudged by small amounts.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c34c2cbbde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c34c2cbbde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c34c2cbbde_1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c34c2cbbde_1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c34c2cbbde_1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c34c2cbbde_1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c34c2cbbde_1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c34c2cbbde_1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c34c2cbbde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c34c2cbbde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Numpy</a:t>
            </a:r>
            <a:r>
              <a:rPr lang="en-GB">
                <a:solidFill>
                  <a:schemeClr val="dk1"/>
                </a:solidFill>
              </a:rPr>
              <a:t> - python library for large multi-dimensional array and matrix processing and math functions (linear algebra, Fourier transform, and random number capabilities). Used by other higher level libraries like tensorflow for tensor manipulation.</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Scipy</a:t>
            </a:r>
            <a:r>
              <a:rPr lang="en-GB">
                <a:solidFill>
                  <a:schemeClr val="dk1"/>
                </a:solidFill>
              </a:rPr>
              <a:t> - contains different modules for optimization, linear algebra, integration and statistics, image manipulation, </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Sk-learn</a:t>
            </a:r>
            <a:r>
              <a:rPr lang="en-GB">
                <a:solidFill>
                  <a:schemeClr val="dk1"/>
                </a:solidFill>
              </a:rPr>
              <a:t> - supports most of the supervised (decision tree, bayesian classifiers, and even neural networks) and unsupervised learning algorithms. Uses numpy and scipy libraries for efficient manipulation of data. This is also used for data mining and data analytics (plotting your data distribution, skewness, dimensionality reduction).</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Theano</a:t>
            </a:r>
            <a:r>
              <a:rPr lang="en-GB">
                <a:solidFill>
                  <a:schemeClr val="dk1"/>
                </a:solidFill>
              </a:rPr>
              <a:t> - used to define, evaluate and optimize mathematical expressions involving multi-dimensional arrays in an efficient manner. It is achieved by optimizing the utilization of CPU and GPU.</a:t>
            </a:r>
            <a:endParaRPr>
              <a:solidFill>
                <a:schemeClr val="dk1"/>
              </a:solidFill>
            </a:endParaRPr>
          </a:p>
          <a:p>
            <a:pPr indent="0" lvl="0" marL="0" rtl="0" algn="l">
              <a:spcBef>
                <a:spcPts val="0"/>
              </a:spcBef>
              <a:spcAft>
                <a:spcPts val="0"/>
              </a:spcAft>
              <a:buNone/>
            </a:pPr>
            <a:r>
              <a:rPr b="1" lang="en-GB">
                <a:solidFill>
                  <a:schemeClr val="dk1"/>
                </a:solidFill>
              </a:rPr>
              <a:t>Pytorch</a:t>
            </a:r>
            <a:r>
              <a:rPr lang="en-GB">
                <a:solidFill>
                  <a:schemeClr val="dk1"/>
                </a:solidFill>
              </a:rPr>
              <a:t> - an open source ML framework optimised for deep neural networks (a large number of layer types). Not many people know that it is actually implemented in C, that’s why it is so efficient in performing very large matrix multiplications.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c34c2cbbde_1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c34c2cbbde_1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c34c2cbbde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c34c2cbbde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energy consuming tasks (physically vibrating an antenna to communication bits through the air vs just moving some electrons around in metal and silicon).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c6ed017dd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c6ed017dd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Char char="●"/>
              <a:defRPr sz="14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4"/>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4"/>
          <p:cNvSpPr txBox="1"/>
          <p:nvPr>
            <p:ph type="title"/>
          </p:nvPr>
        </p:nvSpPr>
        <p:spPr>
          <a:xfrm>
            <a:off x="628650" y="273844"/>
            <a:ext cx="7886700" cy="994200"/>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dk1"/>
              </a:buClr>
              <a:buSzPts val="2800"/>
              <a:buFont typeface="Calibri"/>
              <a:buNone/>
              <a:defRPr b="0" i="0" sz="3300" u="none" cap="none" strike="noStrike">
                <a:solidFill>
                  <a:schemeClr val="dk1"/>
                </a:solidFill>
                <a:latin typeface="Calibri"/>
                <a:ea typeface="Calibri"/>
                <a:cs typeface="Calibri"/>
                <a:sym typeface="Calibri"/>
              </a:defRPr>
            </a:lvl1pPr>
            <a:lvl2pPr indent="0" lvl="1" rtl="0">
              <a:spcBef>
                <a:spcPts val="0"/>
              </a:spcBef>
              <a:spcAft>
                <a:spcPts val="0"/>
              </a:spcAft>
              <a:buSzPts val="2800"/>
              <a:buNone/>
              <a:defRPr sz="1400"/>
            </a:lvl2pPr>
            <a:lvl3pPr indent="0" lvl="2" rtl="0">
              <a:spcBef>
                <a:spcPts val="0"/>
              </a:spcBef>
              <a:spcAft>
                <a:spcPts val="0"/>
              </a:spcAft>
              <a:buSzPts val="2800"/>
              <a:buNone/>
              <a:defRPr sz="1400"/>
            </a:lvl3pPr>
            <a:lvl4pPr indent="0" lvl="3" rtl="0">
              <a:spcBef>
                <a:spcPts val="0"/>
              </a:spcBef>
              <a:spcAft>
                <a:spcPts val="0"/>
              </a:spcAft>
              <a:buSzPts val="2800"/>
              <a:buNone/>
              <a:defRPr sz="1400"/>
            </a:lvl4pPr>
            <a:lvl5pPr indent="0" lvl="4" rtl="0">
              <a:spcBef>
                <a:spcPts val="0"/>
              </a:spcBef>
              <a:spcAft>
                <a:spcPts val="0"/>
              </a:spcAft>
              <a:buSzPts val="2800"/>
              <a:buNone/>
              <a:defRPr sz="1400"/>
            </a:lvl5pPr>
            <a:lvl6pPr indent="0" lvl="5" rtl="0">
              <a:spcBef>
                <a:spcPts val="0"/>
              </a:spcBef>
              <a:spcAft>
                <a:spcPts val="0"/>
              </a:spcAft>
              <a:buSzPts val="2800"/>
              <a:buNone/>
              <a:defRPr sz="1400"/>
            </a:lvl6pPr>
            <a:lvl7pPr indent="0" lvl="6" rtl="0">
              <a:spcBef>
                <a:spcPts val="0"/>
              </a:spcBef>
              <a:spcAft>
                <a:spcPts val="0"/>
              </a:spcAft>
              <a:buSzPts val="2800"/>
              <a:buNone/>
              <a:defRPr sz="1400"/>
            </a:lvl7pPr>
            <a:lvl8pPr indent="0" lvl="7" rtl="0">
              <a:spcBef>
                <a:spcPts val="0"/>
              </a:spcBef>
              <a:spcAft>
                <a:spcPts val="0"/>
              </a:spcAft>
              <a:buSzPts val="2800"/>
              <a:buNone/>
              <a:defRPr sz="1400"/>
            </a:lvl8pPr>
            <a:lvl9pPr indent="0" lvl="8" rtl="0">
              <a:spcBef>
                <a:spcPts val="0"/>
              </a:spcBef>
              <a:spcAft>
                <a:spcPts val="0"/>
              </a:spcAft>
              <a:buSzPts val="2800"/>
              <a:buNone/>
              <a:defRPr sz="1400"/>
            </a:lvl9pPr>
          </a:lstStyle>
          <a:p/>
        </p:txBody>
      </p:sp>
      <p:sp>
        <p:nvSpPr>
          <p:cNvPr id="60" name="Google Shape;60;p14"/>
          <p:cNvSpPr txBox="1"/>
          <p:nvPr>
            <p:ph idx="1" type="body"/>
          </p:nvPr>
        </p:nvSpPr>
        <p:spPr>
          <a:xfrm>
            <a:off x="628650" y="1369219"/>
            <a:ext cx="7886700" cy="3263400"/>
          </a:xfrm>
          <a:prstGeom prst="rect">
            <a:avLst/>
          </a:prstGeom>
          <a:noFill/>
          <a:ln>
            <a:noFill/>
          </a:ln>
        </p:spPr>
        <p:txBody>
          <a:bodyPr anchorCtr="0" anchor="t" bIns="91425" lIns="91425" spcFirstLastPara="1" rIns="91425" wrap="square" tIns="9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16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1600"/>
              </a:spcBef>
              <a:spcAft>
                <a:spcPts val="16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14"/>
          <p:cNvSpPr txBox="1"/>
          <p:nvPr>
            <p:ph idx="10" type="dt"/>
          </p:nvPr>
        </p:nvSpPr>
        <p:spPr>
          <a:xfrm>
            <a:off x="628650" y="4767263"/>
            <a:ext cx="2057400" cy="2739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62" name="Google Shape;62;p14"/>
          <p:cNvSpPr txBox="1"/>
          <p:nvPr>
            <p:ph idx="11" type="ftr"/>
          </p:nvPr>
        </p:nvSpPr>
        <p:spPr>
          <a:xfrm>
            <a:off x="3028950" y="4767263"/>
            <a:ext cx="3086100" cy="2739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63" name="Google Shape;63;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4" name="Shape 64"/>
        <p:cNvGrpSpPr/>
        <p:nvPr/>
      </p:nvGrpSpPr>
      <p:grpSpPr>
        <a:xfrm>
          <a:off x="0" y="0"/>
          <a:ext cx="0" cy="0"/>
          <a:chOff x="0" y="0"/>
          <a:chExt cx="0" cy="0"/>
        </a:xfrm>
      </p:grpSpPr>
      <p:sp>
        <p:nvSpPr>
          <p:cNvPr id="65" name="Google Shape;65;p15"/>
          <p:cNvSpPr txBox="1"/>
          <p:nvPr>
            <p:ph type="title"/>
          </p:nvPr>
        </p:nvSpPr>
        <p:spPr>
          <a:xfrm>
            <a:off x="311700" y="456613"/>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5"/>
          <p:cNvSpPr txBox="1"/>
          <p:nvPr>
            <p:ph idx="1" type="body"/>
          </p:nvPr>
        </p:nvSpPr>
        <p:spPr>
          <a:xfrm>
            <a:off x="311700" y="114302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6" Type="http://schemas.openxmlformats.org/officeDocument/2006/relationships/slideLayout" Target="../slideLayouts/slideLayout3.xml"/><Relationship Id="rId18" Type="http://schemas.openxmlformats.org/officeDocument/2006/relationships/theme" Target="../theme/theme1.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usfd-logo-fred-350x138.png" id="10" name="Google Shape;10;p1"/>
          <p:cNvPicPr preferRelativeResize="0"/>
          <p:nvPr/>
        </p:nvPicPr>
        <p:blipFill>
          <a:blip r:embed="rId1">
            <a:alphaModFix/>
          </a:blip>
          <a:stretch>
            <a:fillRect/>
          </a:stretch>
        </p:blipFill>
        <p:spPr>
          <a:xfrm>
            <a:off x="76197" y="73575"/>
            <a:ext cx="1111675" cy="439575"/>
          </a:xfrm>
          <a:prstGeom prst="rect">
            <a:avLst/>
          </a:prstGeom>
          <a:noFill/>
          <a:ln>
            <a:noFill/>
          </a:ln>
        </p:spPr>
      </p:pic>
      <p:pic>
        <p:nvPicPr>
          <p:cNvPr descr="625px-Internet_of_Things.jpg" id="11" name="Google Shape;11;p1"/>
          <p:cNvPicPr preferRelativeResize="0"/>
          <p:nvPr/>
        </p:nvPicPr>
        <p:blipFill>
          <a:blip r:embed="rId2">
            <a:alphaModFix/>
          </a:blip>
          <a:stretch>
            <a:fillRect/>
          </a:stretch>
        </p:blipFill>
        <p:spPr>
          <a:xfrm>
            <a:off x="8362825" y="73579"/>
            <a:ext cx="691500" cy="663842"/>
          </a:xfrm>
          <a:prstGeom prst="rect">
            <a:avLst/>
          </a:prstGeom>
          <a:noFill/>
          <a:ln>
            <a:noFill/>
          </a:ln>
        </p:spPr>
      </p:pic>
      <p:pic>
        <p:nvPicPr>
          <p:cNvPr descr="esp32-feather.jpg" id="12" name="Google Shape;12;p1"/>
          <p:cNvPicPr preferRelativeResize="0"/>
          <p:nvPr/>
        </p:nvPicPr>
        <p:blipFill>
          <a:blip r:embed="rId3">
            <a:alphaModFix/>
          </a:blip>
          <a:stretch>
            <a:fillRect/>
          </a:stretch>
        </p:blipFill>
        <p:spPr>
          <a:xfrm>
            <a:off x="76985" y="4540237"/>
            <a:ext cx="521324" cy="520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16.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6.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jamboard.google.com/d/1u1M35eNfZmHlMnArzAEAJEyDhuMJ7vR4jb0ZbofiWq0/edit?usp=sha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6.png"/><Relationship Id="rId5"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0.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hyperlink" Target="https://arxiv.org/abs/1712.05877" TargetMode="Externa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37.png"/><Relationship Id="rId5" Type="http://schemas.openxmlformats.org/officeDocument/2006/relationships/image" Target="../media/image32.png"/><Relationship Id="rId6"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s://colab.research.google.com/github/tinyMLx/colabs/blob/master/3-5-18-TrainingKeywordSpotting.ipyn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1" type="subTitle"/>
          </p:nvPr>
        </p:nvSpPr>
        <p:spPr>
          <a:xfrm>
            <a:off x="1627650" y="2834125"/>
            <a:ext cx="58887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GB"/>
              <a:t>COM3505, Lecture 6</a:t>
            </a:r>
            <a:endParaRPr/>
          </a:p>
          <a:p>
            <a:pPr indent="0" lvl="0" marL="0" rtl="0" algn="ctr">
              <a:spcBef>
                <a:spcPts val="0"/>
              </a:spcBef>
              <a:spcAft>
                <a:spcPts val="0"/>
              </a:spcAft>
              <a:buNone/>
            </a:pPr>
            <a:r>
              <a:rPr lang="en-GB"/>
              <a:t>Dr Valentin Radu</a:t>
            </a:r>
            <a:endParaRPr/>
          </a:p>
        </p:txBody>
      </p:sp>
      <p:sp>
        <p:nvSpPr>
          <p:cNvPr id="72" name="Google Shape;72;p16"/>
          <p:cNvSpPr txBox="1"/>
          <p:nvPr>
            <p:ph type="ctrTitle"/>
          </p:nvPr>
        </p:nvSpPr>
        <p:spPr>
          <a:xfrm>
            <a:off x="235508" y="10023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4800"/>
              <a:t>Machine Learning and </a:t>
            </a:r>
            <a:endParaRPr sz="4800"/>
          </a:p>
          <a:p>
            <a:pPr indent="0" lvl="0" marL="0" rtl="0" algn="ctr">
              <a:spcBef>
                <a:spcPts val="0"/>
              </a:spcBef>
              <a:spcAft>
                <a:spcPts val="0"/>
              </a:spcAft>
              <a:buNone/>
            </a:pPr>
            <a:r>
              <a:rPr lang="en-GB" sz="4800"/>
              <a:t>Data Analytics for IoT</a:t>
            </a:r>
            <a:endParaRPr sz="4800"/>
          </a:p>
          <a:p>
            <a:pPr indent="0" lvl="0" marL="0" rtl="0" algn="ctr">
              <a:spcBef>
                <a:spcPts val="0"/>
              </a:spcBef>
              <a:spcAft>
                <a:spcPts val="0"/>
              </a:spcAft>
              <a:buClr>
                <a:schemeClr val="dk1"/>
              </a:buClr>
              <a:buSzPts val="1100"/>
              <a:buFont typeface="Arial"/>
              <a:buNone/>
            </a:pPr>
            <a:r>
              <a:rPr lang="en-GB" sz="4800"/>
              <a:t>— KK-FF-WA</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90775" y="563875"/>
            <a:ext cx="52743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Lab Assessment 1 will be published this Friday (March 15th) for submission on Friday 22nd of March</a:t>
            </a:r>
            <a:endParaRPr sz="1800"/>
          </a:p>
          <a:p>
            <a:pPr indent="-342900" lvl="0" marL="457200" rtl="0" algn="l">
              <a:spcBef>
                <a:spcPts val="0"/>
              </a:spcBef>
              <a:spcAft>
                <a:spcPts val="0"/>
              </a:spcAft>
              <a:buSzPts val="1800"/>
              <a:buChar char="●"/>
            </a:pPr>
            <a:r>
              <a:rPr lang="en-GB" sz="1800"/>
              <a:t>the mock exam will be </a:t>
            </a:r>
            <a:r>
              <a:rPr lang="en-GB" sz="1800"/>
              <a:t>available</a:t>
            </a:r>
            <a:r>
              <a:rPr lang="en-GB" sz="1800"/>
              <a:t> in week 9 or 10</a:t>
            </a:r>
            <a:endParaRPr sz="1800"/>
          </a:p>
          <a:p>
            <a:pPr indent="-342900" lvl="0" marL="457200" rtl="0" algn="l">
              <a:spcBef>
                <a:spcPts val="0"/>
              </a:spcBef>
              <a:spcAft>
                <a:spcPts val="0"/>
              </a:spcAft>
              <a:buSzPts val="1800"/>
              <a:buChar char="●"/>
            </a:pPr>
            <a:r>
              <a:rPr lang="en-GB" sz="1800"/>
              <a:t>the project specification will be previewed next week for </a:t>
            </a:r>
            <a:r>
              <a:rPr lang="en-GB" sz="1800"/>
              <a:t>submission</a:t>
            </a:r>
            <a:r>
              <a:rPr lang="en-GB" sz="1800"/>
              <a:t> in week 12</a:t>
            </a:r>
            <a:endParaRPr sz="1800"/>
          </a:p>
          <a:p>
            <a:pPr indent="0" lvl="0" marL="0" rtl="0" algn="l">
              <a:spcBef>
                <a:spcPts val="0"/>
              </a:spcBef>
              <a:spcAft>
                <a:spcPts val="0"/>
              </a:spcAft>
              <a:buNone/>
            </a:pPr>
            <a:r>
              <a:rPr lang="en-GB" sz="1800"/>
              <a:t>Reminder of how the assessments work:</a:t>
            </a:r>
            <a:endParaRPr sz="1800"/>
          </a:p>
          <a:p>
            <a:pPr indent="-342900" lvl="0" marL="457200" rtl="0" algn="l">
              <a:spcBef>
                <a:spcPts val="0"/>
              </a:spcBef>
              <a:spcAft>
                <a:spcPts val="0"/>
              </a:spcAft>
              <a:buSzPts val="1800"/>
              <a:buChar char="●"/>
            </a:pPr>
            <a:r>
              <a:rPr b="1" lang="en-GB" sz="1800"/>
              <a:t>LA1</a:t>
            </a:r>
            <a:r>
              <a:rPr lang="en-GB" sz="1800"/>
              <a:t> and </a:t>
            </a:r>
            <a:r>
              <a:rPr b="1" lang="en-GB" sz="1800"/>
              <a:t>the exam</a:t>
            </a:r>
            <a:r>
              <a:rPr lang="en-GB" sz="1800"/>
              <a:t> are </a:t>
            </a:r>
            <a:r>
              <a:rPr b="1" lang="en-GB" sz="1800"/>
              <a:t>pass/fail</a:t>
            </a:r>
            <a:endParaRPr b="1" sz="1800"/>
          </a:p>
          <a:p>
            <a:pPr indent="-342900" lvl="0" marL="457200" rtl="0" algn="l">
              <a:spcBef>
                <a:spcPts val="0"/>
              </a:spcBef>
              <a:spcAft>
                <a:spcPts val="0"/>
              </a:spcAft>
              <a:buSzPts val="1800"/>
              <a:buChar char="●"/>
            </a:pPr>
            <a:r>
              <a:rPr lang="en-GB" sz="1800"/>
              <a:t>you </a:t>
            </a:r>
            <a:r>
              <a:rPr b="1" lang="en-GB" sz="1800"/>
              <a:t>must pass both</a:t>
            </a:r>
            <a:r>
              <a:rPr lang="en-GB" sz="1800"/>
              <a:t>, and this gives you 40% for the course</a:t>
            </a:r>
            <a:endParaRPr sz="1800"/>
          </a:p>
          <a:p>
            <a:pPr indent="-342900" lvl="0" marL="457200" rtl="0" algn="l">
              <a:spcBef>
                <a:spcPts val="0"/>
              </a:spcBef>
              <a:spcAft>
                <a:spcPts val="0"/>
              </a:spcAft>
              <a:buSzPts val="1800"/>
              <a:buChar char="●"/>
            </a:pPr>
            <a:r>
              <a:rPr lang="en-GB" sz="1800"/>
              <a:t>the rest of the marks are given on the basis of </a:t>
            </a:r>
            <a:r>
              <a:rPr lang="en-GB" sz="1800"/>
              <a:t>qualitative assessment of </a:t>
            </a:r>
            <a:r>
              <a:rPr b="1" lang="en-GB" sz="1800"/>
              <a:t>the project (LA2, due end of semester)</a:t>
            </a:r>
            <a:endParaRPr b="1" sz="1800"/>
          </a:p>
          <a:p>
            <a:pPr indent="0" lvl="0" marL="0" rtl="0" algn="l">
              <a:spcBef>
                <a:spcPts val="0"/>
              </a:spcBef>
              <a:spcAft>
                <a:spcPts val="0"/>
              </a:spcAft>
              <a:buNone/>
            </a:pPr>
            <a:r>
              <a:t/>
            </a:r>
            <a:endParaRPr sz="1800"/>
          </a:p>
        </p:txBody>
      </p:sp>
      <p:sp>
        <p:nvSpPr>
          <p:cNvPr id="78" name="Google Shape;78;p17"/>
          <p:cNvSpPr txBox="1"/>
          <p:nvPr>
            <p:ph type="title"/>
          </p:nvPr>
        </p:nvSpPr>
        <p:spPr>
          <a:xfrm>
            <a:off x="1065050" y="-850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Assessments: LA1, the mock exam</a:t>
            </a:r>
            <a:endParaRPr/>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 name="Google Shape;80;p17"/>
          <p:cNvSpPr txBox="1"/>
          <p:nvPr/>
        </p:nvSpPr>
        <p:spPr>
          <a:xfrm>
            <a:off x="5049900" y="301450"/>
            <a:ext cx="4141200" cy="4922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GB" sz="1800">
                <a:solidFill>
                  <a:schemeClr val="dk1"/>
                </a:solidFill>
              </a:rPr>
              <a:t>pls don’t ask us to do the assessment for you! but you </a:t>
            </a:r>
            <a:r>
              <a:rPr b="1" lang="en-GB" sz="1800">
                <a:solidFill>
                  <a:schemeClr val="dk1"/>
                </a:solidFill>
              </a:rPr>
              <a:t>can</a:t>
            </a:r>
            <a:r>
              <a:rPr lang="en-GB" sz="1800">
                <a:solidFill>
                  <a:schemeClr val="dk1"/>
                </a:solidFill>
              </a:rPr>
              <a:t> ask us to explain related code from the exercises/ tree, for example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GB" sz="1800">
                <a:solidFill>
                  <a:schemeClr val="dk1"/>
                </a:solidFill>
              </a:rPr>
              <a:t>if you’re submitting as a pair, please put a file called </a:t>
            </a:r>
            <a:r>
              <a:rPr b="1" lang="en-GB" sz="1800" u="sng">
                <a:solidFill>
                  <a:schemeClr val="dk1"/>
                </a:solidFill>
              </a:rPr>
              <a:t>pair.txt</a:t>
            </a:r>
            <a:r>
              <a:rPr lang="en-GB" sz="1800">
                <a:solidFill>
                  <a:schemeClr val="dk1"/>
                </a:solidFill>
              </a:rPr>
              <a:t> in your repo, with the format: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person1@sheffield.ac.uk</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person2@sheffield.ac.uk</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(where person1 owns the git repository that you want me to mark for your team; the file must be duplicated in both team members' repos)</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472975" y="623375"/>
            <a:ext cx="83400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options:</a:t>
            </a:r>
            <a:endParaRPr sz="1800"/>
          </a:p>
          <a:p>
            <a:pPr indent="-342900" lvl="1" marL="914400" rtl="0" algn="l">
              <a:spcBef>
                <a:spcPts val="0"/>
              </a:spcBef>
              <a:spcAft>
                <a:spcPts val="0"/>
              </a:spcAft>
              <a:buSzPts val="1800"/>
              <a:buAutoNum type="alphaLcPeriod"/>
            </a:pPr>
            <a:r>
              <a:rPr lang="en-GB" sz="1800"/>
              <a:t>the unPhone</a:t>
            </a:r>
            <a:endParaRPr sz="1800"/>
          </a:p>
          <a:p>
            <a:pPr indent="-342900" lvl="1" marL="914400" rtl="0" algn="l">
              <a:spcBef>
                <a:spcPts val="0"/>
              </a:spcBef>
              <a:spcAft>
                <a:spcPts val="0"/>
              </a:spcAft>
              <a:buSzPts val="1800"/>
              <a:buAutoNum type="alphaLcPeriod"/>
            </a:pPr>
            <a:r>
              <a:rPr lang="en-GB" sz="1800"/>
              <a:t>Marvin, a DIY Alexa, or ESP-Box/Willow</a:t>
            </a:r>
            <a:endParaRPr sz="1800"/>
          </a:p>
          <a:p>
            <a:pPr indent="-342900" lvl="1" marL="914400" rtl="0" algn="l">
              <a:spcBef>
                <a:spcPts val="0"/>
              </a:spcBef>
              <a:spcAft>
                <a:spcPts val="0"/>
              </a:spcAft>
              <a:buSzPts val="1800"/>
              <a:buAutoNum type="alphaLcPeriod"/>
            </a:pPr>
            <a:r>
              <a:rPr lang="en-GB" sz="1800"/>
              <a:t>LilyGoWatch</a:t>
            </a:r>
            <a:endParaRPr sz="1800"/>
          </a:p>
          <a:p>
            <a:pPr indent="-342900" lvl="1" marL="914400" rtl="0" algn="l">
              <a:spcBef>
                <a:spcPts val="0"/>
              </a:spcBef>
              <a:spcAft>
                <a:spcPts val="0"/>
              </a:spcAft>
              <a:buSzPts val="1800"/>
              <a:buAutoNum type="alphaLcPeriod"/>
            </a:pPr>
            <a:r>
              <a:rPr lang="en-GB" sz="1800"/>
              <a:t>roll your own (but check first!)</a:t>
            </a:r>
            <a:endParaRPr sz="1800"/>
          </a:p>
          <a:p>
            <a:pPr indent="-342900" lvl="0" marL="457200" rtl="0" algn="l">
              <a:spcBef>
                <a:spcPts val="0"/>
              </a:spcBef>
              <a:spcAft>
                <a:spcPts val="0"/>
              </a:spcAft>
              <a:buSzPts val="1800"/>
              <a:buChar char="●"/>
            </a:pPr>
            <a:r>
              <a:rPr lang="en-GB" sz="1800"/>
              <a:t>the spin 9 unPhone is an ESP32S3, LCD with touch display, accelerometer, SD card, LoRaWAN, IR LEDs and vibe motor</a:t>
            </a:r>
            <a:endParaRPr sz="1800"/>
          </a:p>
          <a:p>
            <a:pPr indent="-342900" lvl="0" marL="457200" rtl="0" algn="l">
              <a:spcBef>
                <a:spcPts val="0"/>
              </a:spcBef>
              <a:spcAft>
                <a:spcPts val="0"/>
              </a:spcAft>
              <a:buSzPts val="1800"/>
              <a:buChar char="●"/>
            </a:pPr>
            <a:r>
              <a:rPr lang="en-GB" sz="1800"/>
              <a:t>possible unPhone projects:  meshtastic off-grid messaging; remote control of other devices over WiFi or BT, perhaps using a gesture language; voice control via a mic on your other ESP32 (or the expander); exercise tracker; data logger; small-screen UI; fuzzy predictive text; etc. etc. etc.…</a:t>
            </a:r>
            <a:endParaRPr sz="1800"/>
          </a:p>
          <a:p>
            <a:pPr indent="-342900" lvl="0" marL="457200" rtl="0" algn="l">
              <a:spcBef>
                <a:spcPts val="0"/>
              </a:spcBef>
              <a:spcAft>
                <a:spcPts val="0"/>
              </a:spcAft>
              <a:buSzPts val="1800"/>
              <a:buChar char="●"/>
            </a:pPr>
            <a:r>
              <a:rPr lang="en-GB" sz="1800"/>
              <a:t>with Marvin or ESP-Box and/or the ML that Valentin introduced last week, lots of Alexa-type projects :)</a:t>
            </a:r>
            <a:endParaRPr sz="1800"/>
          </a:p>
          <a:p>
            <a:pPr indent="-342900" lvl="0" marL="457200" rtl="0" algn="l">
              <a:spcBef>
                <a:spcPts val="0"/>
              </a:spcBef>
              <a:spcAft>
                <a:spcPts val="0"/>
              </a:spcAft>
              <a:buSzPts val="1800"/>
              <a:buChar char="●"/>
            </a:pPr>
            <a:r>
              <a:rPr lang="en-GB" sz="1800"/>
              <a:t>see also Chapter 8</a:t>
            </a:r>
            <a:endParaRPr sz="1800"/>
          </a:p>
        </p:txBody>
      </p:sp>
      <p:sp>
        <p:nvSpPr>
          <p:cNvPr id="86" name="Google Shape;86;p18"/>
          <p:cNvSpPr txBox="1"/>
          <p:nvPr>
            <p:ph type="title"/>
          </p:nvPr>
        </p:nvSpPr>
        <p:spPr>
          <a:xfrm>
            <a:off x="816200" y="0"/>
            <a:ext cx="776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L7] </a:t>
            </a:r>
            <a:r>
              <a:rPr lang="en-GB"/>
              <a:t>Projects: Marvin/ESP-Box, unPhone,</a:t>
            </a:r>
            <a:br>
              <a:rPr lang="en-GB"/>
            </a:br>
            <a:r>
              <a:rPr lang="en-GB"/>
              <a:t>                                     LilyGoWatch, or…?</a:t>
            </a:r>
            <a:endParaRPr/>
          </a:p>
        </p:txBody>
      </p:sp>
      <p:sp>
        <p:nvSpPr>
          <p:cNvPr id="87" name="Google Shape;87;p18"/>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997500" y="-7620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L7] </a:t>
            </a:r>
            <a:r>
              <a:rPr lang="en-GB"/>
              <a:t>Projects: pros and cons</a:t>
            </a:r>
            <a:endParaRPr/>
          </a:p>
        </p:txBody>
      </p:sp>
      <p:sp>
        <p:nvSpPr>
          <p:cNvPr id="93" name="Google Shape;93;p19"/>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94" name="Google Shape;94;p19"/>
          <p:cNvGraphicFramePr/>
          <p:nvPr/>
        </p:nvGraphicFramePr>
        <p:xfrm>
          <a:off x="714800" y="505225"/>
          <a:ext cx="3000000" cy="3000000"/>
        </p:xfrm>
        <a:graphic>
          <a:graphicData uri="http://schemas.openxmlformats.org/drawingml/2006/table">
            <a:tbl>
              <a:tblPr>
                <a:noFill/>
                <a:tableStyleId>{EFE27F06-71F9-44A9-A020-4788B1561A79}</a:tableStyleId>
              </a:tblPr>
              <a:tblGrid>
                <a:gridCol w="1594650"/>
                <a:gridCol w="3257475"/>
                <a:gridCol w="3255825"/>
              </a:tblGrid>
              <a:tr h="381000">
                <a:tc>
                  <a:txBody>
                    <a:bodyPr/>
                    <a:lstStyle/>
                    <a:p>
                      <a:pPr indent="0" lvl="0" marL="0" rtl="0" algn="ctr">
                        <a:spcBef>
                          <a:spcPts val="0"/>
                        </a:spcBef>
                        <a:spcAft>
                          <a:spcPts val="0"/>
                        </a:spcAft>
                        <a:buNone/>
                      </a:pPr>
                      <a:r>
                        <a:rPr b="1" lang="en-GB" sz="1500"/>
                        <a:t>Project</a:t>
                      </a:r>
                      <a:endParaRPr b="1" sz="1500"/>
                    </a:p>
                  </a:txBody>
                  <a:tcPr marT="91425" marB="91425" marR="91425" marL="91425"/>
                </a:tc>
                <a:tc>
                  <a:txBody>
                    <a:bodyPr/>
                    <a:lstStyle/>
                    <a:p>
                      <a:pPr indent="0" lvl="0" marL="0" rtl="0" algn="ctr">
                        <a:spcBef>
                          <a:spcPts val="0"/>
                        </a:spcBef>
                        <a:spcAft>
                          <a:spcPts val="0"/>
                        </a:spcAft>
                        <a:buNone/>
                      </a:pPr>
                      <a:r>
                        <a:rPr b="1" lang="en-GB" sz="1500"/>
                        <a:t>Advantages</a:t>
                      </a:r>
                      <a:endParaRPr b="1" sz="1500"/>
                    </a:p>
                  </a:txBody>
                  <a:tcPr marT="91425" marB="91425" marR="91425" marL="91425"/>
                </a:tc>
                <a:tc>
                  <a:txBody>
                    <a:bodyPr/>
                    <a:lstStyle/>
                    <a:p>
                      <a:pPr indent="0" lvl="0" marL="0" rtl="0" algn="ctr">
                        <a:spcBef>
                          <a:spcPts val="0"/>
                        </a:spcBef>
                        <a:spcAft>
                          <a:spcPts val="0"/>
                        </a:spcAft>
                        <a:buNone/>
                      </a:pPr>
                      <a:r>
                        <a:rPr b="1" lang="en-GB" sz="1500"/>
                        <a:t>Disadvantages</a:t>
                      </a:r>
                      <a:endParaRPr b="1" sz="1500"/>
                    </a:p>
                  </a:txBody>
                  <a:tcPr marT="91425" marB="91425" marR="91425" marL="91425"/>
                </a:tc>
              </a:tr>
              <a:tr h="381000">
                <a:tc>
                  <a:txBody>
                    <a:bodyPr/>
                    <a:lstStyle/>
                    <a:p>
                      <a:pPr indent="0" lvl="0" marL="0" rtl="0" algn="l">
                        <a:spcBef>
                          <a:spcPts val="0"/>
                        </a:spcBef>
                        <a:spcAft>
                          <a:spcPts val="0"/>
                        </a:spcAft>
                        <a:buNone/>
                      </a:pPr>
                      <a:r>
                        <a:rPr b="1" lang="en-GB" sz="1500"/>
                        <a:t>unPhone</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all the elements are pre-soldered (unless you use the expander board)</a:t>
                      </a:r>
                      <a:endParaRPr sz="1500"/>
                    </a:p>
                    <a:p>
                      <a:pPr indent="-323850" lvl="0" marL="457200" rtl="0" algn="l">
                        <a:spcBef>
                          <a:spcPts val="0"/>
                        </a:spcBef>
                        <a:spcAft>
                          <a:spcPts val="0"/>
                        </a:spcAft>
                        <a:buSzPts val="1500"/>
                        <a:buChar char="●"/>
                      </a:pPr>
                      <a:r>
                        <a:rPr lang="en-GB" sz="1500"/>
                        <a:t>there’s a UI!</a:t>
                      </a:r>
                      <a:endParaRPr sz="1500"/>
                    </a:p>
                    <a:p>
                      <a:pPr indent="-323850" lvl="0" marL="457200" rtl="0" algn="l">
                        <a:spcBef>
                          <a:spcPts val="0"/>
                        </a:spcBef>
                        <a:spcAft>
                          <a:spcPts val="0"/>
                        </a:spcAft>
                        <a:buSzPts val="1500"/>
                        <a:buChar char="●"/>
                      </a:pPr>
                      <a:r>
                        <a:rPr lang="en-GB" sz="1500"/>
                        <a:t>lots of variations possible</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it looks like a phone but… isn’t!</a:t>
                      </a:r>
                      <a:endParaRPr sz="1500"/>
                    </a:p>
                    <a:p>
                      <a:pPr indent="-323850" lvl="0" marL="457200" rtl="0" algn="l">
                        <a:spcBef>
                          <a:spcPts val="0"/>
                        </a:spcBef>
                        <a:spcAft>
                          <a:spcPts val="0"/>
                        </a:spcAft>
                        <a:buSzPts val="1500"/>
                        <a:buChar char="●"/>
                      </a:pPr>
                      <a:r>
                        <a:rPr lang="en-GB" sz="1500"/>
                        <a:t>relies on patched libraries which can make development (even) trickier (v9 better tho)</a:t>
                      </a:r>
                      <a:endParaRPr sz="1500"/>
                    </a:p>
                    <a:p>
                      <a:pPr indent="0" lvl="0" marL="0" rtl="0" algn="l">
                        <a:spcBef>
                          <a:spcPts val="0"/>
                        </a:spcBef>
                        <a:spcAft>
                          <a:spcPts val="0"/>
                        </a:spcAft>
                        <a:buNone/>
                      </a:pPr>
                      <a:r>
                        <a:t/>
                      </a:r>
                      <a:endParaRPr sz="1500"/>
                    </a:p>
                  </a:txBody>
                  <a:tcPr marT="91425" marB="91425" marR="91425" marL="91425"/>
                </a:tc>
              </a:tr>
              <a:tr h="381000">
                <a:tc>
                  <a:txBody>
                    <a:bodyPr/>
                    <a:lstStyle/>
                    <a:p>
                      <a:pPr indent="0" lvl="0" marL="0" rtl="0" algn="l">
                        <a:spcBef>
                          <a:spcPts val="0"/>
                        </a:spcBef>
                        <a:spcAft>
                          <a:spcPts val="0"/>
                        </a:spcAft>
                        <a:buNone/>
                      </a:pPr>
                      <a:r>
                        <a:rPr b="1" lang="en-GB" sz="1500"/>
                        <a:t>Marvin or ESP-Box</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close to mass-market products like Alexa, Google Home, etc.</a:t>
                      </a:r>
                      <a:endParaRPr sz="1500"/>
                    </a:p>
                    <a:p>
                      <a:pPr indent="-323850" lvl="0" marL="457200" rtl="0" algn="l">
                        <a:spcBef>
                          <a:spcPts val="0"/>
                        </a:spcBef>
                        <a:spcAft>
                          <a:spcPts val="0"/>
                        </a:spcAft>
                        <a:buSzPts val="1500"/>
                        <a:buChar char="●"/>
                      </a:pPr>
                      <a:r>
                        <a:rPr lang="en-GB" sz="1500"/>
                        <a:t>good online supporting resources</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Marvin version needs wiring</a:t>
                      </a:r>
                      <a:endParaRPr sz="1500"/>
                    </a:p>
                    <a:p>
                      <a:pPr indent="-323850" lvl="0" marL="457200" rtl="0" algn="l">
                        <a:spcBef>
                          <a:spcPts val="0"/>
                        </a:spcBef>
                        <a:spcAft>
                          <a:spcPts val="0"/>
                        </a:spcAft>
                        <a:buSzPts val="1500"/>
                        <a:buChar char="●"/>
                      </a:pPr>
                      <a:r>
                        <a:rPr lang="en-GB" sz="1500"/>
                        <a:t>noise and voice dependent</a:t>
                      </a:r>
                      <a:endParaRPr sz="1500"/>
                    </a:p>
                    <a:p>
                      <a:pPr indent="-323850" lvl="0" marL="457200" rtl="0" algn="l">
                        <a:spcBef>
                          <a:spcPts val="0"/>
                        </a:spcBef>
                        <a:spcAft>
                          <a:spcPts val="0"/>
                        </a:spcAft>
                        <a:buSzPts val="1500"/>
                        <a:buChar char="●"/>
                      </a:pPr>
                      <a:r>
                        <a:rPr lang="en-GB" sz="1500"/>
                        <a:t>relies on 3rd party services</a:t>
                      </a:r>
                      <a:endParaRPr sz="1500"/>
                    </a:p>
                    <a:p>
                      <a:pPr indent="0" lvl="0" marL="0" rtl="0" algn="l">
                        <a:spcBef>
                          <a:spcPts val="0"/>
                        </a:spcBef>
                        <a:spcAft>
                          <a:spcPts val="0"/>
                        </a:spcAft>
                        <a:buNone/>
                      </a:pPr>
                      <a:r>
                        <a:t/>
                      </a:r>
                      <a:endParaRPr sz="1500"/>
                    </a:p>
                  </a:txBody>
                  <a:tcPr marT="91425" marB="91425" marR="91425" marL="91425"/>
                </a:tc>
              </a:tr>
              <a:tr h="381000">
                <a:tc>
                  <a:txBody>
                    <a:bodyPr/>
                    <a:lstStyle/>
                    <a:p>
                      <a:pPr indent="0" lvl="0" marL="0" rtl="0" algn="l">
                        <a:spcBef>
                          <a:spcPts val="0"/>
                        </a:spcBef>
                        <a:spcAft>
                          <a:spcPts val="0"/>
                        </a:spcAft>
                        <a:buNone/>
                      </a:pPr>
                      <a:r>
                        <a:rPr b="1" lang="en-GB" sz="1500"/>
                        <a:t>LilyGO Watch</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a wearable!</a:t>
                      </a:r>
                      <a:endParaRPr sz="1500"/>
                    </a:p>
                    <a:p>
                      <a:pPr indent="-323850" lvl="0" marL="457200" rtl="0" algn="l">
                        <a:spcBef>
                          <a:spcPts val="0"/>
                        </a:spcBef>
                        <a:spcAft>
                          <a:spcPts val="0"/>
                        </a:spcAft>
                        <a:buSzPts val="1500"/>
                        <a:buChar char="●"/>
                      </a:pPr>
                      <a:r>
                        <a:rPr lang="en-GB" sz="1500"/>
                        <a:t>carry a memento of COM3505 everywhere you go!</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not a smart watch!</a:t>
                      </a:r>
                      <a:endParaRPr sz="1500"/>
                    </a:p>
                    <a:p>
                      <a:pPr indent="-323850" lvl="0" marL="457200" rtl="0" algn="l">
                        <a:spcBef>
                          <a:spcPts val="0"/>
                        </a:spcBef>
                        <a:spcAft>
                          <a:spcPts val="0"/>
                        </a:spcAft>
                        <a:buSzPts val="1500"/>
                        <a:buChar char="●"/>
                      </a:pPr>
                      <a:r>
                        <a:rPr lang="en-GB" sz="1500"/>
                        <a:t>translation of docs not perfect</a:t>
                      </a:r>
                      <a:endParaRPr sz="1500"/>
                    </a:p>
                  </a:txBody>
                  <a:tcPr marT="91425" marB="91425" marR="91425" marL="91425"/>
                </a:tc>
              </a:tr>
              <a:tr h="381000">
                <a:tc>
                  <a:txBody>
                    <a:bodyPr/>
                    <a:lstStyle/>
                    <a:p>
                      <a:pPr indent="0" lvl="0" marL="0" rtl="0" algn="l">
                        <a:spcBef>
                          <a:spcPts val="0"/>
                        </a:spcBef>
                        <a:spcAft>
                          <a:spcPts val="0"/>
                        </a:spcAft>
                        <a:buNone/>
                      </a:pPr>
                      <a:r>
                        <a:rPr b="1" lang="en-GB" sz="1500"/>
                        <a:t>A.N.Other</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creativity!</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you need to be sure it is A) feasible and B) hard enough</a:t>
                      </a:r>
                      <a:endParaRPr sz="15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TinyML / ML at the Edge</a:t>
            </a:r>
            <a:endParaRPr/>
          </a:p>
        </p:txBody>
      </p:sp>
      <p:sp>
        <p:nvSpPr>
          <p:cNvPr id="100" name="Google Shape;10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01" name="Google Shape;101;p20"/>
          <p:cNvSpPr/>
          <p:nvPr/>
        </p:nvSpPr>
        <p:spPr>
          <a:xfrm>
            <a:off x="2472825" y="1199000"/>
            <a:ext cx="1992300" cy="1992300"/>
          </a:xfrm>
          <a:prstGeom prst="ellipse">
            <a:avLst/>
          </a:prstGeom>
          <a:solidFill>
            <a:srgbClr val="FFFF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t>ML Algorithms</a:t>
            </a:r>
            <a:endParaRPr/>
          </a:p>
        </p:txBody>
      </p:sp>
      <p:sp>
        <p:nvSpPr>
          <p:cNvPr id="102" name="Google Shape;102;p20"/>
          <p:cNvSpPr/>
          <p:nvPr/>
        </p:nvSpPr>
        <p:spPr>
          <a:xfrm>
            <a:off x="4073025" y="1199000"/>
            <a:ext cx="1992300" cy="1992300"/>
          </a:xfrm>
          <a:prstGeom prst="ellipse">
            <a:avLst/>
          </a:prstGeom>
          <a:solidFill>
            <a:srgbClr val="0E61EB">
              <a:alpha val="41900"/>
            </a:srgbClr>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Embedded Systems</a:t>
            </a:r>
            <a:endParaRPr/>
          </a:p>
        </p:txBody>
      </p:sp>
      <p:grpSp>
        <p:nvGrpSpPr>
          <p:cNvPr id="103" name="Google Shape;103;p20"/>
          <p:cNvGrpSpPr/>
          <p:nvPr/>
        </p:nvGrpSpPr>
        <p:grpSpPr>
          <a:xfrm>
            <a:off x="3735925" y="2795975"/>
            <a:ext cx="1045800" cy="1396800"/>
            <a:chOff x="3735925" y="2795975"/>
            <a:chExt cx="1045800" cy="1396800"/>
          </a:xfrm>
        </p:grpSpPr>
        <p:cxnSp>
          <p:nvCxnSpPr>
            <p:cNvPr id="104" name="Google Shape;104;p20"/>
            <p:cNvCxnSpPr/>
            <p:nvPr/>
          </p:nvCxnSpPr>
          <p:spPr>
            <a:xfrm rot="10800000">
              <a:off x="4258825" y="2795975"/>
              <a:ext cx="0" cy="904200"/>
            </a:xfrm>
            <a:prstGeom prst="straightConnector1">
              <a:avLst/>
            </a:prstGeom>
            <a:noFill/>
            <a:ln cap="flat" cmpd="sng" w="28575">
              <a:solidFill>
                <a:srgbClr val="595959"/>
              </a:solidFill>
              <a:prstDash val="solid"/>
              <a:round/>
              <a:headEnd len="med" w="med" type="none"/>
              <a:tailEnd len="med" w="med" type="triangle"/>
            </a:ln>
          </p:spPr>
        </p:cxnSp>
        <p:sp>
          <p:nvSpPr>
            <p:cNvPr id="105" name="Google Shape;105;p20"/>
            <p:cNvSpPr txBox="1"/>
            <p:nvPr/>
          </p:nvSpPr>
          <p:spPr>
            <a:xfrm>
              <a:off x="3735925" y="3700175"/>
              <a:ext cx="104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t>TinyML</a:t>
              </a:r>
              <a:endParaRPr sz="2000"/>
            </a:p>
          </p:txBody>
        </p:sp>
      </p:grpSp>
      <p:pic>
        <p:nvPicPr>
          <p:cNvPr id="106" name="Google Shape;106;p20"/>
          <p:cNvPicPr preferRelativeResize="0"/>
          <p:nvPr/>
        </p:nvPicPr>
        <p:blipFill>
          <a:blip r:embed="rId3">
            <a:alphaModFix/>
          </a:blip>
          <a:stretch>
            <a:fillRect/>
          </a:stretch>
        </p:blipFill>
        <p:spPr>
          <a:xfrm>
            <a:off x="685800" y="3438513"/>
            <a:ext cx="2686050" cy="1704975"/>
          </a:xfrm>
          <a:prstGeom prst="rect">
            <a:avLst/>
          </a:prstGeom>
          <a:noFill/>
          <a:ln>
            <a:noFill/>
          </a:ln>
        </p:spPr>
      </p:pic>
      <p:pic>
        <p:nvPicPr>
          <p:cNvPr id="107" name="Google Shape;107;p20"/>
          <p:cNvPicPr preferRelativeResize="0"/>
          <p:nvPr/>
        </p:nvPicPr>
        <p:blipFill>
          <a:blip r:embed="rId4">
            <a:alphaModFix/>
          </a:blip>
          <a:stretch>
            <a:fillRect/>
          </a:stretch>
        </p:blipFill>
        <p:spPr>
          <a:xfrm>
            <a:off x="6844196" y="1671950"/>
            <a:ext cx="2299800" cy="1799601"/>
          </a:xfrm>
          <a:prstGeom prst="rect">
            <a:avLst/>
          </a:prstGeom>
          <a:noFill/>
          <a:ln>
            <a:noFill/>
          </a:ln>
        </p:spPr>
      </p:pic>
      <p:pic>
        <p:nvPicPr>
          <p:cNvPr id="108" name="Google Shape;108;p20"/>
          <p:cNvPicPr preferRelativeResize="0"/>
          <p:nvPr/>
        </p:nvPicPr>
        <p:blipFill>
          <a:blip r:embed="rId5">
            <a:alphaModFix/>
          </a:blip>
          <a:stretch>
            <a:fillRect/>
          </a:stretch>
        </p:blipFill>
        <p:spPr>
          <a:xfrm>
            <a:off x="5931188" y="3486138"/>
            <a:ext cx="2847975" cy="1609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idx="1" type="body"/>
          </p:nvPr>
        </p:nvSpPr>
        <p:spPr>
          <a:xfrm>
            <a:off x="311700" y="746275"/>
            <a:ext cx="8520600" cy="998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900" u="sng"/>
              <a:t>Definition:</a:t>
            </a:r>
            <a:r>
              <a:rPr lang="en-GB" sz="1900"/>
              <a:t> </a:t>
            </a:r>
            <a:r>
              <a:rPr b="1" lang="en-GB" sz="1900"/>
              <a:t>Tiny Machine Learning</a:t>
            </a:r>
            <a:r>
              <a:rPr lang="en-GB" sz="1900"/>
              <a:t> (TinyML) is a fast-growing field of machine learning technologies and applications</a:t>
            </a:r>
            <a:endParaRPr/>
          </a:p>
        </p:txBody>
      </p:sp>
      <p:sp>
        <p:nvSpPr>
          <p:cNvPr id="114" name="Google Shape;114;p21"/>
          <p:cNvSpPr txBox="1"/>
          <p:nvPr>
            <p:ph type="title"/>
          </p:nvPr>
        </p:nvSpPr>
        <p:spPr>
          <a:xfrm>
            <a:off x="1065050" y="-8825"/>
            <a:ext cx="729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What is Tiny Machine Learning?</a:t>
            </a:r>
            <a:endParaRPr b="1"/>
          </a:p>
        </p:txBody>
      </p:sp>
      <p:sp>
        <p:nvSpPr>
          <p:cNvPr id="115" name="Google Shape;115;p21"/>
          <p:cNvSpPr txBox="1"/>
          <p:nvPr>
            <p:ph idx="4294967295"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6" name="Google Shape;116;p21"/>
          <p:cNvSpPr txBox="1"/>
          <p:nvPr>
            <p:ph idx="1" type="body"/>
          </p:nvPr>
        </p:nvSpPr>
        <p:spPr>
          <a:xfrm>
            <a:off x="311700" y="1080000"/>
            <a:ext cx="8520600" cy="7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900"/>
              <a:t>                                                                           </a:t>
            </a:r>
            <a:r>
              <a:rPr lang="en-GB" sz="1900"/>
              <a:t>  including </a:t>
            </a:r>
            <a:r>
              <a:rPr b="1" lang="en-GB" sz="1900"/>
              <a:t>algorithms, hardware, and software</a:t>
            </a:r>
            <a:endParaRPr/>
          </a:p>
        </p:txBody>
      </p:sp>
      <p:sp>
        <p:nvSpPr>
          <p:cNvPr id="117" name="Google Shape;117;p21"/>
          <p:cNvSpPr txBox="1"/>
          <p:nvPr>
            <p:ph idx="1" type="body"/>
          </p:nvPr>
        </p:nvSpPr>
        <p:spPr>
          <a:xfrm>
            <a:off x="311700" y="2070600"/>
            <a:ext cx="8520600" cy="7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900"/>
              <a:t>                 </a:t>
            </a:r>
            <a:r>
              <a:rPr lang="en-GB" sz="1900"/>
              <a:t>, to enable a variety of </a:t>
            </a:r>
            <a:r>
              <a:rPr b="1" lang="en-GB" sz="1900"/>
              <a:t>always-on machine learning use-cases</a:t>
            </a:r>
            <a:r>
              <a:rPr lang="en-GB" sz="1900"/>
              <a:t> on battery-powered devices.</a:t>
            </a:r>
            <a:endParaRPr/>
          </a:p>
        </p:txBody>
      </p:sp>
      <p:sp>
        <p:nvSpPr>
          <p:cNvPr id="118" name="Google Shape;118;p21"/>
          <p:cNvSpPr txBox="1"/>
          <p:nvPr>
            <p:ph idx="1" type="body"/>
          </p:nvPr>
        </p:nvSpPr>
        <p:spPr>
          <a:xfrm>
            <a:off x="311700" y="1404000"/>
            <a:ext cx="8520600" cy="7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900"/>
              <a:t>                                          </a:t>
            </a:r>
            <a:r>
              <a:rPr lang="en-GB" sz="1900"/>
              <a:t>capable of performing on-device sensor data analytics (vision, audio, IMU, biomedical, etc.)</a:t>
            </a:r>
            <a:endParaRPr/>
          </a:p>
        </p:txBody>
      </p:sp>
      <p:sp>
        <p:nvSpPr>
          <p:cNvPr id="119" name="Google Shape;119;p21"/>
          <p:cNvSpPr txBox="1"/>
          <p:nvPr>
            <p:ph idx="1" type="body"/>
          </p:nvPr>
        </p:nvSpPr>
        <p:spPr>
          <a:xfrm>
            <a:off x="311700" y="1746000"/>
            <a:ext cx="8520600" cy="767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GB" sz="1900"/>
              <a:t>                                                                         </a:t>
            </a:r>
            <a:r>
              <a:rPr lang="en-GB" sz="1900"/>
              <a:t> at extremely low power (milliwatts)</a:t>
            </a:r>
            <a:endParaRPr/>
          </a:p>
        </p:txBody>
      </p:sp>
      <p:pic>
        <p:nvPicPr>
          <p:cNvPr id="120" name="Google Shape;120;p21"/>
          <p:cNvPicPr preferRelativeResize="0"/>
          <p:nvPr/>
        </p:nvPicPr>
        <p:blipFill>
          <a:blip r:embed="rId3">
            <a:alphaModFix/>
          </a:blip>
          <a:stretch>
            <a:fillRect/>
          </a:stretch>
        </p:blipFill>
        <p:spPr>
          <a:xfrm>
            <a:off x="4214800" y="2838300"/>
            <a:ext cx="2256090" cy="200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Lower Latency</a:t>
            </a:r>
            <a:endParaRPr/>
          </a:p>
          <a:p>
            <a:pPr indent="-317500" lvl="1" marL="914400" rtl="0" algn="l">
              <a:spcBef>
                <a:spcPts val="0"/>
              </a:spcBef>
              <a:spcAft>
                <a:spcPts val="0"/>
              </a:spcAft>
              <a:buSzPts val="1400"/>
              <a:buChar char="-"/>
            </a:pPr>
            <a:r>
              <a:rPr lang="en-GB"/>
              <a:t>Avoiding wireless interferences, which make latency unpredictable.</a:t>
            </a:r>
            <a:endParaRPr/>
          </a:p>
          <a:p>
            <a:pPr indent="-342900" lvl="0" marL="457200" rtl="0" algn="l">
              <a:spcBef>
                <a:spcPts val="0"/>
              </a:spcBef>
              <a:spcAft>
                <a:spcPts val="0"/>
              </a:spcAft>
              <a:buSzPts val="1800"/>
              <a:buChar char="-"/>
            </a:pPr>
            <a:r>
              <a:rPr lang="en-GB"/>
              <a:t>High Availability</a:t>
            </a:r>
            <a:endParaRPr/>
          </a:p>
          <a:p>
            <a:pPr indent="-317500" lvl="1" marL="914400" rtl="0" algn="l">
              <a:spcBef>
                <a:spcPts val="0"/>
              </a:spcBef>
              <a:spcAft>
                <a:spcPts val="0"/>
              </a:spcAft>
              <a:buSzPts val="1400"/>
              <a:buChar char="-"/>
            </a:pPr>
            <a:r>
              <a:rPr lang="en-GB"/>
              <a:t>Wireless not-spots can be a problem for always-connected devices.</a:t>
            </a:r>
            <a:endParaRPr/>
          </a:p>
          <a:p>
            <a:pPr indent="-342900" lvl="0" marL="457200" rtl="0" algn="l">
              <a:spcBef>
                <a:spcPts val="0"/>
              </a:spcBef>
              <a:spcAft>
                <a:spcPts val="0"/>
              </a:spcAft>
              <a:buSzPts val="1800"/>
              <a:buChar char="-"/>
            </a:pPr>
            <a:r>
              <a:rPr lang="en-GB"/>
              <a:t>Higher Bandwidth</a:t>
            </a:r>
            <a:endParaRPr/>
          </a:p>
          <a:p>
            <a:pPr indent="-317500" lvl="1" marL="914400" rtl="0" algn="l">
              <a:spcBef>
                <a:spcPts val="0"/>
              </a:spcBef>
              <a:spcAft>
                <a:spcPts val="0"/>
              </a:spcAft>
              <a:buSzPts val="1400"/>
              <a:buChar char="-"/>
            </a:pPr>
            <a:r>
              <a:rPr lang="en-GB"/>
              <a:t>Large volumes of data can be consumed locally, without being funneled by the network bandwidth</a:t>
            </a:r>
            <a:endParaRPr/>
          </a:p>
          <a:p>
            <a:pPr indent="-342900" lvl="0" marL="457200" rtl="0" algn="l">
              <a:spcBef>
                <a:spcPts val="0"/>
              </a:spcBef>
              <a:spcAft>
                <a:spcPts val="0"/>
              </a:spcAft>
              <a:buSzPts val="1800"/>
              <a:buChar char="-"/>
            </a:pPr>
            <a:r>
              <a:rPr lang="en-GB"/>
              <a:t>Power efficiency</a:t>
            </a:r>
            <a:endParaRPr/>
          </a:p>
          <a:p>
            <a:pPr indent="-317500" lvl="1" marL="914400" rtl="0" algn="l">
              <a:spcBef>
                <a:spcPts val="0"/>
              </a:spcBef>
              <a:spcAft>
                <a:spcPts val="0"/>
              </a:spcAft>
              <a:buSzPts val="1400"/>
              <a:buChar char="-"/>
            </a:pPr>
            <a:r>
              <a:rPr lang="en-GB"/>
              <a:t>Radio communication is one of the most energy consuming tasks</a:t>
            </a:r>
            <a:endParaRPr/>
          </a:p>
          <a:p>
            <a:pPr indent="-342900" lvl="0" marL="457200" rtl="0" algn="l">
              <a:spcBef>
                <a:spcPts val="0"/>
              </a:spcBef>
              <a:spcAft>
                <a:spcPts val="0"/>
              </a:spcAft>
              <a:buSzPts val="1800"/>
              <a:buChar char="-"/>
            </a:pPr>
            <a:r>
              <a:rPr lang="en-GB"/>
              <a:t>Improved </a:t>
            </a:r>
            <a:r>
              <a:rPr lang="en-GB" sz="1800"/>
              <a:t>Privacy</a:t>
            </a:r>
            <a:endParaRPr sz="1800"/>
          </a:p>
          <a:p>
            <a:pPr indent="-317500" lvl="1" marL="914400" rtl="0" algn="l">
              <a:spcBef>
                <a:spcPts val="0"/>
              </a:spcBef>
              <a:spcAft>
                <a:spcPts val="0"/>
              </a:spcAft>
              <a:buSzPts val="1400"/>
              <a:buChar char="-"/>
            </a:pPr>
            <a:r>
              <a:rPr lang="en-GB"/>
              <a:t>Medical devices</a:t>
            </a:r>
            <a:endParaRPr/>
          </a:p>
          <a:p>
            <a:pPr indent="-317500" lvl="1" marL="914400" rtl="0" algn="l">
              <a:spcBef>
                <a:spcPts val="0"/>
              </a:spcBef>
              <a:spcAft>
                <a:spcPts val="0"/>
              </a:spcAft>
              <a:buSzPts val="1400"/>
              <a:buChar char="-"/>
            </a:pPr>
            <a:r>
              <a:rPr lang="en-GB"/>
              <a:t>Home appliances</a:t>
            </a:r>
            <a:endParaRPr/>
          </a:p>
          <a:p>
            <a:pPr indent="0" lvl="0" marL="0" rtl="0" algn="l">
              <a:spcBef>
                <a:spcPts val="1200"/>
              </a:spcBef>
              <a:spcAft>
                <a:spcPts val="1600"/>
              </a:spcAft>
              <a:buNone/>
            </a:pPr>
            <a:r>
              <a:t/>
            </a:r>
            <a:endParaRPr/>
          </a:p>
        </p:txBody>
      </p:sp>
      <p:sp>
        <p:nvSpPr>
          <p:cNvPr id="126" name="Google Shape;126;p22"/>
          <p:cNvSpPr txBox="1"/>
          <p:nvPr>
            <p:ph type="title"/>
          </p:nvPr>
        </p:nvSpPr>
        <p:spPr>
          <a:xfrm>
            <a:off x="1065050" y="-8825"/>
            <a:ext cx="729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Why Running ML at the Edge?</a:t>
            </a:r>
            <a:endParaRPr b="1"/>
          </a:p>
        </p:txBody>
      </p:sp>
      <p:sp>
        <p:nvSpPr>
          <p:cNvPr id="127" name="Google Shape;127;p22"/>
          <p:cNvSpPr txBox="1"/>
          <p:nvPr>
            <p:ph idx="4294967295"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Computing processors are becoming increasingly smaller.</a:t>
            </a:r>
            <a:endParaRPr/>
          </a:p>
        </p:txBody>
      </p:sp>
      <p:sp>
        <p:nvSpPr>
          <p:cNvPr id="133" name="Google Shape;133;p23"/>
          <p:cNvSpPr txBox="1"/>
          <p:nvPr>
            <p:ph type="title"/>
          </p:nvPr>
        </p:nvSpPr>
        <p:spPr>
          <a:xfrm>
            <a:off x="1065050" y="-8825"/>
            <a:ext cx="729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Computing Surface</a:t>
            </a:r>
            <a:endParaRPr b="1"/>
          </a:p>
        </p:txBody>
      </p:sp>
      <p:sp>
        <p:nvSpPr>
          <p:cNvPr id="134" name="Google Shape;134;p23"/>
          <p:cNvSpPr txBox="1"/>
          <p:nvPr>
            <p:ph idx="4294967295"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35" name="Google Shape;135;p23"/>
          <p:cNvPicPr preferRelativeResize="0"/>
          <p:nvPr/>
        </p:nvPicPr>
        <p:blipFill>
          <a:blip r:embed="rId3">
            <a:alphaModFix/>
          </a:blip>
          <a:stretch>
            <a:fillRect/>
          </a:stretch>
        </p:blipFill>
        <p:spPr>
          <a:xfrm>
            <a:off x="1226100" y="2978875"/>
            <a:ext cx="683950" cy="720100"/>
          </a:xfrm>
          <a:prstGeom prst="rect">
            <a:avLst/>
          </a:prstGeom>
          <a:noFill/>
          <a:ln>
            <a:noFill/>
          </a:ln>
        </p:spPr>
      </p:pic>
      <p:grpSp>
        <p:nvGrpSpPr>
          <p:cNvPr id="136" name="Google Shape;136;p23"/>
          <p:cNvGrpSpPr/>
          <p:nvPr/>
        </p:nvGrpSpPr>
        <p:grpSpPr>
          <a:xfrm>
            <a:off x="904875" y="1243150"/>
            <a:ext cx="1508225" cy="1544300"/>
            <a:chOff x="904875" y="1243150"/>
            <a:chExt cx="1508225" cy="1544300"/>
          </a:xfrm>
        </p:grpSpPr>
        <p:pic>
          <p:nvPicPr>
            <p:cNvPr id="137" name="Google Shape;137;p23"/>
            <p:cNvPicPr preferRelativeResize="0"/>
            <p:nvPr/>
          </p:nvPicPr>
          <p:blipFill>
            <a:blip r:embed="rId4">
              <a:alphaModFix/>
            </a:blip>
            <a:stretch>
              <a:fillRect/>
            </a:stretch>
          </p:blipFill>
          <p:spPr>
            <a:xfrm>
              <a:off x="904875" y="1583450"/>
              <a:ext cx="1508225" cy="1204000"/>
            </a:xfrm>
            <a:prstGeom prst="rect">
              <a:avLst/>
            </a:prstGeom>
            <a:noFill/>
            <a:ln>
              <a:noFill/>
            </a:ln>
          </p:spPr>
        </p:pic>
        <p:sp>
          <p:nvSpPr>
            <p:cNvPr id="138" name="Google Shape;138;p23"/>
            <p:cNvSpPr txBox="1"/>
            <p:nvPr/>
          </p:nvSpPr>
          <p:spPr>
            <a:xfrm>
              <a:off x="1018925" y="1243150"/>
              <a:ext cx="104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CPU/GPU</a:t>
              </a:r>
              <a:endParaRPr/>
            </a:p>
          </p:txBody>
        </p:sp>
      </p:grpSp>
      <p:sp>
        <p:nvSpPr>
          <p:cNvPr id="139" name="Google Shape;139;p23"/>
          <p:cNvSpPr/>
          <p:nvPr/>
        </p:nvSpPr>
        <p:spPr>
          <a:xfrm>
            <a:off x="937675" y="3755500"/>
            <a:ext cx="1122900" cy="114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a:t>Big</a:t>
            </a:r>
            <a:endParaRPr b="1"/>
          </a:p>
          <a:p>
            <a:pPr indent="0" lvl="0" marL="0" rtl="0" algn="ctr">
              <a:spcBef>
                <a:spcPts val="0"/>
              </a:spcBef>
              <a:spcAft>
                <a:spcPts val="0"/>
              </a:spcAft>
              <a:buNone/>
            </a:pPr>
            <a:r>
              <a:rPr lang="en-GB"/>
              <a:t>561mm</a:t>
            </a:r>
            <a:r>
              <a:rPr baseline="30000" lang="en-GB"/>
              <a:t>2</a:t>
            </a:r>
            <a:endParaRPr baseline="30000"/>
          </a:p>
        </p:txBody>
      </p:sp>
      <p:pic>
        <p:nvPicPr>
          <p:cNvPr id="140" name="Google Shape;140;p23"/>
          <p:cNvPicPr preferRelativeResize="0"/>
          <p:nvPr/>
        </p:nvPicPr>
        <p:blipFill>
          <a:blip r:embed="rId5">
            <a:alphaModFix/>
          </a:blip>
          <a:stretch>
            <a:fillRect/>
          </a:stretch>
        </p:blipFill>
        <p:spPr>
          <a:xfrm>
            <a:off x="3654150" y="2978875"/>
            <a:ext cx="762047" cy="720100"/>
          </a:xfrm>
          <a:prstGeom prst="rect">
            <a:avLst/>
          </a:prstGeom>
          <a:noFill/>
          <a:ln>
            <a:noFill/>
          </a:ln>
        </p:spPr>
      </p:pic>
      <p:sp>
        <p:nvSpPr>
          <p:cNvPr id="141" name="Google Shape;141;p23"/>
          <p:cNvSpPr/>
          <p:nvPr/>
        </p:nvSpPr>
        <p:spPr>
          <a:xfrm>
            <a:off x="3680875" y="3984100"/>
            <a:ext cx="667500" cy="679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GB"/>
              <a:t>Small</a:t>
            </a:r>
            <a:r>
              <a:rPr lang="en-GB"/>
              <a:t> </a:t>
            </a:r>
            <a:endParaRPr/>
          </a:p>
          <a:p>
            <a:pPr indent="0" lvl="0" marL="0" rtl="0" algn="ctr">
              <a:spcBef>
                <a:spcPts val="0"/>
              </a:spcBef>
              <a:spcAft>
                <a:spcPts val="0"/>
              </a:spcAft>
              <a:buNone/>
            </a:pPr>
            <a:r>
              <a:rPr lang="en-GB"/>
              <a:t>83</a:t>
            </a:r>
            <a:r>
              <a:rPr lang="en-GB"/>
              <a:t>mm</a:t>
            </a:r>
            <a:r>
              <a:rPr baseline="30000" lang="en-GB"/>
              <a:t>2</a:t>
            </a:r>
            <a:endParaRPr baseline="30000"/>
          </a:p>
        </p:txBody>
      </p:sp>
      <p:grpSp>
        <p:nvGrpSpPr>
          <p:cNvPr id="142" name="Google Shape;142;p23"/>
          <p:cNvGrpSpPr/>
          <p:nvPr/>
        </p:nvGrpSpPr>
        <p:grpSpPr>
          <a:xfrm>
            <a:off x="3457325" y="1243150"/>
            <a:ext cx="1122900" cy="1518758"/>
            <a:chOff x="3457325" y="1243150"/>
            <a:chExt cx="1122900" cy="1518758"/>
          </a:xfrm>
        </p:grpSpPr>
        <p:pic>
          <p:nvPicPr>
            <p:cNvPr id="143" name="Google Shape;143;p23"/>
            <p:cNvPicPr preferRelativeResize="0"/>
            <p:nvPr/>
          </p:nvPicPr>
          <p:blipFill>
            <a:blip r:embed="rId6">
              <a:alphaModFix/>
            </a:blip>
            <a:stretch>
              <a:fillRect/>
            </a:stretch>
          </p:blipFill>
          <p:spPr>
            <a:xfrm>
              <a:off x="3582924" y="1694825"/>
              <a:ext cx="833274" cy="1067083"/>
            </a:xfrm>
            <a:prstGeom prst="rect">
              <a:avLst/>
            </a:prstGeom>
            <a:noFill/>
            <a:ln>
              <a:noFill/>
            </a:ln>
          </p:spPr>
        </p:pic>
        <p:sp>
          <p:nvSpPr>
            <p:cNvPr id="144" name="Google Shape;144;p23"/>
            <p:cNvSpPr txBox="1"/>
            <p:nvPr/>
          </p:nvSpPr>
          <p:spPr>
            <a:xfrm>
              <a:off x="3457325" y="1243150"/>
              <a:ext cx="112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Phone SoC</a:t>
              </a:r>
              <a:endParaRPr/>
            </a:p>
          </p:txBody>
        </p:sp>
      </p:grpSp>
      <p:grpSp>
        <p:nvGrpSpPr>
          <p:cNvPr id="145" name="Google Shape;145;p23"/>
          <p:cNvGrpSpPr/>
          <p:nvPr/>
        </p:nvGrpSpPr>
        <p:grpSpPr>
          <a:xfrm>
            <a:off x="5667125" y="1243150"/>
            <a:ext cx="1122900" cy="1474824"/>
            <a:chOff x="5667125" y="1243150"/>
            <a:chExt cx="1122900" cy="1474824"/>
          </a:xfrm>
        </p:grpSpPr>
        <p:pic>
          <p:nvPicPr>
            <p:cNvPr id="146" name="Google Shape;146;p23"/>
            <p:cNvPicPr preferRelativeResize="0"/>
            <p:nvPr/>
          </p:nvPicPr>
          <p:blipFill>
            <a:blip r:embed="rId7">
              <a:alphaModFix/>
            </a:blip>
            <a:stretch>
              <a:fillRect/>
            </a:stretch>
          </p:blipFill>
          <p:spPr>
            <a:xfrm>
              <a:off x="5936700" y="1738740"/>
              <a:ext cx="548700" cy="979234"/>
            </a:xfrm>
            <a:prstGeom prst="rect">
              <a:avLst/>
            </a:prstGeom>
            <a:noFill/>
            <a:ln>
              <a:noFill/>
            </a:ln>
          </p:spPr>
        </p:pic>
        <p:sp>
          <p:nvSpPr>
            <p:cNvPr id="147" name="Google Shape;147;p23"/>
            <p:cNvSpPr txBox="1"/>
            <p:nvPr/>
          </p:nvSpPr>
          <p:spPr>
            <a:xfrm>
              <a:off x="5667125" y="1243150"/>
              <a:ext cx="112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Watch</a:t>
              </a:r>
              <a:r>
                <a:rPr lang="en-GB"/>
                <a:t> SoC</a:t>
              </a:r>
              <a:endParaRPr/>
            </a:p>
          </p:txBody>
        </p:sp>
      </p:grpSp>
      <p:pic>
        <p:nvPicPr>
          <p:cNvPr id="148" name="Google Shape;148;p23"/>
          <p:cNvPicPr preferRelativeResize="0"/>
          <p:nvPr/>
        </p:nvPicPr>
        <p:blipFill>
          <a:blip r:embed="rId8">
            <a:alphaModFix/>
          </a:blip>
          <a:stretch>
            <a:fillRect/>
          </a:stretch>
        </p:blipFill>
        <p:spPr>
          <a:xfrm>
            <a:off x="5758738" y="2813375"/>
            <a:ext cx="939666" cy="848725"/>
          </a:xfrm>
          <a:prstGeom prst="rect">
            <a:avLst/>
          </a:prstGeom>
          <a:noFill/>
          <a:ln>
            <a:noFill/>
          </a:ln>
        </p:spPr>
      </p:pic>
      <p:grpSp>
        <p:nvGrpSpPr>
          <p:cNvPr id="149" name="Google Shape;149;p23"/>
          <p:cNvGrpSpPr/>
          <p:nvPr/>
        </p:nvGrpSpPr>
        <p:grpSpPr>
          <a:xfrm>
            <a:off x="5542213" y="3984100"/>
            <a:ext cx="1288200" cy="955125"/>
            <a:chOff x="5542213" y="3984100"/>
            <a:chExt cx="1288200" cy="955125"/>
          </a:xfrm>
        </p:grpSpPr>
        <p:sp>
          <p:nvSpPr>
            <p:cNvPr id="150" name="Google Shape;150;p23"/>
            <p:cNvSpPr/>
            <p:nvPr/>
          </p:nvSpPr>
          <p:spPr>
            <a:xfrm>
              <a:off x="5966875" y="3984100"/>
              <a:ext cx="393300" cy="40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baseline="30000"/>
            </a:p>
          </p:txBody>
        </p:sp>
        <p:sp>
          <p:nvSpPr>
            <p:cNvPr id="151" name="Google Shape;151;p23"/>
            <p:cNvSpPr txBox="1"/>
            <p:nvPr/>
          </p:nvSpPr>
          <p:spPr>
            <a:xfrm>
              <a:off x="5542213" y="4323625"/>
              <a:ext cx="1288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a:solidFill>
                    <a:schemeClr val="dk1"/>
                  </a:solidFill>
                </a:rPr>
                <a:t>Tiny</a:t>
              </a:r>
              <a:r>
                <a:rPr lang="en-GB">
                  <a:solidFill>
                    <a:schemeClr val="dk1"/>
                  </a:solidFill>
                </a:rPr>
                <a:t> </a:t>
              </a:r>
              <a:endParaRPr>
                <a:solidFill>
                  <a:schemeClr val="dk1"/>
                </a:solidFill>
              </a:endParaRPr>
            </a:p>
            <a:p>
              <a:pPr indent="0" lvl="0" marL="0" rtl="0" algn="ctr">
                <a:spcBef>
                  <a:spcPts val="0"/>
                </a:spcBef>
                <a:spcAft>
                  <a:spcPts val="0"/>
                </a:spcAft>
                <a:buNone/>
              </a:pPr>
              <a:r>
                <a:rPr lang="en-GB">
                  <a:solidFill>
                    <a:schemeClr val="dk1"/>
                  </a:solidFill>
                </a:rPr>
                <a:t>30mm</a:t>
              </a:r>
              <a:r>
                <a:rPr baseline="30000" lang="en-GB">
                  <a:solidFill>
                    <a:schemeClr val="dk1"/>
                  </a:solidFill>
                </a:rPr>
                <a:t>2</a:t>
              </a:r>
              <a:endParaRPr/>
            </a:p>
          </p:txBody>
        </p:sp>
      </p:grpSp>
      <p:grpSp>
        <p:nvGrpSpPr>
          <p:cNvPr id="152" name="Google Shape;152;p23"/>
          <p:cNvGrpSpPr/>
          <p:nvPr/>
        </p:nvGrpSpPr>
        <p:grpSpPr>
          <a:xfrm>
            <a:off x="7267325" y="1243150"/>
            <a:ext cx="1391888" cy="3480675"/>
            <a:chOff x="7267325" y="1243150"/>
            <a:chExt cx="1391888" cy="3480675"/>
          </a:xfrm>
        </p:grpSpPr>
        <p:sp>
          <p:nvSpPr>
            <p:cNvPr id="153" name="Google Shape;153;p23"/>
            <p:cNvSpPr/>
            <p:nvPr/>
          </p:nvSpPr>
          <p:spPr>
            <a:xfrm>
              <a:off x="7795675" y="3984100"/>
              <a:ext cx="261900" cy="26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baseline="30000"/>
            </a:p>
          </p:txBody>
        </p:sp>
        <p:sp>
          <p:nvSpPr>
            <p:cNvPr id="154" name="Google Shape;154;p23"/>
            <p:cNvSpPr txBox="1"/>
            <p:nvPr/>
          </p:nvSpPr>
          <p:spPr>
            <a:xfrm>
              <a:off x="7267325" y="1243150"/>
              <a:ext cx="128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Kinetis kl03</a:t>
              </a:r>
              <a:endParaRPr/>
            </a:p>
          </p:txBody>
        </p:sp>
        <p:sp>
          <p:nvSpPr>
            <p:cNvPr id="155" name="Google Shape;155;p23"/>
            <p:cNvSpPr txBox="1"/>
            <p:nvPr/>
          </p:nvSpPr>
          <p:spPr>
            <a:xfrm>
              <a:off x="7371013" y="4323625"/>
              <a:ext cx="1288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dk1"/>
                  </a:solidFill>
                </a:rPr>
                <a:t>3.2</a:t>
              </a:r>
              <a:r>
                <a:rPr lang="en-GB">
                  <a:solidFill>
                    <a:schemeClr val="dk1"/>
                  </a:solidFill>
                </a:rPr>
                <a:t>mm</a:t>
              </a:r>
              <a:r>
                <a:rPr baseline="30000" lang="en-GB">
                  <a:solidFill>
                    <a:schemeClr val="dk1"/>
                  </a:solidFill>
                </a:rPr>
                <a:t>2</a:t>
              </a:r>
              <a:endParaRPr/>
            </a:p>
          </p:txBody>
        </p:sp>
      </p:grpSp>
      <p:grpSp>
        <p:nvGrpSpPr>
          <p:cNvPr id="156" name="Google Shape;156;p23"/>
          <p:cNvGrpSpPr/>
          <p:nvPr/>
        </p:nvGrpSpPr>
        <p:grpSpPr>
          <a:xfrm>
            <a:off x="1656025" y="4628425"/>
            <a:ext cx="7257600" cy="615600"/>
            <a:chOff x="1656025" y="4628425"/>
            <a:chExt cx="7257600" cy="615600"/>
          </a:xfrm>
        </p:grpSpPr>
        <p:sp>
          <p:nvSpPr>
            <p:cNvPr id="157" name="Google Shape;157;p23"/>
            <p:cNvSpPr txBox="1"/>
            <p:nvPr/>
          </p:nvSpPr>
          <p:spPr>
            <a:xfrm>
              <a:off x="1656025" y="4628425"/>
              <a:ext cx="1698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dk1"/>
                  </a:solidFill>
                </a:rPr>
                <a:t>300W</a:t>
              </a:r>
              <a:endParaRPr>
                <a:solidFill>
                  <a:schemeClr val="dk1"/>
                </a:solidFill>
              </a:endParaRPr>
            </a:p>
            <a:p>
              <a:pPr indent="0" lvl="0" marL="0" rtl="0" algn="ctr">
                <a:spcBef>
                  <a:spcPts val="0"/>
                </a:spcBef>
                <a:spcAft>
                  <a:spcPts val="0"/>
                </a:spcAft>
                <a:buNone/>
              </a:pPr>
              <a:r>
                <a:rPr b="1" lang="en-GB">
                  <a:solidFill>
                    <a:schemeClr val="dk1"/>
                  </a:solidFill>
                </a:rPr>
                <a:t>Nvidia Tesla K80</a:t>
              </a:r>
              <a:endParaRPr>
                <a:solidFill>
                  <a:schemeClr val="dk1"/>
                </a:solidFill>
              </a:endParaRPr>
            </a:p>
          </p:txBody>
        </p:sp>
        <p:sp>
          <p:nvSpPr>
            <p:cNvPr id="158" name="Google Shape;158;p23"/>
            <p:cNvSpPr txBox="1"/>
            <p:nvPr/>
          </p:nvSpPr>
          <p:spPr>
            <a:xfrm>
              <a:off x="3713425" y="4628425"/>
              <a:ext cx="1771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dk1"/>
                  </a:solidFill>
                </a:rPr>
                <a:t>3.64</a:t>
              </a:r>
              <a:r>
                <a:rPr lang="en-GB">
                  <a:solidFill>
                    <a:schemeClr val="dk1"/>
                  </a:solidFill>
                </a:rPr>
                <a:t>W</a:t>
              </a:r>
              <a:endParaRPr/>
            </a:p>
          </p:txBody>
        </p:sp>
        <p:sp>
          <p:nvSpPr>
            <p:cNvPr id="159" name="Google Shape;159;p23"/>
            <p:cNvSpPr txBox="1"/>
            <p:nvPr/>
          </p:nvSpPr>
          <p:spPr>
            <a:xfrm>
              <a:off x="7142425" y="4628425"/>
              <a:ext cx="1771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dk1"/>
                  </a:solidFill>
                </a:rPr>
                <a:t>140µ</a:t>
              </a:r>
              <a:r>
                <a:rPr lang="en-GB">
                  <a:solidFill>
                    <a:schemeClr val="dk1"/>
                  </a:solidFill>
                </a:rPr>
                <a:t>W</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4"/>
          <p:cNvPicPr preferRelativeResize="0"/>
          <p:nvPr/>
        </p:nvPicPr>
        <p:blipFill>
          <a:blip r:embed="rId3">
            <a:alphaModFix/>
          </a:blip>
          <a:stretch>
            <a:fillRect/>
          </a:stretch>
        </p:blipFill>
        <p:spPr>
          <a:xfrm>
            <a:off x="1003258" y="0"/>
            <a:ext cx="8521742" cy="5143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Monitoring equipment performance for maintenance</a:t>
            </a:r>
            <a:endParaRPr/>
          </a:p>
          <a:p>
            <a:pPr indent="-317500" lvl="1" marL="914400" rtl="0" algn="l">
              <a:spcBef>
                <a:spcPts val="0"/>
              </a:spcBef>
              <a:spcAft>
                <a:spcPts val="0"/>
              </a:spcAft>
              <a:buSzPts val="1400"/>
              <a:buChar char="-"/>
            </a:pPr>
            <a:r>
              <a:rPr lang="en-GB"/>
              <a:t>Vibration patterns can indicate when an equipment requires maintenance</a:t>
            </a:r>
            <a:endParaRPr/>
          </a:p>
          <a:p>
            <a:pPr indent="-342900" lvl="0" marL="457200" rtl="0" algn="l">
              <a:spcBef>
                <a:spcPts val="0"/>
              </a:spcBef>
              <a:spcAft>
                <a:spcPts val="0"/>
              </a:spcAft>
              <a:buSzPts val="1800"/>
              <a:buChar char="-"/>
            </a:pPr>
            <a:r>
              <a:rPr lang="en-GB"/>
              <a:t>Healthcare</a:t>
            </a:r>
            <a:endParaRPr/>
          </a:p>
          <a:p>
            <a:pPr indent="-317500" lvl="1" marL="914400" rtl="0" algn="l">
              <a:spcBef>
                <a:spcPts val="0"/>
              </a:spcBef>
              <a:spcAft>
                <a:spcPts val="0"/>
              </a:spcAft>
              <a:buSzPts val="1400"/>
              <a:buChar char="-"/>
            </a:pPr>
            <a:r>
              <a:rPr lang="en-GB"/>
              <a:t>Smart pacemakers</a:t>
            </a:r>
            <a:endParaRPr/>
          </a:p>
          <a:p>
            <a:pPr indent="-317500" lvl="1" marL="914400" rtl="0" algn="l">
              <a:spcBef>
                <a:spcPts val="0"/>
              </a:spcBef>
              <a:spcAft>
                <a:spcPts val="0"/>
              </a:spcAft>
              <a:buSzPts val="1400"/>
              <a:buChar char="-"/>
            </a:pPr>
            <a:r>
              <a:rPr lang="en-GB"/>
              <a:t>The Solar Scare Mosquito project</a:t>
            </a:r>
            <a:endParaRPr/>
          </a:p>
          <a:p>
            <a:pPr indent="-342900" lvl="0" marL="457200" rtl="0" algn="l">
              <a:spcBef>
                <a:spcPts val="0"/>
              </a:spcBef>
              <a:spcAft>
                <a:spcPts val="0"/>
              </a:spcAft>
              <a:buSzPts val="1800"/>
              <a:buChar char="-"/>
            </a:pPr>
            <a:r>
              <a:rPr lang="en-GB"/>
              <a:t>Agriculture</a:t>
            </a:r>
            <a:endParaRPr/>
          </a:p>
          <a:p>
            <a:pPr indent="-317500" lvl="1" marL="914400" rtl="0" algn="l">
              <a:spcBef>
                <a:spcPts val="0"/>
              </a:spcBef>
              <a:spcAft>
                <a:spcPts val="0"/>
              </a:spcAft>
              <a:buSzPts val="1400"/>
              <a:buChar char="-"/>
            </a:pPr>
            <a:r>
              <a:rPr lang="en-GB"/>
              <a:t>Detecting diseases in plants just by taking a picture</a:t>
            </a:r>
            <a:endParaRPr/>
          </a:p>
          <a:p>
            <a:pPr indent="-317500" lvl="1" marL="914400" rtl="0" algn="l">
              <a:spcBef>
                <a:spcPts val="0"/>
              </a:spcBef>
              <a:spcAft>
                <a:spcPts val="0"/>
              </a:spcAft>
              <a:buSzPts val="1400"/>
              <a:buChar char="-"/>
            </a:pPr>
            <a:r>
              <a:rPr lang="en-GB"/>
              <a:t>Soil humidity monitoring</a:t>
            </a:r>
            <a:endParaRPr/>
          </a:p>
          <a:p>
            <a:pPr indent="-342900" lvl="0" marL="457200" rtl="0" algn="l">
              <a:spcBef>
                <a:spcPts val="0"/>
              </a:spcBef>
              <a:spcAft>
                <a:spcPts val="0"/>
              </a:spcAft>
              <a:buSzPts val="1800"/>
              <a:buChar char="-"/>
            </a:pPr>
            <a:r>
              <a:rPr lang="en-GB"/>
              <a:t>Wildlife conservation</a:t>
            </a:r>
            <a:endParaRPr/>
          </a:p>
        </p:txBody>
      </p:sp>
      <p:sp>
        <p:nvSpPr>
          <p:cNvPr id="170" name="Google Shape;170;p25"/>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Applications</a:t>
            </a:r>
            <a:endParaRPr b="1"/>
          </a:p>
        </p:txBody>
      </p:sp>
      <p:grpSp>
        <p:nvGrpSpPr>
          <p:cNvPr id="171" name="Google Shape;171;p25"/>
          <p:cNvGrpSpPr/>
          <p:nvPr/>
        </p:nvGrpSpPr>
        <p:grpSpPr>
          <a:xfrm>
            <a:off x="76200" y="1108425"/>
            <a:ext cx="9067801" cy="4091736"/>
            <a:chOff x="76200" y="1108425"/>
            <a:chExt cx="9067801" cy="4091736"/>
          </a:xfrm>
        </p:grpSpPr>
        <p:grpSp>
          <p:nvGrpSpPr>
            <p:cNvPr id="172" name="Google Shape;172;p25"/>
            <p:cNvGrpSpPr/>
            <p:nvPr/>
          </p:nvGrpSpPr>
          <p:grpSpPr>
            <a:xfrm>
              <a:off x="76200" y="2913950"/>
              <a:ext cx="9067799" cy="2286212"/>
              <a:chOff x="76200" y="2913950"/>
              <a:chExt cx="9067799" cy="2286212"/>
            </a:xfrm>
          </p:grpSpPr>
          <p:pic>
            <p:nvPicPr>
              <p:cNvPr id="173" name="Google Shape;173;p25"/>
              <p:cNvPicPr preferRelativeResize="0"/>
              <p:nvPr/>
            </p:nvPicPr>
            <p:blipFill>
              <a:blip r:embed="rId3">
                <a:alphaModFix/>
              </a:blip>
              <a:stretch>
                <a:fillRect/>
              </a:stretch>
            </p:blipFill>
            <p:spPr>
              <a:xfrm>
                <a:off x="5207924" y="2913950"/>
                <a:ext cx="3936074" cy="2224001"/>
              </a:xfrm>
              <a:prstGeom prst="rect">
                <a:avLst/>
              </a:prstGeom>
              <a:noFill/>
              <a:ln>
                <a:noFill/>
              </a:ln>
            </p:spPr>
          </p:pic>
          <p:pic>
            <p:nvPicPr>
              <p:cNvPr id="174" name="Google Shape;174;p25"/>
              <p:cNvPicPr preferRelativeResize="0"/>
              <p:nvPr/>
            </p:nvPicPr>
            <p:blipFill>
              <a:blip r:embed="rId4">
                <a:alphaModFix/>
              </a:blip>
              <a:stretch>
                <a:fillRect/>
              </a:stretch>
            </p:blipFill>
            <p:spPr>
              <a:xfrm>
                <a:off x="76200" y="3497622"/>
                <a:ext cx="2176101" cy="1631300"/>
              </a:xfrm>
              <a:prstGeom prst="rect">
                <a:avLst/>
              </a:prstGeom>
              <a:noFill/>
              <a:ln>
                <a:noFill/>
              </a:ln>
            </p:spPr>
          </p:pic>
          <p:pic>
            <p:nvPicPr>
              <p:cNvPr id="175" name="Google Shape;175;p25"/>
              <p:cNvPicPr preferRelativeResize="0"/>
              <p:nvPr/>
            </p:nvPicPr>
            <p:blipFill>
              <a:blip r:embed="rId5">
                <a:alphaModFix/>
              </a:blip>
              <a:stretch>
                <a:fillRect/>
              </a:stretch>
            </p:blipFill>
            <p:spPr>
              <a:xfrm>
                <a:off x="2505075" y="3497636"/>
                <a:ext cx="2385600" cy="1702525"/>
              </a:xfrm>
              <a:prstGeom prst="rect">
                <a:avLst/>
              </a:prstGeom>
              <a:noFill/>
              <a:ln>
                <a:noFill/>
              </a:ln>
            </p:spPr>
          </p:pic>
        </p:grpSp>
        <p:pic>
          <p:nvPicPr>
            <p:cNvPr id="176" name="Google Shape;176;p25"/>
            <p:cNvPicPr preferRelativeResize="0"/>
            <p:nvPr/>
          </p:nvPicPr>
          <p:blipFill rotWithShape="1">
            <a:blip r:embed="rId6">
              <a:alphaModFix/>
            </a:blip>
            <a:srcRect b="0" l="45852" r="17511" t="45160"/>
            <a:stretch/>
          </p:blipFill>
          <p:spPr>
            <a:xfrm>
              <a:off x="7535725" y="1108425"/>
              <a:ext cx="1608276" cy="180552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Sensor technology is advancing fast.</a:t>
            </a:r>
            <a:endParaRPr/>
          </a:p>
          <a:p>
            <a:pPr indent="-342900" lvl="0" marL="457200" rtl="0" algn="l">
              <a:spcBef>
                <a:spcPts val="0"/>
              </a:spcBef>
              <a:spcAft>
                <a:spcPts val="0"/>
              </a:spcAft>
              <a:buSzPts val="1800"/>
              <a:buChar char="-"/>
            </a:pPr>
            <a:r>
              <a:rPr lang="en-GB"/>
              <a:t>Computing devices are becoming very small and cheap (&lt; £1).</a:t>
            </a:r>
            <a:endParaRPr/>
          </a:p>
          <a:p>
            <a:pPr indent="-342900" lvl="0" marL="457200" rtl="0" algn="l">
              <a:spcBef>
                <a:spcPts val="0"/>
              </a:spcBef>
              <a:spcAft>
                <a:spcPts val="0"/>
              </a:spcAft>
              <a:buSzPts val="1800"/>
              <a:buChar char="-"/>
            </a:pPr>
            <a:r>
              <a:rPr lang="en-GB"/>
              <a:t>These can operate on battery power for a long time.</a:t>
            </a:r>
            <a:endParaRPr/>
          </a:p>
          <a:p>
            <a:pPr indent="-342900" lvl="0" marL="457200" rtl="0" algn="l">
              <a:spcBef>
                <a:spcPts val="0"/>
              </a:spcBef>
              <a:spcAft>
                <a:spcPts val="0"/>
              </a:spcAft>
              <a:buSzPts val="1800"/>
              <a:buChar char="-"/>
            </a:pPr>
            <a:r>
              <a:rPr lang="en-GB"/>
              <a:t>Any device can become smart; Many integrated devices build </a:t>
            </a:r>
            <a:r>
              <a:rPr lang="en-GB"/>
              <a:t>smarter</a:t>
            </a:r>
            <a:r>
              <a:rPr lang="en-GB"/>
              <a:t> applications.</a:t>
            </a:r>
            <a:endParaRPr/>
          </a:p>
          <a:p>
            <a:pPr indent="0" lvl="0" marL="0" rtl="0" algn="l">
              <a:lnSpc>
                <a:spcPct val="100000"/>
              </a:lnSpc>
              <a:spcBef>
                <a:spcPts val="1600"/>
              </a:spcBef>
              <a:spcAft>
                <a:spcPts val="0"/>
              </a:spcAft>
              <a:buNone/>
            </a:pPr>
            <a:r>
              <a:rPr lang="en-GB" sz="2800">
                <a:solidFill>
                  <a:schemeClr val="dk1"/>
                </a:solidFill>
              </a:rPr>
              <a:t>3</a:t>
            </a:r>
            <a:r>
              <a:rPr lang="en-GB" sz="2800">
                <a:solidFill>
                  <a:schemeClr val="dk1"/>
                </a:solidFill>
              </a:rPr>
              <a:t> minutes to think about some future application with smart devices:</a:t>
            </a:r>
            <a:endParaRPr sz="2800">
              <a:solidFill>
                <a:schemeClr val="dk1"/>
              </a:solidFill>
            </a:endParaRPr>
          </a:p>
          <a:p>
            <a:pPr indent="0" lvl="0" marL="0" rtl="0" algn="l">
              <a:lnSpc>
                <a:spcPct val="100000"/>
              </a:lnSpc>
              <a:spcBef>
                <a:spcPts val="0"/>
              </a:spcBef>
              <a:spcAft>
                <a:spcPts val="0"/>
              </a:spcAft>
              <a:buNone/>
            </a:pPr>
            <a:r>
              <a:rPr lang="en-GB" u="sng">
                <a:solidFill>
                  <a:schemeClr val="hlink"/>
                </a:solidFill>
                <a:hlinkClick r:id="rId3"/>
              </a:rPr>
              <a:t>https://jamboard.google.com/d/1u1M35eNfZmHlMnArzAEAJEyDhuMJ7vR4jb0ZbofiWq0/edit?usp=sharing</a:t>
            </a:r>
            <a:endParaRPr/>
          </a:p>
          <a:p>
            <a:pPr indent="0" lvl="0" marL="0" rtl="0" algn="l">
              <a:lnSpc>
                <a:spcPct val="100000"/>
              </a:lnSpc>
              <a:spcBef>
                <a:spcPts val="0"/>
              </a:spcBef>
              <a:spcAft>
                <a:spcPts val="0"/>
              </a:spcAft>
              <a:buNone/>
            </a:pPr>
            <a:r>
              <a:rPr lang="en-GB"/>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Cloud Solutions</a:t>
            </a:r>
            <a:endParaRPr b="1"/>
          </a:p>
        </p:txBody>
      </p:sp>
      <p:pic>
        <p:nvPicPr>
          <p:cNvPr id="188" name="Google Shape;188;p27"/>
          <p:cNvPicPr preferRelativeResize="0"/>
          <p:nvPr/>
        </p:nvPicPr>
        <p:blipFill>
          <a:blip r:embed="rId3">
            <a:alphaModFix/>
          </a:blip>
          <a:stretch>
            <a:fillRect/>
          </a:stretch>
        </p:blipFill>
        <p:spPr>
          <a:xfrm>
            <a:off x="-99190" y="27800"/>
            <a:ext cx="9319389" cy="5143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Amazon Web Services (AWS)</a:t>
            </a:r>
            <a:endParaRPr/>
          </a:p>
          <a:p>
            <a:pPr indent="-342900" lvl="0" marL="457200" rtl="0" algn="l">
              <a:spcBef>
                <a:spcPts val="0"/>
              </a:spcBef>
              <a:spcAft>
                <a:spcPts val="0"/>
              </a:spcAft>
              <a:buSzPts val="1800"/>
              <a:buChar char="-"/>
            </a:pPr>
            <a:r>
              <a:rPr lang="en-GB"/>
              <a:t>Microsoft Azure</a:t>
            </a:r>
            <a:endParaRPr/>
          </a:p>
          <a:p>
            <a:pPr indent="-342900" lvl="0" marL="457200" rtl="0" algn="l">
              <a:spcBef>
                <a:spcPts val="0"/>
              </a:spcBef>
              <a:spcAft>
                <a:spcPts val="0"/>
              </a:spcAft>
              <a:buSzPts val="1800"/>
              <a:buChar char="-"/>
            </a:pPr>
            <a:r>
              <a:rPr lang="en-GB"/>
              <a:t>Google</a:t>
            </a:r>
            <a:endParaRPr/>
          </a:p>
        </p:txBody>
      </p:sp>
      <p:sp>
        <p:nvSpPr>
          <p:cNvPr id="194" name="Google Shape;194;p28"/>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Cloud Services</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a:t>In traditional programming, the rule is set by the programmer. In ML, the rule is learned from a large set of expert annotated data.</a:t>
            </a:r>
            <a:endParaRPr/>
          </a:p>
        </p:txBody>
      </p:sp>
      <p:sp>
        <p:nvSpPr>
          <p:cNvPr id="200" name="Google Shape;200;p29"/>
          <p:cNvSpPr txBox="1"/>
          <p:nvPr>
            <p:ph type="title"/>
          </p:nvPr>
        </p:nvSpPr>
        <p:spPr>
          <a:xfrm>
            <a:off x="1065050" y="-8825"/>
            <a:ext cx="724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The ML paradigm</a:t>
            </a:r>
            <a:endParaRPr b="1"/>
          </a:p>
        </p:txBody>
      </p:sp>
      <p:pic>
        <p:nvPicPr>
          <p:cNvPr id="201" name="Google Shape;201;p29"/>
          <p:cNvPicPr preferRelativeResize="0"/>
          <p:nvPr/>
        </p:nvPicPr>
        <p:blipFill>
          <a:blip r:embed="rId3">
            <a:alphaModFix/>
          </a:blip>
          <a:stretch>
            <a:fillRect/>
          </a:stretch>
        </p:blipFill>
        <p:spPr>
          <a:xfrm>
            <a:off x="1710700" y="1966100"/>
            <a:ext cx="5322351" cy="970775"/>
          </a:xfrm>
          <a:prstGeom prst="rect">
            <a:avLst/>
          </a:prstGeom>
          <a:noFill/>
          <a:ln>
            <a:noFill/>
          </a:ln>
        </p:spPr>
      </p:pic>
      <p:pic>
        <p:nvPicPr>
          <p:cNvPr id="202" name="Google Shape;202;p29"/>
          <p:cNvPicPr preferRelativeResize="0"/>
          <p:nvPr/>
        </p:nvPicPr>
        <p:blipFill>
          <a:blip r:embed="rId4">
            <a:alphaModFix/>
          </a:blip>
          <a:stretch>
            <a:fillRect/>
          </a:stretch>
        </p:blipFill>
        <p:spPr>
          <a:xfrm>
            <a:off x="1710700" y="3598467"/>
            <a:ext cx="5322350" cy="9954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Steps in building a ML model:</a:t>
            </a:r>
            <a:endParaRPr/>
          </a:p>
          <a:p>
            <a:pPr indent="-342900" lvl="0" marL="457200" rtl="0" algn="l">
              <a:spcBef>
                <a:spcPts val="1600"/>
              </a:spcBef>
              <a:spcAft>
                <a:spcPts val="0"/>
              </a:spcAft>
              <a:buSzPts val="1800"/>
              <a:buChar char="-"/>
            </a:pPr>
            <a:r>
              <a:rPr lang="en-GB"/>
              <a:t>Data collection</a:t>
            </a:r>
            <a:endParaRPr/>
          </a:p>
          <a:p>
            <a:pPr indent="-342900" lvl="0" marL="457200" rtl="0" algn="l">
              <a:spcBef>
                <a:spcPts val="0"/>
              </a:spcBef>
              <a:spcAft>
                <a:spcPts val="0"/>
              </a:spcAft>
              <a:buSzPts val="1800"/>
              <a:buChar char="-"/>
            </a:pPr>
            <a:r>
              <a:rPr lang="en-GB"/>
              <a:t>Data sanitation and pre-processing</a:t>
            </a:r>
            <a:endParaRPr/>
          </a:p>
          <a:p>
            <a:pPr indent="-342900" lvl="0" marL="457200" rtl="0" algn="l">
              <a:spcBef>
                <a:spcPts val="0"/>
              </a:spcBef>
              <a:spcAft>
                <a:spcPts val="0"/>
              </a:spcAft>
              <a:buSzPts val="1800"/>
              <a:buChar char="-"/>
            </a:pPr>
            <a:r>
              <a:rPr lang="en-GB"/>
              <a:t>Data analytics</a:t>
            </a:r>
            <a:endParaRPr/>
          </a:p>
          <a:p>
            <a:pPr indent="-342900" lvl="0" marL="457200" rtl="0" algn="l">
              <a:spcBef>
                <a:spcPts val="0"/>
              </a:spcBef>
              <a:spcAft>
                <a:spcPts val="0"/>
              </a:spcAft>
              <a:buSzPts val="1800"/>
              <a:buChar char="-"/>
            </a:pPr>
            <a:r>
              <a:rPr lang="en-GB"/>
              <a:t>Training</a:t>
            </a:r>
            <a:endParaRPr/>
          </a:p>
          <a:p>
            <a:pPr indent="-342900" lvl="0" marL="457200" rtl="0" algn="l">
              <a:spcBef>
                <a:spcPts val="0"/>
              </a:spcBef>
              <a:spcAft>
                <a:spcPts val="0"/>
              </a:spcAft>
              <a:buSzPts val="1800"/>
              <a:buChar char="-"/>
            </a:pPr>
            <a:r>
              <a:rPr lang="en-GB"/>
              <a:t>Test</a:t>
            </a:r>
            <a:endParaRPr/>
          </a:p>
          <a:p>
            <a:pPr indent="-342900" lvl="0" marL="457200" rtl="0" algn="l">
              <a:spcBef>
                <a:spcPts val="0"/>
              </a:spcBef>
              <a:spcAft>
                <a:spcPts val="0"/>
              </a:spcAft>
              <a:buSzPts val="1800"/>
              <a:buChar char="-"/>
            </a:pPr>
            <a:r>
              <a:rPr lang="en-GB"/>
              <a:t>Deployment</a:t>
            </a:r>
            <a:endParaRPr/>
          </a:p>
        </p:txBody>
      </p:sp>
      <p:sp>
        <p:nvSpPr>
          <p:cNvPr id="208" name="Google Shape;208;p30"/>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Training - Inference</a:t>
            </a:r>
            <a:endParaRPr b="1"/>
          </a:p>
        </p:txBody>
      </p:sp>
      <p:sp>
        <p:nvSpPr>
          <p:cNvPr id="209" name="Google Shape;209;p30"/>
          <p:cNvSpPr txBox="1"/>
          <p:nvPr/>
        </p:nvSpPr>
        <p:spPr>
          <a:xfrm>
            <a:off x="4504925" y="1244150"/>
            <a:ext cx="171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on-device</a:t>
            </a:r>
            <a:endParaRPr/>
          </a:p>
        </p:txBody>
      </p:sp>
      <p:sp>
        <p:nvSpPr>
          <p:cNvPr id="210" name="Google Shape;210;p30"/>
          <p:cNvSpPr txBox="1"/>
          <p:nvPr/>
        </p:nvSpPr>
        <p:spPr>
          <a:xfrm>
            <a:off x="4504925" y="2823125"/>
            <a:ext cx="171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on-device</a:t>
            </a:r>
            <a:endParaRPr/>
          </a:p>
        </p:txBody>
      </p:sp>
      <p:grpSp>
        <p:nvGrpSpPr>
          <p:cNvPr id="211" name="Google Shape;211;p30"/>
          <p:cNvGrpSpPr/>
          <p:nvPr/>
        </p:nvGrpSpPr>
        <p:grpSpPr>
          <a:xfrm>
            <a:off x="4549800" y="1644350"/>
            <a:ext cx="1868200" cy="1178774"/>
            <a:chOff x="4549800" y="1644350"/>
            <a:chExt cx="1868200" cy="1178774"/>
          </a:xfrm>
        </p:grpSpPr>
        <p:sp>
          <p:nvSpPr>
            <p:cNvPr id="212" name="Google Shape;212;p30"/>
            <p:cNvSpPr txBox="1"/>
            <p:nvPr/>
          </p:nvSpPr>
          <p:spPr>
            <a:xfrm>
              <a:off x="4703500" y="2033638"/>
              <a:ext cx="1714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in the cloud</a:t>
              </a:r>
              <a:endParaRPr/>
            </a:p>
          </p:txBody>
        </p:sp>
        <p:pic>
          <p:nvPicPr>
            <p:cNvPr id="213" name="Google Shape;213;p30"/>
            <p:cNvPicPr preferRelativeResize="0"/>
            <p:nvPr/>
          </p:nvPicPr>
          <p:blipFill>
            <a:blip r:embed="rId3">
              <a:alphaModFix/>
            </a:blip>
            <a:stretch>
              <a:fillRect/>
            </a:stretch>
          </p:blipFill>
          <p:spPr>
            <a:xfrm>
              <a:off x="4549800" y="1644350"/>
              <a:ext cx="153700" cy="117877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idx="1" type="body"/>
          </p:nvPr>
        </p:nvSpPr>
        <p:spPr>
          <a:xfrm>
            <a:off x="6900" y="746275"/>
            <a:ext cx="60000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Traditional ML </a:t>
            </a:r>
            <a:endParaRPr/>
          </a:p>
          <a:p>
            <a:pPr indent="-317500" lvl="1" marL="914400" rtl="0" algn="l">
              <a:spcBef>
                <a:spcPts val="0"/>
              </a:spcBef>
              <a:spcAft>
                <a:spcPts val="0"/>
              </a:spcAft>
              <a:buSzPts val="1400"/>
              <a:buChar char="-"/>
            </a:pPr>
            <a:r>
              <a:rPr lang="en-GB"/>
              <a:t>Classifiers (Sklearn):</a:t>
            </a:r>
            <a:endParaRPr/>
          </a:p>
          <a:p>
            <a:pPr indent="-317500" lvl="2" marL="1371600" rtl="0" algn="l">
              <a:spcBef>
                <a:spcPts val="0"/>
              </a:spcBef>
              <a:spcAft>
                <a:spcPts val="0"/>
              </a:spcAft>
              <a:buSzPts val="1400"/>
              <a:buChar char="-"/>
            </a:pPr>
            <a:r>
              <a:rPr lang="en-GB"/>
              <a:t>Decision Tree classifiers</a:t>
            </a:r>
            <a:endParaRPr/>
          </a:p>
          <a:p>
            <a:pPr indent="-317500" lvl="2" marL="1371600" rtl="0" algn="l">
              <a:spcBef>
                <a:spcPts val="0"/>
              </a:spcBef>
              <a:spcAft>
                <a:spcPts val="0"/>
              </a:spcAft>
              <a:buSzPts val="1400"/>
              <a:buChar char="-"/>
            </a:pPr>
            <a:r>
              <a:rPr lang="en-GB"/>
              <a:t>Random Forest classifiers</a:t>
            </a:r>
            <a:endParaRPr/>
          </a:p>
          <a:p>
            <a:pPr indent="-317500" lvl="2" marL="1371600" rtl="0" algn="l">
              <a:spcBef>
                <a:spcPts val="0"/>
              </a:spcBef>
              <a:spcAft>
                <a:spcPts val="0"/>
              </a:spcAft>
              <a:buSzPts val="1400"/>
              <a:buChar char="-"/>
            </a:pPr>
            <a:r>
              <a:rPr lang="en-GB"/>
              <a:t>Nearest Neighbour classifiers</a:t>
            </a:r>
            <a:endParaRPr/>
          </a:p>
          <a:p>
            <a:pPr indent="-317500" lvl="2" marL="1371600" rtl="0" algn="l">
              <a:spcBef>
                <a:spcPts val="0"/>
              </a:spcBef>
              <a:spcAft>
                <a:spcPts val="0"/>
              </a:spcAft>
              <a:buSzPts val="1400"/>
              <a:buChar char="-"/>
            </a:pPr>
            <a:r>
              <a:rPr lang="en-GB"/>
              <a:t>Bayesian</a:t>
            </a:r>
            <a:r>
              <a:rPr lang="en-GB"/>
              <a:t> Classifiers (Naive Bayes, Bayesian Nets)</a:t>
            </a:r>
            <a:endParaRPr/>
          </a:p>
          <a:p>
            <a:pPr indent="-317500" lvl="2" marL="1371600" rtl="0" algn="l">
              <a:spcBef>
                <a:spcPts val="0"/>
              </a:spcBef>
              <a:spcAft>
                <a:spcPts val="0"/>
              </a:spcAft>
              <a:buSzPts val="1400"/>
              <a:buChar char="-"/>
            </a:pPr>
            <a:r>
              <a:rPr lang="en-GB"/>
              <a:t>Support Vector Machine (SVM) classifiers</a:t>
            </a:r>
            <a:endParaRPr/>
          </a:p>
          <a:p>
            <a:pPr indent="-317500" lvl="1" marL="914400" rtl="0" algn="l">
              <a:spcBef>
                <a:spcPts val="0"/>
              </a:spcBef>
              <a:spcAft>
                <a:spcPts val="0"/>
              </a:spcAft>
              <a:buSzPts val="1400"/>
              <a:buChar char="-"/>
            </a:pPr>
            <a:r>
              <a:rPr lang="en-GB"/>
              <a:t>Regression</a:t>
            </a:r>
            <a:endParaRPr/>
          </a:p>
          <a:p>
            <a:pPr indent="-317500" lvl="2" marL="1371600" rtl="0" algn="l">
              <a:spcBef>
                <a:spcPts val="0"/>
              </a:spcBef>
              <a:spcAft>
                <a:spcPts val="0"/>
              </a:spcAft>
              <a:buSzPts val="1400"/>
              <a:buChar char="-"/>
            </a:pPr>
            <a:r>
              <a:rPr lang="en-GB"/>
              <a:t>Logistic regression</a:t>
            </a:r>
            <a:endParaRPr/>
          </a:p>
          <a:p>
            <a:pPr indent="-317500" lvl="1" marL="914400" rtl="0" algn="l">
              <a:spcBef>
                <a:spcPts val="0"/>
              </a:spcBef>
              <a:spcAft>
                <a:spcPts val="0"/>
              </a:spcAft>
              <a:buSzPts val="1400"/>
              <a:buChar char="-"/>
            </a:pPr>
            <a:r>
              <a:rPr lang="en-GB"/>
              <a:t>Clustering</a:t>
            </a:r>
            <a:endParaRPr/>
          </a:p>
          <a:p>
            <a:pPr indent="-317500" lvl="2" marL="1371600" rtl="0" algn="l">
              <a:spcBef>
                <a:spcPts val="0"/>
              </a:spcBef>
              <a:spcAft>
                <a:spcPts val="0"/>
              </a:spcAft>
              <a:buSzPts val="1400"/>
              <a:buChar char="-"/>
            </a:pPr>
            <a:r>
              <a:rPr lang="en-GB"/>
              <a:t>k-Means</a:t>
            </a:r>
            <a:endParaRPr/>
          </a:p>
          <a:p>
            <a:pPr indent="-317500" lvl="2" marL="1371600" rtl="0" algn="l">
              <a:spcBef>
                <a:spcPts val="0"/>
              </a:spcBef>
              <a:spcAft>
                <a:spcPts val="0"/>
              </a:spcAft>
              <a:buSzPts val="1400"/>
              <a:buChar char="-"/>
            </a:pPr>
            <a:r>
              <a:rPr lang="en-GB"/>
              <a:t>DBSCAN</a:t>
            </a:r>
            <a:endParaRPr/>
          </a:p>
          <a:p>
            <a:pPr indent="-342900" lvl="0" marL="457200" rtl="0" algn="l">
              <a:spcBef>
                <a:spcPts val="0"/>
              </a:spcBef>
              <a:spcAft>
                <a:spcPts val="0"/>
              </a:spcAft>
              <a:buSzPts val="1800"/>
              <a:buChar char="-"/>
            </a:pPr>
            <a:r>
              <a:rPr lang="en-GB"/>
              <a:t>D</a:t>
            </a:r>
            <a:r>
              <a:rPr lang="en-GB"/>
              <a:t>eep learning</a:t>
            </a:r>
            <a:endParaRPr/>
          </a:p>
          <a:p>
            <a:pPr indent="-317500" lvl="1" marL="914400" rtl="0" algn="l">
              <a:spcBef>
                <a:spcPts val="0"/>
              </a:spcBef>
              <a:spcAft>
                <a:spcPts val="0"/>
              </a:spcAft>
              <a:buSzPts val="1400"/>
              <a:buChar char="-"/>
            </a:pPr>
            <a:r>
              <a:rPr lang="en-GB"/>
              <a:t>Convolutional Neural Networks (CNN) </a:t>
            </a:r>
            <a:endParaRPr/>
          </a:p>
          <a:p>
            <a:pPr indent="-317500" lvl="1" marL="914400" rtl="0" algn="l">
              <a:spcBef>
                <a:spcPts val="0"/>
              </a:spcBef>
              <a:spcAft>
                <a:spcPts val="0"/>
              </a:spcAft>
              <a:buSzPts val="1400"/>
              <a:buChar char="-"/>
            </a:pPr>
            <a:r>
              <a:rPr lang="en-GB"/>
              <a:t>Recurrent Neural Networks (RNN)</a:t>
            </a:r>
            <a:endParaRPr/>
          </a:p>
          <a:p>
            <a:pPr indent="-317500" lvl="1" marL="914400" rtl="0" algn="l">
              <a:spcBef>
                <a:spcPts val="0"/>
              </a:spcBef>
              <a:spcAft>
                <a:spcPts val="0"/>
              </a:spcAft>
              <a:buSzPts val="1400"/>
              <a:buChar char="-"/>
            </a:pPr>
            <a:r>
              <a:rPr lang="en-GB"/>
              <a:t>Generative Adversarial Networks (GAN)</a:t>
            </a:r>
            <a:endParaRPr/>
          </a:p>
        </p:txBody>
      </p:sp>
      <p:sp>
        <p:nvSpPr>
          <p:cNvPr id="219" name="Google Shape;219;p31"/>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Common ML Algorithms</a:t>
            </a:r>
            <a:endParaRPr b="1"/>
          </a:p>
        </p:txBody>
      </p:sp>
      <p:pic>
        <p:nvPicPr>
          <p:cNvPr id="220" name="Google Shape;220;p31"/>
          <p:cNvPicPr preferRelativeResize="0"/>
          <p:nvPr/>
        </p:nvPicPr>
        <p:blipFill>
          <a:blip r:embed="rId3">
            <a:alphaModFix/>
          </a:blip>
          <a:stretch>
            <a:fillRect/>
          </a:stretch>
        </p:blipFill>
        <p:spPr>
          <a:xfrm>
            <a:off x="5398050" y="48675"/>
            <a:ext cx="3745951" cy="2758249"/>
          </a:xfrm>
          <a:prstGeom prst="rect">
            <a:avLst/>
          </a:prstGeom>
          <a:noFill/>
          <a:ln>
            <a:noFill/>
          </a:ln>
        </p:spPr>
      </p:pic>
      <p:pic>
        <p:nvPicPr>
          <p:cNvPr id="221" name="Google Shape;221;p31"/>
          <p:cNvPicPr preferRelativeResize="0"/>
          <p:nvPr/>
        </p:nvPicPr>
        <p:blipFill rotWithShape="1">
          <a:blip r:embed="rId4">
            <a:alphaModFix/>
          </a:blip>
          <a:srcRect b="0" l="5338" r="0" t="21408"/>
          <a:stretch/>
        </p:blipFill>
        <p:spPr>
          <a:xfrm>
            <a:off x="6747800" y="2806925"/>
            <a:ext cx="2396200" cy="1274500"/>
          </a:xfrm>
          <a:prstGeom prst="rect">
            <a:avLst/>
          </a:prstGeom>
          <a:noFill/>
          <a:ln>
            <a:noFill/>
          </a:ln>
        </p:spPr>
      </p:pic>
      <p:pic>
        <p:nvPicPr>
          <p:cNvPr id="222" name="Google Shape;222;p31"/>
          <p:cNvPicPr preferRelativeResize="0"/>
          <p:nvPr/>
        </p:nvPicPr>
        <p:blipFill>
          <a:blip r:embed="rId5">
            <a:alphaModFix/>
          </a:blip>
          <a:stretch>
            <a:fillRect/>
          </a:stretch>
        </p:blipFill>
        <p:spPr>
          <a:xfrm>
            <a:off x="4400050" y="2929375"/>
            <a:ext cx="2274800" cy="2214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32"/>
          <p:cNvPicPr preferRelativeResize="0"/>
          <p:nvPr/>
        </p:nvPicPr>
        <p:blipFill>
          <a:blip r:embed="rId3">
            <a:alphaModFix/>
          </a:blip>
          <a:stretch>
            <a:fillRect/>
          </a:stretch>
        </p:blipFill>
        <p:spPr>
          <a:xfrm>
            <a:off x="1630650" y="917238"/>
            <a:ext cx="5882700" cy="3309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Traditional ML</a:t>
            </a:r>
            <a:endParaRPr/>
          </a:p>
          <a:p>
            <a:pPr indent="-317500" lvl="1" marL="914400" rtl="0" algn="l">
              <a:spcBef>
                <a:spcPts val="0"/>
              </a:spcBef>
              <a:spcAft>
                <a:spcPts val="0"/>
              </a:spcAft>
              <a:buSzPts val="1400"/>
              <a:buChar char="-"/>
            </a:pPr>
            <a:r>
              <a:rPr lang="en-GB"/>
              <a:t>Hand-engineered features (edges, corners, edge direction, interpoint distance, etc.)</a:t>
            </a:r>
            <a:endParaRPr/>
          </a:p>
          <a:p>
            <a:pPr indent="-342900" lvl="0" marL="457200" rtl="0" algn="l">
              <a:spcBef>
                <a:spcPts val="0"/>
              </a:spcBef>
              <a:spcAft>
                <a:spcPts val="0"/>
              </a:spcAft>
              <a:buSzPts val="1800"/>
              <a:buChar char="-"/>
            </a:pPr>
            <a:r>
              <a:rPr lang="en-GB"/>
              <a:t>Deep Learning:</a:t>
            </a:r>
            <a:endParaRPr/>
          </a:p>
          <a:p>
            <a:pPr indent="-317500" lvl="1" marL="914400" rtl="0" algn="l">
              <a:spcBef>
                <a:spcPts val="0"/>
              </a:spcBef>
              <a:spcAft>
                <a:spcPts val="0"/>
              </a:spcAft>
              <a:buSzPts val="1400"/>
              <a:buChar char="-"/>
            </a:pPr>
            <a:r>
              <a:rPr lang="en-GB"/>
              <a:t>Features are automatically extracted during training</a:t>
            </a:r>
            <a:endParaRPr/>
          </a:p>
        </p:txBody>
      </p:sp>
      <p:sp>
        <p:nvSpPr>
          <p:cNvPr id="233" name="Google Shape;233;p33"/>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Feature Extraction</a:t>
            </a:r>
            <a:endParaRPr b="1"/>
          </a:p>
        </p:txBody>
      </p:sp>
      <p:pic>
        <p:nvPicPr>
          <p:cNvPr id="234" name="Google Shape;234;p33"/>
          <p:cNvPicPr preferRelativeResize="0"/>
          <p:nvPr/>
        </p:nvPicPr>
        <p:blipFill>
          <a:blip r:embed="rId3">
            <a:alphaModFix/>
          </a:blip>
          <a:stretch>
            <a:fillRect/>
          </a:stretch>
        </p:blipFill>
        <p:spPr>
          <a:xfrm>
            <a:off x="2706388" y="2166072"/>
            <a:ext cx="3731225" cy="2096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On-device training is hard</a:t>
            </a:r>
            <a:endParaRPr/>
          </a:p>
          <a:p>
            <a:pPr indent="-317500" lvl="1" marL="914400" rtl="0" algn="l">
              <a:spcBef>
                <a:spcPts val="0"/>
              </a:spcBef>
              <a:spcAft>
                <a:spcPts val="0"/>
              </a:spcAft>
              <a:buSzPts val="1400"/>
              <a:buChar char="-"/>
            </a:pPr>
            <a:r>
              <a:rPr lang="en-GB"/>
              <a:t>Not enough resources (computation and energy).</a:t>
            </a:r>
            <a:endParaRPr/>
          </a:p>
          <a:p>
            <a:pPr indent="-342900" lvl="0" marL="457200" rtl="0" algn="l">
              <a:spcBef>
                <a:spcPts val="0"/>
              </a:spcBef>
              <a:spcAft>
                <a:spcPts val="0"/>
              </a:spcAft>
              <a:buSzPts val="1800"/>
              <a:buChar char="-"/>
            </a:pPr>
            <a:r>
              <a:rPr lang="en-GB"/>
              <a:t>We will look into Federated Learning as one example of training enabled at the edge in a next lecture.</a:t>
            </a:r>
            <a:endParaRPr/>
          </a:p>
          <a:p>
            <a:pPr indent="-342900" lvl="0" marL="457200" rtl="0" algn="l">
              <a:spcBef>
                <a:spcPts val="0"/>
              </a:spcBef>
              <a:spcAft>
                <a:spcPts val="0"/>
              </a:spcAft>
              <a:buSzPts val="1800"/>
              <a:buChar char="-"/>
            </a:pPr>
            <a:r>
              <a:rPr lang="en-GB"/>
              <a:t>The ML paradigm:</a:t>
            </a:r>
            <a:endParaRPr/>
          </a:p>
        </p:txBody>
      </p:sp>
      <p:sp>
        <p:nvSpPr>
          <p:cNvPr id="240" name="Google Shape;240;p34"/>
          <p:cNvSpPr txBox="1"/>
          <p:nvPr>
            <p:ph type="title"/>
          </p:nvPr>
        </p:nvSpPr>
        <p:spPr>
          <a:xfrm>
            <a:off x="1065050" y="-8825"/>
            <a:ext cx="724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Training</a:t>
            </a:r>
            <a:endParaRPr b="1"/>
          </a:p>
        </p:txBody>
      </p:sp>
      <p:pic>
        <p:nvPicPr>
          <p:cNvPr id="241" name="Google Shape;241;p34"/>
          <p:cNvPicPr preferRelativeResize="0"/>
          <p:nvPr/>
        </p:nvPicPr>
        <p:blipFill>
          <a:blip r:embed="rId3">
            <a:alphaModFix/>
          </a:blip>
          <a:stretch>
            <a:fillRect/>
          </a:stretch>
        </p:blipFill>
        <p:spPr>
          <a:xfrm>
            <a:off x="1173925" y="2849099"/>
            <a:ext cx="7029950" cy="1948375"/>
          </a:xfrm>
          <a:prstGeom prst="rect">
            <a:avLst/>
          </a:prstGeom>
          <a:noFill/>
          <a:ln>
            <a:noFill/>
          </a:ln>
        </p:spPr>
      </p:pic>
      <p:grpSp>
        <p:nvGrpSpPr>
          <p:cNvPr id="242" name="Google Shape;242;p34"/>
          <p:cNvGrpSpPr/>
          <p:nvPr/>
        </p:nvGrpSpPr>
        <p:grpSpPr>
          <a:xfrm>
            <a:off x="3975200" y="2184500"/>
            <a:ext cx="1395900" cy="789300"/>
            <a:chOff x="3975200" y="2184500"/>
            <a:chExt cx="1395900" cy="789300"/>
          </a:xfrm>
        </p:grpSpPr>
        <p:sp>
          <p:nvSpPr>
            <p:cNvPr id="243" name="Google Shape;243;p34"/>
            <p:cNvSpPr/>
            <p:nvPr/>
          </p:nvSpPr>
          <p:spPr>
            <a:xfrm>
              <a:off x="3975200" y="2184500"/>
              <a:ext cx="1395900" cy="4401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t>Data</a:t>
              </a:r>
              <a:endParaRPr/>
            </a:p>
          </p:txBody>
        </p:sp>
        <p:cxnSp>
          <p:nvCxnSpPr>
            <p:cNvPr id="244" name="Google Shape;244;p34"/>
            <p:cNvCxnSpPr>
              <a:stCxn id="243" idx="2"/>
            </p:cNvCxnSpPr>
            <p:nvPr/>
          </p:nvCxnSpPr>
          <p:spPr>
            <a:xfrm>
              <a:off x="4673150" y="2624600"/>
              <a:ext cx="0" cy="349200"/>
            </a:xfrm>
            <a:prstGeom prst="straightConnector1">
              <a:avLst/>
            </a:prstGeom>
            <a:noFill/>
            <a:ln cap="flat" cmpd="sng" w="38100">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Given {(x</a:t>
            </a:r>
            <a:r>
              <a:rPr baseline="-25000" lang="en-GB"/>
              <a:t>1</a:t>
            </a:r>
            <a:r>
              <a:rPr lang="en-GB"/>
              <a:t>, y</a:t>
            </a:r>
            <a:r>
              <a:rPr baseline="-25000" lang="en-GB"/>
              <a:t>1</a:t>
            </a:r>
            <a:r>
              <a:rPr lang="en-GB"/>
              <a:t>), ..., (x</a:t>
            </a:r>
            <a:r>
              <a:rPr baseline="-25000" lang="en-GB"/>
              <a:t>n</a:t>
            </a:r>
            <a:r>
              <a:rPr lang="en-GB"/>
              <a:t>, y</a:t>
            </a:r>
            <a:r>
              <a:rPr baseline="-25000" lang="en-GB"/>
              <a:t>n</a:t>
            </a:r>
            <a:r>
              <a:rPr lang="en-GB"/>
              <a:t>)}, want </a:t>
            </a:r>
            <a:r>
              <a:rPr lang="en-GB">
                <a:latin typeface="Georgia"/>
                <a:ea typeface="Georgia"/>
                <a:cs typeface="Georgia"/>
                <a:sym typeface="Georgia"/>
              </a:rPr>
              <a:t>f</a:t>
            </a:r>
            <a:r>
              <a:rPr baseline="-25000" lang="en-GB">
                <a:latin typeface="Georgia"/>
                <a:ea typeface="Georgia"/>
                <a:cs typeface="Georgia"/>
                <a:sym typeface="Georgia"/>
              </a:rPr>
              <a:t>θ</a:t>
            </a:r>
            <a:r>
              <a:rPr lang="en-GB">
                <a:latin typeface="Georgia"/>
                <a:ea typeface="Georgia"/>
                <a:cs typeface="Georgia"/>
                <a:sym typeface="Georgia"/>
              </a:rPr>
              <a:t>(x</a:t>
            </a:r>
            <a:r>
              <a:rPr baseline="-25000" lang="en-GB">
                <a:latin typeface="Georgia"/>
                <a:ea typeface="Georgia"/>
                <a:cs typeface="Georgia"/>
                <a:sym typeface="Georgia"/>
              </a:rPr>
              <a:t>i</a:t>
            </a:r>
            <a:r>
              <a:rPr lang="en-GB">
                <a:latin typeface="Georgia"/>
                <a:ea typeface="Georgia"/>
                <a:cs typeface="Georgia"/>
                <a:sym typeface="Georgia"/>
              </a:rPr>
              <a:t>) ~ y</a:t>
            </a:r>
            <a:r>
              <a:rPr baseline="-25000" lang="en-GB">
                <a:latin typeface="Georgia"/>
                <a:ea typeface="Georgia"/>
                <a:cs typeface="Georgia"/>
                <a:sym typeface="Georgia"/>
              </a:rPr>
              <a:t>i</a:t>
            </a:r>
            <a:r>
              <a:rPr baseline="30000" lang="en-GB"/>
              <a:t> </a:t>
            </a:r>
            <a:endParaRPr/>
          </a:p>
          <a:p>
            <a:pPr indent="-342900" lvl="0" marL="457200" rtl="0" algn="l">
              <a:spcBef>
                <a:spcPts val="0"/>
              </a:spcBef>
              <a:spcAft>
                <a:spcPts val="0"/>
              </a:spcAft>
              <a:buSzPts val="1800"/>
              <a:buChar char="-"/>
            </a:pPr>
            <a:r>
              <a:rPr lang="en-GB"/>
              <a:t>Loss function:</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GB"/>
              <a:t>Minimising the loss function</a:t>
            </a:r>
            <a:endParaRPr/>
          </a:p>
        </p:txBody>
      </p:sp>
      <p:sp>
        <p:nvSpPr>
          <p:cNvPr id="250" name="Google Shape;250;p35"/>
          <p:cNvSpPr txBox="1"/>
          <p:nvPr>
            <p:ph type="title"/>
          </p:nvPr>
        </p:nvSpPr>
        <p:spPr>
          <a:xfrm>
            <a:off x="1065050" y="-8825"/>
            <a:ext cx="7247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Training with Gradient Descent</a:t>
            </a:r>
            <a:endParaRPr b="1"/>
          </a:p>
        </p:txBody>
      </p:sp>
      <p:pic>
        <p:nvPicPr>
          <p:cNvPr id="251" name="Google Shape;251;p35"/>
          <p:cNvPicPr preferRelativeResize="0"/>
          <p:nvPr/>
        </p:nvPicPr>
        <p:blipFill>
          <a:blip r:embed="rId3">
            <a:alphaModFix/>
          </a:blip>
          <a:stretch>
            <a:fillRect/>
          </a:stretch>
        </p:blipFill>
        <p:spPr>
          <a:xfrm>
            <a:off x="2327725" y="1391750"/>
            <a:ext cx="1879925" cy="449550"/>
          </a:xfrm>
          <a:prstGeom prst="rect">
            <a:avLst/>
          </a:prstGeom>
          <a:noFill/>
          <a:ln>
            <a:noFill/>
          </a:ln>
        </p:spPr>
      </p:pic>
      <p:grpSp>
        <p:nvGrpSpPr>
          <p:cNvPr id="252" name="Google Shape;252;p35"/>
          <p:cNvGrpSpPr/>
          <p:nvPr/>
        </p:nvGrpSpPr>
        <p:grpSpPr>
          <a:xfrm>
            <a:off x="897679" y="2553051"/>
            <a:ext cx="5722020" cy="2162850"/>
            <a:chOff x="897679" y="2553051"/>
            <a:chExt cx="5722020" cy="2162850"/>
          </a:xfrm>
        </p:grpSpPr>
        <p:pic>
          <p:nvPicPr>
            <p:cNvPr id="253" name="Google Shape;253;p35"/>
            <p:cNvPicPr preferRelativeResize="0"/>
            <p:nvPr/>
          </p:nvPicPr>
          <p:blipFill>
            <a:blip r:embed="rId4">
              <a:alphaModFix/>
            </a:blip>
            <a:stretch>
              <a:fillRect/>
            </a:stretch>
          </p:blipFill>
          <p:spPr>
            <a:xfrm>
              <a:off x="2253775" y="2553051"/>
              <a:ext cx="4365925" cy="2162850"/>
            </a:xfrm>
            <a:prstGeom prst="rect">
              <a:avLst/>
            </a:prstGeom>
            <a:noFill/>
            <a:ln>
              <a:noFill/>
            </a:ln>
          </p:spPr>
        </p:pic>
        <p:sp>
          <p:nvSpPr>
            <p:cNvPr id="254" name="Google Shape;254;p35"/>
            <p:cNvSpPr txBox="1"/>
            <p:nvPr/>
          </p:nvSpPr>
          <p:spPr>
            <a:xfrm>
              <a:off x="897679" y="2820900"/>
              <a:ext cx="1748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a:solidFill>
                    <a:schemeClr val="dk1"/>
                  </a:solidFill>
                </a:rPr>
                <a:t>Loss function</a:t>
              </a:r>
              <a:endParaRPr/>
            </a:p>
          </p:txBody>
        </p:sp>
      </p:grpSp>
      <p:grpSp>
        <p:nvGrpSpPr>
          <p:cNvPr id="255" name="Google Shape;255;p35"/>
          <p:cNvGrpSpPr/>
          <p:nvPr/>
        </p:nvGrpSpPr>
        <p:grpSpPr>
          <a:xfrm>
            <a:off x="1379954" y="4470225"/>
            <a:ext cx="2635296" cy="615600"/>
            <a:chOff x="1379954" y="4470225"/>
            <a:chExt cx="2635296" cy="615600"/>
          </a:xfrm>
        </p:grpSpPr>
        <p:sp>
          <p:nvSpPr>
            <p:cNvPr id="256" name="Google Shape;256;p35"/>
            <p:cNvSpPr txBox="1"/>
            <p:nvPr/>
          </p:nvSpPr>
          <p:spPr>
            <a:xfrm>
              <a:off x="1379954" y="4470225"/>
              <a:ext cx="174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a:solidFill>
                    <a:schemeClr val="dk1"/>
                  </a:solidFill>
                </a:rPr>
                <a:t>Minimum of loss function</a:t>
              </a:r>
              <a:endParaRPr/>
            </a:p>
          </p:txBody>
        </p:sp>
        <p:cxnSp>
          <p:nvCxnSpPr>
            <p:cNvPr id="257" name="Google Shape;257;p35"/>
            <p:cNvCxnSpPr/>
            <p:nvPr/>
          </p:nvCxnSpPr>
          <p:spPr>
            <a:xfrm flipH="1" rot="10800000">
              <a:off x="2919950" y="4654625"/>
              <a:ext cx="1095300" cy="293400"/>
            </a:xfrm>
            <a:prstGeom prst="straightConnector1">
              <a:avLst/>
            </a:prstGeom>
            <a:noFill/>
            <a:ln cap="flat" cmpd="sng" w="28575">
              <a:solidFill>
                <a:schemeClr val="dk2"/>
              </a:solidFill>
              <a:prstDash val="solid"/>
              <a:round/>
              <a:headEnd len="med" w="med" type="none"/>
              <a:tailEnd len="med" w="med" type="triangle"/>
            </a:ln>
          </p:spPr>
        </p:cxnSp>
      </p:grpSp>
      <p:sp>
        <p:nvSpPr>
          <p:cNvPr id="258" name="Google Shape;258;p35"/>
          <p:cNvSpPr/>
          <p:nvPr/>
        </p:nvSpPr>
        <p:spPr>
          <a:xfrm>
            <a:off x="2687825" y="2968825"/>
            <a:ext cx="232200" cy="2322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35"/>
          <p:cNvGrpSpPr/>
          <p:nvPr/>
        </p:nvGrpSpPr>
        <p:grpSpPr>
          <a:xfrm>
            <a:off x="1507279" y="3188725"/>
            <a:ext cx="1748100" cy="704975"/>
            <a:chOff x="1507279" y="3188725"/>
            <a:chExt cx="1748100" cy="704975"/>
          </a:xfrm>
        </p:grpSpPr>
        <p:cxnSp>
          <p:nvCxnSpPr>
            <p:cNvPr id="260" name="Google Shape;260;p35"/>
            <p:cNvCxnSpPr/>
            <p:nvPr/>
          </p:nvCxnSpPr>
          <p:spPr>
            <a:xfrm>
              <a:off x="2748900" y="3188725"/>
              <a:ext cx="321000" cy="556200"/>
            </a:xfrm>
            <a:prstGeom prst="straightConnector1">
              <a:avLst/>
            </a:prstGeom>
            <a:noFill/>
            <a:ln cap="flat" cmpd="sng" w="19050">
              <a:solidFill>
                <a:srgbClr val="CC0000"/>
              </a:solidFill>
              <a:prstDash val="solid"/>
              <a:round/>
              <a:headEnd len="med" w="med" type="none"/>
              <a:tailEnd len="med" w="med" type="triangle"/>
            </a:ln>
          </p:spPr>
        </p:cxnSp>
        <p:sp>
          <p:nvSpPr>
            <p:cNvPr id="261" name="Google Shape;261;p35"/>
            <p:cNvSpPr txBox="1"/>
            <p:nvPr/>
          </p:nvSpPr>
          <p:spPr>
            <a:xfrm>
              <a:off x="1507279" y="3278100"/>
              <a:ext cx="174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rgbClr val="CC0000"/>
                  </a:solidFill>
                </a:rPr>
                <a:t>Gradient of </a:t>
              </a:r>
              <a:endParaRPr>
                <a:solidFill>
                  <a:srgbClr val="CC0000"/>
                </a:solidFill>
              </a:endParaRPr>
            </a:p>
            <a:p>
              <a:pPr indent="0" lvl="0" marL="0" rtl="0" algn="ctr">
                <a:spcBef>
                  <a:spcPts val="0"/>
                </a:spcBef>
                <a:spcAft>
                  <a:spcPts val="0"/>
                </a:spcAft>
                <a:buNone/>
              </a:pPr>
              <a:r>
                <a:rPr lang="en-GB">
                  <a:solidFill>
                    <a:srgbClr val="CC0000"/>
                  </a:solidFill>
                </a:rPr>
                <a:t>p</a:t>
              </a:r>
              <a:r>
                <a:rPr lang="en-GB">
                  <a:solidFill>
                    <a:srgbClr val="CC0000"/>
                  </a:solidFill>
                </a:rPr>
                <a:t>arameter</a:t>
              </a:r>
              <a:r>
                <a:rPr lang="en-GB">
                  <a:solidFill>
                    <a:srgbClr val="CC0000"/>
                  </a:solidFill>
                </a:rPr>
                <a:t> value</a:t>
              </a:r>
              <a:endParaRPr>
                <a:solidFill>
                  <a:srgbClr val="CC0000"/>
                </a:solidFill>
              </a:endParaRPr>
            </a:p>
          </p:txBody>
        </p:sp>
      </p:grpSp>
      <p:grpSp>
        <p:nvGrpSpPr>
          <p:cNvPr id="262" name="Google Shape;262;p35"/>
          <p:cNvGrpSpPr/>
          <p:nvPr/>
        </p:nvGrpSpPr>
        <p:grpSpPr>
          <a:xfrm>
            <a:off x="5091200" y="3821150"/>
            <a:ext cx="232200" cy="392075"/>
            <a:chOff x="5091200" y="3821150"/>
            <a:chExt cx="232200" cy="392075"/>
          </a:xfrm>
        </p:grpSpPr>
        <p:sp>
          <p:nvSpPr>
            <p:cNvPr id="263" name="Google Shape;263;p35"/>
            <p:cNvSpPr/>
            <p:nvPr/>
          </p:nvSpPr>
          <p:spPr>
            <a:xfrm>
              <a:off x="5091200" y="3821150"/>
              <a:ext cx="232200" cy="232200"/>
            </a:xfrm>
            <a:prstGeom prst="ellipse">
              <a:avLst/>
            </a:prstGeom>
            <a:solidFill>
              <a:srgbClr val="4343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35"/>
            <p:cNvCxnSpPr/>
            <p:nvPr/>
          </p:nvCxnSpPr>
          <p:spPr>
            <a:xfrm flipH="1">
              <a:off x="5108100" y="4026925"/>
              <a:ext cx="155400" cy="186300"/>
            </a:xfrm>
            <a:prstGeom prst="straightConnector1">
              <a:avLst/>
            </a:prstGeom>
            <a:noFill/>
            <a:ln cap="flat" cmpd="sng" w="19050">
              <a:solidFill>
                <a:srgbClr val="CC0000"/>
              </a:solidFill>
              <a:prstDash val="solid"/>
              <a:round/>
              <a:headEnd len="med" w="med" type="none"/>
              <a:tailEnd len="med" w="med" type="triangle"/>
            </a:ln>
          </p:spPr>
        </p:cxnSp>
      </p:grpSp>
      <p:sp>
        <p:nvSpPr>
          <p:cNvPr id="265" name="Google Shape;265;p35"/>
          <p:cNvSpPr txBox="1"/>
          <p:nvPr/>
        </p:nvSpPr>
        <p:spPr>
          <a:xfrm>
            <a:off x="5510025" y="4310775"/>
            <a:ext cx="3633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a:solidFill>
                  <a:schemeClr val="dk1"/>
                </a:solidFill>
              </a:rPr>
              <a:t>The step is determined by the learning rate.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Hard to do - it’s</a:t>
            </a:r>
            <a:r>
              <a:rPr lang="en-GB"/>
              <a:t> a hot research area</a:t>
            </a:r>
            <a:endParaRPr/>
          </a:p>
          <a:p>
            <a:pPr indent="-317500" lvl="1" marL="914400" rtl="0" algn="l">
              <a:spcBef>
                <a:spcPts val="0"/>
              </a:spcBef>
              <a:spcAft>
                <a:spcPts val="0"/>
              </a:spcAft>
              <a:buSzPts val="1400"/>
              <a:buChar char="-"/>
            </a:pPr>
            <a:r>
              <a:rPr lang="en-GB"/>
              <a:t>Proposed solutions: neural network pruning</a:t>
            </a:r>
            <a:endParaRPr/>
          </a:p>
          <a:p>
            <a:pPr indent="-342900" lvl="0" marL="457200" rtl="0" algn="l">
              <a:spcBef>
                <a:spcPts val="0"/>
              </a:spcBef>
              <a:spcAft>
                <a:spcPts val="0"/>
              </a:spcAft>
              <a:buSzPts val="1800"/>
              <a:buChar char="-"/>
            </a:pPr>
            <a:r>
              <a:rPr lang="en-GB"/>
              <a:t>Data access</a:t>
            </a:r>
            <a:endParaRPr/>
          </a:p>
          <a:p>
            <a:pPr indent="-317500" lvl="1" marL="914400" rtl="0" algn="l">
              <a:spcBef>
                <a:spcPts val="0"/>
              </a:spcBef>
              <a:spcAft>
                <a:spcPts val="0"/>
              </a:spcAft>
              <a:buSzPts val="1400"/>
              <a:buChar char="-"/>
            </a:pPr>
            <a:r>
              <a:rPr lang="en-GB"/>
              <a:t>Access patterns - read/writes</a:t>
            </a:r>
            <a:endParaRPr/>
          </a:p>
          <a:p>
            <a:pPr indent="-317500" lvl="1" marL="914400" rtl="0" algn="l">
              <a:spcBef>
                <a:spcPts val="0"/>
              </a:spcBef>
              <a:spcAft>
                <a:spcPts val="0"/>
              </a:spcAft>
              <a:buSzPts val="1400"/>
              <a:buChar char="-"/>
            </a:pPr>
            <a:r>
              <a:rPr lang="en-GB"/>
              <a:t>No cache in microcontrollers</a:t>
            </a:r>
            <a:endParaRPr/>
          </a:p>
          <a:p>
            <a:pPr indent="-342900" lvl="0" marL="457200" rtl="0" algn="l">
              <a:spcBef>
                <a:spcPts val="0"/>
              </a:spcBef>
              <a:spcAft>
                <a:spcPts val="0"/>
              </a:spcAft>
              <a:buSzPts val="1800"/>
              <a:buChar char="-"/>
            </a:pPr>
            <a:r>
              <a:rPr lang="en-GB"/>
              <a:t>Accelerating operations</a:t>
            </a:r>
            <a:endParaRPr/>
          </a:p>
          <a:p>
            <a:pPr indent="-317500" lvl="1" marL="914400" rtl="0" algn="l">
              <a:spcBef>
                <a:spcPts val="0"/>
              </a:spcBef>
              <a:spcAft>
                <a:spcPts val="0"/>
              </a:spcAft>
              <a:buSzPts val="1400"/>
              <a:buChar char="-"/>
            </a:pPr>
            <a:r>
              <a:rPr lang="en-GB"/>
              <a:t>There are more than 100 different implementations known for the operation of a Conv layer. Each layer configuration has different performance on a target device.</a:t>
            </a:r>
            <a:endParaRPr/>
          </a:p>
          <a:p>
            <a:pPr indent="-317500" lvl="1" marL="914400" rtl="0" algn="l">
              <a:spcBef>
                <a:spcPts val="0"/>
              </a:spcBef>
              <a:spcAft>
                <a:spcPts val="0"/>
              </a:spcAft>
              <a:buSzPts val="1400"/>
              <a:buChar char="-"/>
            </a:pPr>
            <a:r>
              <a:rPr lang="en-GB"/>
              <a:t>Compiler driven optimisations by iterating over the instruction set to find the best selection and order of instruction for the higher level operation.</a:t>
            </a:r>
            <a:endParaRPr/>
          </a:p>
        </p:txBody>
      </p:sp>
      <p:sp>
        <p:nvSpPr>
          <p:cNvPr id="271" name="Google Shape;271;p36"/>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Research Challenges for Edge AI</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Recap</a:t>
            </a:r>
            <a:endParaRPr/>
          </a:p>
        </p:txBody>
      </p:sp>
      <p:sp>
        <p:nvSpPr>
          <p:cNvPr id="277" name="Google Shape;277;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Sensing technology is advancing fast.</a:t>
            </a:r>
            <a:endParaRPr/>
          </a:p>
          <a:p>
            <a:pPr indent="-342900" lvl="0" marL="457200" rtl="0" algn="l">
              <a:spcBef>
                <a:spcPts val="0"/>
              </a:spcBef>
              <a:spcAft>
                <a:spcPts val="0"/>
              </a:spcAft>
              <a:buSzPts val="1800"/>
              <a:buChar char="-"/>
            </a:pPr>
            <a:r>
              <a:rPr lang="en-GB"/>
              <a:t>There are advantages to consuming data at the edge: </a:t>
            </a:r>
            <a:endParaRPr/>
          </a:p>
          <a:p>
            <a:pPr indent="-317500" lvl="1" marL="914400" rtl="0" algn="l">
              <a:spcBef>
                <a:spcPts val="0"/>
              </a:spcBef>
              <a:spcAft>
                <a:spcPts val="0"/>
              </a:spcAft>
              <a:buSzPts val="1400"/>
              <a:buChar char="-"/>
            </a:pPr>
            <a:r>
              <a:rPr lang="en-GB"/>
              <a:t>Privacy and security</a:t>
            </a:r>
            <a:endParaRPr/>
          </a:p>
          <a:p>
            <a:pPr indent="-317500" lvl="1" marL="914400" rtl="0" algn="l">
              <a:spcBef>
                <a:spcPts val="0"/>
              </a:spcBef>
              <a:spcAft>
                <a:spcPts val="0"/>
              </a:spcAft>
              <a:buSzPts val="1400"/>
              <a:buChar char="-"/>
            </a:pPr>
            <a:r>
              <a:rPr lang="en-GB"/>
              <a:t>Lower latency</a:t>
            </a:r>
            <a:endParaRPr/>
          </a:p>
          <a:p>
            <a:pPr indent="-317500" lvl="1" marL="914400" rtl="0" algn="l">
              <a:spcBef>
                <a:spcPts val="0"/>
              </a:spcBef>
              <a:spcAft>
                <a:spcPts val="0"/>
              </a:spcAft>
              <a:buSzPts val="1400"/>
              <a:buChar char="-"/>
            </a:pPr>
            <a:r>
              <a:rPr lang="en-GB"/>
              <a:t>High availability</a:t>
            </a:r>
            <a:endParaRPr/>
          </a:p>
          <a:p>
            <a:pPr indent="-317500" lvl="1" marL="914400" rtl="0" algn="l">
              <a:spcBef>
                <a:spcPts val="0"/>
              </a:spcBef>
              <a:spcAft>
                <a:spcPts val="0"/>
              </a:spcAft>
              <a:buSzPts val="1400"/>
              <a:buChar char="-"/>
            </a:pPr>
            <a:r>
              <a:rPr lang="en-GB"/>
              <a:t>High bandwidth</a:t>
            </a:r>
            <a:endParaRPr/>
          </a:p>
          <a:p>
            <a:pPr indent="-317500" lvl="1" marL="914400" rtl="0" algn="l">
              <a:spcBef>
                <a:spcPts val="0"/>
              </a:spcBef>
              <a:spcAft>
                <a:spcPts val="0"/>
              </a:spcAft>
              <a:buSzPts val="1400"/>
              <a:buChar char="-"/>
            </a:pPr>
            <a:r>
              <a:rPr lang="en-GB"/>
              <a:t>Energy efficiency</a:t>
            </a:r>
            <a:endParaRPr/>
          </a:p>
          <a:p>
            <a:pPr indent="-342900" lvl="0" marL="457200" rtl="0" algn="l">
              <a:spcBef>
                <a:spcPts val="0"/>
              </a:spcBef>
              <a:spcAft>
                <a:spcPts val="0"/>
              </a:spcAft>
              <a:buSzPts val="1800"/>
              <a:buChar char="-"/>
            </a:pPr>
            <a:r>
              <a:rPr lang="en-GB"/>
              <a:t>Traditional classifiers vs deep neural networks</a:t>
            </a:r>
            <a:endParaRPr/>
          </a:p>
          <a:p>
            <a:pPr indent="-342900" lvl="0" marL="457200" rtl="0" algn="l">
              <a:spcBef>
                <a:spcPts val="0"/>
              </a:spcBef>
              <a:spcAft>
                <a:spcPts val="0"/>
              </a:spcAft>
              <a:buSzPts val="1800"/>
              <a:buChar char="-"/>
            </a:pPr>
            <a:r>
              <a:rPr lang="en-GB"/>
              <a:t>Gradient descent is a </a:t>
            </a:r>
            <a:r>
              <a:rPr lang="en-GB"/>
              <a:t>common method for training neural network models.</a:t>
            </a:r>
            <a:endParaRPr/>
          </a:p>
          <a:p>
            <a:pPr indent="0" lvl="0" marL="45720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Reducing the size of a large neural network to make it accessible for smaller devices by:</a:t>
            </a:r>
            <a:endParaRPr/>
          </a:p>
          <a:p>
            <a:pPr indent="-342900" lvl="0" marL="457200" rtl="0" algn="l">
              <a:spcBef>
                <a:spcPts val="1200"/>
              </a:spcBef>
              <a:spcAft>
                <a:spcPts val="0"/>
              </a:spcAft>
              <a:buSzPts val="1800"/>
              <a:buChar char="-"/>
            </a:pPr>
            <a:r>
              <a:rPr lang="en-GB"/>
              <a:t>Quantization</a:t>
            </a:r>
            <a:endParaRPr/>
          </a:p>
          <a:p>
            <a:pPr indent="-342900" lvl="0" marL="457200" rtl="0" algn="l">
              <a:spcBef>
                <a:spcPts val="0"/>
              </a:spcBef>
              <a:spcAft>
                <a:spcPts val="0"/>
              </a:spcAft>
              <a:buSzPts val="1800"/>
              <a:buChar char="-"/>
            </a:pPr>
            <a:r>
              <a:rPr lang="en-GB"/>
              <a:t>Pruning	</a:t>
            </a:r>
            <a:endParaRPr/>
          </a:p>
          <a:p>
            <a:pPr indent="-342900" lvl="0" marL="457200" rtl="0" algn="l">
              <a:spcBef>
                <a:spcPts val="0"/>
              </a:spcBef>
              <a:spcAft>
                <a:spcPts val="0"/>
              </a:spcAft>
              <a:buSzPts val="1800"/>
              <a:buChar char="-"/>
            </a:pPr>
            <a:r>
              <a:rPr lang="en-GB"/>
              <a:t>Knowledge </a:t>
            </a:r>
            <a:r>
              <a:rPr lang="en-GB"/>
              <a:t>distillation</a:t>
            </a:r>
            <a:endParaRPr/>
          </a:p>
        </p:txBody>
      </p:sp>
      <p:sp>
        <p:nvSpPr>
          <p:cNvPr id="283" name="Google Shape;283;p38"/>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Model Compression Solutions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interval of values taken by the network parameters in </a:t>
            </a:r>
            <a:r>
              <a:rPr lang="en-GB"/>
              <a:t>floating point, is mapped to a discrete interval of int values:</a:t>
            </a:r>
            <a:endParaRPr/>
          </a:p>
          <a:p>
            <a:pPr indent="-342900" lvl="0" marL="457200" rtl="0" algn="l">
              <a:spcBef>
                <a:spcPts val="1200"/>
              </a:spcBef>
              <a:spcAft>
                <a:spcPts val="0"/>
              </a:spcAft>
              <a:buSzPts val="1800"/>
              <a:buChar char="-"/>
            </a:pPr>
            <a:r>
              <a:rPr lang="en-GB"/>
              <a:t>Linear</a:t>
            </a:r>
            <a:endParaRPr/>
          </a:p>
          <a:p>
            <a:pPr indent="-342900" lvl="0" marL="457200" rtl="0" algn="l">
              <a:spcBef>
                <a:spcPts val="0"/>
              </a:spcBef>
              <a:spcAft>
                <a:spcPts val="0"/>
              </a:spcAft>
              <a:buSzPts val="1800"/>
              <a:buChar char="-"/>
            </a:pPr>
            <a:r>
              <a:rPr lang="en-GB"/>
              <a:t>Logarithmic</a:t>
            </a:r>
            <a:endParaRPr/>
          </a:p>
          <a:p>
            <a:pPr indent="-342900" lvl="0" marL="457200" rtl="0" algn="l">
              <a:spcBef>
                <a:spcPts val="0"/>
              </a:spcBef>
              <a:spcAft>
                <a:spcPts val="0"/>
              </a:spcAft>
              <a:buSzPts val="1800"/>
              <a:buChar char="-"/>
            </a:pPr>
            <a:r>
              <a:rPr lang="en-GB"/>
              <a:t>Density based </a:t>
            </a:r>
            <a:endParaRPr/>
          </a:p>
        </p:txBody>
      </p:sp>
      <p:sp>
        <p:nvSpPr>
          <p:cNvPr id="289" name="Google Shape;289;p39"/>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Model Quantization</a:t>
            </a:r>
            <a:endParaRPr b="1"/>
          </a:p>
        </p:txBody>
      </p:sp>
      <p:pic>
        <p:nvPicPr>
          <p:cNvPr id="290" name="Google Shape;290;p39"/>
          <p:cNvPicPr preferRelativeResize="0"/>
          <p:nvPr/>
        </p:nvPicPr>
        <p:blipFill>
          <a:blip r:embed="rId3">
            <a:alphaModFix/>
          </a:blip>
          <a:stretch>
            <a:fillRect/>
          </a:stretch>
        </p:blipFill>
        <p:spPr>
          <a:xfrm>
            <a:off x="5201900" y="1127275"/>
            <a:ext cx="3627601" cy="39220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457200" rtl="0" algn="l">
              <a:spcBef>
                <a:spcPts val="0"/>
              </a:spcBef>
              <a:spcAft>
                <a:spcPts val="1200"/>
              </a:spcAft>
              <a:buNone/>
            </a:pPr>
            <a:r>
              <a:rPr lang="en-GB"/>
              <a:t>Linear mapping</a:t>
            </a:r>
            <a:endParaRPr/>
          </a:p>
        </p:txBody>
      </p:sp>
      <p:sp>
        <p:nvSpPr>
          <p:cNvPr id="296" name="Google Shape;296;p40"/>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Model Quantization</a:t>
            </a:r>
            <a:endParaRPr b="1"/>
          </a:p>
        </p:txBody>
      </p:sp>
      <p:pic>
        <p:nvPicPr>
          <p:cNvPr id="297" name="Google Shape;297;p40"/>
          <p:cNvPicPr preferRelativeResize="0"/>
          <p:nvPr/>
        </p:nvPicPr>
        <p:blipFill>
          <a:blip r:embed="rId3">
            <a:alphaModFix/>
          </a:blip>
          <a:stretch>
            <a:fillRect/>
          </a:stretch>
        </p:blipFill>
        <p:spPr>
          <a:xfrm>
            <a:off x="771525" y="1376363"/>
            <a:ext cx="7600950" cy="2695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GB"/>
              <a:t>Slight drop of inference accuracy due to loss of precision in information propagation across layers - post-training quantization (PTQ).</a:t>
            </a:r>
            <a:endParaRPr/>
          </a:p>
          <a:p>
            <a:pPr indent="0" lvl="0" marL="457200" rtl="0" algn="l">
              <a:spcBef>
                <a:spcPts val="1200"/>
              </a:spcBef>
              <a:spcAft>
                <a:spcPts val="1200"/>
              </a:spcAft>
              <a:buNone/>
            </a:pPr>
            <a:r>
              <a:rPr lang="en-GB"/>
              <a:t>Training the model with quantization-aware methods can improve the accuracy of PTQ. Still in the research space [read: </a:t>
            </a:r>
            <a:r>
              <a:rPr lang="en-GB" u="sng">
                <a:solidFill>
                  <a:schemeClr val="hlink"/>
                </a:solidFill>
                <a:hlinkClick r:id="rId3"/>
              </a:rPr>
              <a:t>Quantization and Training of Neural Networks for Efficient Integer-Arithmetic-Only Inference</a:t>
            </a:r>
            <a:r>
              <a:rPr lang="en-GB"/>
              <a:t>]</a:t>
            </a:r>
            <a:endParaRPr/>
          </a:p>
        </p:txBody>
      </p:sp>
      <p:sp>
        <p:nvSpPr>
          <p:cNvPr id="303" name="Google Shape;303;p41"/>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Loss of Accuracy with </a:t>
            </a:r>
            <a:r>
              <a:rPr b="1" lang="en-GB"/>
              <a:t>Quantization</a:t>
            </a:r>
            <a:endParaRPr b="1"/>
          </a:p>
        </p:txBody>
      </p:sp>
      <p:pic>
        <p:nvPicPr>
          <p:cNvPr id="304" name="Google Shape;304;p41"/>
          <p:cNvPicPr preferRelativeResize="0"/>
          <p:nvPr/>
        </p:nvPicPr>
        <p:blipFill>
          <a:blip r:embed="rId4">
            <a:alphaModFix/>
          </a:blip>
          <a:stretch>
            <a:fillRect/>
          </a:stretch>
        </p:blipFill>
        <p:spPr>
          <a:xfrm>
            <a:off x="2134950" y="2634324"/>
            <a:ext cx="7009049" cy="2432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Model size: networks can take up to 4 times less memory in 8-bit representation vs the 32-bit ones.</a:t>
            </a:r>
            <a:endParaRPr/>
          </a:p>
          <a:p>
            <a:pPr indent="-342900" lvl="0" marL="457200" rtl="0" algn="l">
              <a:spcBef>
                <a:spcPts val="0"/>
              </a:spcBef>
              <a:spcAft>
                <a:spcPts val="0"/>
              </a:spcAft>
              <a:buSzPts val="1800"/>
              <a:buChar char="-"/>
            </a:pPr>
            <a:r>
              <a:rPr lang="en-GB"/>
              <a:t>Reducing Inference Latency: with vectorised operations, the models can be a lot faster.</a:t>
            </a:r>
            <a:endParaRPr/>
          </a:p>
          <a:p>
            <a:pPr indent="-342900" lvl="0" marL="457200" rtl="0" algn="l">
              <a:spcBef>
                <a:spcPts val="0"/>
              </a:spcBef>
              <a:spcAft>
                <a:spcPts val="0"/>
              </a:spcAft>
              <a:buSzPts val="1800"/>
              <a:buChar char="-"/>
            </a:pPr>
            <a:r>
              <a:rPr lang="en-GB"/>
              <a:t>Portability: not all microcontrollers can run 32-bit fp operations, so quantized models may be their only option</a:t>
            </a:r>
            <a:endParaRPr/>
          </a:p>
          <a:p>
            <a:pPr indent="0" lvl="0" marL="457200" rtl="0" algn="l">
              <a:spcBef>
                <a:spcPts val="1200"/>
              </a:spcBef>
              <a:spcAft>
                <a:spcPts val="1200"/>
              </a:spcAft>
              <a:buNone/>
            </a:pPr>
            <a:r>
              <a:t/>
            </a:r>
            <a:endParaRPr/>
          </a:p>
        </p:txBody>
      </p:sp>
      <p:sp>
        <p:nvSpPr>
          <p:cNvPr id="310" name="Google Shape;310;p42"/>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Advantages of Quantization</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3"/>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Many parameters in large neural networks are redundant. They are important during training (regularisation with Dropout), but wasteful during the inference stage.</a:t>
            </a:r>
            <a:endParaRPr/>
          </a:p>
          <a:p>
            <a:pPr indent="0" lvl="0" marL="0" rtl="0" algn="l">
              <a:spcBef>
                <a:spcPts val="1200"/>
              </a:spcBef>
              <a:spcAft>
                <a:spcPts val="0"/>
              </a:spcAft>
              <a:buNone/>
            </a:pPr>
            <a:r>
              <a:rPr b="1" lang="en-GB"/>
              <a:t>Weight pruning</a:t>
            </a:r>
            <a:r>
              <a:rPr lang="en-GB"/>
              <a:t> - parameters with a value very close to zero are reduced to 0.</a:t>
            </a:r>
            <a:endParaRPr/>
          </a:p>
          <a:p>
            <a:pPr indent="0" lvl="0" marL="0" rtl="0" algn="l">
              <a:spcBef>
                <a:spcPts val="1200"/>
              </a:spcBef>
              <a:spcAft>
                <a:spcPts val="0"/>
              </a:spcAft>
              <a:buNone/>
            </a:pPr>
            <a:r>
              <a:rPr b="1" lang="en-GB"/>
              <a:t>Channel pruning</a:t>
            </a:r>
            <a:r>
              <a:rPr lang="en-GB"/>
              <a:t> - entire filters are </a:t>
            </a:r>
            <a:r>
              <a:rPr lang="en-GB"/>
              <a:t>eliminated</a:t>
            </a:r>
            <a:r>
              <a:rPr lang="en-GB"/>
              <a:t> from the convolutional layer.</a:t>
            </a:r>
            <a:endParaRPr/>
          </a:p>
          <a:p>
            <a:pPr indent="0" lvl="0" marL="0" rtl="0" algn="l">
              <a:spcBef>
                <a:spcPts val="1200"/>
              </a:spcBef>
              <a:spcAft>
                <a:spcPts val="1200"/>
              </a:spcAft>
              <a:buNone/>
            </a:pPr>
            <a:r>
              <a:rPr lang="en-GB"/>
              <a:t>The pruned model almost always has a lower accuracy than the original model even after refining this with additional training.</a:t>
            </a:r>
            <a:endParaRPr/>
          </a:p>
        </p:txBody>
      </p:sp>
      <p:sp>
        <p:nvSpPr>
          <p:cNvPr id="316" name="Google Shape;316;p43"/>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Model Pruning</a:t>
            </a:r>
            <a:endParaRPr b="1"/>
          </a:p>
        </p:txBody>
      </p:sp>
      <p:pic>
        <p:nvPicPr>
          <p:cNvPr id="317" name="Google Shape;317;p43"/>
          <p:cNvPicPr preferRelativeResize="0"/>
          <p:nvPr/>
        </p:nvPicPr>
        <p:blipFill rotWithShape="1">
          <a:blip r:embed="rId3">
            <a:alphaModFix/>
          </a:blip>
          <a:srcRect b="3496" l="0" r="0" t="-3097"/>
          <a:stretch/>
        </p:blipFill>
        <p:spPr>
          <a:xfrm>
            <a:off x="1065050" y="3715813"/>
            <a:ext cx="3198774" cy="1086150"/>
          </a:xfrm>
          <a:prstGeom prst="rect">
            <a:avLst/>
          </a:prstGeom>
          <a:noFill/>
          <a:ln>
            <a:noFill/>
          </a:ln>
        </p:spPr>
      </p:pic>
      <p:pic>
        <p:nvPicPr>
          <p:cNvPr id="318" name="Google Shape;318;p43"/>
          <p:cNvPicPr preferRelativeResize="0"/>
          <p:nvPr/>
        </p:nvPicPr>
        <p:blipFill>
          <a:blip r:embed="rId4">
            <a:alphaModFix/>
          </a:blip>
          <a:stretch>
            <a:fillRect/>
          </a:stretch>
        </p:blipFill>
        <p:spPr>
          <a:xfrm>
            <a:off x="5000350" y="3751774"/>
            <a:ext cx="3198776" cy="10861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Using a teacher-student </a:t>
            </a:r>
            <a:r>
              <a:rPr lang="en-GB"/>
              <a:t>setting:</a:t>
            </a:r>
            <a:endParaRPr/>
          </a:p>
          <a:p>
            <a:pPr indent="-342900" lvl="0" marL="457200" rtl="0" algn="l">
              <a:spcBef>
                <a:spcPts val="1200"/>
              </a:spcBef>
              <a:spcAft>
                <a:spcPts val="0"/>
              </a:spcAft>
              <a:buSzPts val="1800"/>
              <a:buChar char="-"/>
            </a:pPr>
            <a:r>
              <a:rPr lang="en-GB"/>
              <a:t>The teacher is a larger network that was trained over many epochs. </a:t>
            </a:r>
            <a:endParaRPr/>
          </a:p>
          <a:p>
            <a:pPr indent="-342900" lvl="0" marL="457200" rtl="0" algn="l">
              <a:spcBef>
                <a:spcPts val="0"/>
              </a:spcBef>
              <a:spcAft>
                <a:spcPts val="0"/>
              </a:spcAft>
              <a:buSzPts val="1800"/>
              <a:buChar char="-"/>
            </a:pPr>
            <a:r>
              <a:rPr lang="en-GB"/>
              <a:t>The student is a smaller network that receives guidance from the teacher network during its training.</a:t>
            </a:r>
            <a:endParaRPr/>
          </a:p>
        </p:txBody>
      </p:sp>
      <p:sp>
        <p:nvSpPr>
          <p:cNvPr id="324" name="Google Shape;324;p44"/>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Knowledge Distillation</a:t>
            </a:r>
            <a:endParaRPr b="1"/>
          </a:p>
        </p:txBody>
      </p:sp>
      <p:grpSp>
        <p:nvGrpSpPr>
          <p:cNvPr id="325" name="Google Shape;325;p44"/>
          <p:cNvGrpSpPr/>
          <p:nvPr/>
        </p:nvGrpSpPr>
        <p:grpSpPr>
          <a:xfrm>
            <a:off x="3503738" y="4142675"/>
            <a:ext cx="5602638" cy="874700"/>
            <a:chOff x="3122738" y="4066475"/>
            <a:chExt cx="5602638" cy="874700"/>
          </a:xfrm>
        </p:grpSpPr>
        <p:cxnSp>
          <p:nvCxnSpPr>
            <p:cNvPr id="326" name="Google Shape;326;p44"/>
            <p:cNvCxnSpPr/>
            <p:nvPr/>
          </p:nvCxnSpPr>
          <p:spPr>
            <a:xfrm flipH="1" rot="10800000">
              <a:off x="3122738" y="4066475"/>
              <a:ext cx="2974200" cy="641700"/>
            </a:xfrm>
            <a:prstGeom prst="bentConnector3">
              <a:avLst>
                <a:gd fmla="val 23350" name="adj1"/>
              </a:avLst>
            </a:prstGeom>
            <a:noFill/>
            <a:ln cap="flat" cmpd="sng" w="28575">
              <a:solidFill>
                <a:schemeClr val="dk2"/>
              </a:solidFill>
              <a:prstDash val="solid"/>
              <a:round/>
              <a:headEnd len="med" w="med" type="none"/>
              <a:tailEnd len="med" w="med" type="triangle"/>
            </a:ln>
          </p:spPr>
        </p:cxnSp>
        <p:sp>
          <p:nvSpPr>
            <p:cNvPr id="327" name="Google Shape;327;p44"/>
            <p:cNvSpPr txBox="1"/>
            <p:nvPr/>
          </p:nvSpPr>
          <p:spPr>
            <a:xfrm>
              <a:off x="3909175" y="4325575"/>
              <a:ext cx="4816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Forcing the student output to match the teacher’s output</a:t>
              </a:r>
              <a:endParaRPr/>
            </a:p>
            <a:p>
              <a:pPr indent="0" lvl="0" marL="0" rtl="0" algn="l">
                <a:spcBef>
                  <a:spcPts val="0"/>
                </a:spcBef>
                <a:spcAft>
                  <a:spcPts val="0"/>
                </a:spcAft>
                <a:buNone/>
              </a:pPr>
              <a:r>
                <a:rPr lang="en-GB"/>
                <a:t>[Distilling the Knowledge in a Neural Network]</a:t>
              </a:r>
              <a:endParaRPr/>
            </a:p>
          </p:txBody>
        </p:sp>
      </p:grpSp>
      <p:grpSp>
        <p:nvGrpSpPr>
          <p:cNvPr id="328" name="Google Shape;328;p44"/>
          <p:cNvGrpSpPr/>
          <p:nvPr/>
        </p:nvGrpSpPr>
        <p:grpSpPr>
          <a:xfrm>
            <a:off x="1729275" y="2260700"/>
            <a:ext cx="2155625" cy="2599799"/>
            <a:chOff x="1729275" y="2184500"/>
            <a:chExt cx="2155625" cy="2599799"/>
          </a:xfrm>
        </p:grpSpPr>
        <p:grpSp>
          <p:nvGrpSpPr>
            <p:cNvPr id="329" name="Google Shape;329;p44"/>
            <p:cNvGrpSpPr/>
            <p:nvPr/>
          </p:nvGrpSpPr>
          <p:grpSpPr>
            <a:xfrm>
              <a:off x="1729275" y="2623150"/>
              <a:ext cx="2155625" cy="2161149"/>
              <a:chOff x="433875" y="2470750"/>
              <a:chExt cx="2155625" cy="2161149"/>
            </a:xfrm>
          </p:grpSpPr>
          <p:pic>
            <p:nvPicPr>
              <p:cNvPr id="330" name="Google Shape;330;p44"/>
              <p:cNvPicPr preferRelativeResize="0"/>
              <p:nvPr/>
            </p:nvPicPr>
            <p:blipFill>
              <a:blip r:embed="rId3">
                <a:alphaModFix/>
              </a:blip>
              <a:stretch>
                <a:fillRect/>
              </a:stretch>
            </p:blipFill>
            <p:spPr>
              <a:xfrm>
                <a:off x="433875" y="2470750"/>
                <a:ext cx="631175" cy="749982"/>
              </a:xfrm>
              <a:prstGeom prst="rect">
                <a:avLst/>
              </a:prstGeom>
              <a:noFill/>
              <a:ln>
                <a:noFill/>
              </a:ln>
            </p:spPr>
          </p:pic>
          <p:pic>
            <p:nvPicPr>
              <p:cNvPr id="331" name="Google Shape;331;p44"/>
              <p:cNvPicPr preferRelativeResize="0"/>
              <p:nvPr/>
            </p:nvPicPr>
            <p:blipFill>
              <a:blip r:embed="rId4">
                <a:alphaModFix/>
              </a:blip>
              <a:stretch>
                <a:fillRect/>
              </a:stretch>
            </p:blipFill>
            <p:spPr>
              <a:xfrm>
                <a:off x="1065050" y="2470750"/>
                <a:ext cx="1524450" cy="2161149"/>
              </a:xfrm>
              <a:prstGeom prst="rect">
                <a:avLst/>
              </a:prstGeom>
              <a:noFill/>
              <a:ln>
                <a:noFill/>
              </a:ln>
            </p:spPr>
          </p:pic>
        </p:grpSp>
        <p:grpSp>
          <p:nvGrpSpPr>
            <p:cNvPr id="332" name="Google Shape;332;p44"/>
            <p:cNvGrpSpPr/>
            <p:nvPr/>
          </p:nvGrpSpPr>
          <p:grpSpPr>
            <a:xfrm>
              <a:off x="2451200" y="2184500"/>
              <a:ext cx="1395900" cy="498600"/>
              <a:chOff x="3975200" y="2184500"/>
              <a:chExt cx="1395900" cy="498600"/>
            </a:xfrm>
          </p:grpSpPr>
          <p:sp>
            <p:nvSpPr>
              <p:cNvPr id="333" name="Google Shape;333;p44"/>
              <p:cNvSpPr/>
              <p:nvPr/>
            </p:nvSpPr>
            <p:spPr>
              <a:xfrm>
                <a:off x="3975200" y="2184500"/>
                <a:ext cx="1395900" cy="2622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t>Data</a:t>
                </a:r>
                <a:endParaRPr/>
              </a:p>
            </p:txBody>
          </p:sp>
          <p:cxnSp>
            <p:nvCxnSpPr>
              <p:cNvPr id="334" name="Google Shape;334;p44"/>
              <p:cNvCxnSpPr/>
              <p:nvPr/>
            </p:nvCxnSpPr>
            <p:spPr>
              <a:xfrm>
                <a:off x="4673150" y="2472200"/>
                <a:ext cx="0" cy="210900"/>
              </a:xfrm>
              <a:prstGeom prst="straightConnector1">
                <a:avLst/>
              </a:prstGeom>
              <a:noFill/>
              <a:ln cap="flat" cmpd="sng" w="19050">
                <a:solidFill>
                  <a:schemeClr val="dk2"/>
                </a:solidFill>
                <a:prstDash val="solid"/>
                <a:round/>
                <a:headEnd len="med" w="med" type="none"/>
                <a:tailEnd len="med" w="med" type="triangle"/>
              </a:ln>
            </p:spPr>
          </p:cxnSp>
        </p:grpSp>
      </p:grpSp>
      <p:grpSp>
        <p:nvGrpSpPr>
          <p:cNvPr id="335" name="Google Shape;335;p44"/>
          <p:cNvGrpSpPr/>
          <p:nvPr/>
        </p:nvGrpSpPr>
        <p:grpSpPr>
          <a:xfrm>
            <a:off x="5821875" y="2260700"/>
            <a:ext cx="1911425" cy="1962975"/>
            <a:chOff x="5821875" y="2184500"/>
            <a:chExt cx="1911425" cy="1962975"/>
          </a:xfrm>
        </p:grpSpPr>
        <p:grpSp>
          <p:nvGrpSpPr>
            <p:cNvPr id="336" name="Google Shape;336;p44"/>
            <p:cNvGrpSpPr/>
            <p:nvPr/>
          </p:nvGrpSpPr>
          <p:grpSpPr>
            <a:xfrm>
              <a:off x="5821875" y="2623150"/>
              <a:ext cx="1771100" cy="1524325"/>
              <a:chOff x="5974275" y="2470750"/>
              <a:chExt cx="1771100" cy="1524325"/>
            </a:xfrm>
          </p:grpSpPr>
          <p:pic>
            <p:nvPicPr>
              <p:cNvPr id="337" name="Google Shape;337;p44"/>
              <p:cNvPicPr preferRelativeResize="0"/>
              <p:nvPr/>
            </p:nvPicPr>
            <p:blipFill rotWithShape="1">
              <a:blip r:embed="rId5">
                <a:alphaModFix/>
              </a:blip>
              <a:srcRect b="5159" l="13902" r="9375" t="0"/>
              <a:stretch/>
            </p:blipFill>
            <p:spPr>
              <a:xfrm>
                <a:off x="5974275" y="2470750"/>
                <a:ext cx="543675" cy="785175"/>
              </a:xfrm>
              <a:prstGeom prst="rect">
                <a:avLst/>
              </a:prstGeom>
              <a:noFill/>
              <a:ln>
                <a:noFill/>
              </a:ln>
            </p:spPr>
          </p:pic>
          <p:pic>
            <p:nvPicPr>
              <p:cNvPr id="338" name="Google Shape;338;p44"/>
              <p:cNvPicPr preferRelativeResize="0"/>
              <p:nvPr/>
            </p:nvPicPr>
            <p:blipFill>
              <a:blip r:embed="rId6">
                <a:alphaModFix/>
              </a:blip>
              <a:stretch>
                <a:fillRect/>
              </a:stretch>
            </p:blipFill>
            <p:spPr>
              <a:xfrm>
                <a:off x="6652900" y="2553025"/>
                <a:ext cx="1092475" cy="1442050"/>
              </a:xfrm>
              <a:prstGeom prst="rect">
                <a:avLst/>
              </a:prstGeom>
              <a:noFill/>
              <a:ln>
                <a:noFill/>
              </a:ln>
            </p:spPr>
          </p:pic>
        </p:grpSp>
        <p:grpSp>
          <p:nvGrpSpPr>
            <p:cNvPr id="339" name="Google Shape;339;p44"/>
            <p:cNvGrpSpPr/>
            <p:nvPr/>
          </p:nvGrpSpPr>
          <p:grpSpPr>
            <a:xfrm>
              <a:off x="6337400" y="2184500"/>
              <a:ext cx="1395900" cy="498600"/>
              <a:chOff x="3975200" y="2184500"/>
              <a:chExt cx="1395900" cy="498600"/>
            </a:xfrm>
          </p:grpSpPr>
          <p:sp>
            <p:nvSpPr>
              <p:cNvPr id="340" name="Google Shape;340;p44"/>
              <p:cNvSpPr/>
              <p:nvPr/>
            </p:nvSpPr>
            <p:spPr>
              <a:xfrm>
                <a:off x="3975200" y="2184500"/>
                <a:ext cx="1395900" cy="262200"/>
              </a:xfrm>
              <a:prstGeom prst="roundRect">
                <a:avLst>
                  <a:gd fmla="val 16667" name="adj"/>
                </a:avLst>
              </a:prstGeom>
              <a:solidFill>
                <a:srgbClr val="F1C2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t>Data</a:t>
                </a:r>
                <a:endParaRPr/>
              </a:p>
            </p:txBody>
          </p:sp>
          <p:cxnSp>
            <p:nvCxnSpPr>
              <p:cNvPr id="341" name="Google Shape;341;p44"/>
              <p:cNvCxnSpPr/>
              <p:nvPr/>
            </p:nvCxnSpPr>
            <p:spPr>
              <a:xfrm>
                <a:off x="4673150" y="2472200"/>
                <a:ext cx="0" cy="210900"/>
              </a:xfrm>
              <a:prstGeom prst="straightConnector1">
                <a:avLst/>
              </a:prstGeom>
              <a:noFill/>
              <a:ln cap="flat" cmpd="sng" w="19050">
                <a:solidFill>
                  <a:schemeClr val="dk2"/>
                </a:solidFill>
                <a:prstDash val="solid"/>
                <a:round/>
                <a:headEnd len="med" w="med" type="none"/>
                <a:tailEnd len="med" w="med" type="triangl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5"/>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Advantages:</a:t>
            </a:r>
            <a:endParaRPr/>
          </a:p>
          <a:p>
            <a:pPr indent="-342900" lvl="0" marL="457200" rtl="0" algn="l">
              <a:spcBef>
                <a:spcPts val="1200"/>
              </a:spcBef>
              <a:spcAft>
                <a:spcPts val="0"/>
              </a:spcAft>
              <a:buSzPts val="1800"/>
              <a:buChar char="-"/>
            </a:pPr>
            <a:r>
              <a:rPr lang="en-GB"/>
              <a:t>Student models are much smaller so they can run efficiently on smaller devices.</a:t>
            </a:r>
            <a:endParaRPr/>
          </a:p>
          <a:p>
            <a:pPr indent="-342900" lvl="0" marL="457200" rtl="0" algn="l">
              <a:spcBef>
                <a:spcPts val="0"/>
              </a:spcBef>
              <a:spcAft>
                <a:spcPts val="0"/>
              </a:spcAft>
              <a:buSzPts val="1800"/>
              <a:buChar char="-"/>
            </a:pPr>
            <a:r>
              <a:rPr lang="en-GB"/>
              <a:t>Students train much faster with the insights from the teacher network.</a:t>
            </a:r>
            <a:endParaRPr/>
          </a:p>
          <a:p>
            <a:pPr indent="0" lvl="0" marL="0" rtl="0" algn="l">
              <a:spcBef>
                <a:spcPts val="1200"/>
              </a:spcBef>
              <a:spcAft>
                <a:spcPts val="0"/>
              </a:spcAft>
              <a:buNone/>
            </a:pPr>
            <a:r>
              <a:rPr lang="en-GB"/>
              <a:t>Disadvantages:</a:t>
            </a:r>
            <a:endParaRPr/>
          </a:p>
          <a:p>
            <a:pPr indent="-342900" lvl="0" marL="457200" rtl="0" algn="l">
              <a:spcBef>
                <a:spcPts val="1200"/>
              </a:spcBef>
              <a:spcAft>
                <a:spcPts val="0"/>
              </a:spcAft>
              <a:buSzPts val="1800"/>
              <a:buChar char="-"/>
            </a:pPr>
            <a:r>
              <a:rPr lang="en-GB"/>
              <a:t>Loss of accuracy (the student accuracy is slightly lower than that of the teacher).</a:t>
            </a:r>
            <a:endParaRPr/>
          </a:p>
          <a:p>
            <a:pPr indent="-342900" lvl="0" marL="457200" rtl="0" algn="l">
              <a:spcBef>
                <a:spcPts val="0"/>
              </a:spcBef>
              <a:spcAft>
                <a:spcPts val="0"/>
              </a:spcAft>
              <a:buSzPts val="1800"/>
              <a:buChar char="-"/>
            </a:pPr>
            <a:r>
              <a:rPr lang="en-GB"/>
              <a:t>It is hard to come up with a good model architecture for the student network:</a:t>
            </a:r>
            <a:endParaRPr/>
          </a:p>
          <a:p>
            <a:pPr indent="-342900" lvl="0" marL="914400" rtl="0" algn="l">
              <a:spcBef>
                <a:spcPts val="0"/>
              </a:spcBef>
              <a:spcAft>
                <a:spcPts val="0"/>
              </a:spcAft>
              <a:buSzPts val="1800"/>
              <a:buChar char="-"/>
            </a:pPr>
            <a:r>
              <a:rPr lang="en-GB"/>
              <a:t>Too small and the student doesn’t learn much</a:t>
            </a:r>
            <a:endParaRPr/>
          </a:p>
          <a:p>
            <a:pPr indent="-342900" lvl="0" marL="914400" rtl="0" algn="l">
              <a:spcBef>
                <a:spcPts val="0"/>
              </a:spcBef>
              <a:spcAft>
                <a:spcPts val="0"/>
              </a:spcAft>
              <a:buSzPts val="1800"/>
              <a:buChar char="-"/>
            </a:pPr>
            <a:r>
              <a:rPr lang="en-GB"/>
              <a:t>Too large and the efficiency gains are lost.</a:t>
            </a:r>
            <a:endParaRPr/>
          </a:p>
        </p:txBody>
      </p:sp>
      <p:sp>
        <p:nvSpPr>
          <p:cNvPr id="347" name="Google Shape;347;p45"/>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Knowledge Distillation</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ph idx="1" type="body"/>
          </p:nvPr>
        </p:nvSpPr>
        <p:spPr>
          <a:xfrm>
            <a:off x="311700" y="746275"/>
            <a:ext cx="55191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IoT mostly programmed in C/C++</a:t>
            </a:r>
            <a:endParaRPr/>
          </a:p>
          <a:p>
            <a:pPr indent="-342900" lvl="0" marL="457200" rtl="0" algn="l">
              <a:spcBef>
                <a:spcPts val="0"/>
              </a:spcBef>
              <a:spcAft>
                <a:spcPts val="0"/>
              </a:spcAft>
              <a:buSzPts val="1800"/>
              <a:buChar char="-"/>
            </a:pPr>
            <a:r>
              <a:rPr lang="en-GB"/>
              <a:t>Data scientists don’t always have a CS background</a:t>
            </a:r>
            <a:endParaRPr/>
          </a:p>
          <a:p>
            <a:pPr indent="-342900" lvl="0" marL="457200" rtl="0" algn="l">
              <a:spcBef>
                <a:spcPts val="0"/>
              </a:spcBef>
              <a:spcAft>
                <a:spcPts val="0"/>
              </a:spcAft>
              <a:buSzPts val="1800"/>
              <a:buChar char="-"/>
            </a:pPr>
            <a:r>
              <a:rPr lang="en-GB"/>
              <a:t>Python is a simple language to learn</a:t>
            </a:r>
            <a:endParaRPr/>
          </a:p>
          <a:p>
            <a:pPr indent="-342900" lvl="0" marL="457200" rtl="0" algn="l">
              <a:spcBef>
                <a:spcPts val="0"/>
              </a:spcBef>
              <a:spcAft>
                <a:spcPts val="0"/>
              </a:spcAft>
              <a:buSzPts val="1800"/>
              <a:buChar char="-"/>
            </a:pPr>
            <a:r>
              <a:rPr lang="en-GB"/>
              <a:t>Very good ML libraries (numpy, scipy, pytorch, keras, theano, sklearn) and visualisation libraries (matplot).</a:t>
            </a:r>
            <a:endParaRPr/>
          </a:p>
          <a:p>
            <a:pPr indent="-342900" lvl="0" marL="457200" rtl="0" algn="l">
              <a:spcBef>
                <a:spcPts val="0"/>
              </a:spcBef>
              <a:spcAft>
                <a:spcPts val="0"/>
              </a:spcAft>
              <a:buSzPts val="1800"/>
              <a:buChar char="-"/>
            </a:pPr>
            <a:r>
              <a:rPr lang="en-GB"/>
              <a:t>Extensively used in industry.</a:t>
            </a:r>
            <a:endParaRPr/>
          </a:p>
          <a:p>
            <a:pPr indent="-342900" lvl="0" marL="457200" rtl="0" algn="l">
              <a:spcBef>
                <a:spcPts val="0"/>
              </a:spcBef>
              <a:spcAft>
                <a:spcPts val="0"/>
              </a:spcAft>
              <a:buSzPts val="1800"/>
              <a:buChar char="-"/>
            </a:pPr>
            <a:r>
              <a:rPr lang="en-GB"/>
              <a:t>Python for IoT -&gt; microPython (pycom API)</a:t>
            </a:r>
            <a:endParaRPr/>
          </a:p>
        </p:txBody>
      </p:sp>
      <p:sp>
        <p:nvSpPr>
          <p:cNvPr id="353" name="Google Shape;353;p46"/>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Why Python for ML?</a:t>
            </a:r>
            <a:endParaRPr b="1"/>
          </a:p>
        </p:txBody>
      </p:sp>
      <p:pic>
        <p:nvPicPr>
          <p:cNvPr id="354" name="Google Shape;354;p46"/>
          <p:cNvPicPr preferRelativeResize="0"/>
          <p:nvPr/>
        </p:nvPicPr>
        <p:blipFill rotWithShape="1">
          <a:blip r:embed="rId3">
            <a:alphaModFix/>
          </a:blip>
          <a:srcRect b="0" l="18748" r="18275" t="0"/>
          <a:stretch/>
        </p:blipFill>
        <p:spPr>
          <a:xfrm>
            <a:off x="5901900" y="880900"/>
            <a:ext cx="2631000" cy="292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7"/>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a:t>Computations are moving </a:t>
            </a:r>
            <a:r>
              <a:rPr b="1" lang="en-GB"/>
              <a:t>closer to the data source</a:t>
            </a:r>
            <a:r>
              <a:rPr lang="en-GB"/>
              <a:t>. Billions of small devices will be processing data at the edge of the Internet.</a:t>
            </a:r>
            <a:endParaRPr/>
          </a:p>
          <a:p>
            <a:pPr indent="-342900" lvl="0" marL="457200" rtl="0" algn="l">
              <a:spcBef>
                <a:spcPts val="0"/>
              </a:spcBef>
              <a:spcAft>
                <a:spcPts val="0"/>
              </a:spcAft>
              <a:buSzPts val="1800"/>
              <a:buChar char="-"/>
            </a:pPr>
            <a:r>
              <a:rPr b="1" lang="en-GB"/>
              <a:t>Reduced cost</a:t>
            </a:r>
            <a:r>
              <a:rPr lang="en-GB"/>
              <a:t> for edge computing, </a:t>
            </a:r>
            <a:r>
              <a:rPr b="1" lang="en-GB"/>
              <a:t>low energy consumption</a:t>
            </a:r>
            <a:r>
              <a:rPr lang="en-GB"/>
              <a:t> and </a:t>
            </a:r>
            <a:r>
              <a:rPr b="1" lang="en-GB"/>
              <a:t>advancing sensor technology</a:t>
            </a:r>
            <a:r>
              <a:rPr lang="en-GB"/>
              <a:t> is enabling ubiquitous smart devices and applications.</a:t>
            </a:r>
            <a:endParaRPr/>
          </a:p>
          <a:p>
            <a:pPr indent="-342900" lvl="0" marL="457200" rtl="0" algn="l">
              <a:spcBef>
                <a:spcPts val="0"/>
              </a:spcBef>
              <a:spcAft>
                <a:spcPts val="0"/>
              </a:spcAft>
              <a:buSzPts val="1800"/>
              <a:buChar char="-"/>
            </a:pPr>
            <a:r>
              <a:rPr lang="en-GB"/>
              <a:t>Commonly, we train ML models </a:t>
            </a:r>
            <a:r>
              <a:rPr b="1" lang="en-GB"/>
              <a:t>in the cloud</a:t>
            </a:r>
            <a:r>
              <a:rPr lang="en-GB"/>
              <a:t> and run them at the edge (</a:t>
            </a:r>
            <a:r>
              <a:rPr b="1" lang="en-GB"/>
              <a:t>on-devices</a:t>
            </a:r>
            <a:r>
              <a:rPr lang="en-GB"/>
              <a:t>). </a:t>
            </a:r>
            <a:endParaRPr/>
          </a:p>
          <a:p>
            <a:pPr indent="-342900" lvl="0" marL="457200" rtl="0" algn="l">
              <a:spcBef>
                <a:spcPts val="0"/>
              </a:spcBef>
              <a:spcAft>
                <a:spcPts val="0"/>
              </a:spcAft>
              <a:buSzPts val="1800"/>
              <a:buChar char="-"/>
            </a:pPr>
            <a:r>
              <a:rPr lang="en-GB"/>
              <a:t>Edge </a:t>
            </a:r>
            <a:r>
              <a:rPr lang="en-GB"/>
              <a:t>inference</a:t>
            </a:r>
            <a:r>
              <a:rPr lang="en-GB"/>
              <a:t> provides: </a:t>
            </a:r>
            <a:r>
              <a:rPr b="1" lang="en-GB"/>
              <a:t>l</a:t>
            </a:r>
            <a:r>
              <a:rPr b="1" lang="en-GB"/>
              <a:t>ower latency, high availability, high bandwidth, power efficiency, privacy</a:t>
            </a:r>
            <a:r>
              <a:rPr lang="en-GB"/>
              <a:t>.</a:t>
            </a:r>
            <a:endParaRPr/>
          </a:p>
          <a:p>
            <a:pPr indent="-342900" lvl="0" marL="457200" rtl="0" algn="l">
              <a:spcBef>
                <a:spcPts val="0"/>
              </a:spcBef>
              <a:spcAft>
                <a:spcPts val="0"/>
              </a:spcAft>
              <a:buSzPts val="1800"/>
              <a:buChar char="-"/>
            </a:pPr>
            <a:r>
              <a:rPr lang="en-GB"/>
              <a:t>Neural network compression methods (</a:t>
            </a:r>
            <a:r>
              <a:rPr b="1" lang="en-GB"/>
              <a:t>quantization, pruning, knowledge distillation</a:t>
            </a:r>
            <a:r>
              <a:rPr lang="en-GB"/>
              <a:t>) enable large ML models to run at the edge. </a:t>
            </a:r>
            <a:endParaRPr/>
          </a:p>
        </p:txBody>
      </p:sp>
      <p:sp>
        <p:nvSpPr>
          <p:cNvPr id="360" name="Google Shape;360;p47"/>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Summary</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8"/>
          <p:cNvSpPr txBox="1"/>
          <p:nvPr>
            <p:ph idx="1" type="body"/>
          </p:nvPr>
        </p:nvSpPr>
        <p:spPr>
          <a:xfrm>
            <a:off x="311700" y="746275"/>
            <a:ext cx="8520600" cy="382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GB"/>
              <a:t>Questions</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b="1" lang="en-GB"/>
              <a:t>Demo:</a:t>
            </a:r>
            <a:r>
              <a:rPr lang="en-GB"/>
              <a:t> Spoken keyword spotting</a:t>
            </a:r>
            <a:endParaRPr/>
          </a:p>
          <a:p>
            <a:pPr indent="0" lvl="0" marL="0" rtl="0" algn="l">
              <a:spcBef>
                <a:spcPts val="1200"/>
              </a:spcBef>
              <a:spcAft>
                <a:spcPts val="0"/>
              </a:spcAft>
              <a:buNone/>
            </a:pPr>
            <a:r>
              <a:rPr lang="en-GB" u="sng">
                <a:solidFill>
                  <a:schemeClr val="hlink"/>
                </a:solidFill>
                <a:hlinkClick r:id="rId3"/>
              </a:rPr>
              <a:t>https://colab.research.google.com/github/tinyMLx/colabs/blob/master/3-5-18-TrainingKeywordSpotting.ipynb</a:t>
            </a:r>
            <a:endParaRPr/>
          </a:p>
          <a:p>
            <a:pPr indent="0" lvl="0" marL="0" rtl="0" algn="l">
              <a:spcBef>
                <a:spcPts val="1200"/>
              </a:spcBef>
              <a:spcAft>
                <a:spcPts val="1200"/>
              </a:spcAft>
              <a:buNone/>
            </a:pPr>
            <a:r>
              <a:t/>
            </a:r>
            <a:endParaRPr/>
          </a:p>
        </p:txBody>
      </p:sp>
      <p:sp>
        <p:nvSpPr>
          <p:cNvPr id="366" name="Google Shape;366;p48"/>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t>Questions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9"/>
          <p:cNvSpPr txBox="1"/>
          <p:nvPr>
            <p:ph idx="1" type="body"/>
          </p:nvPr>
        </p:nvSpPr>
        <p:spPr>
          <a:xfrm>
            <a:off x="387900" y="847675"/>
            <a:ext cx="84444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Make sure you did Ex09 and Ex10, including the touch sensing part</a:t>
            </a:r>
            <a:endParaRPr sz="1800"/>
          </a:p>
          <a:p>
            <a:pPr indent="-342900" lvl="0" marL="457200" rtl="0" algn="l">
              <a:spcBef>
                <a:spcPts val="0"/>
              </a:spcBef>
              <a:spcAft>
                <a:spcPts val="0"/>
              </a:spcAft>
              <a:buSzPts val="1800"/>
              <a:buChar char="●"/>
            </a:pPr>
            <a:r>
              <a:rPr lang="en-GB" sz="1800"/>
              <a:t>Prepare for LA1 (published Friday, submit before Easter)</a:t>
            </a:r>
            <a:endParaRPr sz="1800"/>
          </a:p>
          <a:p>
            <a:pPr indent="-342900" lvl="0" marL="457200" rtl="0" algn="l">
              <a:spcBef>
                <a:spcPts val="0"/>
              </a:spcBef>
              <a:spcAft>
                <a:spcPts val="0"/>
              </a:spcAft>
              <a:buSzPts val="1800"/>
              <a:buChar char="●"/>
            </a:pPr>
            <a:r>
              <a:rPr lang="en-GB" sz="1800"/>
              <a:t>Chapter 6: ML; IFTTT</a:t>
            </a:r>
            <a:endParaRPr sz="1800"/>
          </a:p>
          <a:p>
            <a:pPr indent="-342900" lvl="0" marL="457200" rtl="0" algn="l">
              <a:spcBef>
                <a:spcPts val="0"/>
              </a:spcBef>
              <a:spcAft>
                <a:spcPts val="0"/>
              </a:spcAft>
              <a:buSzPts val="1800"/>
              <a:buChar char="●"/>
            </a:pPr>
            <a:r>
              <a:rPr lang="en-GB" sz="1800"/>
              <a:t>Make sure you understood the notes and lecture</a:t>
            </a:r>
            <a:endParaRPr sz="1800"/>
          </a:p>
          <a:p>
            <a:pPr indent="0" lvl="0" marL="0" rtl="0" algn="l">
              <a:spcBef>
                <a:spcPts val="0"/>
              </a:spcBef>
              <a:spcAft>
                <a:spcPts val="0"/>
              </a:spcAft>
              <a:buNone/>
            </a:pPr>
            <a:r>
              <a:t/>
            </a:r>
            <a:endParaRPr sz="1800"/>
          </a:p>
        </p:txBody>
      </p:sp>
      <p:sp>
        <p:nvSpPr>
          <p:cNvPr id="372" name="Google Shape;372;p49"/>
          <p:cNvSpPr txBox="1"/>
          <p:nvPr>
            <p:ph type="title"/>
          </p:nvPr>
        </p:nvSpPr>
        <p:spPr>
          <a:xfrm>
            <a:off x="1065050" y="-88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Your </a:t>
            </a:r>
            <a:r>
              <a:rPr b="1" lang="en-GB"/>
              <a:t>TODO</a:t>
            </a:r>
            <a:r>
              <a:rPr lang="en-GB"/>
              <a:t> list for week 6:</a:t>
            </a:r>
            <a:endParaRPr/>
          </a:p>
        </p:txBody>
      </p:sp>
      <p:sp>
        <p:nvSpPr>
          <p:cNvPr id="373" name="Google Shape;373;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